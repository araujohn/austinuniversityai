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Nunito SemiBold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Nunito ExtraBold"/>
      <p:bold r:id="rId28"/>
      <p:boldItalic r:id="rId29"/>
    </p:embeddedFont>
    <p:embeddedFont>
      <p:font typeface="Nunito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gJqCccHXhuciI1lV75Fqrgt7On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084AC0-A0CB-4F2F-9A05-E4AD725CB356}">
  <a:tblStyle styleId="{12084AC0-A0CB-4F2F-9A05-E4AD725CB35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emiBold-regular.fntdata"/><Relationship Id="rId22" Type="http://schemas.openxmlformats.org/officeDocument/2006/relationships/font" Target="fonts/NunitoSemiBold-italic.fntdata"/><Relationship Id="rId21" Type="http://schemas.openxmlformats.org/officeDocument/2006/relationships/font" Target="fonts/NunitoSemiBold-bold.fntdata"/><Relationship Id="rId24" Type="http://schemas.openxmlformats.org/officeDocument/2006/relationships/font" Target="fonts/Nunito-regular.fntdata"/><Relationship Id="rId23" Type="http://schemas.openxmlformats.org/officeDocument/2006/relationships/font" Target="fonts/Nunito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NunitoExtraBold-bold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unitoExtraBold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NunitoMedium-bold.fntdata"/><Relationship Id="rId30" Type="http://schemas.openxmlformats.org/officeDocument/2006/relationships/font" Target="fonts/NunitoMedium-regular.fntdata"/><Relationship Id="rId11" Type="http://schemas.openxmlformats.org/officeDocument/2006/relationships/slide" Target="slides/slide4.xml"/><Relationship Id="rId33" Type="http://schemas.openxmlformats.org/officeDocument/2006/relationships/font" Target="fonts/NunitoMedium-boldItalic.fntdata"/><Relationship Id="rId10" Type="http://schemas.openxmlformats.org/officeDocument/2006/relationships/slide" Target="slides/slide3.xml"/><Relationship Id="rId32" Type="http://schemas.openxmlformats.org/officeDocument/2006/relationships/font" Target="fonts/NunitoMedium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customschemas.google.com/relationships/presentationmetadata" Target="meta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508d39905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12508d39905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0e9006cb6c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10e9006cb6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2508d39905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12508d3990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2508d39905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12508d3990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2508d39905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12508d3990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685eae676_1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2685eae67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2508d39905_0_2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12508d39905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6869b8a7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26869b8a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0e9006cb6c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10e9006cb6c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0e9006cb6c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10e9006cb6c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0ee00f67ea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10ee00f67ea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10ee00f67ea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10ee00f67ea_0_55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e1a9588eba_0_9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ge1a9588eba_0_9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e1a9588eba_0_1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" name="Google Shape;19;ge1a9588eba_0_1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ge1a9588eba_0_1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e1a9588eba_0_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ge1a9588eba_0_1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e1a9588eba_0_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ge1a9588eba_0_19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{12084AC0-A0CB-4F2F-9A05-E4AD725CB356}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ge1a9588eba_0_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e1a9588eba_0_2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ge1a9588eba_0_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e1a9588eba_0_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ge1a9588eba_0_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e1a9588eba_0_2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ge1a9588eba_0_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e1a9588eba_0_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e1a9588eba_0_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e1a9588eba_0_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e1a9588eba_0_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e1a9588eba_0_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e1a9588eba_0_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ge1a9588eba_0_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e1a9588eba_0_4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9588eba_0_42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ge1a9588eba_0_42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e1a9588eba_0_42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ge1a9588eba_0_42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ge1a9588eba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ee00f67ea_0_104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64" name="Google Shape;64;g10ee00f67ea_0_104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10ee00f67ea_0_104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g10ee00f67ea_0_104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7" name="Google Shape;67;g10ee00f67ea_0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ee00f67ea_0_71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0" name="Google Shape;70;g10ee00f67ea_0_71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0ee00f67ea_0_7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73" name="Google Shape;73;g10ee00f67ea_0_7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0ee00f67ea_0_7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g10ee00f67ea_0_7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7" name="Google Shape;77;g10ee00f67ea_0_7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0ee00f67ea_0_8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80" name="Google Shape;80;g10ee00f67ea_0_81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{12084AC0-A0CB-4F2F-9A05-E4AD725CB356}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81" name="Google Shape;81;g10ee00f67ea_0_8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0ee00f67ea_0_8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4" name="Google Shape;84;g10ee00f67ea_0_8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g10ee00f67ea_0_8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g10ee00f67ea_0_8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ee00f67ea_0_9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9" name="Google Shape;89;g10ee00f67ea_0_9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0ee00f67ea_0_9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2" name="Google Shape;92;g10ee00f67ea_0_9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ee00f67ea_0_9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10ee00f67ea_0_9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g10ee00f67ea_0_9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g10ee00f67ea_0_9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98" name="Google Shape;98;g10ee00f67ea_0_9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0ee00f67ea_0_10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e1a9588eba_0_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ge1a9588eba_0_0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ge1a9588eba_0_0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ge1a9588eba_0_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ge1a9588eba_0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ge1a9588eba_0_0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ge1a9588eba_0_0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e1a9588eba_0_0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0ee00f67ea_0_6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5" name="Google Shape;55;g10ee00f67ea_0_62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6" name="Google Shape;56;g10ee00f67ea_0_62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g10ee00f67ea_0_6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g10ee00f67ea_0_6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g10ee00f67ea_0_62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0" name="Google Shape;60;g10ee00f67ea_0_62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10ee00f67ea_0_62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2508d39905_0_224"/>
          <p:cNvSpPr txBox="1"/>
          <p:nvPr>
            <p:ph type="ctrTitle"/>
          </p:nvPr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>
                <a:solidFill>
                  <a:srgbClr val="1974D2"/>
                </a:solidFill>
              </a:rPr>
              <a:t>Presentation Title</a:t>
            </a:r>
            <a:endParaRPr sz="3600">
              <a:solidFill>
                <a:srgbClr val="1974D2"/>
              </a:solidFill>
            </a:endParaRPr>
          </a:p>
        </p:txBody>
      </p:sp>
      <p:sp>
        <p:nvSpPr>
          <p:cNvPr id="106" name="Google Shape;106;g12508d39905_0_224"/>
          <p:cNvSpPr txBox="1"/>
          <p:nvPr>
            <p:ph type="ctrTitle"/>
          </p:nvPr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3000">
                <a:solidFill>
                  <a:srgbClr val="1974D2"/>
                </a:solidFill>
              </a:rPr>
              <a:t>Project and Course Name</a:t>
            </a:r>
            <a:endParaRPr b="0" sz="3000">
              <a:solidFill>
                <a:srgbClr val="1974D2"/>
              </a:solidFill>
            </a:endParaRPr>
          </a:p>
        </p:txBody>
      </p:sp>
      <p:sp>
        <p:nvSpPr>
          <p:cNvPr id="107" name="Google Shape;107;g12508d39905_0_224"/>
          <p:cNvSpPr txBox="1"/>
          <p:nvPr>
            <p:ph type="ctrTitle"/>
          </p:nvPr>
        </p:nvSpPr>
        <p:spPr>
          <a:xfrm>
            <a:off x="1153000" y="242930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1600">
                <a:solidFill>
                  <a:srgbClr val="1974D2"/>
                </a:solidFill>
              </a:rPr>
              <a:t>Date</a:t>
            </a:r>
            <a:endParaRPr b="0" sz="1600">
              <a:solidFill>
                <a:srgbClr val="1974D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Contents / Agenda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Executive Summary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Business Problem Overview and Solution Approach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Overview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EDA Results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Preprocessing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Evaluation Criterion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Performance Summary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Test Performance of Best Model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Appendix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e9006cb6c_1_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Executive Summary 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19" name="Google Shape;119;g10e9006cb6c_1_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mention actionable insights &amp; recommendations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2508d39905_0_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Business Problem Overview and Solution Approach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25" name="Google Shape;125;g12508d39905_0_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define the problem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mention the solution approach / methodology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2508d39905_0_5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EDA Results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31" name="Google Shape;131;g12508d39905_0_5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mention the key results from EDA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i="1" sz="1200">
              <a:solidFill>
                <a:srgbClr val="000000"/>
              </a:solidFill>
            </a:endParaRPr>
          </a:p>
        </p:txBody>
      </p:sp>
      <p:sp>
        <p:nvSpPr>
          <p:cNvPr id="132" name="Google Shape;132;g12508d39905_0_54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Link to Appendix slide on data background check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508d39905_0_10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Data Preprocessing 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38" name="Google Shape;138;g12508d39905_0_10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Duplicate value check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Missing value treatment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Outlier check (</a:t>
            </a:r>
            <a:r>
              <a:rPr lang="en" sz="1400">
                <a:solidFill>
                  <a:srgbClr val="2D3B45"/>
                </a:solidFill>
                <a:highlight>
                  <a:schemeClr val="lt1"/>
                </a:highlight>
              </a:rPr>
              <a:t>treatment </a:t>
            </a: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if needed)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Feature engineering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Data preparation for modeling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685eae676_1_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Evaluation Criterion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44" name="Google Shape;144;g32685eae676_1_1"/>
          <p:cNvSpPr txBox="1"/>
          <p:nvPr>
            <p:ph idx="1" type="body"/>
          </p:nvPr>
        </p:nvSpPr>
        <p:spPr>
          <a:xfrm>
            <a:off x="202550" y="870750"/>
            <a:ext cx="86298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mention the metric with rationale.</a:t>
            </a:r>
            <a:endParaRPr i="1" sz="1400">
              <a:solidFill>
                <a:srgbClr val="000000"/>
              </a:solidFill>
              <a:highlight>
                <a:schemeClr val="lt1"/>
              </a:highlight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2508d39905_0_21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Performance Summary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50" name="Google Shape;150;g12508d39905_0_21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Summary of performance metrics for training and validation data in tabular format for comparison for all models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Comments on the model performances and choice of final model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i="1"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51" name="Google Shape;151;g12508d39905_0_217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Link to Appendix slide on model assumptions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6869b8a79_0_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Best Model - Test Performance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57" name="Google Shape;157;g326869b8a79_0_0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Architecture of the best model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Comments on the best model performance on the test set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i="1"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58" name="Google Shape;158;g326869b8a79_0_0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Link to Appendix slide on model assumptions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e9006cb6c_1_20"/>
          <p:cNvSpPr txBox="1"/>
          <p:nvPr>
            <p:ph type="ctrTitle"/>
          </p:nvPr>
        </p:nvSpPr>
        <p:spPr>
          <a:xfrm>
            <a:off x="0" y="2820425"/>
            <a:ext cx="9144000" cy="5817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00">
                <a:solidFill>
                  <a:schemeClr val="lt1"/>
                </a:solidFill>
              </a:rPr>
              <a:t>APPENDIX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0e9006cb6c_1_2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Slide Header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69" name="Google Shape;169;g10e9006cb6c_1_2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add any other pointers (if needed)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0ee00f67ea_0_55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77" name="Google Shape;177;g10ee00f67ea_0_55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