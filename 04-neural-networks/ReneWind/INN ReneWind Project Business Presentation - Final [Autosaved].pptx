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24"/>
  </p:notesMasterIdLst>
  <p:sldIdLst>
    <p:sldId id="256" r:id="rId3"/>
    <p:sldId id="257" r:id="rId4"/>
    <p:sldId id="258" r:id="rId5"/>
    <p:sldId id="276" r:id="rId6"/>
    <p:sldId id="269" r:id="rId7"/>
    <p:sldId id="259" r:id="rId8"/>
    <p:sldId id="268" r:id="rId9"/>
    <p:sldId id="260" r:id="rId10"/>
    <p:sldId id="261" r:id="rId11"/>
    <p:sldId id="270" r:id="rId12"/>
    <p:sldId id="271" r:id="rId13"/>
    <p:sldId id="272" r:id="rId14"/>
    <p:sldId id="262" r:id="rId15"/>
    <p:sldId id="273" r:id="rId16"/>
    <p:sldId id="275" r:id="rId17"/>
    <p:sldId id="263" r:id="rId18"/>
    <p:sldId id="264" r:id="rId19"/>
    <p:sldId id="277" r:id="rId20"/>
    <p:sldId id="265" r:id="rId21"/>
    <p:sldId id="266" r:id="rId22"/>
    <p:sldId id="267" r:id="rId23"/>
  </p:sldIdLst>
  <p:sldSz cx="9144000" cy="5143500" type="screen16x9"/>
  <p:notesSz cx="6858000" cy="9144000"/>
  <p:embeddedFontLst>
    <p:embeddedFont>
      <p:font typeface="Aptos Narrow" panose="020B0004020202020204" pitchFamily="34" charset="0"/>
      <p:regular r:id="rId25"/>
      <p:bold r:id="rId26"/>
      <p:italic r:id="rId27"/>
      <p:boldItalic r:id="rId28"/>
    </p:embeddedFont>
    <p:embeddedFont>
      <p:font typeface="Nunito" pitchFamily="2" charset="0"/>
      <p:regular r:id="rId29"/>
      <p:bold r:id="rId30"/>
      <p:italic r:id="rId31"/>
      <p:boldItalic r:id="rId32"/>
    </p:embeddedFont>
    <p:embeddedFont>
      <p:font typeface="Nunito ExtraBold" pitchFamily="2" charset="0"/>
      <p:bold r:id="rId33"/>
      <p:boldItalic r:id="rId34"/>
    </p:embeddedFont>
    <p:embeddedFont>
      <p:font typeface="Nunito Medium" panose="020B0604020202020204" charset="0"/>
      <p:regular r:id="rId35"/>
      <p:bold r:id="rId36"/>
      <p:italic r:id="rId37"/>
      <p:boldItalic r:id="rId38"/>
    </p:embeddedFont>
    <p:embeddedFont>
      <p:font typeface="Nunito SemiBold"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gJqCccHXhuciI1lV75Fqrgt7On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FFCCCC"/>
    <a:srgbClr val="EBFFFF"/>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084AC0-A0CB-4F2F-9A05-E4AD725CB356}">
  <a:tblStyle styleId="{12084AC0-A0CB-4F2F-9A05-E4AD725CB356}"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73" autoAdjust="0"/>
    <p:restoredTop sz="94660"/>
  </p:normalViewPr>
  <p:slideViewPr>
    <p:cSldViewPr snapToGrid="0">
      <p:cViewPr varScale="1">
        <p:scale>
          <a:sx n="127" d="100"/>
          <a:sy n="127" d="100"/>
        </p:scale>
        <p:origin x="120" y="2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9.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2508d39905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12508d39905_0_2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e9006cb6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10e9006cb6c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DAC1392-5CCB-5546-1709-2A79762C4DF7}"/>
            </a:ext>
          </a:extLst>
        </p:cNvPr>
        <p:cNvGrpSpPr/>
        <p:nvPr/>
      </p:nvGrpSpPr>
      <p:grpSpPr>
        <a:xfrm>
          <a:off x="0" y="0"/>
          <a:ext cx="0" cy="0"/>
          <a:chOff x="0" y="0"/>
          <a:chExt cx="0" cy="0"/>
        </a:xfrm>
      </p:grpSpPr>
      <p:sp>
        <p:nvSpPr>
          <p:cNvPr id="115" name="Google Shape;115;g10e9006cb6c_1_2:notes">
            <a:extLst>
              <a:ext uri="{FF2B5EF4-FFF2-40B4-BE49-F238E27FC236}">
                <a16:creationId xmlns:a16="http://schemas.microsoft.com/office/drawing/2014/main" id="{8DB1DE59-7133-DC7F-BAA5-427AABEE97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10e9006cb6c_1_2:notes">
            <a:extLst>
              <a:ext uri="{FF2B5EF4-FFF2-40B4-BE49-F238E27FC236}">
                <a16:creationId xmlns:a16="http://schemas.microsoft.com/office/drawing/2014/main" id="{011C92FE-BC06-5AE3-F799-D367F8BE10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41175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B336A135-F46C-D551-B5E8-2334099C4694}"/>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7E83FDD3-B909-2F06-39A2-A3896D20FC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a:extLst>
              <a:ext uri="{FF2B5EF4-FFF2-40B4-BE49-F238E27FC236}">
                <a16:creationId xmlns:a16="http://schemas.microsoft.com/office/drawing/2014/main" id="{1E3F28FC-168B-F20B-24E4-89DFAFC27F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8394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508d3990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CE76A3C0-25B5-A640-FF37-4E419CD203B7}"/>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F977BA0F-CE78-7199-4415-537A524511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a:extLst>
              <a:ext uri="{FF2B5EF4-FFF2-40B4-BE49-F238E27FC236}">
                <a16:creationId xmlns:a16="http://schemas.microsoft.com/office/drawing/2014/main" id="{13C819A0-6F24-1771-B517-7FAA7C6E85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67629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508d39905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2508d39905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3EAE5AEE-571B-A84A-3975-2936E956E3F9}"/>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6B154298-A8FA-D81C-2573-E54C6CD846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24527D3E-05EE-A804-ACD7-52BA682F64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8256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DF983AF3-144C-F12B-2F23-3F048957C169}"/>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6B342D56-0687-6ACF-792C-759C603282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CFCCDB7B-387E-8D4A-BEA3-8AD0DECB52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11847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4742F43A-BD87-291F-1CD3-ECBFECA18767}"/>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3A6D8B67-56A5-F5B2-BDBD-32872FC9A1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F144FA81-F9D9-50FD-4EC8-F38B4DE8F3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98548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2685eae67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2685eae676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A03F143A-3A45-0E15-40ED-A4E6F52E966D}"/>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3ACE3146-01D2-1471-25A3-0470DE78BA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2685eae676_1_1:notes">
            <a:extLst>
              <a:ext uri="{FF2B5EF4-FFF2-40B4-BE49-F238E27FC236}">
                <a16:creationId xmlns:a16="http://schemas.microsoft.com/office/drawing/2014/main" id="{7EDDB866-F806-146D-3DD4-77FD82365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0740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35F6478B-DE0A-C22B-D282-44A9BF90D3C4}"/>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582730F6-F21E-97BF-1B46-B1BDE9716B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2685eae676_1_1:notes">
            <a:extLst>
              <a:ext uri="{FF2B5EF4-FFF2-40B4-BE49-F238E27FC236}">
                <a16:creationId xmlns:a16="http://schemas.microsoft.com/office/drawing/2014/main" id="{0CED1C4D-7B68-8E22-8234-2F672F50C1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9801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2508d3990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26869b8a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E35AD877-F0CF-4E90-BB99-34234C774C70}"/>
            </a:ext>
          </a:extLst>
        </p:cNvPr>
        <p:cNvGrpSpPr/>
        <p:nvPr/>
      </p:nvGrpSpPr>
      <p:grpSpPr>
        <a:xfrm>
          <a:off x="0" y="0"/>
          <a:ext cx="0" cy="0"/>
          <a:chOff x="0" y="0"/>
          <a:chExt cx="0" cy="0"/>
        </a:xfrm>
      </p:grpSpPr>
      <p:sp>
        <p:nvSpPr>
          <p:cNvPr id="153" name="Google Shape;153;g326869b8a79_0_0:notes">
            <a:extLst>
              <a:ext uri="{FF2B5EF4-FFF2-40B4-BE49-F238E27FC236}">
                <a16:creationId xmlns:a16="http://schemas.microsoft.com/office/drawing/2014/main" id="{6C05A888-D799-D933-476E-AB330983DF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a:extLst>
              <a:ext uri="{FF2B5EF4-FFF2-40B4-BE49-F238E27FC236}">
                <a16:creationId xmlns:a16="http://schemas.microsoft.com/office/drawing/2014/main" id="{FC9DB957-CDE1-48F4-1BC6-979D5CB4E1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1645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0e9006cb6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10e9006cb6c_1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0e9006cb6c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ee00f67ea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e00f67ea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ee00f67ea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
        <p:nvSpPr>
          <p:cNvPr id="174" name="Google Shape;174;g10ee00f67ea_0_5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e1a9588eba_0_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ge1a9588eba_0_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ge1a9588eba_0_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ge1a9588eba_0_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ge1a9588eba_0_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ge1a9588eba_0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ge1a9588eba_0_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ge1a9588eba_0_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ge1a9588eba_0_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ge1a9588eba_0_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ge1a9588eba_0_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ge1a9588eba_0_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ge1a9588eba_0_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ge1a9588eba_0_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ge1a9588eba_0_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e1a9588eba_0_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ge1a9588eba_0_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e1a9588eba_0_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ge1a9588eba_0_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e1a9588eba_0_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ge1a9588eba_0_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ge1a9588eba_0_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ge1a9588eba_0_42"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50" name="Google Shape;50;ge1a9588eba_0_4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ge1a9588eba_0_4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g10ee00f67ea_0_10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g10ee00f67ea_0_104"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65" name="Google Shape;65;g10ee00f67ea_0_10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g10ee00f67ea_0_10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g10ee00f67ea_0_10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g10ee00f67ea_0_71"/>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g10ee00f67ea_0_71"/>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g10ee00f67ea_0_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g10ee00f67ea_0_7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g10ee00f67ea_0_7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g10ee00f67ea_0_7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g10ee00f67ea_0_7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g10ee00f67ea_0_8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g10ee00f67ea_0_81"/>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g10ee00f67ea_0_8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g10ee00f67ea_0_8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g10ee00f67ea_0_8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g10ee00f67ea_0_8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g10ee00f67ea_0_8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g10ee00f67ea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g10ee00f67ea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g10ee00f67ea_0_9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g10ee00f67ea_0_9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g10ee00f67ea_0_9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g10ee00f67ea_0_9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g10ee00f67ea_0_9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g10ee00f67ea_0_9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g10ee00f67ea_0_9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10ee00f67ea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e1a9588eba_0_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ge1a9588eba_0_0"/>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ge1a9588eba_0_0"/>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ge1a9588eba_0_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g10ee00f67ea_0_6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g10ee00f67ea_0_6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g10ee00f67ea_0_6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g10ee00f67ea_0_6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g10ee00f67ea_0_6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g10ee00f67ea_0_62"/>
          <p:cNvGrpSpPr/>
          <p:nvPr/>
        </p:nvGrpSpPr>
        <p:grpSpPr>
          <a:xfrm>
            <a:off x="6593" y="10"/>
            <a:ext cx="175500" cy="709221"/>
            <a:chOff x="6593" y="10"/>
            <a:chExt cx="175500" cy="709221"/>
          </a:xfrm>
        </p:grpSpPr>
        <p:sp>
          <p:nvSpPr>
            <p:cNvPr id="60" name="Google Shape;60;g10ee00f67ea_0_6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10ee00f67ea_0_6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12508d39905_0_224"/>
          <p:cNvSpPr txBox="1">
            <a:spLocks noGrp="1"/>
          </p:cNvSpPr>
          <p:nvPr>
            <p:ph type="ctrTitle"/>
          </p:nvPr>
        </p:nvSpPr>
        <p:spPr>
          <a:xfrm>
            <a:off x="1158150" y="1190171"/>
            <a:ext cx="6827700" cy="803579"/>
          </a:xfrm>
          <a:prstGeom prst="rect">
            <a:avLst/>
          </a:prstGeom>
          <a:noFill/>
          <a:ln>
            <a:noFill/>
          </a:ln>
        </p:spPr>
        <p:txBody>
          <a:bodyPr spcFirstLastPara="1" wrap="square" lIns="91425" tIns="91425" rIns="91425" bIns="91425" anchor="b" anchorCtr="0">
            <a:noAutofit/>
          </a:bodyPr>
          <a:lstStyle/>
          <a:p>
            <a:pPr lvl="0" algn="ctr"/>
            <a:r>
              <a:rPr lang="en-US" sz="2000"/>
              <a:t>Predicting Wind Turbine Failures Before They Happen A Cost-Optimised Classification Approach</a:t>
            </a:r>
            <a:endParaRPr sz="2000">
              <a:solidFill>
                <a:srgbClr val="1974D2"/>
              </a:solidFill>
            </a:endParaRPr>
          </a:p>
        </p:txBody>
      </p:sp>
      <p:sp>
        <p:nvSpPr>
          <p:cNvPr id="106" name="Google Shape;106;g12508d39905_0_224"/>
          <p:cNvSpPr txBox="1">
            <a:spLocks noGrp="1"/>
          </p:cNvSpPr>
          <p:nvPr>
            <p:ph type="ctrTitle"/>
          </p:nvPr>
        </p:nvSpPr>
        <p:spPr>
          <a:xfrm>
            <a:off x="1080429" y="2140857"/>
            <a:ext cx="6827700" cy="680043"/>
          </a:xfrm>
          <a:prstGeom prst="rect">
            <a:avLst/>
          </a:prstGeom>
          <a:noFill/>
          <a:ln>
            <a:noFill/>
          </a:ln>
        </p:spPr>
        <p:txBody>
          <a:bodyPr spcFirstLastPara="1" wrap="square" lIns="91425" tIns="91425" rIns="91425" bIns="91425" anchor="b" anchorCtr="0">
            <a:noAutofit/>
          </a:bodyPr>
          <a:lstStyle/>
          <a:p>
            <a:pPr lvl="0" algn="ctr"/>
            <a:r>
              <a:rPr lang="en-US" sz="2400"/>
              <a:t>ReneWind </a:t>
            </a:r>
            <a:br>
              <a:rPr lang="en-US" sz="2400"/>
            </a:br>
            <a:r>
              <a:rPr lang="en-US" sz="1100"/>
              <a:t>Austin University – Post Graduate Program in Artificial Intelligence</a:t>
            </a:r>
            <a:endParaRPr lang="en-US" sz="2400"/>
          </a:p>
        </p:txBody>
      </p:sp>
      <p:sp>
        <p:nvSpPr>
          <p:cNvPr id="107" name="Google Shape;107;g12508d39905_0_224"/>
          <p:cNvSpPr txBox="1">
            <a:spLocks noGrp="1"/>
          </p:cNvSpPr>
          <p:nvPr>
            <p:ph type="ctrTitle"/>
          </p:nvPr>
        </p:nvSpPr>
        <p:spPr>
          <a:xfrm>
            <a:off x="1080429" y="4018614"/>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a:solidFill>
                  <a:srgbClr val="1974D2"/>
                </a:solidFill>
              </a:rPr>
              <a:t>2026-03-14</a:t>
            </a:r>
            <a:endParaRPr sz="1600" b="0">
              <a:solidFill>
                <a:srgbClr val="1974D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3" name="Google Shape;113;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Data Overview</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Model Evaluation Criterion</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Test Performance of Best Model</a:t>
            </a:r>
            <a:endParaRPr sz="1400">
              <a:solidFill>
                <a:srgbClr val="000000"/>
              </a:solidFill>
            </a:endParaRPr>
          </a:p>
          <a:p>
            <a:pPr marL="457200" lvl="0" indent="-317500" algn="l" rtl="0">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10e9006cb6c_1_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Executive Summary </a:t>
            </a:r>
            <a:endParaRPr>
              <a:solidFill>
                <a:srgbClr val="1974D2"/>
              </a:solidFill>
            </a:endParaRPr>
          </a:p>
        </p:txBody>
      </p:sp>
      <p:sp>
        <p:nvSpPr>
          <p:cNvPr id="119" name="Google Shape;119;g10e9006cb6c_1_2"/>
          <p:cNvSpPr txBox="1">
            <a:spLocks noGrp="1"/>
          </p:cNvSpPr>
          <p:nvPr>
            <p:ph type="body" idx="1"/>
          </p:nvPr>
        </p:nvSpPr>
        <p:spPr>
          <a:xfrm>
            <a:off x="257100" y="724089"/>
            <a:ext cx="8629800" cy="4043854"/>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1000"/>
              </a:spcAft>
              <a:buClr>
                <a:srgbClr val="000000"/>
              </a:buClr>
              <a:buSzPts val="1400"/>
              <a:buNone/>
            </a:pPr>
            <a:r>
              <a:rPr lang="en-US" sz="1400" b="1">
                <a:solidFill>
                  <a:srgbClr val="000000"/>
                </a:solidFill>
              </a:rPr>
              <a:t>Business Recommendation</a:t>
            </a:r>
            <a:endParaRPr sz="1400" b="1">
              <a:solidFill>
                <a:srgbClr val="000000"/>
              </a:solidFill>
            </a:endParaRPr>
          </a:p>
        </p:txBody>
      </p:sp>
      <p:sp>
        <p:nvSpPr>
          <p:cNvPr id="4" name="Rectangle 3">
            <a:extLst>
              <a:ext uri="{FF2B5EF4-FFF2-40B4-BE49-F238E27FC236}">
                <a16:creationId xmlns:a16="http://schemas.microsoft.com/office/drawing/2014/main" id="{53ADB9DE-1D8D-0A9F-0C89-ABB2397AC6F3}"/>
              </a:ext>
            </a:extLst>
          </p:cNvPr>
          <p:cNvSpPr/>
          <p:nvPr/>
        </p:nvSpPr>
        <p:spPr>
          <a:xfrm>
            <a:off x="413657" y="1158903"/>
            <a:ext cx="7424057" cy="8418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Deploy Model 5</a:t>
            </a:r>
          </a:p>
          <a:p>
            <a:r>
              <a:rPr lang="en-US" sz="1200" b="1">
                <a:solidFill>
                  <a:schemeClr val="accent6">
                    <a:lumMod val="50000"/>
                  </a:schemeClr>
                </a:solidFill>
              </a:rPr>
              <a:t>Bundle StandardScale with the Model</a:t>
            </a:r>
          </a:p>
          <a:p>
            <a:r>
              <a:rPr lang="en-US" sz="1200" b="1">
                <a:solidFill>
                  <a:schemeClr val="accent6">
                    <a:lumMod val="50000"/>
                  </a:schemeClr>
                </a:solidFill>
              </a:rPr>
              <a:t>Monitor sensors V18, V21, V15, v7</a:t>
            </a:r>
            <a:endParaRPr lang="en-US" sz="1200">
              <a:solidFill>
                <a:schemeClr val="accent6">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66D5B24-4994-50AE-BAFC-497CCC7EDE7D}"/>
            </a:ext>
          </a:extLst>
        </p:cNvPr>
        <p:cNvGrpSpPr/>
        <p:nvPr/>
      </p:nvGrpSpPr>
      <p:grpSpPr>
        <a:xfrm>
          <a:off x="0" y="0"/>
          <a:ext cx="0" cy="0"/>
          <a:chOff x="0" y="0"/>
          <a:chExt cx="0" cy="0"/>
        </a:xfrm>
      </p:grpSpPr>
      <p:sp>
        <p:nvSpPr>
          <p:cNvPr id="118" name="Google Shape;118;g10e9006cb6c_1_2">
            <a:extLst>
              <a:ext uri="{FF2B5EF4-FFF2-40B4-BE49-F238E27FC236}">
                <a16:creationId xmlns:a16="http://schemas.microsoft.com/office/drawing/2014/main" id="{3FC33C21-92E1-FBAA-A10F-25F605541F9A}"/>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Executive Summary </a:t>
            </a:r>
            <a:endParaRPr>
              <a:solidFill>
                <a:srgbClr val="1974D2"/>
              </a:solidFill>
            </a:endParaRPr>
          </a:p>
        </p:txBody>
      </p:sp>
      <p:sp>
        <p:nvSpPr>
          <p:cNvPr id="119" name="Google Shape;119;g10e9006cb6c_1_2">
            <a:extLst>
              <a:ext uri="{FF2B5EF4-FFF2-40B4-BE49-F238E27FC236}">
                <a16:creationId xmlns:a16="http://schemas.microsoft.com/office/drawing/2014/main" id="{1D02C43B-FA71-B1E5-3262-0FE4BE51822B}"/>
              </a:ext>
            </a:extLst>
          </p:cNvPr>
          <p:cNvSpPr txBox="1">
            <a:spLocks noGrp="1"/>
          </p:cNvSpPr>
          <p:nvPr>
            <p:ph type="body" idx="1"/>
          </p:nvPr>
        </p:nvSpPr>
        <p:spPr>
          <a:xfrm>
            <a:off x="257100" y="724089"/>
            <a:ext cx="8629800" cy="4043854"/>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1000"/>
              </a:spcAft>
              <a:buClr>
                <a:srgbClr val="000000"/>
              </a:buClr>
              <a:buSzPts val="1400"/>
              <a:buNone/>
            </a:pPr>
            <a:r>
              <a:rPr lang="en-US" sz="1400" b="1">
                <a:solidFill>
                  <a:srgbClr val="000000"/>
                </a:solidFill>
              </a:rPr>
              <a:t>Business Interpretation of the Results </a:t>
            </a:r>
            <a:br>
              <a:rPr lang="en-US" sz="1400" b="1">
                <a:solidFill>
                  <a:srgbClr val="000000"/>
                </a:solidFill>
              </a:rPr>
            </a:br>
            <a:endParaRPr sz="1400" b="1">
              <a:solidFill>
                <a:srgbClr val="000000"/>
              </a:solidFill>
            </a:endParaRPr>
          </a:p>
        </p:txBody>
      </p:sp>
      <p:sp>
        <p:nvSpPr>
          <p:cNvPr id="4" name="Rectangle 3">
            <a:extLst>
              <a:ext uri="{FF2B5EF4-FFF2-40B4-BE49-F238E27FC236}">
                <a16:creationId xmlns:a16="http://schemas.microsoft.com/office/drawing/2014/main" id="{A6E4366B-E717-9E3C-AF7C-3B1175B07181}"/>
              </a:ext>
            </a:extLst>
          </p:cNvPr>
          <p:cNvSpPr/>
          <p:nvPr/>
        </p:nvSpPr>
        <p:spPr>
          <a:xfrm>
            <a:off x="413657" y="1158903"/>
            <a:ext cx="7424057" cy="8418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248 Failures caught (True Positives)</a:t>
            </a:r>
          </a:p>
          <a:p>
            <a:r>
              <a:rPr lang="en-US" sz="1200">
                <a:solidFill>
                  <a:schemeClr val="accent6">
                    <a:lumMod val="50000"/>
                  </a:schemeClr>
                </a:solidFill>
              </a:rPr>
              <a:t>Turbines flagged before failure and repaired on schedule. Repair cost incurred – significantly lower than replacement. This is the optimal outcome</a:t>
            </a:r>
          </a:p>
        </p:txBody>
      </p:sp>
      <p:sp>
        <p:nvSpPr>
          <p:cNvPr id="5" name="Rectangle 4">
            <a:extLst>
              <a:ext uri="{FF2B5EF4-FFF2-40B4-BE49-F238E27FC236}">
                <a16:creationId xmlns:a16="http://schemas.microsoft.com/office/drawing/2014/main" id="{EA817C04-73E4-40CC-5BB9-B33B9269C44D}"/>
              </a:ext>
            </a:extLst>
          </p:cNvPr>
          <p:cNvSpPr/>
          <p:nvPr/>
        </p:nvSpPr>
        <p:spPr>
          <a:xfrm>
            <a:off x="413656" y="3185696"/>
            <a:ext cx="7424057" cy="84182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~34 missed failures(False Negatives)  -- primary risk</a:t>
            </a:r>
          </a:p>
          <a:p>
            <a:r>
              <a:rPr lang="en-US" sz="1200">
                <a:solidFill>
                  <a:schemeClr val="accent6">
                    <a:lumMod val="50000"/>
                  </a:schemeClr>
                </a:solidFill>
              </a:rPr>
              <a:t>Turbines that will fail without a maintenance flag. Full replacement cost incurred. These are the primary remaining business risk and the target for future model improvement via SMOTE. In preliminary tests it achieved better rates.</a:t>
            </a:r>
          </a:p>
        </p:txBody>
      </p:sp>
      <p:sp>
        <p:nvSpPr>
          <p:cNvPr id="6" name="Rectangle 5">
            <a:extLst>
              <a:ext uri="{FF2B5EF4-FFF2-40B4-BE49-F238E27FC236}">
                <a16:creationId xmlns:a16="http://schemas.microsoft.com/office/drawing/2014/main" id="{41F02046-BE1D-EF78-7B92-FCC1B935EC33}"/>
              </a:ext>
            </a:extLst>
          </p:cNvPr>
          <p:cNvSpPr/>
          <p:nvPr/>
        </p:nvSpPr>
        <p:spPr>
          <a:xfrm>
            <a:off x="413657" y="2153132"/>
            <a:ext cx="7424057" cy="84182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~8 false alarms (False Positives)</a:t>
            </a:r>
            <a:br>
              <a:rPr lang="en-US" sz="1200">
                <a:solidFill>
                  <a:schemeClr val="accent6">
                    <a:lumMod val="50000"/>
                  </a:schemeClr>
                </a:solidFill>
              </a:rPr>
            </a:br>
            <a:r>
              <a:rPr lang="en-US" sz="1200">
                <a:solidFill>
                  <a:schemeClr val="accent6">
                    <a:lumMod val="50000"/>
                  </a:schemeClr>
                </a:solidFill>
              </a:rPr>
              <a:t>Healthy turbines flagged for inspection. Tech dispatched, no fault found. Inspection cost only – The lowest cost outcome. At only 8 false alarms on 5,000 predictions, this is exceptionally low and operationally manageable</a:t>
            </a:r>
          </a:p>
        </p:txBody>
      </p:sp>
      <p:sp>
        <p:nvSpPr>
          <p:cNvPr id="8" name="TextBox 7">
            <a:extLst>
              <a:ext uri="{FF2B5EF4-FFF2-40B4-BE49-F238E27FC236}">
                <a16:creationId xmlns:a16="http://schemas.microsoft.com/office/drawing/2014/main" id="{5086DFBD-52BF-AA7C-3EFA-C78960F2B48D}"/>
              </a:ext>
            </a:extLst>
          </p:cNvPr>
          <p:cNvSpPr txBox="1"/>
          <p:nvPr/>
        </p:nvSpPr>
        <p:spPr>
          <a:xfrm>
            <a:off x="5457370" y="3984597"/>
            <a:ext cx="2830288" cy="307777"/>
          </a:xfrm>
          <a:prstGeom prst="rect">
            <a:avLst/>
          </a:prstGeom>
          <a:solidFill>
            <a:schemeClr val="accent2">
              <a:lumMod val="20000"/>
              <a:lumOff val="80000"/>
            </a:schemeClr>
          </a:solidFill>
        </p:spPr>
        <p:txBody>
          <a:bodyPr wrap="square">
            <a:spAutoFit/>
          </a:bodyPr>
          <a:lstStyle/>
          <a:p>
            <a:r>
              <a:rPr lang="en-US" sz="700"/>
              <a:t>TP = 0.88 × 282 = 248.16  →  ~248 failures correctly caught</a:t>
            </a:r>
          </a:p>
          <a:p>
            <a:r>
              <a:rPr lang="en-US" sz="700"/>
              <a:t>FN = 282 - 248  = 34       →  ~34 failures missed</a:t>
            </a:r>
          </a:p>
        </p:txBody>
      </p:sp>
      <p:sp>
        <p:nvSpPr>
          <p:cNvPr id="10" name="TextBox 9">
            <a:extLst>
              <a:ext uri="{FF2B5EF4-FFF2-40B4-BE49-F238E27FC236}">
                <a16:creationId xmlns:a16="http://schemas.microsoft.com/office/drawing/2014/main" id="{E8B811DF-204F-E4C7-78A9-A4AF8F119D61}"/>
              </a:ext>
            </a:extLst>
          </p:cNvPr>
          <p:cNvSpPr txBox="1"/>
          <p:nvPr/>
        </p:nvSpPr>
        <p:spPr>
          <a:xfrm>
            <a:off x="7796836" y="2223882"/>
            <a:ext cx="1144614" cy="738664"/>
          </a:xfrm>
          <a:prstGeom prst="rect">
            <a:avLst/>
          </a:prstGeom>
          <a:solidFill>
            <a:schemeClr val="accent2">
              <a:lumMod val="20000"/>
              <a:lumOff val="80000"/>
            </a:schemeClr>
          </a:solidFill>
        </p:spPr>
        <p:txBody>
          <a:bodyPr wrap="square">
            <a:spAutoFit/>
          </a:bodyPr>
          <a:lstStyle/>
          <a:p>
            <a:r>
              <a:rPr lang="en-US" sz="600"/>
              <a:t>Precision = TP / (TP + FP)</a:t>
            </a:r>
          </a:p>
          <a:p>
            <a:r>
              <a:rPr lang="en-US" sz="600"/>
              <a:t>0.97      = 248 / (248 + FP)</a:t>
            </a:r>
          </a:p>
          <a:p>
            <a:endParaRPr lang="en-US" sz="600"/>
          </a:p>
          <a:p>
            <a:r>
              <a:rPr lang="en-US" sz="600"/>
              <a:t>248 + FP  = 248 / 0.97</a:t>
            </a:r>
          </a:p>
          <a:p>
            <a:r>
              <a:rPr lang="en-US" sz="600"/>
              <a:t>248 + FP  = 255.67</a:t>
            </a:r>
          </a:p>
          <a:p>
            <a:r>
              <a:rPr lang="en-US" sz="600"/>
              <a:t>FP        = 255.67 - 248</a:t>
            </a:r>
          </a:p>
          <a:p>
            <a:r>
              <a:rPr lang="en-US" sz="600"/>
              <a:t>FP        ≈ 7.6  →  ~8</a:t>
            </a:r>
          </a:p>
        </p:txBody>
      </p:sp>
    </p:spTree>
    <p:extLst>
      <p:ext uri="{BB962C8B-B14F-4D97-AF65-F5344CB8AC3E}">
        <p14:creationId xmlns:p14="http://schemas.microsoft.com/office/powerpoint/2010/main" val="29763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5CB8767-7F07-558C-045B-E86D98C164DA}"/>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15C578B5-7305-9720-0855-CC00A8A26A6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25" name="Google Shape;125;g12508d39905_0_1">
            <a:extLst>
              <a:ext uri="{FF2B5EF4-FFF2-40B4-BE49-F238E27FC236}">
                <a16:creationId xmlns:a16="http://schemas.microsoft.com/office/drawing/2014/main" id="{EC81532A-9859-4DFB-5D5E-1FCB125B09AF}"/>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1400" b="1"/>
              <a:t>Problem Definition</a:t>
            </a:r>
            <a:endParaRPr lang="en-US" sz="1400"/>
          </a:p>
          <a:p>
            <a:pPr marL="274320" lvl="1" indent="0">
              <a:spcBef>
                <a:spcPts val="600"/>
              </a:spcBef>
              <a:buNone/>
            </a:pPr>
            <a:r>
              <a:rPr lang="en-US"/>
              <a:t>ReneWind collects data from 40 sensors fitted across wind turbine generators to predict mechanical failure before it occurs. ReneWind needs to find the best way to implement predictive maintenance for turbine generators based on the high-density sensor network data provided</a:t>
            </a:r>
            <a:endParaRPr lang="en-US" sz="1200" b="1"/>
          </a:p>
          <a:p>
            <a:pPr marL="274320" lvl="1" indent="0">
              <a:spcBef>
                <a:spcPts val="600"/>
              </a:spcBef>
              <a:buNone/>
            </a:pPr>
            <a:r>
              <a:rPr lang="en-US" sz="1200" b="1"/>
              <a:t>Sensor Array: </a:t>
            </a:r>
          </a:p>
          <a:p>
            <a:pPr marL="274320" lvl="1" indent="0">
              <a:spcBef>
                <a:spcPts val="600"/>
              </a:spcBef>
              <a:buNone/>
            </a:pPr>
            <a:r>
              <a:rPr lang="en-US" sz="1200" b="1"/>
              <a:t>	</a:t>
            </a:r>
            <a:r>
              <a:rPr lang="en-US" sz="1200"/>
              <a:t>40 telemetry features (V1 - V40) monitoring turbine health.</a:t>
            </a:r>
          </a:p>
          <a:p>
            <a:pPr marL="274320" lvl="1" indent="0">
              <a:spcBef>
                <a:spcPts val="600"/>
              </a:spcBef>
              <a:buNone/>
            </a:pPr>
            <a:r>
              <a:rPr lang="en-US" sz="1200" b="1"/>
              <a:t>Dataset Scale: </a:t>
            </a:r>
          </a:p>
          <a:p>
            <a:pPr marL="274320" lvl="1" indent="0">
              <a:spcBef>
                <a:spcPts val="600"/>
              </a:spcBef>
              <a:buNone/>
            </a:pPr>
            <a:r>
              <a:rPr lang="en-US" sz="1200" b="1"/>
              <a:t>	25,000 total observations (20k Train / 5k Test).</a:t>
            </a:r>
          </a:p>
          <a:p>
            <a:pPr marL="274320" lvl="1" indent="0">
              <a:spcBef>
                <a:spcPts val="600"/>
              </a:spcBef>
              <a:buNone/>
            </a:pPr>
            <a:r>
              <a:rPr lang="en-US" sz="1200" b="1"/>
              <a:t>The "Needle in the Haystack" Challenge: </a:t>
            </a:r>
          </a:p>
          <a:p>
            <a:pPr marL="274320" lvl="1" indent="0">
              <a:spcBef>
                <a:spcPts val="600"/>
              </a:spcBef>
              <a:buNone/>
            </a:pPr>
            <a:r>
              <a:rPr lang="en-US" sz="1200" b="1"/>
              <a:t>	Class Imbalance: </a:t>
            </a:r>
          </a:p>
          <a:p>
            <a:pPr marL="731520" lvl="3" indent="0" defTabSz="274320">
              <a:lnSpc>
                <a:spcPct val="100000"/>
              </a:lnSpc>
              <a:spcBef>
                <a:spcPts val="300"/>
              </a:spcBef>
              <a:buNone/>
            </a:pPr>
            <a:r>
              <a:rPr lang="en-US" b="1"/>
              <a:t>		</a:t>
            </a:r>
            <a:r>
              <a:rPr lang="en-US"/>
              <a:t>17:1 ratio of Normal operation to Failure.</a:t>
            </a:r>
          </a:p>
          <a:p>
            <a:pPr marL="274320" lvl="1" indent="0">
              <a:spcBef>
                <a:spcPts val="600"/>
              </a:spcBef>
              <a:buNone/>
            </a:pPr>
            <a:r>
              <a:rPr lang="en-US" sz="1200" b="1"/>
              <a:t>	Minority Class: </a:t>
            </a:r>
          </a:p>
          <a:p>
            <a:pPr marL="0" indent="0">
              <a:lnSpc>
                <a:spcPct val="100000"/>
              </a:lnSpc>
              <a:spcBef>
                <a:spcPts val="300"/>
              </a:spcBef>
              <a:buNone/>
            </a:pPr>
            <a:r>
              <a:rPr lang="en-US" sz="1400" b="1"/>
              <a:t>	    </a:t>
            </a:r>
            <a:r>
              <a:rPr lang="en-US" sz="1100"/>
              <a:t>Only 5.55% of the data represents actual failure events.</a:t>
            </a:r>
          </a:p>
          <a:p>
            <a:pPr marL="274320" lvl="1" indent="0">
              <a:spcBef>
                <a:spcPts val="600"/>
              </a:spcBef>
              <a:buNone/>
            </a:pPr>
            <a:endParaRPr lang="en-US" sz="1200"/>
          </a:p>
          <a:p>
            <a:pPr marL="139700" lvl="0" indent="0" algn="l" rtl="0">
              <a:lnSpc>
                <a:spcPct val="115000"/>
              </a:lnSpc>
              <a:spcBef>
                <a:spcPts val="1000"/>
              </a:spcBef>
              <a:spcAft>
                <a:spcPts val="1000"/>
              </a:spcAft>
              <a:buClr>
                <a:srgbClr val="000000"/>
              </a:buClr>
              <a:buSzPts val="1400"/>
              <a:buNone/>
            </a:pPr>
            <a:endParaRPr sz="1400" b="1">
              <a:solidFill>
                <a:srgbClr val="000000"/>
              </a:solidFill>
            </a:endParaRPr>
          </a:p>
        </p:txBody>
      </p:sp>
    </p:spTree>
    <p:extLst>
      <p:ext uri="{BB962C8B-B14F-4D97-AF65-F5344CB8AC3E}">
        <p14:creationId xmlns:p14="http://schemas.microsoft.com/office/powerpoint/2010/main" val="4255870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12508d39905_0_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25" name="Google Shape;125;g12508d39905_0_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1400" b="1"/>
              <a:t>Cost-Benefit Approach</a:t>
            </a:r>
          </a:p>
          <a:p>
            <a:pPr marL="133350" indent="0">
              <a:buNone/>
            </a:pPr>
            <a:endParaRPr lang="en-US" sz="1400" b="1"/>
          </a:p>
          <a:p>
            <a:pPr marL="133350" indent="0">
              <a:buNone/>
            </a:pPr>
            <a:r>
              <a:rPr lang="en-US" sz="1400"/>
              <a:t>In wind energy, not all errors are equal. Our model logic is dictated by the cost of being wrong.</a:t>
            </a:r>
          </a:p>
          <a:p>
            <a:pPr marL="133350" indent="0">
              <a:buNone/>
            </a:pPr>
            <a:r>
              <a:rPr lang="en-US" sz="1400"/>
              <a:t>The cost structure is asymmetric. A missed failure leads to unplanned breakdown and full generator replacement — the most expensive outcome. A correct prediction enables a scheduled repair at moderate cost. A false alarm triggers only a cheap inspection. </a:t>
            </a:r>
          </a:p>
          <a:p>
            <a:pPr marL="133350" indent="0">
              <a:buNone/>
            </a:pPr>
            <a:r>
              <a:rPr lang="en-US" sz="1400"/>
              <a:t>This hierarchy makes </a:t>
            </a:r>
            <a:r>
              <a:rPr lang="en-US" sz="1400" b="1"/>
              <a:t>Recall the primary metric</a:t>
            </a:r>
            <a:r>
              <a:rPr lang="en-US" sz="1400"/>
              <a:t> — catching failures matters more than avoiding false alarms.</a:t>
            </a:r>
          </a:p>
          <a:p>
            <a:pPr marL="133350" indent="0">
              <a:buNone/>
            </a:pPr>
            <a:endParaRPr lang="en-US" sz="1400"/>
          </a:p>
          <a:p>
            <a:pPr marL="274320" lvl="1" indent="0">
              <a:spcBef>
                <a:spcPts val="600"/>
              </a:spcBef>
              <a:buNone/>
            </a:pPr>
            <a:endParaRPr lang="en-US" sz="1200"/>
          </a:p>
          <a:p>
            <a:pPr marL="139700" lvl="0" indent="0" algn="l" rtl="0">
              <a:lnSpc>
                <a:spcPct val="115000"/>
              </a:lnSpc>
              <a:spcBef>
                <a:spcPts val="1000"/>
              </a:spcBef>
              <a:spcAft>
                <a:spcPts val="1000"/>
              </a:spcAft>
              <a:buClr>
                <a:srgbClr val="000000"/>
              </a:buClr>
              <a:buSzPts val="1400"/>
              <a:buNone/>
            </a:pPr>
            <a:endParaRPr sz="1400" b="1">
              <a:solidFill>
                <a:srgbClr val="000000"/>
              </a:solidFill>
            </a:endParaRPr>
          </a:p>
        </p:txBody>
      </p:sp>
      <p:graphicFrame>
        <p:nvGraphicFramePr>
          <p:cNvPr id="4" name="Table 3">
            <a:extLst>
              <a:ext uri="{FF2B5EF4-FFF2-40B4-BE49-F238E27FC236}">
                <a16:creationId xmlns:a16="http://schemas.microsoft.com/office/drawing/2014/main" id="{B3F90E3B-925E-B84D-0016-2B723D6AEBE9}"/>
              </a:ext>
            </a:extLst>
          </p:cNvPr>
          <p:cNvGraphicFramePr>
            <a:graphicFrameLocks noGrp="1"/>
          </p:cNvGraphicFramePr>
          <p:nvPr>
            <p:extLst>
              <p:ext uri="{D42A27DB-BD31-4B8C-83A1-F6EECF244321}">
                <p14:modId xmlns:p14="http://schemas.microsoft.com/office/powerpoint/2010/main" val="3133933537"/>
              </p:ext>
            </p:extLst>
          </p:nvPr>
        </p:nvGraphicFramePr>
        <p:xfrm>
          <a:off x="947594" y="2992657"/>
          <a:ext cx="7248811" cy="1412240"/>
        </p:xfrm>
        <a:graphic>
          <a:graphicData uri="http://schemas.openxmlformats.org/drawingml/2006/table">
            <a:tbl>
              <a:tblPr firstRow="1">
                <a:tableStyleId>{93296810-A885-4BE3-A3E7-6D5BEEA58F35}</a:tableStyleId>
              </a:tblPr>
              <a:tblGrid>
                <a:gridCol w="1317965">
                  <a:extLst>
                    <a:ext uri="{9D8B030D-6E8A-4147-A177-3AD203B41FA5}">
                      <a16:colId xmlns:a16="http://schemas.microsoft.com/office/drawing/2014/main" val="3668148717"/>
                    </a:ext>
                  </a:extLst>
                </a:gridCol>
                <a:gridCol w="1586699">
                  <a:extLst>
                    <a:ext uri="{9D8B030D-6E8A-4147-A177-3AD203B41FA5}">
                      <a16:colId xmlns:a16="http://schemas.microsoft.com/office/drawing/2014/main" val="2999630155"/>
                    </a:ext>
                  </a:extLst>
                </a:gridCol>
                <a:gridCol w="1996812">
                  <a:extLst>
                    <a:ext uri="{9D8B030D-6E8A-4147-A177-3AD203B41FA5}">
                      <a16:colId xmlns:a16="http://schemas.microsoft.com/office/drawing/2014/main" val="3210088891"/>
                    </a:ext>
                  </a:extLst>
                </a:gridCol>
                <a:gridCol w="2347335">
                  <a:extLst>
                    <a:ext uri="{9D8B030D-6E8A-4147-A177-3AD203B41FA5}">
                      <a16:colId xmlns:a16="http://schemas.microsoft.com/office/drawing/2014/main" val="4171122167"/>
                    </a:ext>
                  </a:extLst>
                </a:gridCol>
              </a:tblGrid>
              <a:tr h="0">
                <a:tc>
                  <a:txBody>
                    <a:bodyPr/>
                    <a:lstStyle/>
                    <a:p>
                      <a:pPr marL="0" marR="0" fontAlgn="t">
                        <a:buNone/>
                      </a:pPr>
                      <a:r>
                        <a:rPr lang="en-US" sz="1100" b="1">
                          <a:effectLst/>
                        </a:rPr>
                        <a:t>Scenario</a:t>
                      </a:r>
                      <a:endParaRPr lang="en-US" sz="1100">
                        <a:effectLst/>
                        <a:latin typeface="Google Sans Text"/>
                      </a:endParaRPr>
                    </a:p>
                  </a:txBody>
                  <a:tcPr marL="50800" marR="50800" marT="50800" marB="50800"/>
                </a:tc>
                <a:tc>
                  <a:txBody>
                    <a:bodyPr/>
                    <a:lstStyle/>
                    <a:p>
                      <a:pPr marL="0" marR="0" fontAlgn="t">
                        <a:buNone/>
                      </a:pPr>
                      <a:r>
                        <a:rPr lang="en-US" sz="1100" b="1">
                          <a:effectLst/>
                        </a:rPr>
                        <a:t>Event</a:t>
                      </a:r>
                      <a:endParaRPr lang="en-US" sz="1100">
                        <a:effectLst/>
                        <a:latin typeface="Google Sans Text"/>
                      </a:endParaRPr>
                    </a:p>
                  </a:txBody>
                  <a:tcPr marL="50800" marR="50800" marT="50800" marB="50800"/>
                </a:tc>
                <a:tc>
                  <a:txBody>
                    <a:bodyPr/>
                    <a:lstStyle/>
                    <a:p>
                      <a:pPr marL="0" marR="0" fontAlgn="t">
                        <a:buNone/>
                      </a:pPr>
                      <a:r>
                        <a:rPr lang="en-US" sz="1100" b="1">
                          <a:effectLst/>
                        </a:rPr>
                        <a:t>Outcome</a:t>
                      </a:r>
                      <a:endParaRPr lang="en-US" sz="1100">
                        <a:effectLst/>
                        <a:latin typeface="Google Sans Text"/>
                      </a:endParaRPr>
                    </a:p>
                  </a:txBody>
                  <a:tcPr marL="50800" marR="50800" marT="50800" marB="50800"/>
                </a:tc>
                <a:tc>
                  <a:txBody>
                    <a:bodyPr/>
                    <a:lstStyle/>
                    <a:p>
                      <a:pPr marL="0" marR="0" fontAlgn="t">
                        <a:buNone/>
                      </a:pPr>
                      <a:r>
                        <a:rPr lang="en-US" sz="1100" b="1">
                          <a:effectLst/>
                        </a:rPr>
                        <a:t>Cost Impact</a:t>
                      </a:r>
                      <a:endParaRPr lang="en-US" sz="1100">
                        <a:effectLst/>
                        <a:latin typeface="Google Sans Text"/>
                      </a:endParaRPr>
                    </a:p>
                  </a:txBody>
                  <a:tcPr marL="50800" marR="50800" marT="50800" marB="50800"/>
                </a:tc>
                <a:extLst>
                  <a:ext uri="{0D108BD9-81ED-4DB2-BD59-A6C34878D82A}">
                    <a16:rowId xmlns:a16="http://schemas.microsoft.com/office/drawing/2014/main" val="2142372790"/>
                  </a:ext>
                </a:extLst>
              </a:tr>
              <a:tr h="0">
                <a:tc>
                  <a:txBody>
                    <a:bodyPr/>
                    <a:lstStyle/>
                    <a:p>
                      <a:pPr marL="0" marR="0" fontAlgn="t">
                        <a:buNone/>
                      </a:pPr>
                      <a:r>
                        <a:rPr lang="en-US" sz="1100" b="1">
                          <a:effectLst/>
                        </a:rPr>
                        <a:t>False Negative</a:t>
                      </a:r>
                      <a:endParaRPr lang="en-US" sz="1100">
                        <a:effectLst/>
                        <a:latin typeface="Google Sans Text"/>
                      </a:endParaRPr>
                    </a:p>
                  </a:txBody>
                  <a:tcPr marL="50800" marR="50800" marT="50800" marB="50800"/>
                </a:tc>
                <a:tc>
                  <a:txBody>
                    <a:bodyPr/>
                    <a:lstStyle/>
                    <a:p>
                      <a:pPr marL="0" marR="0" fontAlgn="t">
                        <a:buNone/>
                      </a:pPr>
                      <a:r>
                        <a:rPr lang="en-US" sz="1100" b="1">
                          <a:effectLst/>
                        </a:rPr>
                        <a:t>Missed Failure</a:t>
                      </a:r>
                      <a:endParaRPr lang="en-US" sz="1100">
                        <a:effectLst/>
                        <a:latin typeface="Google Sans Text"/>
                      </a:endParaRPr>
                    </a:p>
                  </a:txBody>
                  <a:tcPr marL="50800" marR="50800" marT="50800" marB="50800"/>
                </a:tc>
                <a:tc>
                  <a:txBody>
                    <a:bodyPr/>
                    <a:lstStyle/>
                    <a:p>
                      <a:pPr marL="0" marR="0" fontAlgn="t">
                        <a:buNone/>
                      </a:pPr>
                      <a:r>
                        <a:rPr lang="en-US" sz="1100" b="1">
                          <a:effectLst/>
                        </a:rPr>
                        <a:t>Unplanned Breakdown</a:t>
                      </a:r>
                      <a:endParaRPr lang="en-US" sz="1100">
                        <a:effectLst/>
                        <a:latin typeface="Google Sans Text"/>
                      </a:endParaRPr>
                    </a:p>
                  </a:txBody>
                  <a:tcPr marL="50800" marR="50800" marT="50800" marB="50800"/>
                </a:tc>
                <a:tc>
                  <a:txBody>
                    <a:bodyPr/>
                    <a:lstStyle/>
                    <a:p>
                      <a:pPr marL="0" marR="0" fontAlgn="t">
                        <a:buNone/>
                      </a:pPr>
                      <a:r>
                        <a:rPr lang="en-US" sz="1100">
                          <a:effectLst/>
                        </a:rPr>
                        <a:t>🔴 </a:t>
                      </a:r>
                      <a:r>
                        <a:rPr lang="en-US" sz="1100" b="1">
                          <a:effectLst/>
                        </a:rPr>
                        <a:t>Critical</a:t>
                      </a:r>
                      <a:r>
                        <a:rPr lang="en-US" sz="1100">
                          <a:effectLst/>
                        </a:rPr>
                        <a:t> </a:t>
                      </a:r>
                    </a:p>
                    <a:p>
                      <a:pPr marL="0" marR="0" fontAlgn="t">
                        <a:buNone/>
                      </a:pPr>
                      <a:r>
                        <a:rPr lang="en-US" sz="1100">
                          <a:effectLst/>
                        </a:rPr>
                        <a:t>(Full Replacement)</a:t>
                      </a:r>
                      <a:endParaRPr lang="en-US" sz="1100">
                        <a:effectLst/>
                        <a:latin typeface="Google Sans Text"/>
                      </a:endParaRPr>
                    </a:p>
                  </a:txBody>
                  <a:tcPr marL="50800" marR="50800" marT="50800" marB="50800"/>
                </a:tc>
                <a:extLst>
                  <a:ext uri="{0D108BD9-81ED-4DB2-BD59-A6C34878D82A}">
                    <a16:rowId xmlns:a16="http://schemas.microsoft.com/office/drawing/2014/main" val="685527199"/>
                  </a:ext>
                </a:extLst>
              </a:tr>
              <a:tr h="0">
                <a:tc>
                  <a:txBody>
                    <a:bodyPr/>
                    <a:lstStyle/>
                    <a:p>
                      <a:pPr marL="0" marR="0" fontAlgn="t">
                        <a:buNone/>
                      </a:pPr>
                      <a:r>
                        <a:rPr lang="en-US" sz="1100" b="1">
                          <a:effectLst/>
                        </a:rPr>
                        <a:t>True Positive</a:t>
                      </a:r>
                      <a:endParaRPr lang="en-US" sz="1100">
                        <a:effectLst/>
                        <a:latin typeface="Google Sans Text"/>
                      </a:endParaRPr>
                    </a:p>
                  </a:txBody>
                  <a:tcPr marL="50800" marR="50800" marT="50800" marB="50800"/>
                </a:tc>
                <a:tc>
                  <a:txBody>
                    <a:bodyPr/>
                    <a:lstStyle/>
                    <a:p>
                      <a:pPr marL="0" marR="0" fontAlgn="t">
                        <a:buNone/>
                      </a:pPr>
                      <a:r>
                        <a:rPr lang="en-US" sz="1100" b="1">
                          <a:effectLst/>
                        </a:rPr>
                        <a:t>Correct Prediction</a:t>
                      </a:r>
                      <a:endParaRPr lang="en-US" sz="1100">
                        <a:effectLst/>
                        <a:latin typeface="Google Sans Text"/>
                      </a:endParaRPr>
                    </a:p>
                  </a:txBody>
                  <a:tcPr marL="50800" marR="50800" marT="50800" marB="50800"/>
                </a:tc>
                <a:tc>
                  <a:txBody>
                    <a:bodyPr/>
                    <a:lstStyle/>
                    <a:p>
                      <a:pPr marL="0" marR="0" fontAlgn="t">
                        <a:buNone/>
                      </a:pPr>
                      <a:r>
                        <a:rPr lang="en-US" sz="1100" b="1">
                          <a:effectLst/>
                        </a:rPr>
                        <a:t>Scheduled Repair</a:t>
                      </a:r>
                      <a:endParaRPr lang="en-US" sz="1100">
                        <a:effectLst/>
                        <a:latin typeface="Google Sans Text"/>
                      </a:endParaRPr>
                    </a:p>
                  </a:txBody>
                  <a:tcPr marL="50800" marR="50800" marT="50800" marB="50800"/>
                </a:tc>
                <a:tc>
                  <a:txBody>
                    <a:bodyPr/>
                    <a:lstStyle/>
                    <a:p>
                      <a:pPr marL="0" marR="0" fontAlgn="t">
                        <a:buNone/>
                      </a:pPr>
                      <a:r>
                        <a:rPr lang="en-US" sz="1100">
                          <a:effectLst/>
                        </a:rPr>
                        <a:t>🟡 </a:t>
                      </a:r>
                      <a:r>
                        <a:rPr lang="en-US" sz="1100" b="1">
                          <a:effectLst/>
                        </a:rPr>
                        <a:t>Moderate</a:t>
                      </a:r>
                      <a:r>
                        <a:rPr lang="en-US" sz="1100">
                          <a:effectLst/>
                        </a:rPr>
                        <a:t> (Maintenance)</a:t>
                      </a:r>
                      <a:endParaRPr lang="en-US" sz="1100">
                        <a:effectLst/>
                        <a:latin typeface="Google Sans Text"/>
                      </a:endParaRPr>
                    </a:p>
                  </a:txBody>
                  <a:tcPr marL="50800" marR="50800" marT="50800" marB="50800"/>
                </a:tc>
                <a:extLst>
                  <a:ext uri="{0D108BD9-81ED-4DB2-BD59-A6C34878D82A}">
                    <a16:rowId xmlns:a16="http://schemas.microsoft.com/office/drawing/2014/main" val="1913647019"/>
                  </a:ext>
                </a:extLst>
              </a:tr>
              <a:tr h="0">
                <a:tc>
                  <a:txBody>
                    <a:bodyPr/>
                    <a:lstStyle/>
                    <a:p>
                      <a:pPr marL="0" marR="0" fontAlgn="t">
                        <a:buNone/>
                      </a:pPr>
                      <a:r>
                        <a:rPr lang="en-US" sz="1100" b="1">
                          <a:effectLst/>
                        </a:rPr>
                        <a:t>False Positive</a:t>
                      </a:r>
                      <a:endParaRPr lang="en-US" sz="1100">
                        <a:effectLst/>
                        <a:latin typeface="Google Sans Text"/>
                      </a:endParaRPr>
                    </a:p>
                  </a:txBody>
                  <a:tcPr marL="50800" marR="50800" marT="50800" marB="50800"/>
                </a:tc>
                <a:tc>
                  <a:txBody>
                    <a:bodyPr/>
                    <a:lstStyle/>
                    <a:p>
                      <a:pPr marL="0" marR="0" fontAlgn="t">
                        <a:buNone/>
                      </a:pPr>
                      <a:r>
                        <a:rPr lang="en-US" sz="1100" b="1">
                          <a:effectLst/>
                        </a:rPr>
                        <a:t>False Alarm</a:t>
                      </a:r>
                      <a:endParaRPr lang="en-US" sz="1100">
                        <a:effectLst/>
                        <a:latin typeface="Google Sans Text"/>
                      </a:endParaRPr>
                    </a:p>
                  </a:txBody>
                  <a:tcPr marL="50800" marR="50800" marT="50800" marB="50800"/>
                </a:tc>
                <a:tc>
                  <a:txBody>
                    <a:bodyPr/>
                    <a:lstStyle/>
                    <a:p>
                      <a:pPr marL="0" marR="0" fontAlgn="t">
                        <a:buNone/>
                      </a:pPr>
                      <a:r>
                        <a:rPr lang="en-US" sz="1100" b="1">
                          <a:effectLst/>
                        </a:rPr>
                        <a:t>Unnecessary Inspection</a:t>
                      </a:r>
                      <a:endParaRPr lang="en-US" sz="1100">
                        <a:effectLst/>
                        <a:latin typeface="Google Sans Text"/>
                      </a:endParaRPr>
                    </a:p>
                  </a:txBody>
                  <a:tcPr marL="50800" marR="50800" marT="50800" marB="50800"/>
                </a:tc>
                <a:tc>
                  <a:txBody>
                    <a:bodyPr/>
                    <a:lstStyle/>
                    <a:p>
                      <a:pPr marL="0" marR="0" fontAlgn="t">
                        <a:buNone/>
                      </a:pPr>
                      <a:r>
                        <a:rPr lang="en-US" sz="1100">
                          <a:effectLst/>
                        </a:rPr>
                        <a:t>🟢 </a:t>
                      </a:r>
                      <a:r>
                        <a:rPr lang="en-US" sz="1100" b="1">
                          <a:effectLst/>
                        </a:rPr>
                        <a:t>Low</a:t>
                      </a:r>
                      <a:r>
                        <a:rPr lang="en-US" sz="1100">
                          <a:effectLst/>
                        </a:rPr>
                        <a:t> </a:t>
                      </a:r>
                    </a:p>
                    <a:p>
                      <a:pPr marL="0" marR="0" fontAlgn="t">
                        <a:buNone/>
                      </a:pPr>
                      <a:r>
                        <a:rPr lang="en-US" sz="1100">
                          <a:effectLst/>
                        </a:rPr>
                        <a:t>(Technician Visit)</a:t>
                      </a:r>
                      <a:endParaRPr lang="en-US" sz="1100">
                        <a:effectLst/>
                        <a:latin typeface="Google Sans Text"/>
                      </a:endParaRPr>
                    </a:p>
                  </a:txBody>
                  <a:tcPr marL="50800" marR="50800" marT="50800" marB="50800"/>
                </a:tc>
                <a:extLst>
                  <a:ext uri="{0D108BD9-81ED-4DB2-BD59-A6C34878D82A}">
                    <a16:rowId xmlns:a16="http://schemas.microsoft.com/office/drawing/2014/main" val="370357605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C7DF1EE2-2E9E-1E19-DA5B-3BDE21943247}"/>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0F5B8BB1-9E2D-21DA-93B0-5C6CE88AECC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25" name="Google Shape;125;g12508d39905_0_1">
            <a:extLst>
              <a:ext uri="{FF2B5EF4-FFF2-40B4-BE49-F238E27FC236}">
                <a16:creationId xmlns:a16="http://schemas.microsoft.com/office/drawing/2014/main" id="{E4141EDD-9626-8BE1-EC40-D0E9D836EB9E}"/>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nSpc>
                <a:spcPct val="100000"/>
              </a:lnSpc>
              <a:spcBef>
                <a:spcPts val="600"/>
              </a:spcBef>
              <a:buClr>
                <a:srgbClr val="000000"/>
              </a:buClr>
              <a:buSzPts val="1400"/>
              <a:buNone/>
            </a:pPr>
            <a:r>
              <a:rPr lang="en" sz="1400" b="1">
                <a:solidFill>
                  <a:srgbClr val="000000"/>
                </a:solidFill>
              </a:rPr>
              <a:t>Please mention the solution approach/methodology</a:t>
            </a:r>
          </a:p>
          <a:p>
            <a:pPr marL="274320" lvl="1" indent="0" algn="just" fontAlgn="auto">
              <a:spcBef>
                <a:spcPts val="600"/>
              </a:spcBef>
              <a:buNone/>
            </a:pPr>
            <a:r>
              <a:rPr lang="en-US" sz="1200"/>
              <a:t>The objective is to build various classification models, tune them, and select the best one to identify failures, so the generators can be repaired before failing or breaking, reducing overall maintenance costs. Considering the cost structure is asymmetric and drives every modelling decision, the nature of predictions made by the classification model will translate as follows:</a:t>
            </a:r>
          </a:p>
          <a:p>
            <a:pPr marL="274320" lvl="1" indent="0">
              <a:spcBef>
                <a:spcPts val="600"/>
              </a:spcBef>
              <a:buNone/>
            </a:pPr>
            <a:r>
              <a:rPr lang="en-US" sz="1200" b="1"/>
              <a:t>Missed failure </a:t>
            </a:r>
            <a:r>
              <a:rPr lang="en-US" sz="1200"/>
              <a:t>(False Negative) </a:t>
            </a:r>
          </a:p>
          <a:p>
            <a:pPr marL="731520" lvl="2" indent="0">
              <a:spcBef>
                <a:spcPts val="600"/>
              </a:spcBef>
              <a:buNone/>
            </a:pPr>
            <a:r>
              <a:rPr lang="en-US" sz="1100"/>
              <a:t>Results in unplanned generator breakdown and full replacement — the highest cost outcome</a:t>
            </a:r>
          </a:p>
          <a:p>
            <a:pPr marL="274320" lvl="1" indent="0">
              <a:spcBef>
                <a:spcPts val="600"/>
              </a:spcBef>
              <a:buNone/>
            </a:pPr>
            <a:r>
              <a:rPr lang="en-US" sz="1200" b="1"/>
              <a:t>Correct prediction </a:t>
            </a:r>
            <a:r>
              <a:rPr lang="en-US" sz="1200"/>
              <a:t>(True Positive) </a:t>
            </a:r>
          </a:p>
          <a:p>
            <a:pPr marL="731520" lvl="2" indent="0">
              <a:spcBef>
                <a:spcPts val="600"/>
              </a:spcBef>
              <a:buNone/>
            </a:pPr>
            <a:r>
              <a:rPr lang="en-US" sz="1100"/>
              <a:t>Triggers a scheduled repair — moderate cost, significantly cheaper than replacement</a:t>
            </a:r>
          </a:p>
          <a:p>
            <a:pPr marL="274320" lvl="1" indent="0">
              <a:spcBef>
                <a:spcPts val="600"/>
              </a:spcBef>
              <a:buNone/>
            </a:pPr>
            <a:r>
              <a:rPr lang="en-US" sz="1200" b="1"/>
              <a:t>False alarm </a:t>
            </a:r>
            <a:r>
              <a:rPr lang="en-US" sz="1200"/>
              <a:t>(False Positive) </a:t>
            </a:r>
          </a:p>
          <a:p>
            <a:pPr marL="731520" lvl="2" indent="0">
              <a:spcBef>
                <a:spcPts val="600"/>
              </a:spcBef>
              <a:buNone/>
            </a:pPr>
            <a:r>
              <a:rPr lang="en-US" sz="1100"/>
              <a:t>Rriggers an unnecessary inspection — the lowest cost outcome</a:t>
            </a:r>
          </a:p>
          <a:p>
            <a:pPr marL="274320" lvl="1" indent="0">
              <a:spcBef>
                <a:spcPts val="600"/>
              </a:spcBef>
              <a:buNone/>
            </a:pPr>
            <a:endParaRPr lang="en-US" sz="1200"/>
          </a:p>
          <a:p>
            <a:pPr marL="139700" lvl="0" indent="0" algn="l" rtl="0">
              <a:lnSpc>
                <a:spcPct val="115000"/>
              </a:lnSpc>
              <a:spcBef>
                <a:spcPts val="1000"/>
              </a:spcBef>
              <a:spcAft>
                <a:spcPts val="1000"/>
              </a:spcAft>
              <a:buClr>
                <a:srgbClr val="000000"/>
              </a:buClr>
              <a:buSzPts val="1400"/>
              <a:buNone/>
            </a:pPr>
            <a:endParaRPr sz="1400" b="1">
              <a:solidFill>
                <a:srgbClr val="000000"/>
              </a:solidFill>
            </a:endParaRPr>
          </a:p>
        </p:txBody>
      </p:sp>
    </p:spTree>
    <p:extLst>
      <p:ext uri="{BB962C8B-B14F-4D97-AF65-F5344CB8AC3E}">
        <p14:creationId xmlns:p14="http://schemas.microsoft.com/office/powerpoint/2010/main" val="522086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12508d39905_0_5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EDA Results</a:t>
            </a:r>
            <a:endParaRPr>
              <a:solidFill>
                <a:srgbClr val="1974D2"/>
              </a:solidFill>
            </a:endParaRPr>
          </a:p>
        </p:txBody>
      </p:sp>
      <p:sp>
        <p:nvSpPr>
          <p:cNvPr id="131" name="Google Shape;131;g12508d39905_0_54"/>
          <p:cNvSpPr txBox="1">
            <a:spLocks noGrp="1"/>
          </p:cNvSpPr>
          <p:nvPr>
            <p:ph type="body" idx="1"/>
          </p:nvPr>
        </p:nvSpPr>
        <p:spPr>
          <a:xfrm>
            <a:off x="257100" y="513631"/>
            <a:ext cx="8629800" cy="4225283"/>
          </a:xfrm>
          <a:prstGeom prst="rect">
            <a:avLst/>
          </a:prstGeom>
          <a:noFill/>
          <a:ln>
            <a:noFill/>
          </a:ln>
        </p:spPr>
        <p:txBody>
          <a:bodyPr spcFirstLastPara="1" wrap="square" lIns="91425" tIns="91425" rIns="91425" bIns="91425" anchor="t" anchorCtr="0">
            <a:noAutofit/>
          </a:bodyPr>
          <a:lstStyle/>
          <a:p>
            <a:pPr marL="0" indent="0">
              <a:spcBef>
                <a:spcPts val="1000"/>
              </a:spcBef>
              <a:buNone/>
            </a:pPr>
            <a:r>
              <a:rPr lang="en-US" sz="1400" b="1">
                <a:solidFill>
                  <a:srgbClr val="000000"/>
                </a:solidFill>
              </a:rPr>
              <a:t>The training dataset</a:t>
            </a:r>
          </a:p>
          <a:p>
            <a:pPr marL="274320" lvl="1" indent="0">
              <a:spcBef>
                <a:spcPts val="600"/>
              </a:spcBef>
              <a:buNone/>
            </a:pPr>
            <a:r>
              <a:rPr lang="en-US" sz="1200" b="1"/>
              <a:t>Dataset Dimensions: </a:t>
            </a:r>
          </a:p>
          <a:p>
            <a:pPr marL="731520" lvl="2" indent="0">
              <a:spcBef>
                <a:spcPts val="600"/>
              </a:spcBef>
              <a:buNone/>
            </a:pPr>
            <a:r>
              <a:rPr lang="en-US" sz="1100"/>
              <a:t>20,000 training records | 5,000 test records.</a:t>
            </a:r>
          </a:p>
          <a:p>
            <a:pPr marL="274320" lvl="1" indent="0">
              <a:spcBef>
                <a:spcPts val="600"/>
              </a:spcBef>
              <a:buNone/>
            </a:pPr>
            <a:r>
              <a:rPr lang="en-US" sz="1200" b="1"/>
              <a:t>Feature Profile: </a:t>
            </a:r>
          </a:p>
          <a:p>
            <a:pPr marL="731520" lvl="2" indent="0">
              <a:spcBef>
                <a:spcPts val="600"/>
              </a:spcBef>
              <a:buNone/>
            </a:pPr>
            <a:r>
              <a:rPr lang="en-US" sz="1100"/>
              <a:t>40 numerical sensor inputs (float64) and 1 binary integer target.</a:t>
            </a:r>
          </a:p>
          <a:p>
            <a:pPr marL="274320" lvl="1" indent="0">
              <a:spcBef>
                <a:spcPts val="600"/>
              </a:spcBef>
              <a:buNone/>
            </a:pPr>
            <a:r>
              <a:rPr lang="en-US" sz="1200" b="1"/>
              <a:t>Class Definition:</a:t>
            </a:r>
            <a:r>
              <a:rPr lang="en-US" sz="1200"/>
              <a:t> </a:t>
            </a:r>
          </a:p>
          <a:p>
            <a:pPr marL="731520" lvl="2" indent="0">
              <a:spcBef>
                <a:spcPts val="600"/>
              </a:spcBef>
              <a:buNone/>
            </a:pPr>
            <a:r>
              <a:rPr lang="en-US" sz="1100"/>
              <a:t>0 (Normal Operation) vs. 1 (Equipment Failure).</a:t>
            </a:r>
          </a:p>
          <a:p>
            <a:pPr marL="274320" lvl="1" indent="0">
              <a:spcBef>
                <a:spcPts val="600"/>
              </a:spcBef>
              <a:buNone/>
            </a:pPr>
            <a:r>
              <a:rPr lang="en-US" sz="1200" b="1"/>
              <a:t>Data Integrity</a:t>
            </a:r>
            <a:r>
              <a:rPr lang="en-US" sz="1200"/>
              <a:t>: </a:t>
            </a:r>
          </a:p>
          <a:p>
            <a:pPr marL="731520" lvl="2" indent="0">
              <a:spcBef>
                <a:spcPts val="600"/>
              </a:spcBef>
              <a:buNone/>
            </a:pPr>
            <a:r>
              <a:rPr lang="en-US" sz="1100"/>
              <a:t>38 of 40 features were 100% complete.</a:t>
            </a:r>
          </a:p>
          <a:p>
            <a:pPr marL="274320" lvl="1" indent="0">
              <a:spcBef>
                <a:spcPts val="600"/>
              </a:spcBef>
              <a:buNone/>
            </a:pPr>
            <a:r>
              <a:rPr lang="en-US" sz="1200" b="1"/>
              <a:t>Missing Value Strategy: </a:t>
            </a:r>
          </a:p>
          <a:p>
            <a:pPr marL="731520" lvl="2" indent="0">
              <a:spcBef>
                <a:spcPts val="600"/>
              </a:spcBef>
              <a:buNone/>
            </a:pPr>
            <a:r>
              <a:rPr lang="en-US" sz="1100"/>
              <a:t>Features V1 and V2 contained missing values(approx 0.09). These were resolved via Median Imputation to maintain the integrity of the feature distributions while being robust to potential outliers.</a:t>
            </a:r>
          </a:p>
          <a:p>
            <a:pPr marL="274320" lvl="1" indent="0">
              <a:spcBef>
                <a:spcPts val="600"/>
              </a:spcBef>
              <a:buNone/>
            </a:pPr>
            <a:r>
              <a:rPr lang="en-US" sz="1200" b="1"/>
              <a:t>Metadata Quality:</a:t>
            </a:r>
          </a:p>
          <a:p>
            <a:pPr marL="731520" lvl="2" indent="0">
              <a:spcBef>
                <a:spcPts val="600"/>
              </a:spcBef>
              <a:buNone/>
            </a:pPr>
            <a:r>
              <a:rPr lang="en-US" sz="1100"/>
              <a:t>For security reasons, the feature names were scrambled, creating meaningless names. It diffuses the quality of the analysis due to a lack of better context</a:t>
            </a:r>
          </a:p>
        </p:txBody>
      </p:sp>
      <p:sp>
        <p:nvSpPr>
          <p:cNvPr id="132" name="Google Shape;132;g12508d39905_0_54"/>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data background check</a:t>
            </a:r>
            <a:endParaRPr sz="1200" b="0" i="1" u="none" strike="noStrike" cap="none">
              <a:solidFill>
                <a:srgbClr val="666666"/>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12508d39905_0_10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rgbClr val="2D3B45"/>
              </a:buClr>
              <a:buSzPts val="1400"/>
              <a:buNone/>
            </a:pPr>
            <a:r>
              <a:rPr lang="en" sz="1400" b="1">
                <a:solidFill>
                  <a:srgbClr val="2D3B45"/>
                </a:solidFill>
                <a:highlight>
                  <a:srgbClr val="FFFFFF"/>
                </a:highlight>
              </a:rPr>
              <a:t>Duplicate value check</a:t>
            </a:r>
          </a:p>
          <a:p>
            <a:pPr marL="596900" lvl="1" indent="0">
              <a:spcBef>
                <a:spcPts val="0"/>
              </a:spcBef>
              <a:buClr>
                <a:srgbClr val="2D3B45"/>
              </a:buClr>
              <a:buSzPts val="1400"/>
              <a:buNone/>
            </a:pPr>
            <a:r>
              <a:rPr lang="en" sz="1200">
                <a:solidFill>
                  <a:srgbClr val="2D3B45"/>
                </a:solidFill>
                <a:highlight>
                  <a:srgbClr val="FFFFFF"/>
                </a:highlight>
              </a:rPr>
              <a:t>No Duplicate value found in Train and Test.</a:t>
            </a:r>
            <a:endParaRPr sz="1200">
              <a:solidFill>
                <a:srgbClr val="2D3B45"/>
              </a:solidFill>
              <a:highlight>
                <a:srgbClr val="FFFFFF"/>
              </a:highlight>
            </a:endParaRPr>
          </a:p>
          <a:p>
            <a:pPr marL="139700" lvl="0" indent="0" algn="l" rtl="0">
              <a:lnSpc>
                <a:spcPct val="115000"/>
              </a:lnSpc>
              <a:spcBef>
                <a:spcPts val="1000"/>
              </a:spcBef>
              <a:spcAft>
                <a:spcPts val="0"/>
              </a:spcAft>
              <a:buClr>
                <a:srgbClr val="2D3B45"/>
              </a:buClr>
              <a:buSzPts val="1400"/>
              <a:buNone/>
            </a:pPr>
            <a:r>
              <a:rPr lang="en" sz="1400" b="1">
                <a:solidFill>
                  <a:srgbClr val="2D3B45"/>
                </a:solidFill>
                <a:highlight>
                  <a:srgbClr val="FFFFFF"/>
                </a:highlight>
              </a:rPr>
              <a:t>Missing value treatment</a:t>
            </a:r>
          </a:p>
          <a:p>
            <a:pPr marL="596900" lvl="1" indent="0">
              <a:spcBef>
                <a:spcPts val="1000"/>
              </a:spcBef>
              <a:buClr>
                <a:srgbClr val="2D3B45"/>
              </a:buClr>
              <a:buSzPts val="1400"/>
              <a:buNone/>
            </a:pPr>
            <a:r>
              <a:rPr lang="en-US" sz="1200">
                <a:highlight>
                  <a:srgbClr val="FFFFFF"/>
                </a:highlight>
              </a:rPr>
              <a:t>The training data </a:t>
            </a:r>
            <a:r>
              <a:rPr lang="en-US" sz="1200"/>
              <a:t>features V1 and V2 contained missing values(approximately</a:t>
            </a:r>
            <a:r>
              <a:rPr lang="en-US" sz="1200">
                <a:highlight>
                  <a:srgbClr val="FFFFFF"/>
                </a:highlight>
              </a:rPr>
              <a:t> 0.09). These were resolved via Median Imputation to maintain the integrity of the feature distributions while being robust to potential outliers. We applied the same procedure to missing V1 and V2 features in the test data.</a:t>
            </a:r>
          </a:p>
          <a:p>
            <a:pPr marL="0" lvl="0" indent="0" algn="l" rtl="0">
              <a:lnSpc>
                <a:spcPct val="115000"/>
              </a:lnSpc>
              <a:spcBef>
                <a:spcPts val="1000"/>
              </a:spcBef>
              <a:spcAft>
                <a:spcPts val="0"/>
              </a:spcAft>
              <a:buSzPts val="1500"/>
              <a:buNone/>
            </a:pPr>
            <a:endParaRPr sz="140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305199FE-4C09-B7D6-24CD-F422EBACA994}"/>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440417F5-FFF7-CB85-2C68-CD9D8E010B2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a:extLst>
              <a:ext uri="{FF2B5EF4-FFF2-40B4-BE49-F238E27FC236}">
                <a16:creationId xmlns:a16="http://schemas.microsoft.com/office/drawing/2014/main" id="{6E586CD5-D8CF-3D64-556F-8AB89A33FD0C}"/>
              </a:ext>
            </a:extLst>
          </p:cNvPr>
          <p:cNvSpPr txBox="1">
            <a:spLocks noGrp="1"/>
          </p:cNvSpPr>
          <p:nvPr>
            <p:ph type="body" idx="1"/>
          </p:nvPr>
        </p:nvSpPr>
        <p:spPr>
          <a:xfrm>
            <a:off x="202550" y="74718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2D3B45"/>
              </a:buClr>
              <a:buSzPts val="1400"/>
              <a:buNone/>
            </a:pPr>
            <a:r>
              <a:rPr lang="en" sz="1400" b="1">
                <a:solidFill>
                  <a:srgbClr val="2D3B45"/>
                </a:solidFill>
                <a:highlight>
                  <a:srgbClr val="FFFFFF"/>
                </a:highlight>
              </a:rPr>
              <a:t>Outlier check (</a:t>
            </a:r>
            <a:r>
              <a:rPr lang="en" sz="1400" b="1">
                <a:solidFill>
                  <a:srgbClr val="2D3B45"/>
                </a:solidFill>
                <a:highlight>
                  <a:schemeClr val="lt1"/>
                </a:highlight>
              </a:rPr>
              <a:t>treatment </a:t>
            </a:r>
            <a:r>
              <a:rPr lang="en" sz="1400" b="1">
                <a:solidFill>
                  <a:srgbClr val="2D3B45"/>
                </a:solidFill>
                <a:highlight>
                  <a:srgbClr val="FFFFFF"/>
                </a:highlight>
              </a:rPr>
              <a:t>if needed)</a:t>
            </a:r>
          </a:p>
          <a:p>
            <a:pPr marL="548640" lvl="1" indent="0">
              <a:lnSpc>
                <a:spcPct val="100000"/>
              </a:lnSpc>
              <a:spcBef>
                <a:spcPts val="600"/>
              </a:spcBef>
              <a:buClr>
                <a:srgbClr val="2D3B45"/>
              </a:buClr>
              <a:buSzPts val="1400"/>
              <a:buNone/>
            </a:pPr>
            <a:r>
              <a:rPr lang="en" sz="1200">
                <a:solidFill>
                  <a:srgbClr val="2D3B45"/>
                </a:solidFill>
                <a:highlight>
                  <a:srgbClr val="FFFFFF"/>
                </a:highlight>
              </a:rPr>
              <a:t>The outlier rates are low but not zero. V34 is the highest in the dataset.</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The spikes are important; we kept the outliers because these are the way </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for the turbine to notify that it is about to break. V18 and V15 are in the top 5</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Predictors. They are the most correlated with failure.  If we removed then </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we would get rid of the most informative signal in the dataset.</a:t>
            </a:r>
          </a:p>
          <a:p>
            <a:pPr marL="548640" lvl="1" indent="0">
              <a:lnSpc>
                <a:spcPct val="100000"/>
              </a:lnSpc>
              <a:spcBef>
                <a:spcPts val="600"/>
              </a:spcBef>
              <a:buClr>
                <a:srgbClr val="2D3B45"/>
              </a:buClr>
              <a:buSzPts val="1400"/>
              <a:buNone/>
            </a:pPr>
            <a:endParaRPr lang="en-US" sz="1200">
              <a:solidFill>
                <a:srgbClr val="2D3B45"/>
              </a:solidFill>
              <a:highlight>
                <a:srgbClr val="FFFFFF"/>
              </a:highlight>
            </a:endParaRPr>
          </a:p>
          <a:p>
            <a:pPr marL="548640" lvl="1" indent="0">
              <a:lnSpc>
                <a:spcPct val="100000"/>
              </a:lnSpc>
              <a:spcBef>
                <a:spcPts val="600"/>
              </a:spcBef>
              <a:buClr>
                <a:srgbClr val="2D3B45"/>
              </a:buClr>
              <a:buSzPts val="1400"/>
              <a:buNone/>
            </a:pPr>
            <a:r>
              <a:rPr lang="en-US" sz="1200">
                <a:solidFill>
                  <a:srgbClr val="2D3B45"/>
                </a:solidFill>
                <a:highlight>
                  <a:srgbClr val="FFFFFF"/>
                </a:highlight>
              </a:rPr>
              <a:t>Relu also handles outliers well, another reason to keep them. </a:t>
            </a:r>
          </a:p>
          <a:p>
            <a:pPr marL="548640" lvl="1" indent="0">
              <a:lnSpc>
                <a:spcPct val="100000"/>
              </a:lnSpc>
              <a:spcBef>
                <a:spcPts val="600"/>
              </a:spcBef>
              <a:buClr>
                <a:srgbClr val="2D3B45"/>
              </a:buClr>
              <a:buSzPts val="1400"/>
              <a:buNone/>
            </a:pPr>
            <a:endParaRPr lang="en-US" sz="1200">
              <a:solidFill>
                <a:srgbClr val="2D3B45"/>
              </a:solidFill>
              <a:highlight>
                <a:srgbClr val="FFFFFF"/>
              </a:highlight>
            </a:endParaRPr>
          </a:p>
          <a:p>
            <a:pPr marL="548640" lvl="1" indent="0">
              <a:lnSpc>
                <a:spcPct val="100000"/>
              </a:lnSpc>
              <a:spcBef>
                <a:spcPts val="600"/>
              </a:spcBef>
              <a:buClr>
                <a:srgbClr val="2D3B45"/>
              </a:buClr>
              <a:buSzPts val="1400"/>
              <a:buNone/>
            </a:pPr>
            <a:endParaRPr sz="120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graphicFrame>
        <p:nvGraphicFramePr>
          <p:cNvPr id="2" name="Table 1">
            <a:extLst>
              <a:ext uri="{FF2B5EF4-FFF2-40B4-BE49-F238E27FC236}">
                <a16:creationId xmlns:a16="http://schemas.microsoft.com/office/drawing/2014/main" id="{985AB1CF-F433-180A-64C2-5566F65FB378}"/>
              </a:ext>
            </a:extLst>
          </p:cNvPr>
          <p:cNvGraphicFramePr>
            <a:graphicFrameLocks noGrp="1"/>
          </p:cNvGraphicFramePr>
          <p:nvPr>
            <p:extLst>
              <p:ext uri="{D42A27DB-BD31-4B8C-83A1-F6EECF244321}">
                <p14:modId xmlns:p14="http://schemas.microsoft.com/office/powerpoint/2010/main" val="3853162444"/>
              </p:ext>
            </p:extLst>
          </p:nvPr>
        </p:nvGraphicFramePr>
        <p:xfrm>
          <a:off x="7076490" y="1093342"/>
          <a:ext cx="1290218" cy="3129280"/>
        </p:xfrm>
        <a:graphic>
          <a:graphicData uri="http://schemas.openxmlformats.org/drawingml/2006/table">
            <a:tbl>
              <a:tblPr firstRow="1">
                <a:tableStyleId>{93296810-A885-4BE3-A3E7-6D5BEEA58F35}</a:tableStyleId>
              </a:tblPr>
              <a:tblGrid>
                <a:gridCol w="674138">
                  <a:extLst>
                    <a:ext uri="{9D8B030D-6E8A-4147-A177-3AD203B41FA5}">
                      <a16:colId xmlns:a16="http://schemas.microsoft.com/office/drawing/2014/main" val="3319941011"/>
                    </a:ext>
                  </a:extLst>
                </a:gridCol>
                <a:gridCol w="616080">
                  <a:extLst>
                    <a:ext uri="{9D8B030D-6E8A-4147-A177-3AD203B41FA5}">
                      <a16:colId xmlns:a16="http://schemas.microsoft.com/office/drawing/2014/main" val="2632971080"/>
                    </a:ext>
                  </a:extLst>
                </a:gridCol>
              </a:tblGrid>
              <a:tr h="0">
                <a:tc>
                  <a:txBody>
                    <a:bodyPr/>
                    <a:lstStyle/>
                    <a:p>
                      <a:pPr marL="0" marR="0" fontAlgn="t">
                        <a:buNone/>
                      </a:pPr>
                      <a:r>
                        <a:rPr lang="en-US" sz="1100" b="1">
                          <a:effectLst/>
                        </a:rPr>
                        <a:t>Feature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Outlier %</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837835391"/>
                  </a:ext>
                </a:extLst>
              </a:tr>
              <a:tr h="0">
                <a:tc>
                  <a:txBody>
                    <a:bodyPr/>
                    <a:lstStyle/>
                    <a:p>
                      <a:pPr marL="0" marR="0" fontAlgn="t">
                        <a:buNone/>
                      </a:pPr>
                      <a:r>
                        <a:rPr lang="en-US" sz="1100">
                          <a:effectLst/>
                        </a:rPr>
                        <a:t>V34</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4.02%</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264254620"/>
                  </a:ext>
                </a:extLst>
              </a:tr>
              <a:tr h="0">
                <a:tc>
                  <a:txBody>
                    <a:bodyPr/>
                    <a:lstStyle/>
                    <a:p>
                      <a:pPr marL="0" marR="0" fontAlgn="t">
                        <a:buNone/>
                      </a:pPr>
                      <a:r>
                        <a:rPr lang="en-US" sz="1100">
                          <a:effectLst/>
                        </a:rPr>
                        <a:t>V18</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3.66%</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290967794"/>
                  </a:ext>
                </a:extLst>
              </a:tr>
              <a:tr h="0">
                <a:tc>
                  <a:txBody>
                    <a:bodyPr/>
                    <a:lstStyle/>
                    <a:p>
                      <a:pPr marL="0" marR="0" fontAlgn="t">
                        <a:buNone/>
                      </a:pPr>
                      <a:r>
                        <a:rPr lang="en-US" sz="1100">
                          <a:effectLst/>
                        </a:rPr>
                        <a:t>V15</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2.57%</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271204175"/>
                  </a:ext>
                </a:extLst>
              </a:tr>
              <a:tr h="0">
                <a:tc>
                  <a:txBody>
                    <a:bodyPr/>
                    <a:lstStyle/>
                    <a:p>
                      <a:pPr marL="0" marR="0" fontAlgn="t">
                        <a:buNone/>
                      </a:pPr>
                      <a:r>
                        <a:rPr lang="en-US" sz="1100">
                          <a:effectLst/>
                        </a:rPr>
                        <a:t>V33</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1.92%</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780092041"/>
                  </a:ext>
                </a:extLst>
              </a:tr>
              <a:tr h="0">
                <a:tc>
                  <a:txBody>
                    <a:bodyPr/>
                    <a:lstStyle/>
                    <a:p>
                      <a:pPr marL="0" marR="0" fontAlgn="t">
                        <a:buNone/>
                      </a:pPr>
                      <a:r>
                        <a:rPr lang="en-US" sz="1100">
                          <a:effectLst/>
                        </a:rPr>
                        <a:t>V29</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1.68%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818269661"/>
                  </a:ext>
                </a:extLst>
              </a:tr>
              <a:tr h="0">
                <a:tc>
                  <a:txBody>
                    <a:bodyPr/>
                    <a:lstStyle/>
                    <a:p>
                      <a:pPr marL="0" marR="0" fontAlgn="t">
                        <a:buNone/>
                      </a:pPr>
                      <a:r>
                        <a:rPr lang="en-US" sz="1100">
                          <a:effectLst/>
                        </a:rPr>
                        <a:t>V35</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1.58%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269114000"/>
                  </a:ext>
                </a:extLst>
              </a:tr>
              <a:tr h="0">
                <a:tc>
                  <a:txBody>
                    <a:bodyPr/>
                    <a:lstStyle/>
                    <a:p>
                      <a:pPr marL="0" marR="0" fontAlgn="t">
                        <a:buNone/>
                      </a:pPr>
                      <a:r>
                        <a:rPr lang="en-US" sz="1100">
                          <a:effectLst/>
                        </a:rPr>
                        <a:t>V24</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1.54%</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521177199"/>
                  </a:ext>
                </a:extLst>
              </a:tr>
              <a:tr h="0">
                <a:tc>
                  <a:txBody>
                    <a:bodyPr/>
                    <a:lstStyle/>
                    <a:p>
                      <a:pPr marL="0" marR="0" fontAlgn="t">
                        <a:buNone/>
                      </a:pPr>
                      <a:r>
                        <a:rPr lang="en-US" sz="1100">
                          <a:effectLst/>
                        </a:rPr>
                        <a:t>V13</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1.52%</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732144233"/>
                  </a:ext>
                </a:extLst>
              </a:tr>
              <a:tr h="0">
                <a:tc>
                  <a:txBody>
                    <a:bodyPr/>
                    <a:lstStyle/>
                    <a:p>
                      <a:pPr marL="0" marR="0" fontAlgn="t">
                        <a:buNone/>
                      </a:pPr>
                      <a:r>
                        <a:rPr lang="en-US" sz="1100">
                          <a:effectLst/>
                        </a:rPr>
                        <a:t>V17</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1.48%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055747582"/>
                  </a:ext>
                </a:extLst>
              </a:tr>
              <a:tr h="0">
                <a:tc>
                  <a:txBody>
                    <a:bodyPr/>
                    <a:lstStyle/>
                    <a:p>
                      <a:pPr marL="0" marR="0" fontAlgn="t">
                        <a:buNone/>
                      </a:pPr>
                      <a:r>
                        <a:rPr lang="en-US" sz="1100">
                          <a:effectLst/>
                        </a:rPr>
                        <a:t>V7</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1.46%</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805664500"/>
                  </a:ext>
                </a:extLst>
              </a:tr>
            </a:tbl>
          </a:graphicData>
        </a:graphic>
      </p:graphicFrame>
    </p:spTree>
    <p:extLst>
      <p:ext uri="{BB962C8B-B14F-4D97-AF65-F5344CB8AC3E}">
        <p14:creationId xmlns:p14="http://schemas.microsoft.com/office/powerpoint/2010/main" val="2083637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2FDA4B09-AA7D-D473-728F-1795BDE4B456}"/>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F9207DD7-327E-90A8-588C-B2C89CA660C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a:extLst>
              <a:ext uri="{FF2B5EF4-FFF2-40B4-BE49-F238E27FC236}">
                <a16:creationId xmlns:a16="http://schemas.microsoft.com/office/drawing/2014/main" id="{E153BDCA-E235-FA6B-810E-2335C313B4A6}"/>
              </a:ext>
            </a:extLst>
          </p:cNvPr>
          <p:cNvSpPr txBox="1">
            <a:spLocks noGrp="1"/>
          </p:cNvSpPr>
          <p:nvPr>
            <p:ph type="body" idx="1"/>
          </p:nvPr>
        </p:nvSpPr>
        <p:spPr>
          <a:xfrm>
            <a:off x="93350" y="513632"/>
            <a:ext cx="8629800" cy="4123682"/>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2D3B45"/>
              </a:buClr>
              <a:buSzPts val="1400"/>
              <a:buNone/>
            </a:pPr>
            <a:r>
              <a:rPr lang="en" sz="1400" b="1">
                <a:solidFill>
                  <a:srgbClr val="2D3B45"/>
                </a:solidFill>
                <a:highlight>
                  <a:srgbClr val="FFFFFF"/>
                </a:highlight>
              </a:rPr>
              <a:t>Feature engineering</a:t>
            </a:r>
          </a:p>
          <a:p>
            <a:pPr marL="596900" lvl="1" indent="0">
              <a:spcBef>
                <a:spcPts val="1000"/>
              </a:spcBef>
              <a:buClr>
                <a:srgbClr val="2D3B45"/>
              </a:buClr>
              <a:buSzPts val="1400"/>
              <a:buNone/>
            </a:pPr>
            <a:r>
              <a:rPr lang="en-US" sz="1200">
                <a:solidFill>
                  <a:srgbClr val="2D3B45"/>
                </a:solidFill>
                <a:highlight>
                  <a:srgbClr val="FFFFFF"/>
                </a:highlight>
              </a:rPr>
              <a:t>Two </a:t>
            </a:r>
            <a:r>
              <a:rPr lang="en-US" sz="1200">
                <a:solidFill>
                  <a:srgbClr val="2D3B45"/>
                </a:solidFill>
              </a:rPr>
              <a:t>transformations were applied to V1 and V2 using</a:t>
            </a:r>
            <a:r>
              <a:rPr lang="en-US" sz="1200">
                <a:solidFill>
                  <a:srgbClr val="2D3B45"/>
                </a:solidFill>
                <a:highlight>
                  <a:srgbClr val="FFFFFF"/>
                </a:highlight>
              </a:rPr>
              <a:t> median imputation. It replaced the 18 values in the training dataset and 5 and 6 values in the test dataset. </a:t>
            </a:r>
          </a:p>
          <a:p>
            <a:pPr marL="596900" lvl="1" indent="0">
              <a:spcBef>
                <a:spcPts val="1000"/>
              </a:spcBef>
              <a:buClr>
                <a:srgbClr val="2D3B45"/>
              </a:buClr>
              <a:buSzPts val="1400"/>
              <a:buNone/>
            </a:pPr>
            <a:r>
              <a:rPr lang="en-US" sz="1200">
                <a:solidFill>
                  <a:srgbClr val="2D3B45"/>
                </a:solidFill>
                <a:highlight>
                  <a:srgbClr val="FFFFFF"/>
                </a:highlight>
              </a:rPr>
              <a:t>StandardScaler normalization transformed all 40 features, changing their basic scale. It helped with</a:t>
            </a:r>
            <a:br>
              <a:rPr lang="en-US" sz="1200">
                <a:solidFill>
                  <a:srgbClr val="2D3B45"/>
                </a:solidFill>
                <a:highlight>
                  <a:srgbClr val="FFFFFF"/>
                </a:highlight>
              </a:rPr>
            </a:br>
            <a:r>
              <a:rPr lang="en-US" sz="1200">
                <a:solidFill>
                  <a:srgbClr val="2D3B45"/>
                </a:solidFill>
                <a:highlight>
                  <a:srgbClr val="FFFFFF"/>
                </a:highlight>
              </a:rPr>
              <a:t>gradient descent. This was not in the low-code notebook. I applied it to enhance </a:t>
            </a:r>
            <a:r>
              <a:rPr lang="en-US" sz="1200">
                <a:solidFill>
                  <a:srgbClr val="2D3B45"/>
                </a:solidFill>
              </a:rPr>
              <a:t>Recall using SMOTE, which I will briefly comment on </a:t>
            </a:r>
            <a:r>
              <a:rPr lang="en-US" sz="1200">
                <a:solidFill>
                  <a:srgbClr val="2D3B45"/>
                </a:solidFill>
                <a:highlight>
                  <a:srgbClr val="FFFFFF"/>
                </a:highlight>
              </a:rPr>
              <a:t>at the end.</a:t>
            </a:r>
          </a:p>
          <a:p>
            <a:pPr marL="596900" lvl="1" indent="0">
              <a:spcBef>
                <a:spcPts val="1000"/>
              </a:spcBef>
              <a:buClr>
                <a:srgbClr val="2D3B45"/>
              </a:buClr>
              <a:buSzPts val="1400"/>
              <a:buNone/>
            </a:pPr>
            <a:r>
              <a:rPr lang="en-US" sz="1200">
                <a:solidFill>
                  <a:srgbClr val="2D3B45"/>
                </a:solidFill>
                <a:highlight>
                  <a:srgbClr val="FFFFFF"/>
                </a:highlight>
              </a:rPr>
              <a:t>Feature engineering was intentionally minimal. </a:t>
            </a:r>
          </a:p>
          <a:p>
            <a:pPr marL="596900" lvl="1" indent="0">
              <a:spcBef>
                <a:spcPts val="1000"/>
              </a:spcBef>
              <a:buClr>
                <a:srgbClr val="2D3B45"/>
              </a:buClr>
              <a:buSzPts val="1400"/>
              <a:buNone/>
            </a:pPr>
            <a:r>
              <a:rPr lang="en-US" sz="1200">
                <a:solidFill>
                  <a:srgbClr val="2D3B45"/>
                </a:solidFill>
                <a:highlight>
                  <a:srgbClr val="FFFFFF"/>
                </a:highlight>
              </a:rPr>
              <a:t>We considered applying dimensionality reduction because of the 40 features. It was not applied because NN handles these features well. </a:t>
            </a:r>
          </a:p>
          <a:p>
            <a:pPr marL="596900" lvl="1" indent="0">
              <a:spcBef>
                <a:spcPts val="1000"/>
              </a:spcBef>
              <a:buClr>
                <a:srgbClr val="2D3B45"/>
              </a:buClr>
              <a:buSzPts val="1400"/>
              <a:buNone/>
            </a:pPr>
            <a:r>
              <a:rPr lang="en-US" sz="1200">
                <a:solidFill>
                  <a:srgbClr val="2D3B45"/>
                </a:solidFill>
                <a:highlight>
                  <a:srgbClr val="FFFFFF"/>
                </a:highlight>
              </a:rPr>
              <a:t>Feature vs Feature correlation is &lt;0.3, mostly low. There is low redundancy and high density.</a:t>
            </a:r>
          </a:p>
          <a:p>
            <a:pPr marL="596900" lvl="1" indent="0">
              <a:spcBef>
                <a:spcPts val="1000"/>
              </a:spcBef>
              <a:buClr>
                <a:srgbClr val="2D3B45"/>
              </a:buClr>
              <a:buSzPts val="1400"/>
              <a:buNone/>
            </a:pPr>
            <a:r>
              <a:rPr lang="en-US" sz="1200">
                <a:solidFill>
                  <a:srgbClr val="2D3B45"/>
                </a:solidFill>
                <a:highlight>
                  <a:srgbClr val="FFFFFF"/>
                </a:highlight>
              </a:rPr>
              <a:t>Feature vs Target correlation is small; It requires a deep learning model to find patterns</a:t>
            </a:r>
            <a:endParaRPr sz="120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spTree>
    <p:extLst>
      <p:ext uri="{BB962C8B-B14F-4D97-AF65-F5344CB8AC3E}">
        <p14:creationId xmlns:p14="http://schemas.microsoft.com/office/powerpoint/2010/main" val="704702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AD2CE1FE-D235-0D84-E203-366AAC88DA13}"/>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85A8CC20-7E3C-BD14-F7CF-94DD39BE8C3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a:extLst>
              <a:ext uri="{FF2B5EF4-FFF2-40B4-BE49-F238E27FC236}">
                <a16:creationId xmlns:a16="http://schemas.microsoft.com/office/drawing/2014/main" id="{A41FD466-4167-FA2D-C4DC-D356308DAA14}"/>
              </a:ext>
            </a:extLst>
          </p:cNvPr>
          <p:cNvSpPr txBox="1">
            <a:spLocks noGrp="1"/>
          </p:cNvSpPr>
          <p:nvPr>
            <p:ph type="body" idx="1"/>
          </p:nvPr>
        </p:nvSpPr>
        <p:spPr>
          <a:xfrm>
            <a:off x="93350" y="513632"/>
            <a:ext cx="8629800" cy="4123682"/>
          </a:xfrm>
          <a:prstGeom prst="rect">
            <a:avLst/>
          </a:prstGeom>
          <a:noFill/>
          <a:ln>
            <a:noFill/>
          </a:ln>
        </p:spPr>
        <p:txBody>
          <a:bodyPr spcFirstLastPara="1" wrap="square" lIns="91425" tIns="91425" rIns="91425" bIns="91425" anchor="t" anchorCtr="0">
            <a:noAutofit/>
          </a:bodyPr>
          <a:lstStyle/>
          <a:p>
            <a:pPr marL="139700" indent="0">
              <a:spcBef>
                <a:spcPts val="1000"/>
              </a:spcBef>
              <a:buClr>
                <a:srgbClr val="2D3B45"/>
              </a:buClr>
              <a:buSzPts val="1400"/>
              <a:buNone/>
            </a:pPr>
            <a:r>
              <a:rPr lang="en" sz="1400" b="1">
                <a:solidFill>
                  <a:srgbClr val="2D3B45"/>
                </a:solidFill>
                <a:highlight>
                  <a:srgbClr val="FFFFFF"/>
                </a:highlight>
              </a:rPr>
              <a:t>Data preparation for modeling</a:t>
            </a:r>
          </a:p>
          <a:p>
            <a:pPr marL="596900" lvl="1" indent="0">
              <a:spcBef>
                <a:spcPts val="1000"/>
              </a:spcBef>
              <a:buClr>
                <a:srgbClr val="2D3B45"/>
              </a:buClr>
              <a:buSzPts val="1400"/>
              <a:buNone/>
            </a:pPr>
            <a:r>
              <a:rPr lang="en" sz="1200">
                <a:solidFill>
                  <a:srgbClr val="2D3B45"/>
                </a:solidFill>
                <a:highlight>
                  <a:srgbClr val="FFFFFF"/>
                </a:highlight>
              </a:rPr>
              <a:t>T</a:t>
            </a:r>
            <a:r>
              <a:rPr lang="en-US" sz="1200">
                <a:highlight>
                  <a:srgbClr val="FFFFFF"/>
                </a:highlight>
              </a:rPr>
              <a:t>he target variable is severely imbalanced — 18,890 observations (94.45%) belong to class 0</a:t>
            </a:r>
            <a:r>
              <a:rPr lang="en-US" sz="1200"/>
              <a:t>, and only 1,110 (5.55%) to class 1, resulting in </a:t>
            </a:r>
            <a:r>
              <a:rPr lang="en-US" sz="1200">
                <a:highlight>
                  <a:srgbClr val="FFFFFF"/>
                </a:highlight>
              </a:rPr>
              <a:t>a 17:1 ratio</a:t>
            </a:r>
            <a:r>
              <a:rPr lang="en-US" sz="1000">
                <a:highlight>
                  <a:srgbClr val="FFFFFF"/>
                </a:highlight>
              </a:rPr>
              <a:t>.</a:t>
            </a:r>
            <a:endParaRPr sz="1000" b="1">
              <a:solidFill>
                <a:srgbClr val="2D3B45"/>
              </a:solidFill>
              <a:highlight>
                <a:srgbClr val="FFFFFF"/>
              </a:highlight>
            </a:endParaRPr>
          </a:p>
          <a:p>
            <a:pPr marL="573088" lvl="1" indent="0">
              <a:lnSpc>
                <a:spcPct val="100000"/>
              </a:lnSpc>
              <a:spcBef>
                <a:spcPts val="1000"/>
              </a:spcBef>
              <a:buSzPts val="1500"/>
              <a:buNone/>
            </a:pPr>
            <a:r>
              <a:rPr lang="en-US">
                <a:solidFill>
                  <a:srgbClr val="2D3B45"/>
                </a:solidFill>
                <a:highlight>
                  <a:srgbClr val="FFFFFF"/>
                </a:highlight>
              </a:rPr>
              <a:t>Balance class weights were computed using sklearn compute_class_weight at the rate [0.52, 9.009] to invert the imbalance contribution mentioned above.</a:t>
            </a:r>
            <a:endParaRPr>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spTree>
    <p:extLst>
      <p:ext uri="{BB962C8B-B14F-4D97-AF65-F5344CB8AC3E}">
        <p14:creationId xmlns:p14="http://schemas.microsoft.com/office/powerpoint/2010/main" val="25100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2685eae676_1_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Evaluation Criterion </a:t>
            </a:r>
            <a:endParaRPr>
              <a:solidFill>
                <a:srgbClr val="1974D2"/>
              </a:solidFill>
            </a:endParaRPr>
          </a:p>
        </p:txBody>
      </p:sp>
      <p:sp>
        <p:nvSpPr>
          <p:cNvPr id="144" name="Google Shape;144;g32685eae676_1_1"/>
          <p:cNvSpPr txBox="1">
            <a:spLocks noGrp="1"/>
          </p:cNvSpPr>
          <p:nvPr>
            <p:ph type="body" idx="1"/>
          </p:nvPr>
        </p:nvSpPr>
        <p:spPr>
          <a:xfrm>
            <a:off x="202550" y="870750"/>
            <a:ext cx="8629800" cy="3582489"/>
          </a:xfrm>
          <a:prstGeom prst="rect">
            <a:avLst/>
          </a:prstGeom>
          <a:solidFill>
            <a:schemeClr val="lt1"/>
          </a:solidFill>
          <a:ln>
            <a:noFill/>
          </a:ln>
        </p:spPr>
        <p:txBody>
          <a:bodyPr spcFirstLastPara="1" wrap="square" lIns="91425" tIns="91425" rIns="91425" bIns="91425" anchor="t" anchorCtr="0">
            <a:spAutoFit/>
          </a:bodyPr>
          <a:lstStyle/>
          <a:p>
            <a:pPr marL="139700" lvl="0" indent="0">
              <a:buClr>
                <a:srgbClr val="000000"/>
              </a:buClr>
              <a:buSzPts val="1400"/>
              <a:buNone/>
            </a:pPr>
            <a:endParaRPr lang="en-US" sz="1200">
              <a:highlight>
                <a:schemeClr val="lt1"/>
              </a:highlight>
            </a:endParaRPr>
          </a:p>
          <a:p>
            <a:pPr marL="139700" lvl="0" indent="0">
              <a:buClr>
                <a:srgbClr val="000000"/>
              </a:buClr>
              <a:buSzPts val="1400"/>
              <a:buNone/>
            </a:pPr>
            <a:r>
              <a:rPr lang="en-US" sz="1200">
                <a:highlight>
                  <a:schemeClr val="lt1"/>
                </a:highlight>
              </a:rPr>
              <a:t>Because a missed failure costs significantly more than a false alarm, we cannot rely on standard "Accuracy." We use a specific set of tools to measure performance.</a:t>
            </a:r>
          </a:p>
          <a:p>
            <a:pPr marL="139700" lvl="0" indent="0">
              <a:buClr>
                <a:srgbClr val="000000"/>
              </a:buClr>
              <a:buSzPts val="1400"/>
              <a:buNone/>
            </a:pPr>
            <a:endParaRPr lang="en-US" sz="1200"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Primary metric Recall</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To measure the proportion of actual failures correctly identified by the model. It is the primary business metric because the cost of a turbine is much higher than maintenance costs.</a:t>
            </a:r>
            <a:br>
              <a:rPr lang="en-US" sz="1200">
                <a:solidFill>
                  <a:srgbClr val="000000"/>
                </a:solidFill>
                <a:highlight>
                  <a:schemeClr val="lt1"/>
                </a:highlight>
                <a:latin typeface="Nunito Medium"/>
                <a:ea typeface="Nunito Medium"/>
                <a:cs typeface="Nunito Medium"/>
                <a:sym typeface="Nunito Medium"/>
              </a:rPr>
            </a:br>
            <a:r>
              <a:rPr lang="en-US" sz="1200">
                <a:solidFill>
                  <a:srgbClr val="000000"/>
                </a:solidFill>
                <a:highlight>
                  <a:schemeClr val="lt1"/>
                </a:highlight>
                <a:latin typeface="Nunito Medium"/>
                <a:ea typeface="Nunito Medium"/>
                <a:cs typeface="Nunito Medium"/>
                <a:sym typeface="Nunito Medium"/>
              </a:rPr>
              <a:t>	</a:t>
            </a:r>
            <a:r>
              <a:rPr lang="en-US" sz="1200">
                <a:highlight>
                  <a:schemeClr val="lt1"/>
                </a:highlight>
              </a:rPr>
              <a:t>Recall = TP / (TP + FN). </a:t>
            </a:r>
          </a:p>
          <a:p>
            <a:pPr marL="139700" lvl="0" indent="0">
              <a:buClr>
                <a:srgbClr val="000000"/>
              </a:buClr>
              <a:buSzPts val="1400"/>
              <a:buNone/>
            </a:pPr>
            <a:r>
              <a:rPr lang="en-US" sz="1200">
                <a:highlight>
                  <a:schemeClr val="lt1"/>
                </a:highlight>
              </a:rPr>
              <a:t>	At threshold 0.3: 248 of 282 failures caught → Recall = 0.88</a:t>
            </a:r>
          </a:p>
          <a:p>
            <a:pPr marL="139700" lvl="0" indent="0">
              <a:buClr>
                <a:srgbClr val="000000"/>
              </a:buClr>
              <a:buSzPts val="1400"/>
              <a:buNone/>
            </a:pPr>
            <a:endParaRPr lang="en-US" sz="1200">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Secondary metric Precision</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To measure the proportion of alerts that are genuine failures. It cannot be ignored, as it can cause up to 4718 unnecessary maintenance trips. At that point, the overall cost may surpass the cost of a turbine.</a:t>
            </a:r>
          </a:p>
          <a:p>
            <a:pPr marL="139700" lvl="0" indent="0">
              <a:buClr>
                <a:srgbClr val="000000"/>
              </a:buClr>
              <a:buSzPts val="1400"/>
              <a:buNone/>
            </a:pPr>
            <a:r>
              <a:rPr lang="en-US" sz="1200">
                <a:solidFill>
                  <a:srgbClr val="000000"/>
                </a:solidFill>
                <a:latin typeface="Nunito Medium"/>
                <a:ea typeface="Nunito Medium"/>
                <a:cs typeface="Nunito Medium"/>
                <a:sym typeface="Nunito Medium"/>
              </a:rPr>
              <a:t>	Precision = TP / (TP + FP)</a:t>
            </a:r>
          </a:p>
          <a:p>
            <a:pPr marL="139700" lvl="0" indent="0">
              <a:buClr>
                <a:srgbClr val="000000"/>
              </a:buClr>
              <a:buSzPts val="1400"/>
              <a:buNone/>
            </a:pPr>
            <a:r>
              <a:rPr lang="en-US" sz="1200">
                <a:solidFill>
                  <a:srgbClr val="000000"/>
                </a:solidFill>
                <a:latin typeface="Nunito Medium"/>
                <a:ea typeface="Nunito Medium"/>
                <a:cs typeface="Nunito Medium"/>
                <a:sym typeface="Nunito Medium"/>
              </a:rPr>
              <a:t>	At threshold 0.3:  only ~8 false alarms out of ~256 alerts  →  Precision = 0.97</a:t>
            </a:r>
          </a:p>
          <a:p>
            <a:pPr marL="139700" lvl="0" indent="0">
              <a:buClr>
                <a:srgbClr val="000000"/>
              </a:buClr>
              <a:buSzPts val="1400"/>
              <a:buNone/>
            </a:pPr>
            <a:endParaRPr sz="1200">
              <a:solidFill>
                <a:srgbClr val="000000"/>
              </a:solidFill>
              <a:highlight>
                <a:schemeClr val="lt1"/>
              </a:highlight>
              <a:latin typeface="Nunito Medium"/>
              <a:ea typeface="Nunito Medium"/>
              <a:cs typeface="Nunito Medium"/>
              <a:sym typeface="Nunito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C3C169DD-4CB4-11AC-C478-20444937D161}"/>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1A5EAF93-7B4C-1B6F-64F5-FF8C1B2D349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Evaluation Criterion </a:t>
            </a:r>
            <a:endParaRPr>
              <a:solidFill>
                <a:srgbClr val="1974D2"/>
              </a:solidFill>
            </a:endParaRPr>
          </a:p>
        </p:txBody>
      </p:sp>
      <p:sp>
        <p:nvSpPr>
          <p:cNvPr id="144" name="Google Shape;144;g32685eae676_1_1">
            <a:extLst>
              <a:ext uri="{FF2B5EF4-FFF2-40B4-BE49-F238E27FC236}">
                <a16:creationId xmlns:a16="http://schemas.microsoft.com/office/drawing/2014/main" id="{492A2610-A2CE-4EC4-506F-9E11B6040766}"/>
              </a:ext>
            </a:extLst>
          </p:cNvPr>
          <p:cNvSpPr txBox="1">
            <a:spLocks noGrp="1"/>
          </p:cNvSpPr>
          <p:nvPr>
            <p:ph type="body" idx="1"/>
          </p:nvPr>
        </p:nvSpPr>
        <p:spPr>
          <a:xfrm>
            <a:off x="147950" y="486121"/>
            <a:ext cx="8629800" cy="4909775"/>
          </a:xfrm>
          <a:prstGeom prst="rect">
            <a:avLst/>
          </a:prstGeom>
          <a:noFill/>
          <a:ln>
            <a:noFill/>
          </a:ln>
        </p:spPr>
        <p:txBody>
          <a:bodyPr spcFirstLastPara="1" wrap="square" lIns="91425" tIns="91425" rIns="91425" bIns="91425" anchor="t" anchorCtr="0">
            <a:spAutoFit/>
          </a:bodyPr>
          <a:lstStyle/>
          <a:p>
            <a:pPr marL="139700" lvl="0" indent="0">
              <a:buClr>
                <a:srgbClr val="000000"/>
              </a:buClr>
              <a:buSzPts val="1400"/>
              <a:buNone/>
            </a:pPr>
            <a:endParaRPr lang="en-US" sz="1200">
              <a:highlight>
                <a:schemeClr val="lt1"/>
              </a:highlight>
            </a:endParaRPr>
          </a:p>
          <a:p>
            <a:pPr marL="139700" lvl="0" indent="0">
              <a:buClr>
                <a:srgbClr val="000000"/>
              </a:buClr>
              <a:buSzPts val="1400"/>
              <a:buNone/>
            </a:pPr>
            <a:r>
              <a:rPr lang="en-US" sz="1200">
                <a:highlight>
                  <a:schemeClr val="lt1"/>
                </a:highlight>
              </a:rPr>
              <a:t>Because a missed failure costs significantly more than a false alarm, we cannot rely on standard "Accuracy." We use a specific set of tools to measure performance.</a:t>
            </a:r>
          </a:p>
          <a:p>
            <a:pPr marL="139700" lvl="0" indent="0">
              <a:buClr>
                <a:srgbClr val="000000"/>
              </a:buClr>
              <a:buSzPts val="1400"/>
              <a:buNone/>
            </a:pPr>
            <a:endParaRPr lang="en-US" sz="1200"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Support metric F1</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IT is the harmonic mean of precision and recall. F1 penalizes extreme imbalance between the two. It was not used as </a:t>
            </a:r>
            <a:r>
              <a:rPr lang="en-US" sz="1200">
                <a:solidFill>
                  <a:srgbClr val="000000"/>
                </a:solidFill>
                <a:latin typeface="Nunito Medium"/>
                <a:ea typeface="Nunito Medium"/>
                <a:cs typeface="Nunito Medium"/>
                <a:sym typeface="Nunito Medium"/>
              </a:rPr>
              <a:t>a primary metric because it assumes equal cost for false positives and false negatives</a:t>
            </a:r>
            <a:r>
              <a:rPr lang="en-US" sz="1200">
                <a:solidFill>
                  <a:srgbClr val="000000"/>
                </a:solidFill>
                <a:highlight>
                  <a:schemeClr val="lt1"/>
                </a:highlight>
                <a:latin typeface="Nunito Medium"/>
                <a:ea typeface="Nunito Medium"/>
                <a:cs typeface="Nunito Medium"/>
                <a:sym typeface="Nunito Medium"/>
              </a:rPr>
              <a:t>. For ReneWind false negative is extremely costly for it would mean to replace a turbine.</a:t>
            </a:r>
            <a:br>
              <a:rPr lang="en-US" sz="1200">
                <a:solidFill>
                  <a:srgbClr val="000000"/>
                </a:solidFill>
                <a:highlight>
                  <a:schemeClr val="lt1"/>
                </a:highlight>
                <a:latin typeface="Nunito Medium"/>
                <a:ea typeface="Nunito Medium"/>
                <a:cs typeface="Nunito Medium"/>
                <a:sym typeface="Nunito Medium"/>
              </a:rPr>
            </a:br>
            <a:r>
              <a:rPr lang="en-US" sz="1200">
                <a:solidFill>
                  <a:srgbClr val="000000"/>
                </a:solidFill>
                <a:highlight>
                  <a:schemeClr val="lt1"/>
                </a:highlight>
                <a:latin typeface="Nunito Medium"/>
                <a:ea typeface="Nunito Medium"/>
                <a:cs typeface="Nunito Medium"/>
                <a:sym typeface="Nunito Medium"/>
              </a:rPr>
              <a:t>	</a:t>
            </a: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Reference metric Accuracy</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It was not used for model selection due to class imbalance.</a:t>
            </a:r>
          </a:p>
          <a:p>
            <a:pPr marL="139700" lvl="0" indent="0">
              <a:buClr>
                <a:srgbClr val="000000"/>
              </a:buClr>
              <a:buSzPts val="1400"/>
              <a:buNone/>
            </a:pPr>
            <a:r>
              <a:rPr lang="en-US" sz="1200">
                <a:solidFill>
                  <a:srgbClr val="000000"/>
                </a:solidFill>
                <a:latin typeface="Nunito Medium"/>
                <a:ea typeface="Nunito Medium"/>
                <a:cs typeface="Nunito Medium"/>
                <a:sym typeface="Nunito Medium"/>
              </a:rPr>
              <a:t>	</a:t>
            </a:r>
            <a:endParaRPr lang="en-US" sz="1200">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Threshold Tuning </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Used to maximize Recall, given we want to consider even the borderline fail possibility.</a:t>
            </a:r>
            <a:br>
              <a:rPr lang="en-US" sz="1200" b="1" i="1">
                <a:solidFill>
                  <a:srgbClr val="000000"/>
                </a:solidFill>
                <a:highlight>
                  <a:schemeClr val="lt1"/>
                </a:highlight>
                <a:latin typeface="Nunito Medium"/>
                <a:ea typeface="Nunito Medium"/>
                <a:cs typeface="Nunito Medium"/>
                <a:sym typeface="Nunito Medium"/>
              </a:rPr>
            </a:br>
            <a:r>
              <a:rPr lang="en-US" sz="1050">
                <a:solidFill>
                  <a:srgbClr val="000000"/>
                </a:solidFill>
                <a:highlight>
                  <a:schemeClr val="lt1"/>
                </a:highlight>
                <a:latin typeface="Nunito Medium"/>
                <a:ea typeface="Nunito Medium"/>
                <a:cs typeface="Nunito Medium"/>
                <a:sym typeface="Nunito Medium"/>
              </a:rPr>
              <a:t>The default threshold of 0.5 was reduced to 0.3 across all final evaluations. This adjustment reflects the cost asymmetry directly — at 0.3, the model acts on lower-confidence failure signals, catching borderline cases that would otherwise be missed. The table below shows the effect of the threshold on the key metrics:</a:t>
            </a:r>
          </a:p>
          <a:p>
            <a:pPr marL="139700" lvl="0" indent="0">
              <a:buClr>
                <a:srgbClr val="000000"/>
              </a:buClr>
              <a:buSzPts val="1400"/>
              <a:buNone/>
            </a:pPr>
            <a:r>
              <a:rPr lang="en-US" sz="1050">
                <a:solidFill>
                  <a:srgbClr val="000000"/>
                </a:solidFill>
                <a:highlight>
                  <a:schemeClr val="lt1"/>
                </a:highlight>
                <a:latin typeface="Nunito Medium"/>
                <a:ea typeface="Nunito Medium"/>
                <a:cs typeface="Nunito Medium"/>
                <a:sym typeface="Nunito Medium"/>
              </a:rPr>
              <a:t>Threshold	Recall	Precision	F1	False alarms	Missed failures</a:t>
            </a:r>
          </a:p>
          <a:p>
            <a:pPr marL="139700" lvl="0" indent="0">
              <a:buClr>
                <a:srgbClr val="000000"/>
              </a:buClr>
              <a:buSzPts val="1400"/>
              <a:buNone/>
            </a:pPr>
            <a:r>
              <a:rPr lang="en-US" sz="1050">
                <a:solidFill>
                  <a:srgbClr val="000000"/>
                </a:solidFill>
                <a:highlight>
                  <a:schemeClr val="lt1"/>
                </a:highlight>
                <a:latin typeface="Nunito Medium"/>
                <a:ea typeface="Nunito Medium"/>
                <a:cs typeface="Nunito Medium"/>
                <a:sym typeface="Nunito Medium"/>
              </a:rPr>
              <a:t>0.5	0.86	0.96	0.91	~10	~39</a:t>
            </a:r>
          </a:p>
          <a:p>
            <a:pPr marL="139700" lvl="0" indent="0">
              <a:buClr>
                <a:srgbClr val="000000"/>
              </a:buClr>
              <a:buSzPts val="1400"/>
              <a:buNone/>
            </a:pPr>
            <a:r>
              <a:rPr lang="en-US" sz="1050">
                <a:solidFill>
                  <a:srgbClr val="000000"/>
                </a:solidFill>
                <a:highlight>
                  <a:schemeClr val="lt1"/>
                </a:highlight>
                <a:latin typeface="Nunito Medium"/>
                <a:ea typeface="Nunito Medium"/>
                <a:cs typeface="Nunito Medium"/>
                <a:sym typeface="Nunito Medium"/>
              </a:rPr>
              <a:t>0.3	0.88	0.97	0.92	~8	~34</a:t>
            </a:r>
          </a:p>
          <a:p>
            <a:pPr marL="139700" lvl="0" indent="0">
              <a:buClr>
                <a:srgbClr val="000000"/>
              </a:buClr>
              <a:buSzPts val="1400"/>
              <a:buNone/>
            </a:pPr>
            <a:br>
              <a:rPr lang="en-US" sz="1200" b="1" i="1">
                <a:solidFill>
                  <a:srgbClr val="000000"/>
                </a:solidFill>
                <a:highlight>
                  <a:schemeClr val="lt1"/>
                </a:highlight>
                <a:latin typeface="Nunito Medium"/>
                <a:ea typeface="Nunito Medium"/>
                <a:cs typeface="Nunito Medium"/>
                <a:sym typeface="Nunito Medium"/>
              </a:rPr>
            </a:br>
            <a:endParaRPr lang="en-US" sz="1200" b="1"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endParaRPr lang="en-US" sz="1200" b="1" i="1">
              <a:solidFill>
                <a:srgbClr val="000000"/>
              </a:solidFill>
              <a:latin typeface="Nunito Medium"/>
              <a:ea typeface="Nunito Medium"/>
              <a:cs typeface="Nunito Medium"/>
              <a:sym typeface="Nunito Medium"/>
            </a:endParaRPr>
          </a:p>
        </p:txBody>
      </p:sp>
    </p:spTree>
    <p:extLst>
      <p:ext uri="{BB962C8B-B14F-4D97-AF65-F5344CB8AC3E}">
        <p14:creationId xmlns:p14="http://schemas.microsoft.com/office/powerpoint/2010/main" val="507426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AC21D118-051C-3526-1134-00B7593F8875}"/>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A3686B59-806E-D11A-F294-33F49F76263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Evaluation Criterion </a:t>
            </a:r>
            <a:endParaRPr>
              <a:solidFill>
                <a:srgbClr val="1974D2"/>
              </a:solidFill>
            </a:endParaRPr>
          </a:p>
        </p:txBody>
      </p:sp>
      <p:sp>
        <p:nvSpPr>
          <p:cNvPr id="144" name="Google Shape;144;g32685eae676_1_1">
            <a:extLst>
              <a:ext uri="{FF2B5EF4-FFF2-40B4-BE49-F238E27FC236}">
                <a16:creationId xmlns:a16="http://schemas.microsoft.com/office/drawing/2014/main" id="{FB49673D-97FB-DCED-065D-9A7571D86F91}"/>
              </a:ext>
            </a:extLst>
          </p:cNvPr>
          <p:cNvSpPr txBox="1">
            <a:spLocks noGrp="1"/>
          </p:cNvSpPr>
          <p:nvPr>
            <p:ph type="body" idx="1"/>
          </p:nvPr>
        </p:nvSpPr>
        <p:spPr>
          <a:xfrm>
            <a:off x="147950" y="486121"/>
            <a:ext cx="8629800" cy="1034099"/>
          </a:xfrm>
          <a:prstGeom prst="rect">
            <a:avLst/>
          </a:prstGeom>
          <a:noFill/>
          <a:ln>
            <a:noFill/>
          </a:ln>
        </p:spPr>
        <p:txBody>
          <a:bodyPr spcFirstLastPara="1" wrap="square" lIns="91425" tIns="91425" rIns="91425" bIns="91425" anchor="t" anchorCtr="0">
            <a:spAutoFit/>
          </a:bodyPr>
          <a:lstStyle/>
          <a:p>
            <a:pPr marL="139700" lvl="0" indent="0">
              <a:buClr>
                <a:srgbClr val="000000"/>
              </a:buClr>
              <a:buSzPts val="1400"/>
              <a:buNone/>
            </a:pPr>
            <a:endParaRPr lang="en-US" sz="1200">
              <a:highlight>
                <a:schemeClr val="lt1"/>
              </a:highlight>
            </a:endParaRPr>
          </a:p>
          <a:p>
            <a:pPr marL="139700" lvl="0" indent="0">
              <a:buClr>
                <a:srgbClr val="000000"/>
              </a:buClr>
              <a:buSzPts val="1400"/>
              <a:buNone/>
            </a:pPr>
            <a:br>
              <a:rPr lang="en-US" sz="1200" b="1" i="1">
                <a:solidFill>
                  <a:srgbClr val="000000"/>
                </a:solidFill>
                <a:highlight>
                  <a:schemeClr val="lt1"/>
                </a:highlight>
                <a:latin typeface="Nunito Medium"/>
                <a:ea typeface="Nunito Medium"/>
                <a:cs typeface="Nunito Medium"/>
                <a:sym typeface="Nunito Medium"/>
              </a:rPr>
            </a:br>
            <a:endParaRPr lang="en-US" sz="1200" b="1"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endParaRPr lang="en-US" sz="1200" b="1" i="1">
              <a:solidFill>
                <a:srgbClr val="000000"/>
              </a:solidFill>
              <a:latin typeface="Nunito Medium"/>
              <a:ea typeface="Nunito Medium"/>
              <a:cs typeface="Nunito Medium"/>
              <a:sym typeface="Nunito Medium"/>
            </a:endParaRPr>
          </a:p>
        </p:txBody>
      </p:sp>
      <p:graphicFrame>
        <p:nvGraphicFramePr>
          <p:cNvPr id="2" name="Table 1">
            <a:extLst>
              <a:ext uri="{FF2B5EF4-FFF2-40B4-BE49-F238E27FC236}">
                <a16:creationId xmlns:a16="http://schemas.microsoft.com/office/drawing/2014/main" id="{ED55C722-D2C5-F3DF-CBB6-8D3B4A3446D0}"/>
              </a:ext>
            </a:extLst>
          </p:cNvPr>
          <p:cNvGraphicFramePr>
            <a:graphicFrameLocks noGrp="1"/>
          </p:cNvGraphicFramePr>
          <p:nvPr>
            <p:extLst>
              <p:ext uri="{D42A27DB-BD31-4B8C-83A1-F6EECF244321}">
                <p14:modId xmlns:p14="http://schemas.microsoft.com/office/powerpoint/2010/main" val="3674019570"/>
              </p:ext>
            </p:extLst>
          </p:nvPr>
        </p:nvGraphicFramePr>
        <p:xfrm>
          <a:off x="256050" y="1642870"/>
          <a:ext cx="8521700" cy="2164080"/>
        </p:xfrm>
        <a:graphic>
          <a:graphicData uri="http://schemas.openxmlformats.org/drawingml/2006/table">
            <a:tbl>
              <a:tblPr firstRow="1">
                <a:tableStyleId>{93296810-A885-4BE3-A3E7-6D5BEEA58F35}</a:tableStyleId>
              </a:tblPr>
              <a:tblGrid>
                <a:gridCol w="2130425">
                  <a:extLst>
                    <a:ext uri="{9D8B030D-6E8A-4147-A177-3AD203B41FA5}">
                      <a16:colId xmlns:a16="http://schemas.microsoft.com/office/drawing/2014/main" val="511139790"/>
                    </a:ext>
                  </a:extLst>
                </a:gridCol>
                <a:gridCol w="2130425">
                  <a:extLst>
                    <a:ext uri="{9D8B030D-6E8A-4147-A177-3AD203B41FA5}">
                      <a16:colId xmlns:a16="http://schemas.microsoft.com/office/drawing/2014/main" val="514406006"/>
                    </a:ext>
                  </a:extLst>
                </a:gridCol>
                <a:gridCol w="2130425">
                  <a:extLst>
                    <a:ext uri="{9D8B030D-6E8A-4147-A177-3AD203B41FA5}">
                      <a16:colId xmlns:a16="http://schemas.microsoft.com/office/drawing/2014/main" val="3563574942"/>
                    </a:ext>
                  </a:extLst>
                </a:gridCol>
                <a:gridCol w="2130425">
                  <a:extLst>
                    <a:ext uri="{9D8B030D-6E8A-4147-A177-3AD203B41FA5}">
                      <a16:colId xmlns:a16="http://schemas.microsoft.com/office/drawing/2014/main" val="624669464"/>
                    </a:ext>
                  </a:extLst>
                </a:gridCol>
              </a:tblGrid>
              <a:tr h="0">
                <a:tc>
                  <a:txBody>
                    <a:bodyPr/>
                    <a:lstStyle/>
                    <a:p>
                      <a:pPr>
                        <a:buNone/>
                      </a:pPr>
                      <a:r>
                        <a:rPr lang="en-US"/>
                        <a:t>Metric</a:t>
                      </a:r>
                    </a:p>
                  </a:txBody>
                  <a:tcPr anchor="ctr"/>
                </a:tc>
                <a:tc>
                  <a:txBody>
                    <a:bodyPr/>
                    <a:lstStyle/>
                    <a:p>
                      <a:pPr>
                        <a:buNone/>
                      </a:pPr>
                      <a:r>
                        <a:rPr lang="en-US"/>
                        <a:t>Role</a:t>
                      </a:r>
                    </a:p>
                  </a:txBody>
                  <a:tcPr anchor="ctr"/>
                </a:tc>
                <a:tc>
                  <a:txBody>
                    <a:bodyPr/>
                    <a:lstStyle/>
                    <a:p>
                      <a:pPr>
                        <a:buNone/>
                      </a:pPr>
                      <a:r>
                        <a:rPr lang="en-US"/>
                        <a:t>Formula</a:t>
                      </a:r>
                    </a:p>
                  </a:txBody>
                  <a:tcPr anchor="ctr"/>
                </a:tc>
                <a:tc>
                  <a:txBody>
                    <a:bodyPr/>
                    <a:lstStyle/>
                    <a:p>
                      <a:pPr>
                        <a:buNone/>
                      </a:pPr>
                      <a:r>
                        <a:rPr lang="en-US"/>
                        <a:t>Final value</a:t>
                      </a:r>
                    </a:p>
                  </a:txBody>
                  <a:tcPr anchor="ctr"/>
                </a:tc>
                <a:extLst>
                  <a:ext uri="{0D108BD9-81ED-4DB2-BD59-A6C34878D82A}">
                    <a16:rowId xmlns:a16="http://schemas.microsoft.com/office/drawing/2014/main" val="1232285227"/>
                  </a:ext>
                </a:extLst>
              </a:tr>
              <a:tr h="0">
                <a:tc>
                  <a:txBody>
                    <a:bodyPr/>
                    <a:lstStyle/>
                    <a:p>
                      <a:pPr>
                        <a:buNone/>
                      </a:pPr>
                      <a:r>
                        <a:rPr lang="en-US"/>
                        <a:t>Recall</a:t>
                      </a:r>
                    </a:p>
                  </a:txBody>
                  <a:tcPr anchor="ctr"/>
                </a:tc>
                <a:tc>
                  <a:txBody>
                    <a:bodyPr/>
                    <a:lstStyle/>
                    <a:p>
                      <a:pPr>
                        <a:buNone/>
                      </a:pPr>
                      <a:r>
                        <a:rPr lang="en-US"/>
                        <a:t>Primary — minimise missed failures</a:t>
                      </a:r>
                    </a:p>
                  </a:txBody>
                  <a:tcPr anchor="ctr"/>
                </a:tc>
                <a:tc>
                  <a:txBody>
                    <a:bodyPr/>
                    <a:lstStyle/>
                    <a:p>
                      <a:pPr>
                        <a:buNone/>
                      </a:pPr>
                      <a:r>
                        <a:rPr lang="en-US"/>
                        <a:t>TP / (TP + FN)</a:t>
                      </a:r>
                    </a:p>
                  </a:txBody>
                  <a:tcPr anchor="ctr"/>
                </a:tc>
                <a:tc>
                  <a:txBody>
                    <a:bodyPr/>
                    <a:lstStyle/>
                    <a:p>
                      <a:pPr>
                        <a:buNone/>
                      </a:pPr>
                      <a:r>
                        <a:rPr lang="en-US"/>
                        <a:t>0.88</a:t>
                      </a:r>
                    </a:p>
                  </a:txBody>
                  <a:tcPr anchor="ctr"/>
                </a:tc>
                <a:extLst>
                  <a:ext uri="{0D108BD9-81ED-4DB2-BD59-A6C34878D82A}">
                    <a16:rowId xmlns:a16="http://schemas.microsoft.com/office/drawing/2014/main" val="4210916442"/>
                  </a:ext>
                </a:extLst>
              </a:tr>
              <a:tr h="0">
                <a:tc>
                  <a:txBody>
                    <a:bodyPr/>
                    <a:lstStyle/>
                    <a:p>
                      <a:pPr>
                        <a:buNone/>
                      </a:pPr>
                      <a:r>
                        <a:rPr lang="en-US"/>
                        <a:t>Precision</a:t>
                      </a:r>
                    </a:p>
                  </a:txBody>
                  <a:tcPr anchor="ctr"/>
                </a:tc>
                <a:tc>
                  <a:txBody>
                    <a:bodyPr/>
                    <a:lstStyle/>
                    <a:p>
                      <a:pPr>
                        <a:buNone/>
                      </a:pPr>
                      <a:r>
                        <a:rPr lang="en-US"/>
                        <a:t>Constraint — limit false alarms</a:t>
                      </a:r>
                    </a:p>
                  </a:txBody>
                  <a:tcPr anchor="ctr"/>
                </a:tc>
                <a:tc>
                  <a:txBody>
                    <a:bodyPr/>
                    <a:lstStyle/>
                    <a:p>
                      <a:pPr>
                        <a:buNone/>
                      </a:pPr>
                      <a:r>
                        <a:rPr lang="en-US"/>
                        <a:t>TP / (TP + FP)</a:t>
                      </a:r>
                    </a:p>
                  </a:txBody>
                  <a:tcPr anchor="ctr"/>
                </a:tc>
                <a:tc>
                  <a:txBody>
                    <a:bodyPr/>
                    <a:lstStyle/>
                    <a:p>
                      <a:pPr>
                        <a:buNone/>
                      </a:pPr>
                      <a:r>
                        <a:rPr lang="en-US"/>
                        <a:t>0.97</a:t>
                      </a:r>
                    </a:p>
                  </a:txBody>
                  <a:tcPr anchor="ctr"/>
                </a:tc>
                <a:extLst>
                  <a:ext uri="{0D108BD9-81ED-4DB2-BD59-A6C34878D82A}">
                    <a16:rowId xmlns:a16="http://schemas.microsoft.com/office/drawing/2014/main" val="1689160811"/>
                  </a:ext>
                </a:extLst>
              </a:tr>
              <a:tr h="0">
                <a:tc>
                  <a:txBody>
                    <a:bodyPr/>
                    <a:lstStyle/>
                    <a:p>
                      <a:pPr>
                        <a:buNone/>
                      </a:pPr>
                      <a:r>
                        <a:rPr lang="en-US"/>
                        <a:t>F1 score</a:t>
                      </a:r>
                    </a:p>
                  </a:txBody>
                  <a:tcPr anchor="ctr"/>
                </a:tc>
                <a:tc>
                  <a:txBody>
                    <a:bodyPr/>
                    <a:lstStyle/>
                    <a:p>
                      <a:pPr>
                        <a:buNone/>
                      </a:pPr>
                      <a:r>
                        <a:rPr lang="en-US"/>
                        <a:t>Balance check</a:t>
                      </a:r>
                    </a:p>
                  </a:txBody>
                  <a:tcPr anchor="ctr"/>
                </a:tc>
                <a:tc>
                  <a:txBody>
                    <a:bodyPr/>
                    <a:lstStyle/>
                    <a:p>
                      <a:pPr>
                        <a:buNone/>
                      </a:pPr>
                      <a:r>
                        <a:rPr lang="pt-BR"/>
                        <a:t>2×P×R / (P+R)</a:t>
                      </a:r>
                    </a:p>
                  </a:txBody>
                  <a:tcPr anchor="ctr"/>
                </a:tc>
                <a:tc>
                  <a:txBody>
                    <a:bodyPr/>
                    <a:lstStyle/>
                    <a:p>
                      <a:pPr>
                        <a:buNone/>
                      </a:pPr>
                      <a:r>
                        <a:rPr lang="en-US"/>
                        <a:t>0.92</a:t>
                      </a:r>
                    </a:p>
                  </a:txBody>
                  <a:tcPr anchor="ctr"/>
                </a:tc>
                <a:extLst>
                  <a:ext uri="{0D108BD9-81ED-4DB2-BD59-A6C34878D82A}">
                    <a16:rowId xmlns:a16="http://schemas.microsoft.com/office/drawing/2014/main" val="1836140764"/>
                  </a:ext>
                </a:extLst>
              </a:tr>
              <a:tr h="0">
                <a:tc>
                  <a:txBody>
                    <a:bodyPr/>
                    <a:lstStyle/>
                    <a:p>
                      <a:pPr>
                        <a:buNone/>
                      </a:pPr>
                      <a:r>
                        <a:rPr lang="en-US"/>
                        <a:t>Accuracy</a:t>
                      </a:r>
                    </a:p>
                  </a:txBody>
                  <a:tcPr anchor="ctr"/>
                </a:tc>
                <a:tc>
                  <a:txBody>
                    <a:bodyPr/>
                    <a:lstStyle/>
                    <a:p>
                      <a:pPr>
                        <a:buNone/>
                      </a:pPr>
                      <a:r>
                        <a:rPr lang="en-US"/>
                        <a:t>Reference only — not used for selection</a:t>
                      </a:r>
                    </a:p>
                  </a:txBody>
                  <a:tcPr anchor="ctr"/>
                </a:tc>
                <a:tc>
                  <a:txBody>
                    <a:bodyPr/>
                    <a:lstStyle/>
                    <a:p>
                      <a:pPr>
                        <a:buNone/>
                      </a:pPr>
                      <a:r>
                        <a:rPr lang="en-US"/>
                        <a:t>(TP+TN) / Total</a:t>
                      </a:r>
                    </a:p>
                  </a:txBody>
                  <a:tcPr anchor="ctr"/>
                </a:tc>
                <a:tc>
                  <a:txBody>
                    <a:bodyPr/>
                    <a:lstStyle/>
                    <a:p>
                      <a:pPr>
                        <a:buNone/>
                      </a:pPr>
                      <a:r>
                        <a:rPr lang="en-US"/>
                        <a:t>0.98</a:t>
                      </a:r>
                    </a:p>
                  </a:txBody>
                  <a:tcPr anchor="ctr"/>
                </a:tc>
                <a:extLst>
                  <a:ext uri="{0D108BD9-81ED-4DB2-BD59-A6C34878D82A}">
                    <a16:rowId xmlns:a16="http://schemas.microsoft.com/office/drawing/2014/main" val="844306778"/>
                  </a:ext>
                </a:extLst>
              </a:tr>
            </a:tbl>
          </a:graphicData>
        </a:graphic>
      </p:graphicFrame>
      <p:sp>
        <p:nvSpPr>
          <p:cNvPr id="3" name="TextBox 2">
            <a:extLst>
              <a:ext uri="{FF2B5EF4-FFF2-40B4-BE49-F238E27FC236}">
                <a16:creationId xmlns:a16="http://schemas.microsoft.com/office/drawing/2014/main" id="{B739BF8E-0826-C2A0-8DD5-3942D65A9C9F}"/>
              </a:ext>
            </a:extLst>
          </p:cNvPr>
          <p:cNvSpPr txBox="1"/>
          <p:nvPr/>
        </p:nvSpPr>
        <p:spPr>
          <a:xfrm>
            <a:off x="256050" y="1262743"/>
            <a:ext cx="2675836" cy="307777"/>
          </a:xfrm>
          <a:prstGeom prst="rect">
            <a:avLst/>
          </a:prstGeom>
          <a:noFill/>
        </p:spPr>
        <p:txBody>
          <a:bodyPr wrap="square" rtlCol="0">
            <a:spAutoFit/>
          </a:bodyPr>
          <a:lstStyle/>
          <a:p>
            <a:r>
              <a:rPr lang="en-US"/>
              <a:t>Best Model on Test Results</a:t>
            </a:r>
          </a:p>
        </p:txBody>
      </p:sp>
    </p:spTree>
    <p:extLst>
      <p:ext uri="{BB962C8B-B14F-4D97-AF65-F5344CB8AC3E}">
        <p14:creationId xmlns:p14="http://schemas.microsoft.com/office/powerpoint/2010/main" val="1663348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12508d39905_0_21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Performance Summary</a:t>
            </a:r>
            <a:endParaRPr>
              <a:solidFill>
                <a:srgbClr val="1974D2"/>
              </a:solidFill>
            </a:endParaRPr>
          </a:p>
        </p:txBody>
      </p:sp>
      <p:sp>
        <p:nvSpPr>
          <p:cNvPr id="150" name="Google Shape;150;g12508d39905_0_21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endParaRPr lang="en" sz="1400">
              <a:solidFill>
                <a:srgbClr val="000000"/>
              </a:solidFill>
            </a:endParaRPr>
          </a:p>
          <a:p>
            <a:pPr marL="457200" lvl="0" indent="-317500" algn="l" rtl="0">
              <a:lnSpc>
                <a:spcPct val="115000"/>
              </a:lnSpc>
              <a:spcBef>
                <a:spcPts val="1000"/>
              </a:spcBef>
              <a:spcAft>
                <a:spcPts val="0"/>
              </a:spcAft>
              <a:buClr>
                <a:srgbClr val="000000"/>
              </a:buClr>
              <a:buSzPts val="1400"/>
              <a:buChar char="●"/>
            </a:pPr>
            <a:endParaRPr lang="en" sz="1400">
              <a:solidFill>
                <a:srgbClr val="000000"/>
              </a:solidFill>
            </a:endParaRPr>
          </a:p>
          <a:p>
            <a:pPr marL="0" lvl="0" indent="0" algn="l" rtl="0">
              <a:lnSpc>
                <a:spcPct val="115000"/>
              </a:lnSpc>
              <a:spcBef>
                <a:spcPts val="1000"/>
              </a:spcBef>
              <a:spcAft>
                <a:spcPts val="0"/>
              </a:spcAft>
              <a:buSzPts val="1500"/>
              <a:buNone/>
            </a:pPr>
            <a:endParaRPr lang="en-US" sz="1400">
              <a:solidFill>
                <a:srgbClr val="000000"/>
              </a:solidFill>
            </a:endParaRPr>
          </a:p>
          <a:p>
            <a:pPr marL="0" lvl="0" indent="0" algn="l" rtl="0">
              <a:lnSpc>
                <a:spcPct val="115000"/>
              </a:lnSpc>
              <a:spcBef>
                <a:spcPts val="1000"/>
              </a:spcBef>
              <a:spcAft>
                <a:spcPts val="0"/>
              </a:spcAft>
              <a:buSzPts val="1500"/>
              <a:buNone/>
            </a:pPr>
            <a:r>
              <a:rPr lang="en-US" sz="1100">
                <a:solidFill>
                  <a:srgbClr val="000000"/>
                </a:solidFill>
              </a:rPr>
              <a:t>The average time to run was 30s, with SGD models slightly faster than ADAM at 26s.</a:t>
            </a:r>
          </a:p>
          <a:p>
            <a:pPr marL="0" lvl="0" indent="0" algn="l" rtl="0">
              <a:lnSpc>
                <a:spcPct val="115000"/>
              </a:lnSpc>
              <a:spcBef>
                <a:spcPts val="1000"/>
              </a:spcBef>
              <a:spcAft>
                <a:spcPts val="0"/>
              </a:spcAft>
              <a:buSzPts val="1500"/>
              <a:buNone/>
            </a:pPr>
            <a:r>
              <a:rPr lang="en-US" sz="1100">
                <a:solidFill>
                  <a:srgbClr val="000000"/>
                </a:solidFill>
              </a:rPr>
              <a:t> </a:t>
            </a:r>
            <a:r>
              <a:rPr lang="en-US" sz="1100" b="1">
                <a:solidFill>
                  <a:srgbClr val="000000"/>
                </a:solidFill>
              </a:rPr>
              <a:t>Model 5 </a:t>
            </a:r>
            <a:r>
              <a:rPr lang="en-US" sz="1100">
                <a:solidFill>
                  <a:srgbClr val="000000"/>
                </a:solidFill>
              </a:rPr>
              <a:t>is the best all-around performance. It leads to Accuracy, Precision, and F1. With Recall</a:t>
            </a:r>
            <a:br>
              <a:rPr lang="en-US" sz="1100">
                <a:solidFill>
                  <a:srgbClr val="000000"/>
                </a:solidFill>
              </a:rPr>
            </a:br>
            <a:r>
              <a:rPr lang="en-US" sz="1100">
                <a:solidFill>
                  <a:srgbClr val="000000"/>
                </a:solidFill>
              </a:rPr>
              <a:t> At 0.9365, it is just below the top 2. The combination makes it the most reliable model. </a:t>
            </a:r>
          </a:p>
          <a:p>
            <a:pPr marL="0" lvl="0" indent="0">
              <a:spcBef>
                <a:spcPts val="1000"/>
              </a:spcBef>
              <a:buNone/>
            </a:pPr>
            <a:r>
              <a:rPr lang="en-US" sz="1100" b="1">
                <a:solidFill>
                  <a:srgbClr val="000000"/>
                </a:solidFill>
              </a:rPr>
              <a:t>Model 6 </a:t>
            </a:r>
            <a:r>
              <a:rPr lang="en-US" sz="1100">
                <a:solidFill>
                  <a:srgbClr val="000000"/>
                </a:solidFill>
              </a:rPr>
              <a:t>leads in recall but has the lowest precision of all; it generates more false alarms.</a:t>
            </a:r>
          </a:p>
          <a:p>
            <a:pPr marL="0" lvl="0" indent="0" algn="l" rtl="0">
              <a:lnSpc>
                <a:spcPct val="115000"/>
              </a:lnSpc>
              <a:spcBef>
                <a:spcPts val="1000"/>
              </a:spcBef>
              <a:spcAft>
                <a:spcPts val="0"/>
              </a:spcAft>
              <a:buSzPts val="1500"/>
              <a:buNone/>
            </a:pPr>
            <a:r>
              <a:rPr lang="en-US" sz="1100" b="1">
                <a:solidFill>
                  <a:srgbClr val="000000"/>
                </a:solidFill>
              </a:rPr>
              <a:t>Model 3 </a:t>
            </a:r>
            <a:r>
              <a:rPr lang="en-US" sz="1100">
                <a:solidFill>
                  <a:srgbClr val="000000"/>
                </a:solidFill>
              </a:rPr>
              <a:t>offers an interesting middle ground; it is more aggressive for failure detection with slightly more false alarms.</a:t>
            </a:r>
            <a:endParaRPr sz="1100">
              <a:solidFill>
                <a:srgbClr val="000000"/>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51" name="Google Shape;151;g12508d39905_0_217"/>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graphicFrame>
        <p:nvGraphicFramePr>
          <p:cNvPr id="5" name="Table 4">
            <a:extLst>
              <a:ext uri="{FF2B5EF4-FFF2-40B4-BE49-F238E27FC236}">
                <a16:creationId xmlns:a16="http://schemas.microsoft.com/office/drawing/2014/main" id="{831C2352-BC98-2164-5668-F8141CF6BA17}"/>
              </a:ext>
            </a:extLst>
          </p:cNvPr>
          <p:cNvGraphicFramePr>
            <a:graphicFrameLocks noGrp="1"/>
          </p:cNvGraphicFramePr>
          <p:nvPr>
            <p:extLst>
              <p:ext uri="{D42A27DB-BD31-4B8C-83A1-F6EECF244321}">
                <p14:modId xmlns:p14="http://schemas.microsoft.com/office/powerpoint/2010/main" val="2259554769"/>
              </p:ext>
            </p:extLst>
          </p:nvPr>
        </p:nvGraphicFramePr>
        <p:xfrm>
          <a:off x="311650" y="1073604"/>
          <a:ext cx="5080000" cy="914400"/>
        </p:xfrm>
        <a:graphic>
          <a:graphicData uri="http://schemas.openxmlformats.org/drawingml/2006/table">
            <a:tbl>
              <a:tblPr firstRow="1">
                <a:tableStyleId>{10A1B5D5-9B99-4C35-A422-299274C87663}</a:tableStyleId>
              </a:tblPr>
              <a:tblGrid>
                <a:gridCol w="635000">
                  <a:extLst>
                    <a:ext uri="{9D8B030D-6E8A-4147-A177-3AD203B41FA5}">
                      <a16:colId xmlns:a16="http://schemas.microsoft.com/office/drawing/2014/main" val="4151962826"/>
                    </a:ext>
                  </a:extLst>
                </a:gridCol>
                <a:gridCol w="635000">
                  <a:extLst>
                    <a:ext uri="{9D8B030D-6E8A-4147-A177-3AD203B41FA5}">
                      <a16:colId xmlns:a16="http://schemas.microsoft.com/office/drawing/2014/main" val="2578826233"/>
                    </a:ext>
                  </a:extLst>
                </a:gridCol>
                <a:gridCol w="635000">
                  <a:extLst>
                    <a:ext uri="{9D8B030D-6E8A-4147-A177-3AD203B41FA5}">
                      <a16:colId xmlns:a16="http://schemas.microsoft.com/office/drawing/2014/main" val="61639259"/>
                    </a:ext>
                  </a:extLst>
                </a:gridCol>
                <a:gridCol w="635000">
                  <a:extLst>
                    <a:ext uri="{9D8B030D-6E8A-4147-A177-3AD203B41FA5}">
                      <a16:colId xmlns:a16="http://schemas.microsoft.com/office/drawing/2014/main" val="1913638861"/>
                    </a:ext>
                  </a:extLst>
                </a:gridCol>
                <a:gridCol w="635000">
                  <a:extLst>
                    <a:ext uri="{9D8B030D-6E8A-4147-A177-3AD203B41FA5}">
                      <a16:colId xmlns:a16="http://schemas.microsoft.com/office/drawing/2014/main" val="320320162"/>
                    </a:ext>
                  </a:extLst>
                </a:gridCol>
                <a:gridCol w="635000">
                  <a:extLst>
                    <a:ext uri="{9D8B030D-6E8A-4147-A177-3AD203B41FA5}">
                      <a16:colId xmlns:a16="http://schemas.microsoft.com/office/drawing/2014/main" val="418966467"/>
                    </a:ext>
                  </a:extLst>
                </a:gridCol>
                <a:gridCol w="635000">
                  <a:extLst>
                    <a:ext uri="{9D8B030D-6E8A-4147-A177-3AD203B41FA5}">
                      <a16:colId xmlns:a16="http://schemas.microsoft.com/office/drawing/2014/main" val="502958251"/>
                    </a:ext>
                  </a:extLst>
                </a:gridCol>
                <a:gridCol w="635000">
                  <a:extLst>
                    <a:ext uri="{9D8B030D-6E8A-4147-A177-3AD203B41FA5}">
                      <a16:colId xmlns:a16="http://schemas.microsoft.com/office/drawing/2014/main" val="2362266017"/>
                    </a:ext>
                  </a:extLst>
                </a:gridCol>
              </a:tblGrid>
              <a:tr h="182880">
                <a:tc>
                  <a:txBody>
                    <a:bodyPr/>
                    <a:lstStyle/>
                    <a:p>
                      <a:pPr algn="ctr" fontAlgn="ctr">
                        <a:buNone/>
                      </a:pPr>
                      <a:r>
                        <a:rPr lang="en-US" sz="1000" b="1" u="none" strike="noStrike">
                          <a:solidFill>
                            <a:srgbClr val="000000"/>
                          </a:solidFill>
                          <a:effectLst/>
                        </a:rPr>
                        <a:t> </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0</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1</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2</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3</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4</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5</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6</a:t>
                      </a:r>
                      <a:endParaRPr lang="en-US" sz="1000" b="1" i="0" u="none" strike="noStrike">
                        <a:solidFill>
                          <a:srgbClr val="EBFFFF"/>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3444363876"/>
                  </a:ext>
                </a:extLst>
              </a:tr>
              <a:tr h="182880">
                <a:tc>
                  <a:txBody>
                    <a:bodyPr/>
                    <a:lstStyle/>
                    <a:p>
                      <a:pPr algn="ctr" fontAlgn="ctr">
                        <a:buNone/>
                      </a:pPr>
                      <a:r>
                        <a:rPr lang="en-US" sz="1000" b="1" u="none" strike="noStrike">
                          <a:solidFill>
                            <a:srgbClr val="000000"/>
                          </a:solidFill>
                          <a:effectLst/>
                        </a:rPr>
                        <a:t>Accuracy</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0.989250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0.990750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0.989500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0.989000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0.991000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0.992250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0.988250</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938396832"/>
                  </a:ext>
                </a:extLst>
              </a:tr>
              <a:tr h="182880">
                <a:tc>
                  <a:txBody>
                    <a:bodyPr/>
                    <a:lstStyle/>
                    <a:p>
                      <a:pPr algn="ctr" fontAlgn="ctr">
                        <a:buNone/>
                      </a:pPr>
                      <a:r>
                        <a:rPr lang="en-US" sz="1000" b="1" u="none" strike="noStrike">
                          <a:solidFill>
                            <a:srgbClr val="000000"/>
                          </a:solidFill>
                          <a:effectLst/>
                        </a:rPr>
                        <a:t>Recall</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0.909513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0.929386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0.924485</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0.943299</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0.933758</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0.936540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0.945022</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343932246"/>
                  </a:ext>
                </a:extLst>
              </a:tr>
              <a:tr h="182880">
                <a:tc>
                  <a:txBody>
                    <a:bodyPr/>
                    <a:lstStyle/>
                    <a:p>
                      <a:pPr algn="ctr" fontAlgn="ctr">
                        <a:buNone/>
                      </a:pPr>
                      <a:r>
                        <a:rPr lang="en-US" sz="1000" b="1" u="none" strike="noStrike">
                          <a:solidFill>
                            <a:srgbClr val="000000"/>
                          </a:solidFill>
                          <a:effectLst/>
                        </a:rPr>
                        <a:t>Precision</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0.986649</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0.980696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0.972933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0.950956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0.978684</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0.988704</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0.943144</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336711834"/>
                  </a:ext>
                </a:extLst>
              </a:tr>
              <a:tr h="182880">
                <a:tc>
                  <a:txBody>
                    <a:bodyPr/>
                    <a:lstStyle/>
                    <a:p>
                      <a:pPr algn="ctr" fontAlgn="ctr">
                        <a:buNone/>
                      </a:pPr>
                      <a:r>
                        <a:rPr lang="en-US" sz="1000" b="1" u="none" strike="noStrike">
                          <a:solidFill>
                            <a:srgbClr val="000000"/>
                          </a:solidFill>
                          <a:effectLst/>
                        </a:rPr>
                        <a:t>F1 Score</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0.944343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0.953407</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0.947230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0.947090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0.954971</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0.960963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0.944080</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03562637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26869b8a79_0_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Best Model - Test Performance</a:t>
            </a:r>
            <a:endParaRPr>
              <a:solidFill>
                <a:srgbClr val="1974D2"/>
              </a:solidFill>
            </a:endParaRPr>
          </a:p>
        </p:txBody>
      </p:sp>
      <p:sp>
        <p:nvSpPr>
          <p:cNvPr id="157" name="Google Shape;157;g326869b8a79_0_0"/>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rgbClr val="000000"/>
                </a:solidFill>
              </a:rPr>
              <a:t>Architecture of the best model</a:t>
            </a:r>
          </a:p>
          <a:p>
            <a:pPr marL="139700" lvl="0" indent="0" algn="l" rtl="0">
              <a:lnSpc>
                <a:spcPct val="115000"/>
              </a:lnSpc>
              <a:spcBef>
                <a:spcPts val="1000"/>
              </a:spcBef>
              <a:spcAft>
                <a:spcPts val="0"/>
              </a:spcAft>
              <a:buClr>
                <a:srgbClr val="000000"/>
              </a:buClr>
              <a:buSzPts val="1400"/>
              <a:buNone/>
            </a:pP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endParaRPr lang="en-US" sz="1400">
              <a:solidFill>
                <a:srgbClr val="000000"/>
              </a:solidFill>
            </a:endParaRPr>
          </a:p>
          <a:p>
            <a:pPr marL="0" lvl="0" indent="0" algn="l" rtl="0">
              <a:lnSpc>
                <a:spcPct val="115000"/>
              </a:lnSpc>
              <a:spcBef>
                <a:spcPts val="1000"/>
              </a:spcBef>
              <a:spcAft>
                <a:spcPts val="0"/>
              </a:spcAft>
              <a:buSzPts val="1500"/>
              <a:buNone/>
            </a:pPr>
            <a:r>
              <a:rPr lang="en-US" sz="1400">
                <a:solidFill>
                  <a:srgbClr val="000000"/>
                </a:solidFill>
              </a:rPr>
              <a:t>   </a:t>
            </a:r>
            <a:r>
              <a:rPr lang="en-US" sz="1400" b="1">
                <a:solidFill>
                  <a:srgbClr val="000000"/>
                </a:solidFill>
              </a:rPr>
              <a:t>Comments on the best performance model on the test set</a:t>
            </a:r>
          </a:p>
          <a:p>
            <a:pPr marL="0" indent="0" algn="ctr">
              <a:lnSpc>
                <a:spcPct val="100000"/>
              </a:lnSpc>
              <a:spcBef>
                <a:spcPts val="600"/>
              </a:spcBef>
              <a:buNone/>
            </a:pPr>
            <a:r>
              <a:rPr lang="en-US" sz="1400" b="1">
                <a:solidFill>
                  <a:srgbClr val="000000"/>
                </a:solidFill>
              </a:rPr>
              <a:t>   </a:t>
            </a:r>
            <a:r>
              <a:rPr lang="en-US" sz="1400">
                <a:solidFill>
                  <a:srgbClr val="000000"/>
                </a:solidFill>
              </a:rPr>
              <a:t>It was evaluated on the held-out test set of 5,000 observations at a classification threshold of 0.3,    which  was chosen to capture all possible </a:t>
            </a:r>
            <a:endParaRPr lang="en-US" sz="1400" b="1">
              <a:solidFill>
                <a:srgbClr val="000000"/>
              </a:solidFill>
            </a:endParaRPr>
          </a:p>
          <a:p>
            <a:pPr marL="0" indent="0" algn="ctr">
              <a:spcBef>
                <a:spcPts val="1000"/>
              </a:spcBef>
              <a:buNone/>
            </a:pPr>
            <a:r>
              <a:rPr lang="en-US" sz="1400">
                <a:solidFill>
                  <a:srgbClr val="000000"/>
                </a:solidFill>
              </a:rPr>
              <a:t>    The model performed well, capturing 88% of failures, achieving 97% real alert rate, and achieving the best-balanced F1 score of 0.92. It achieved approximately 8 false alarms out of 5000 predictions. </a:t>
            </a:r>
          </a:p>
          <a:p>
            <a:pPr marL="0" lvl="0" indent="0" algn="l" rtl="0">
              <a:lnSpc>
                <a:spcPct val="115000"/>
              </a:lnSpc>
              <a:spcBef>
                <a:spcPts val="1000"/>
              </a:spcBef>
              <a:spcAft>
                <a:spcPts val="0"/>
              </a:spcAft>
              <a:buSzPts val="1500"/>
              <a:buNone/>
            </a:pPr>
            <a:endParaRPr sz="1400">
              <a:solidFill>
                <a:srgbClr val="000000"/>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58" name="Google Shape;158;g326869b8a79_0_0"/>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sp>
        <p:nvSpPr>
          <p:cNvPr id="4" name="Rectangle: Rounded Corners 3">
            <a:extLst>
              <a:ext uri="{FF2B5EF4-FFF2-40B4-BE49-F238E27FC236}">
                <a16:creationId xmlns:a16="http://schemas.microsoft.com/office/drawing/2014/main" id="{C29C1701-AFDB-D581-6507-A6209410440E}"/>
              </a:ext>
            </a:extLst>
          </p:cNvPr>
          <p:cNvSpPr/>
          <p:nvPr/>
        </p:nvSpPr>
        <p:spPr>
          <a:xfrm>
            <a:off x="428171" y="1313543"/>
            <a:ext cx="1153886" cy="572700"/>
          </a:xfrm>
          <a:prstGeom prst="roundRect">
            <a:avLst>
              <a:gd name="adj" fmla="val 10331"/>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INPUT</a:t>
            </a:r>
          </a:p>
          <a:p>
            <a:pPr algn="ctr"/>
            <a:r>
              <a:rPr lang="en-US" sz="800">
                <a:solidFill>
                  <a:schemeClr val="accent6">
                    <a:lumMod val="50000"/>
                  </a:schemeClr>
                </a:solidFill>
              </a:rPr>
              <a:t>40</a:t>
            </a:r>
          </a:p>
          <a:p>
            <a:pPr algn="ctr"/>
            <a:r>
              <a:rPr lang="en-US" sz="800">
                <a:solidFill>
                  <a:schemeClr val="accent6">
                    <a:lumMod val="50000"/>
                  </a:schemeClr>
                </a:solidFill>
              </a:rPr>
              <a:t>Sensor features</a:t>
            </a:r>
          </a:p>
        </p:txBody>
      </p:sp>
      <p:sp>
        <p:nvSpPr>
          <p:cNvPr id="7" name="Rectangle: Rounded Corners 6">
            <a:extLst>
              <a:ext uri="{FF2B5EF4-FFF2-40B4-BE49-F238E27FC236}">
                <a16:creationId xmlns:a16="http://schemas.microsoft.com/office/drawing/2014/main" id="{536D0E64-F6FD-149E-7745-EA034EB32C8D}"/>
              </a:ext>
            </a:extLst>
          </p:cNvPr>
          <p:cNvSpPr/>
          <p:nvPr/>
        </p:nvSpPr>
        <p:spPr>
          <a:xfrm>
            <a:off x="1727200" y="1313543"/>
            <a:ext cx="1153886" cy="572700"/>
          </a:xfrm>
          <a:prstGeom prst="roundRect">
            <a:avLst>
              <a:gd name="adj" fmla="val 10331"/>
            </a:avLst>
          </a:prstGeom>
          <a:solidFill>
            <a:srgbClr val="EB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HIDDEN LAYER 1</a:t>
            </a:r>
          </a:p>
          <a:p>
            <a:pPr algn="ctr"/>
            <a:r>
              <a:rPr lang="en-US" sz="800">
                <a:solidFill>
                  <a:schemeClr val="accent6">
                    <a:lumMod val="50000"/>
                  </a:schemeClr>
                </a:solidFill>
              </a:rPr>
              <a:t>128</a:t>
            </a:r>
          </a:p>
          <a:p>
            <a:pPr algn="ctr"/>
            <a:r>
              <a:rPr lang="en-US" sz="800">
                <a:solidFill>
                  <a:schemeClr val="accent6">
                    <a:lumMod val="50000"/>
                  </a:schemeClr>
                </a:solidFill>
              </a:rPr>
              <a:t>ReLU</a:t>
            </a:r>
          </a:p>
        </p:txBody>
      </p:sp>
      <p:sp>
        <p:nvSpPr>
          <p:cNvPr id="8" name="Rectangle: Rounded Corners 7">
            <a:extLst>
              <a:ext uri="{FF2B5EF4-FFF2-40B4-BE49-F238E27FC236}">
                <a16:creationId xmlns:a16="http://schemas.microsoft.com/office/drawing/2014/main" id="{D344466C-4730-C43E-2020-FD039C65DEF7}"/>
              </a:ext>
            </a:extLst>
          </p:cNvPr>
          <p:cNvSpPr/>
          <p:nvPr/>
        </p:nvSpPr>
        <p:spPr>
          <a:xfrm>
            <a:off x="3062515" y="1313543"/>
            <a:ext cx="1153886" cy="572700"/>
          </a:xfrm>
          <a:prstGeom prst="roundRect">
            <a:avLst>
              <a:gd name="adj" fmla="val 10331"/>
            </a:avLst>
          </a:prstGeom>
          <a:solidFill>
            <a:srgbClr val="FF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REGULARIZATION</a:t>
            </a:r>
          </a:p>
          <a:p>
            <a:pPr algn="ctr"/>
            <a:r>
              <a:rPr lang="en-US" sz="800">
                <a:solidFill>
                  <a:schemeClr val="accent6">
                    <a:lumMod val="50000"/>
                  </a:schemeClr>
                </a:solidFill>
              </a:rPr>
              <a:t>0.5</a:t>
            </a:r>
          </a:p>
          <a:p>
            <a:pPr algn="ctr"/>
            <a:r>
              <a:rPr lang="en-US" sz="800">
                <a:solidFill>
                  <a:schemeClr val="accent6">
                    <a:lumMod val="50000"/>
                  </a:schemeClr>
                </a:solidFill>
              </a:rPr>
              <a:t>dropout</a:t>
            </a:r>
          </a:p>
        </p:txBody>
      </p:sp>
      <p:sp>
        <p:nvSpPr>
          <p:cNvPr id="9" name="Rectangle: Rounded Corners 8">
            <a:extLst>
              <a:ext uri="{FF2B5EF4-FFF2-40B4-BE49-F238E27FC236}">
                <a16:creationId xmlns:a16="http://schemas.microsoft.com/office/drawing/2014/main" id="{A53E18D2-2B64-20B8-A381-2C9AC1FA6F62}"/>
              </a:ext>
            </a:extLst>
          </p:cNvPr>
          <p:cNvSpPr/>
          <p:nvPr/>
        </p:nvSpPr>
        <p:spPr>
          <a:xfrm>
            <a:off x="4350658" y="1313543"/>
            <a:ext cx="1153886" cy="572700"/>
          </a:xfrm>
          <a:prstGeom prst="roundRect">
            <a:avLst>
              <a:gd name="adj" fmla="val 1033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HIDDEN LAYER 2</a:t>
            </a:r>
          </a:p>
          <a:p>
            <a:pPr algn="ctr"/>
            <a:r>
              <a:rPr lang="en-US" sz="800">
                <a:solidFill>
                  <a:schemeClr val="accent6">
                    <a:lumMod val="50000"/>
                  </a:schemeClr>
                </a:solidFill>
              </a:rPr>
              <a:t>64</a:t>
            </a:r>
          </a:p>
          <a:p>
            <a:pPr algn="ctr"/>
            <a:r>
              <a:rPr lang="en-US" sz="800">
                <a:solidFill>
                  <a:schemeClr val="accent6">
                    <a:lumMod val="50000"/>
                  </a:schemeClr>
                </a:solidFill>
              </a:rPr>
              <a:t>ReLU</a:t>
            </a:r>
          </a:p>
        </p:txBody>
      </p:sp>
      <p:sp>
        <p:nvSpPr>
          <p:cNvPr id="10" name="Rectangle: Rounded Corners 9">
            <a:extLst>
              <a:ext uri="{FF2B5EF4-FFF2-40B4-BE49-F238E27FC236}">
                <a16:creationId xmlns:a16="http://schemas.microsoft.com/office/drawing/2014/main" id="{2F6B4947-1F03-0D7F-73DC-0EAC04E90A80}"/>
              </a:ext>
            </a:extLst>
          </p:cNvPr>
          <p:cNvSpPr/>
          <p:nvPr/>
        </p:nvSpPr>
        <p:spPr>
          <a:xfrm>
            <a:off x="5638801" y="1313543"/>
            <a:ext cx="1153886" cy="572700"/>
          </a:xfrm>
          <a:prstGeom prst="roundRect">
            <a:avLst>
              <a:gd name="adj" fmla="val 10331"/>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HIDDEN LAYER 3</a:t>
            </a:r>
          </a:p>
          <a:p>
            <a:pPr algn="ctr"/>
            <a:r>
              <a:rPr lang="en-US" sz="800">
                <a:solidFill>
                  <a:schemeClr val="accent6">
                    <a:lumMod val="50000"/>
                  </a:schemeClr>
                </a:solidFill>
              </a:rPr>
              <a:t>32</a:t>
            </a:r>
          </a:p>
          <a:p>
            <a:pPr algn="ctr"/>
            <a:r>
              <a:rPr lang="en-US" sz="800">
                <a:solidFill>
                  <a:schemeClr val="accent6">
                    <a:lumMod val="50000"/>
                  </a:schemeClr>
                </a:solidFill>
              </a:rPr>
              <a:t>ReLU</a:t>
            </a:r>
          </a:p>
        </p:txBody>
      </p:sp>
      <p:sp>
        <p:nvSpPr>
          <p:cNvPr id="11" name="Rectangle: Rounded Corners 10">
            <a:extLst>
              <a:ext uri="{FF2B5EF4-FFF2-40B4-BE49-F238E27FC236}">
                <a16:creationId xmlns:a16="http://schemas.microsoft.com/office/drawing/2014/main" id="{AEE824FA-6895-61A4-215C-93F00A8A1575}"/>
              </a:ext>
            </a:extLst>
          </p:cNvPr>
          <p:cNvSpPr/>
          <p:nvPr/>
        </p:nvSpPr>
        <p:spPr>
          <a:xfrm>
            <a:off x="6926944" y="1313543"/>
            <a:ext cx="1153886" cy="572700"/>
          </a:xfrm>
          <a:prstGeom prst="roundRect">
            <a:avLst>
              <a:gd name="adj" fmla="val 10331"/>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OUTPUT</a:t>
            </a:r>
          </a:p>
          <a:p>
            <a:pPr algn="ctr"/>
            <a:r>
              <a:rPr lang="en-US" sz="800">
                <a:solidFill>
                  <a:schemeClr val="accent6">
                    <a:lumMod val="50000"/>
                  </a:schemeClr>
                </a:solidFill>
              </a:rPr>
              <a:t>1</a:t>
            </a:r>
          </a:p>
          <a:p>
            <a:pPr algn="ctr"/>
            <a:r>
              <a:rPr lang="en-US" sz="800">
                <a:solidFill>
                  <a:schemeClr val="accent6">
                    <a:lumMod val="50000"/>
                  </a:schemeClr>
                </a:solidFill>
              </a:rPr>
              <a:t>Sigmoid</a:t>
            </a:r>
          </a:p>
        </p:txBody>
      </p:sp>
      <p:graphicFrame>
        <p:nvGraphicFramePr>
          <p:cNvPr id="17" name="Table 16">
            <a:extLst>
              <a:ext uri="{FF2B5EF4-FFF2-40B4-BE49-F238E27FC236}">
                <a16:creationId xmlns:a16="http://schemas.microsoft.com/office/drawing/2014/main" id="{86182720-56EF-9766-1DED-5F31411CFBE1}"/>
              </a:ext>
            </a:extLst>
          </p:cNvPr>
          <p:cNvGraphicFramePr>
            <a:graphicFrameLocks noGrp="1"/>
          </p:cNvGraphicFramePr>
          <p:nvPr>
            <p:extLst>
              <p:ext uri="{D42A27DB-BD31-4B8C-83A1-F6EECF244321}">
                <p14:modId xmlns:p14="http://schemas.microsoft.com/office/powerpoint/2010/main" val="1680589896"/>
              </p:ext>
            </p:extLst>
          </p:nvPr>
        </p:nvGraphicFramePr>
        <p:xfrm>
          <a:off x="1643648" y="3650261"/>
          <a:ext cx="4466865" cy="1346200"/>
        </p:xfrm>
        <a:graphic>
          <a:graphicData uri="http://schemas.openxmlformats.org/drawingml/2006/table">
            <a:tbl>
              <a:tblPr firstRow="1">
                <a:tableStyleId>{93296810-A885-4BE3-A3E7-6D5BEEA58F35}</a:tableStyleId>
              </a:tblPr>
              <a:tblGrid>
                <a:gridCol w="829668">
                  <a:extLst>
                    <a:ext uri="{9D8B030D-6E8A-4147-A177-3AD203B41FA5}">
                      <a16:colId xmlns:a16="http://schemas.microsoft.com/office/drawing/2014/main" val="3341127293"/>
                    </a:ext>
                  </a:extLst>
                </a:gridCol>
                <a:gridCol w="1500075">
                  <a:extLst>
                    <a:ext uri="{9D8B030D-6E8A-4147-A177-3AD203B41FA5}">
                      <a16:colId xmlns:a16="http://schemas.microsoft.com/office/drawing/2014/main" val="231665414"/>
                    </a:ext>
                  </a:extLst>
                </a:gridCol>
                <a:gridCol w="1289160">
                  <a:extLst>
                    <a:ext uri="{9D8B030D-6E8A-4147-A177-3AD203B41FA5}">
                      <a16:colId xmlns:a16="http://schemas.microsoft.com/office/drawing/2014/main" val="3574990856"/>
                    </a:ext>
                  </a:extLst>
                </a:gridCol>
                <a:gridCol w="847962">
                  <a:extLst>
                    <a:ext uri="{9D8B030D-6E8A-4147-A177-3AD203B41FA5}">
                      <a16:colId xmlns:a16="http://schemas.microsoft.com/office/drawing/2014/main" val="2798877866"/>
                    </a:ext>
                  </a:extLst>
                </a:gridCol>
              </a:tblGrid>
              <a:tr h="0">
                <a:tc>
                  <a:txBody>
                    <a:bodyPr/>
                    <a:lstStyle/>
                    <a:p>
                      <a:pPr marL="0" marR="0" fontAlgn="t">
                        <a:buNone/>
                      </a:pPr>
                      <a:r>
                        <a:rPr lang="en-US" sz="1100" b="1">
                          <a:effectLst/>
                        </a:rPr>
                        <a:t>Metric</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Class 0 (No failure)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Class 1 (Failure)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Macro avg</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644703476"/>
                  </a:ext>
                </a:extLst>
              </a:tr>
              <a:tr h="198928">
                <a:tc>
                  <a:txBody>
                    <a:bodyPr/>
                    <a:lstStyle/>
                    <a:p>
                      <a:pPr marL="0" marR="0" fontAlgn="t">
                        <a:buNone/>
                      </a:pPr>
                      <a:r>
                        <a:rPr lang="en-US" sz="1100">
                          <a:effectLst/>
                        </a:rPr>
                        <a:t>Precision</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0.99</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0.97</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442527901"/>
                  </a:ext>
                </a:extLst>
              </a:tr>
              <a:tr h="0">
                <a:tc>
                  <a:txBody>
                    <a:bodyPr/>
                    <a:lstStyle/>
                    <a:p>
                      <a:pPr marL="0" marR="0" fontAlgn="t">
                        <a:buNone/>
                      </a:pPr>
                      <a:r>
                        <a:rPr lang="en-US" sz="1100">
                          <a:effectLst/>
                        </a:rPr>
                        <a:t>Recall</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1.00</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0.88</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0.94</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4207916976"/>
                  </a:ext>
                </a:extLst>
              </a:tr>
              <a:tr h="0">
                <a:tc>
                  <a:txBody>
                    <a:bodyPr/>
                    <a:lstStyle/>
                    <a:p>
                      <a:pPr marL="0" marR="0" fontAlgn="t">
                        <a:buNone/>
                      </a:pPr>
                      <a:r>
                        <a:rPr lang="en-US" sz="1100">
                          <a:effectLst/>
                        </a:rPr>
                        <a:t>F1 score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1.00</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0.92</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0.96</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212518037"/>
                  </a:ext>
                </a:extLst>
              </a:tr>
              <a:tr h="0">
                <a:tc>
                  <a:txBody>
                    <a:bodyPr/>
                    <a:lstStyle/>
                    <a:p>
                      <a:pPr marL="0" marR="0" fontAlgn="t">
                        <a:buNone/>
                      </a:pPr>
                      <a:r>
                        <a:rPr lang="en-US" sz="1100">
                          <a:effectLst/>
                        </a:rPr>
                        <a:t>Support</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4,718</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282</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5,000</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87267791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B463EDB5-EDBE-4D42-15F5-0339EDE77AF3}"/>
            </a:ext>
          </a:extLst>
        </p:cNvPr>
        <p:cNvGrpSpPr/>
        <p:nvPr/>
      </p:nvGrpSpPr>
      <p:grpSpPr>
        <a:xfrm>
          <a:off x="0" y="0"/>
          <a:ext cx="0" cy="0"/>
          <a:chOff x="0" y="0"/>
          <a:chExt cx="0" cy="0"/>
        </a:xfrm>
      </p:grpSpPr>
      <p:sp>
        <p:nvSpPr>
          <p:cNvPr id="156" name="Google Shape;156;g326869b8a79_0_0">
            <a:extLst>
              <a:ext uri="{FF2B5EF4-FFF2-40B4-BE49-F238E27FC236}">
                <a16:creationId xmlns:a16="http://schemas.microsoft.com/office/drawing/2014/main" id="{C3710BCD-1CCB-03A2-6052-71C64FC1E44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Best Model - Test Performance</a:t>
            </a:r>
            <a:endParaRPr>
              <a:solidFill>
                <a:srgbClr val="1974D2"/>
              </a:solidFill>
            </a:endParaRPr>
          </a:p>
        </p:txBody>
      </p:sp>
      <p:sp>
        <p:nvSpPr>
          <p:cNvPr id="158" name="Google Shape;158;g326869b8a79_0_0">
            <a:extLst>
              <a:ext uri="{FF2B5EF4-FFF2-40B4-BE49-F238E27FC236}">
                <a16:creationId xmlns:a16="http://schemas.microsoft.com/office/drawing/2014/main" id="{8363D6D6-E0FF-E50C-4EC1-6A7735529191}"/>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graphicFrame>
        <p:nvGraphicFramePr>
          <p:cNvPr id="5" name="Table 4">
            <a:extLst>
              <a:ext uri="{FF2B5EF4-FFF2-40B4-BE49-F238E27FC236}">
                <a16:creationId xmlns:a16="http://schemas.microsoft.com/office/drawing/2014/main" id="{571C21B5-1D99-EAAD-EE9B-697DFA998995}"/>
              </a:ext>
            </a:extLst>
          </p:cNvPr>
          <p:cNvGraphicFramePr>
            <a:graphicFrameLocks noGrp="1"/>
          </p:cNvGraphicFramePr>
          <p:nvPr>
            <p:extLst>
              <p:ext uri="{D42A27DB-BD31-4B8C-83A1-F6EECF244321}">
                <p14:modId xmlns:p14="http://schemas.microsoft.com/office/powerpoint/2010/main" val="1983368492"/>
              </p:ext>
            </p:extLst>
          </p:nvPr>
        </p:nvGraphicFramePr>
        <p:xfrm>
          <a:off x="318150" y="1019856"/>
          <a:ext cx="7518400" cy="1958340"/>
        </p:xfrm>
        <a:graphic>
          <a:graphicData uri="http://schemas.openxmlformats.org/drawingml/2006/table">
            <a:tbl>
              <a:tblPr firstRow="1">
                <a:tableStyleId>{93296810-A885-4BE3-A3E7-6D5BEEA58F35}</a:tableStyleId>
              </a:tblPr>
              <a:tblGrid>
                <a:gridCol w="1003300">
                  <a:extLst>
                    <a:ext uri="{9D8B030D-6E8A-4147-A177-3AD203B41FA5}">
                      <a16:colId xmlns:a16="http://schemas.microsoft.com/office/drawing/2014/main" val="617566216"/>
                    </a:ext>
                  </a:extLst>
                </a:gridCol>
                <a:gridCol w="1458036">
                  <a:extLst>
                    <a:ext uri="{9D8B030D-6E8A-4147-A177-3AD203B41FA5}">
                      <a16:colId xmlns:a16="http://schemas.microsoft.com/office/drawing/2014/main" val="3026379911"/>
                    </a:ext>
                  </a:extLst>
                </a:gridCol>
                <a:gridCol w="5057064">
                  <a:extLst>
                    <a:ext uri="{9D8B030D-6E8A-4147-A177-3AD203B41FA5}">
                      <a16:colId xmlns:a16="http://schemas.microsoft.com/office/drawing/2014/main" val="2951802747"/>
                    </a:ext>
                  </a:extLst>
                </a:gridCol>
              </a:tblGrid>
              <a:tr h="182880">
                <a:tc>
                  <a:txBody>
                    <a:bodyPr/>
                    <a:lstStyle/>
                    <a:p>
                      <a:pPr algn="l" fontAlgn="b">
                        <a:buNone/>
                      </a:pPr>
                      <a:r>
                        <a:rPr lang="en-US" sz="1100" u="none" strike="noStrike">
                          <a:effectLst/>
                        </a:rPr>
                        <a:t>Component</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Value</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Description</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718136029"/>
                  </a:ext>
                </a:extLst>
              </a:tr>
              <a:tr h="182880">
                <a:tc>
                  <a:txBody>
                    <a:bodyPr/>
                    <a:lstStyle/>
                    <a:p>
                      <a:pPr algn="l" fontAlgn="b">
                        <a:buNone/>
                      </a:pPr>
                      <a:r>
                        <a:rPr lang="en-US" sz="1100" u="none" strike="noStrike">
                          <a:effectLst/>
                        </a:rPr>
                        <a:t>Model type</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Sequential MLP</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Multi-layer perceptron for binary classification</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963984959"/>
                  </a:ext>
                </a:extLst>
              </a:tr>
              <a:tr h="182880">
                <a:tc>
                  <a:txBody>
                    <a:bodyPr/>
                    <a:lstStyle/>
                    <a:p>
                      <a:pPr algn="l" fontAlgn="b">
                        <a:buNone/>
                      </a:pPr>
                      <a:r>
                        <a:rPr lang="en-US" sz="1100" u="none" strike="noStrike">
                          <a:effectLst/>
                        </a:rPr>
                        <a:t>Input dimension</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1100" u="none" strike="noStrike">
                          <a:effectLst/>
                        </a:rPr>
                        <a:t>40</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One node per sensor feature</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191286730"/>
                  </a:ext>
                </a:extLst>
              </a:tr>
              <a:tr h="182880">
                <a:tc>
                  <a:txBody>
                    <a:bodyPr/>
                    <a:lstStyle/>
                    <a:p>
                      <a:pPr algn="l" fontAlgn="b">
                        <a:buNone/>
                      </a:pPr>
                      <a:r>
                        <a:rPr lang="en-US" sz="1100" u="none" strike="noStrike">
                          <a:effectLst/>
                        </a:rPr>
                        <a:t>Hidden layer 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128 neurons, ReLU</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Wide entry — learns initial sensor combinations</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138900931"/>
                  </a:ext>
                </a:extLst>
              </a:tr>
              <a:tr h="182880">
                <a:tc>
                  <a:txBody>
                    <a:bodyPr/>
                    <a:lstStyle/>
                    <a:p>
                      <a:pPr algn="l" fontAlgn="b">
                        <a:buNone/>
                      </a:pPr>
                      <a:r>
                        <a:rPr lang="en-US" sz="1100" u="none" strike="noStrike">
                          <a:effectLst/>
                        </a:rPr>
                        <a:t>Dropout</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1100" u="none" strike="noStrike">
                          <a:effectLst/>
                        </a:rPr>
                        <a:t>0.5</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Silences 50% of neurons per batch — prevents overfitting, improves precision from 0.86 → 0.97</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122307551"/>
                  </a:ext>
                </a:extLst>
              </a:tr>
              <a:tr h="182880">
                <a:tc>
                  <a:txBody>
                    <a:bodyPr/>
                    <a:lstStyle/>
                    <a:p>
                      <a:pPr algn="l" fontAlgn="b">
                        <a:buNone/>
                      </a:pPr>
                      <a:r>
                        <a:rPr lang="en-US" sz="1100" u="none" strike="noStrike">
                          <a:effectLst/>
                        </a:rPr>
                        <a:t>Hidden layer 2</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64 neurons, ReLU</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Halving funnel — compresses learned representations</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40384051"/>
                  </a:ext>
                </a:extLst>
              </a:tr>
              <a:tr h="182880">
                <a:tc>
                  <a:txBody>
                    <a:bodyPr/>
                    <a:lstStyle/>
                    <a:p>
                      <a:pPr algn="l" fontAlgn="b">
                        <a:buNone/>
                      </a:pPr>
                      <a:r>
                        <a:rPr lang="en-US" sz="1100" u="none" strike="noStrike">
                          <a:effectLst/>
                        </a:rPr>
                        <a:t>Hidden layer 3</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32 neurons, ReLU</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Further compression before output</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002450435"/>
                  </a:ext>
                </a:extLst>
              </a:tr>
              <a:tr h="182880">
                <a:tc>
                  <a:txBody>
                    <a:bodyPr/>
                    <a:lstStyle/>
                    <a:p>
                      <a:pPr algn="l" fontAlgn="b">
                        <a:buNone/>
                      </a:pPr>
                      <a:r>
                        <a:rPr lang="en-US" sz="1100" u="none" strike="noStrike">
                          <a:effectLst/>
                        </a:rPr>
                        <a:t>Output layer</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1 neuron, Sigmoid</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Binary classification — outputs probability 0–1</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08094402"/>
                  </a:ext>
                </a:extLst>
              </a:tr>
              <a:tr h="182880">
                <a:tc>
                  <a:txBody>
                    <a:bodyPr/>
                    <a:lstStyle/>
                    <a:p>
                      <a:pPr algn="l" fontAlgn="b">
                        <a:buNone/>
                      </a:pPr>
                      <a:r>
                        <a:rPr lang="en-US" sz="1100" u="none" strike="noStrike">
                          <a:effectLst/>
                        </a:rPr>
                        <a:t>Total parameters</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~13,825</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u="none" strike="noStrike">
                          <a:effectLst/>
                        </a:rPr>
                        <a:t>128×40 + 64×128 + 32×64 + 1×32 = 13,824 + biases</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648315725"/>
                  </a:ext>
                </a:extLst>
              </a:tr>
            </a:tbl>
          </a:graphicData>
        </a:graphic>
      </p:graphicFrame>
    </p:spTree>
    <p:extLst>
      <p:ext uri="{BB962C8B-B14F-4D97-AF65-F5344CB8AC3E}">
        <p14:creationId xmlns:p14="http://schemas.microsoft.com/office/powerpoint/2010/main" val="1224591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10e9006cb6c_1_20"/>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10e9006cb6c_1_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Slide Header</a:t>
            </a:r>
            <a:endParaRPr>
              <a:solidFill>
                <a:srgbClr val="1974D2"/>
              </a:solidFill>
            </a:endParaRPr>
          </a:p>
        </p:txBody>
      </p:sp>
      <p:sp>
        <p:nvSpPr>
          <p:cNvPr id="169" name="Google Shape;169;g10e9006cb6c_1_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Please add any other pointers (if needed)</a:t>
            </a:r>
            <a:endParaRPr sz="1400">
              <a:solidFill>
                <a:srgbClr val="000000"/>
              </a:solidFill>
            </a:endParaRPr>
          </a:p>
        </p:txBody>
      </p:sp>
      <p:graphicFrame>
        <p:nvGraphicFramePr>
          <p:cNvPr id="2" name="Object 1">
            <a:extLst>
              <a:ext uri="{FF2B5EF4-FFF2-40B4-BE49-F238E27FC236}">
                <a16:creationId xmlns:a16="http://schemas.microsoft.com/office/drawing/2014/main" id="{7CCC4D3A-CC1B-B74E-8F8B-20BBA38AA91E}"/>
              </a:ext>
            </a:extLst>
          </p:cNvPr>
          <p:cNvGraphicFramePr>
            <a:graphicFrameLocks noChangeAspect="1"/>
          </p:cNvGraphicFramePr>
          <p:nvPr>
            <p:extLst>
              <p:ext uri="{D42A27DB-BD31-4B8C-83A1-F6EECF244321}">
                <p14:modId xmlns:p14="http://schemas.microsoft.com/office/powerpoint/2010/main" val="2598421558"/>
              </p:ext>
            </p:extLst>
          </p:nvPr>
        </p:nvGraphicFramePr>
        <p:xfrm>
          <a:off x="2009775" y="2111375"/>
          <a:ext cx="5124450" cy="919163"/>
        </p:xfrm>
        <a:graphic>
          <a:graphicData uri="http://schemas.openxmlformats.org/presentationml/2006/ole">
            <mc:AlternateContent xmlns:mc="http://schemas.openxmlformats.org/markup-compatibility/2006">
              <mc:Choice xmlns:v="urn:schemas-microsoft-com:vml" Requires="v">
                <p:oleObj name="Worksheet" r:id="rId3" imgW="5124468" imgH="918406" progId="Excel.Sheet.12">
                  <p:embed/>
                </p:oleObj>
              </mc:Choice>
              <mc:Fallback>
                <p:oleObj name="Worksheet" r:id="rId3" imgW="5124468" imgH="918406" progId="Excel.Sheet.12">
                  <p:embed/>
                  <p:pic>
                    <p:nvPicPr>
                      <p:cNvPr id="2" name="Object 1">
                        <a:extLst>
                          <a:ext uri="{FF2B5EF4-FFF2-40B4-BE49-F238E27FC236}">
                            <a16:creationId xmlns:a16="http://schemas.microsoft.com/office/drawing/2014/main" id="{7CCC4D3A-CC1B-B74E-8F8B-20BBA38AA91E}"/>
                          </a:ext>
                        </a:extLst>
                      </p:cNvPr>
                      <p:cNvPicPr/>
                      <p:nvPr/>
                    </p:nvPicPr>
                    <p:blipFill>
                      <a:blip r:embed="rId4"/>
                      <a:stretch>
                        <a:fillRect/>
                      </a:stretch>
                    </p:blipFill>
                    <p:spPr>
                      <a:xfrm>
                        <a:off x="2009775" y="2111375"/>
                        <a:ext cx="5124450" cy="919163"/>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0ee00f67ea_0_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77" name="Google Shape;177;g10ee00f67ea_0_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21</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1126</TotalTime>
  <Words>2118</Words>
  <Application>Microsoft Office PowerPoint</Application>
  <PresentationFormat>On-screen Show (16:9)</PresentationFormat>
  <Paragraphs>325</Paragraphs>
  <Slides>21</Slides>
  <Notes>21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2" baseType="lpstr">
      <vt:lpstr>Nunito</vt:lpstr>
      <vt:lpstr>Nunito ExtraBold</vt:lpstr>
      <vt:lpstr>Nunito Medium</vt:lpstr>
      <vt:lpstr>Calibri</vt:lpstr>
      <vt:lpstr>Arial</vt:lpstr>
      <vt:lpstr>Google Sans Text</vt:lpstr>
      <vt:lpstr>Nunito SemiBold</vt:lpstr>
      <vt:lpstr>Aptos Narrow</vt:lpstr>
      <vt:lpstr>Just Logo</vt:lpstr>
      <vt:lpstr>Just Logo</vt:lpstr>
      <vt:lpstr>Worksheet</vt:lpstr>
      <vt:lpstr>Predicting Wind Turbine Failures Before They Happen A Cost-Optimised Classification Approach</vt:lpstr>
      <vt:lpstr>Contents / Agenda</vt:lpstr>
      <vt:lpstr>Executive Summary </vt:lpstr>
      <vt:lpstr>Executive Summary </vt:lpstr>
      <vt:lpstr>Business Problem Overview and Solution Approach</vt:lpstr>
      <vt:lpstr>Business Problem Overview and Solution Approach</vt:lpstr>
      <vt:lpstr>Business Problem Overview and Solution Approach</vt:lpstr>
      <vt:lpstr>EDA Results</vt:lpstr>
      <vt:lpstr>Data Preprocessing </vt:lpstr>
      <vt:lpstr>Data Preprocessing </vt:lpstr>
      <vt:lpstr>Data Preprocessing </vt:lpstr>
      <vt:lpstr>Data Preprocessing </vt:lpstr>
      <vt:lpstr>Model Evaluation Criterion </vt:lpstr>
      <vt:lpstr>Model Evaluation Criterion </vt:lpstr>
      <vt:lpstr>Model Evaluation Criterion </vt:lpstr>
      <vt:lpstr>Model Performance Summary</vt:lpstr>
      <vt:lpstr>Best Model - Test Performance</vt:lpstr>
      <vt:lpstr>Best Model - Test Performance</vt:lpstr>
      <vt:lpstr>APPENDIX</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Araujo</dc:creator>
  <cp:lastModifiedBy>John Araujo</cp:lastModifiedBy>
  <cp:revision>4</cp:revision>
  <dcterms:modified xsi:type="dcterms:W3CDTF">2026-03-30T17:11:47Z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172fb5-86d0-42cb-ba27-645bef134c04_Enabled">
    <vt:lpwstr>true</vt:lpwstr>
  </property>
  <property fmtid="{D5CDD505-2E9C-101B-9397-08002B2CF9AE}" pid="3" name="MSIP_Label_81172fb5-86d0-42cb-ba27-645bef134c04_SetDate">
    <vt:lpwstr>2026-03-14T13:09:41Z</vt:lpwstr>
  </property>
  <property fmtid="{D5CDD505-2E9C-101B-9397-08002B2CF9AE}" pid="4" name="MSIP_Label_81172fb5-86d0-42cb-ba27-645bef134c04_Method">
    <vt:lpwstr>Standard</vt:lpwstr>
  </property>
  <property fmtid="{D5CDD505-2E9C-101B-9397-08002B2CF9AE}" pid="5" name="MSIP_Label_81172fb5-86d0-42cb-ba27-645bef134c04_Name">
    <vt:lpwstr>NATO Unclassified</vt:lpwstr>
  </property>
  <property fmtid="{D5CDD505-2E9C-101B-9397-08002B2CF9AE}" pid="6" name="MSIP_Label_81172fb5-86d0-42cb-ba27-645bef134c04_SiteId">
    <vt:lpwstr>4e058d4f-695c-4815-91b9-3bea0bf19c06</vt:lpwstr>
  </property>
  <property fmtid="{D5CDD505-2E9C-101B-9397-08002B2CF9AE}" pid="7" name="MSIP_Label_81172fb5-86d0-42cb-ba27-645bef134c04_ActionId">
    <vt:lpwstr>473c95cf-b4eb-4098-bc5c-a5de2ee2befe</vt:lpwstr>
  </property>
  <property fmtid="{D5CDD505-2E9C-101B-9397-08002B2CF9AE}" pid="8" name="MSIP_Label_81172fb5-86d0-42cb-ba27-645bef134c04_ContentBits">
    <vt:lpwstr>1</vt:lpwstr>
  </property>
  <property fmtid="{D5CDD505-2E9C-101B-9397-08002B2CF9AE}" pid="9" name="MSIP_Label_81172fb5-86d0-42cb-ba27-645bef134c04_Tag">
    <vt:lpwstr>10, 3, 0, 1</vt:lpwstr>
  </property>
  <property fmtid="{D5CDD505-2E9C-101B-9397-08002B2CF9AE}" pid="10" name="ClassificationContentMarkingHeaderLocations">
    <vt:lpwstr>Just Logo:3\Just Logo:3</vt:lpwstr>
  </property>
  <property fmtid="{D5CDD505-2E9C-101B-9397-08002B2CF9AE}" pid="11" name="ClassificationContentMarkingHeaderText">
    <vt:lpwstr>NATO UNCLASSIFIED</vt:lpwstr>
  </property>
</Properties>
</file>