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9" r:id="rId32"/>
    <p:sldId id="267" r:id="rId20"/>
    <p:sldId id="268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Nunito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4BDF1D-0A76-4FD4-A49D-73CE3F465BEA}">
  <a:tblStyle styleId="{A34BDF1D-0A76-4FD4-A49D-73CE3F465BE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font" Target="fonts/NunitoSemiBold-regular.fntdata"/><Relationship Id="rId23" Type="http://schemas.openxmlformats.org/officeDocument/2006/relationships/font" Target="fonts/NunitoSemiBold-bold.fntdata"/><Relationship Id="rId24" Type="http://schemas.openxmlformats.org/officeDocument/2006/relationships/font" Target="fonts/NunitoSemiBold-italic.fntdata"/><Relationship Id="rId25" Type="http://schemas.openxmlformats.org/officeDocument/2006/relationships/font" Target="fonts/NunitoSemiBold-boldItalic.fntdata"/><Relationship Id="rId26" Type="http://schemas.openxmlformats.org/officeDocument/2006/relationships/font" Target="fonts/Nunito-regular.fntdata"/><Relationship Id="rId27" Type="http://schemas.openxmlformats.org/officeDocument/2006/relationships/font" Target="fonts/Nunito-bold.fntdata"/><Relationship Id="rId28" Type="http://schemas.openxmlformats.org/officeDocument/2006/relationships/font" Target="fonts/Nunito-italic.fntdata"/><Relationship Id="rId29" Type="http://schemas.openxmlformats.org/officeDocument/2006/relationships/font" Target="fonts/Nunito-boldItalic.fntdata"/><Relationship Id="rId30" Type="http://schemas.openxmlformats.org/officeDocument/2006/relationships/font" Target="fonts/NunitoExtraBold-bold.fntdata"/><Relationship Id="rId31" Type="http://schemas.openxmlformats.org/officeDocument/2006/relationships/font" Target="fonts/NunitoExtraBold-boldItalic.fntdata"/><Relationship Id="rId3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6029fcee_2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4a6029fcee_2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a6029fcee_2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4a6029fcee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a6029fcee_2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4a6029fcee_2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a6029fcee_2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4a6029fcee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a6029fcee_2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4a6029fcee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a6029fcee_2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a6029fcee_2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a6029fcee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4a6029fcee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a6029fcee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4a6029fcee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a6029fc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4a6029fc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4a6029fcee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4a6029fc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a6029fcee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4a6029fc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a6029fce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4a6029fce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a6029fcee_2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4a6029fcee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4a6029fcee_2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4a6029fcee_2_169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71" name="Google Shape;71;p17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{A34BDF1D-0A76-4FD4-A49D-73CE3F465BEA}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94" name="Google Shape;94;p23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97" name="Google Shape;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09" name="Google Shape;109;p25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5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12" name="Google Shape;1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6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5" name="Google Shape;115;p26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25" name="Google Shape;125;p2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{A34BDF1D-0A76-4FD4-A49D-73CE3F465BEA}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" name="Google Shape;131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7" name="Google Shape;137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1" name="Google Shape;141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2" name="Google Shape;142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4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" name="Google Shape;53;p13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3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57" name="Google Shape;57;p13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01" name="Google Shape;101;p2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3" name="Google Shape;103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5" name="Google Shape;105;p2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slide" Target="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SuperKart Sales Forecasting &amp; Model Deployment</a:t>
            </a:r>
            <a:endParaRPr sz="3600"/>
          </a:p>
        </p:txBody>
      </p:sp>
      <p:sp>
        <p:nvSpPr>
          <p:cNvPr id="151" name="Google Shape;151;p35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Predicting Product-Store Sales with Machine Learning  |  Model Deployment</a:t>
            </a:r>
            <a:endParaRPr b="0" sz="3000"/>
          </a:p>
        </p:txBody>
      </p:sp>
      <p:sp>
        <p:nvSpPr>
          <p:cNvPr id="152" name="Google Shape;152;p35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/>
              <a:t>June 2026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Contents / Agenda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" name="Google Shape;158;p3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Results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Building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</a:t>
            </a:r>
            <a:r>
              <a:rPr lang="en" sz="1400">
                <a:solidFill>
                  <a:srgbClr val="000000"/>
                </a:solidFill>
              </a:rPr>
              <a:t>Performance</a:t>
            </a:r>
            <a:r>
              <a:rPr lang="en" sz="1400">
                <a:solidFill>
                  <a:srgbClr val="000000"/>
                </a:solidFill>
              </a:rPr>
              <a:t>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Deployment</a:t>
            </a:r>
            <a:endParaRPr sz="1400">
              <a:solidFill>
                <a:srgbClr val="000000"/>
              </a:solidFill>
            </a:endParaRPr>
          </a:p>
          <a:p>
            <a:pPr/>
            <a:r>
              <a:rPr sz="1400">
                <a:solidFill>
                  <a:srgbClr val="000000"/>
                </a:solidFill>
              </a:rPr>
              <a:t>Recommendation – Adding Product Price (MRP)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Executive Summary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4" name="Google Shape;164;p3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A machine-learning model was built to forecast product-level sales for each store, using historical data on 8,763 product-store records across 4 outlets.</a:t>
            </a:r>
            <a:endParaRPr sz="1400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and XGBoost (with and without tuning) were compared; all four are statistically tied at Test R² ≈ 0.668 (RMSE ≈ ₹616, MAPE ≈ 18.7%), with a slight, consistent edge to Random Forest.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Tuned Random Forest was selected and deployed as the production model.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 MRP (price) is the strongest correlate of sales (r = 0.79); a controlled test shows adding it would lift Test R² from 0.67 to 0.93 — a recommended future enhancement (see Recommendation slide).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Store format drives revenue: Departmental Stores and Tier-1 cities generate ~3x the sales of Food Marts and Tier-3 locations; OUT004 alone produced ₹15.4M — more than the other three outlets combined.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Recommendation: operate the tuned Random Forest forecasting service (Flask API + Streamlit app) to guide inventory, supply-chain planning, and store strategy.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3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Business problem</a:t>
            </a:r>
            <a:endParaRPr sz="1400">
              <a:solidFill>
                <a:srgbClr val="000000"/>
              </a:solidFill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SuperKart needs accurate sales forecasts at the product-store level to plan inventory, optimize the supply chain, and benchmark store performance.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The target, Product_Store_Sales_Total, is continuous — this is a regression problem.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Solution approach / methodology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Exploratory data analysis to understand sales drivers and data quality.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Feature engineering + a preprocessing pipeline (one-hot encoding of categoricals).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Train and compare 6 tree-based / ensemble regressors on R², RMSE, MAE, MAPE.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Hyperparameter-tune the strongest candidates, select the best, and deploy it as an API + web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EDA Results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3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Target: average sale ₹3,464 (range ₹33–₹8,000), roughly symmetric distribution.</a:t>
            </a:r>
            <a:endParaRPr sz="1400">
              <a:solidFill>
                <a:srgbClr val="000000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Strongest drivers of sales: Product_MRP (corr 0.79) and Product_Weight (corr 0.74); Product_Allocated_Area shows ~no linear relationship (-0.00).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Store_Type: Departmental ₹4,947 &gt; Supermarket Type1 ₹3,924 &gt; Supermarket Type2 ₹3,299 &gt; Food Mart ₹1,763.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City tier: Tier 1 ₹4,947 &gt; Tier 2 ₹3,457 &gt; Tier 3 ₹1,763; Store size: High &gt; Medium &gt; Small.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Revenue by outlet: OUT004 ₹15.4M, OUT003 ₹6.7M, OUT001 ₹6.2M, OUT002 ₹2.0M.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Implication: pricing/product attributes plus store format almost fully determine expected sales.</a:t>
            </a:r>
          </a:p>
        </p:txBody>
      </p:sp>
      <p:sp>
        <p:nvSpPr>
          <p:cNvPr id="177" name="Google Shape;177;p39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3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Preprocessing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3" name="Google Shape;183;p4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2D3B45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Feature engineering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Store_Age_Years = 2025 − Store_Establishment_Year.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Product_Id_char = first two characters of Product_Id (FD / DR / NC categories).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Grouped 16 product types into two categories: Perishables vs Non-Perishables.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Data cleaning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Standardized inconsistent label: 'reg' → 'Regular' in Product_Sugar_Content.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No missing values and no duplicate rows in the dataset.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Data preparation for modeling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Dropped identifiers/redundant columns: Product_Id, Product_Type, Store_Id, Store_Establishment_Year.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Pipeline: OneHotEncoder(handle_unknown='ignore') for categoricals + passthrough numerics, fused with each model.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80/20 train-test split (7,010 train / 1,753 test), random_state =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Data Background and Contents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41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Dataset: 8,763 rows × 12 columns; no missing values, no duplicates.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 attributes: Product_Weight, Product_Sugar_Content, Product_Allocated_Area, Product_Type, Product_MRP.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Store attributes: Store_Establishment_Year, Store_Size, Store_Location_City_Type, Store_Type.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Identifiers: Product_Id, Store_Id (4 outlets: OUT001–OUT004).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Target variable: Product_Store_Sales_Total (total sales of a product at a store).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Coverage: 16 product types across 4 stores spanning 3 city tiers and 3 store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Building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4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Built Random Forest and XGBoost regressors inside one preprocessing pipeline (one-hot encoded store/product categoricals); evaluated on the held-out test set.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Both base models perform almost identically — Test R² ≈ 0.668, RMSE ≈ ₹616, MAPE ≈ 18.7% — a statistical tie, with Random Forest holding a slight, consistent edge.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R² and RMSE are two views of the same errors (R² = 1 − RMSE²/Var(y)), so they rank the models the same; MAPE ≈ 18.7% agrees, confirming the tie.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The models explain ~67% of sales variance, giving a solid baseline for demand planning.</a:t>
            </a:r>
          </a:p>
        </p:txBody>
      </p:sp>
      <p:graphicFrame>
        <p:nvGraphicFramePr>
          <p:cNvPr id="196" name="Table 195"/>
          <p:cNvGraphicFramePr>
            <a:graphicFrameLocks noGrp="1"/>
          </p:cNvGraphicFramePr>
          <p:nvPr/>
        </p:nvGraphicFramePr>
        <p:xfrm>
          <a:off x="548640" y="2468880"/>
          <a:ext cx="80467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25880"/>
                <a:gridCol w="1325880"/>
                <a:gridCol w="1325880"/>
                <a:gridCol w="132588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 (base)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XGBoost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Improvement - Hyperparameter Tuning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4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Tuned both finalists with GridSearchCV (cv = 3, scoring = R²).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— best params: max_features = 'sqrt', n_estimators = 100, max_depth = None (the grid landed on the defaults).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Test R² unchanged at 0.668; tuned Random Forest is identical to the base model.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XGBoost — best params: gamma = 0, n_estimators = 100 (near-defaults).</a:t>
            </a: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Test R² unchanged at 0.668 (RMSE ₹616) — no meaningful gain.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Takeaway: tuning produced no measurable improvement — the models are already at the performance ceiling set by the available (categorical-only) features. Random Forest and XGBoost remain tied, and tuned Random Forest is taken forward as the selected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Model Performance Summary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7" name="Google Shape;207;p4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Final selected model: Tuned Random Forest (serialized with joblib and deployed).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All four models are statistically tied — Test R² ≈ 0.668, differing only at the 4th decimal — but Random Forest holds a slight, consistent edge over XGBoost across every metric.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Random Forest (tuned) was selected for deployment; the price-inclusive analysis (next slide) reinforces Random Forest as the stronger model family.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Selected-model test performance: R² = 0.668, RMSE = ₹616, MAE = ₹485, MAPE = 18.7%.</a:t>
            </a:r>
          </a:p>
        </p:txBody>
      </p:sp>
      <p:sp>
        <p:nvSpPr>
          <p:cNvPr id="208" name="Google Shape;208;p44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209" name="Table 208"/>
          <p:cNvGraphicFramePr>
            <a:graphicFrameLocks noGrp="1"/>
          </p:cNvGraphicFramePr>
          <p:nvPr/>
        </p:nvGraphicFramePr>
        <p:xfrm>
          <a:off x="457200" y="219456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143000"/>
                <a:gridCol w="1143000"/>
                <a:gridCol w="1143000"/>
                <a:gridCol w="1097280"/>
                <a:gridCol w="10972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Adj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Random Forest (tuned)  ★ deployed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Random Forest (base)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XGBoost (base)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>
                          <a:solidFill>
                            <a:srgbClr val="333333"/>
                          </a:solidFill>
                        </a:rPr>
                        <a:t>XGBoost (tuned)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0.667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486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Deployment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4" name="Google Shape;214;p4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Tuned Random Forest serialized with joblib and served via a Flask REST API.</a:t>
            </a:r>
            <a:endParaRPr sz="1400">
              <a:solidFill>
                <a:schemeClr val="dk1"/>
              </a:solidFill>
            </a:endParaRPr>
          </a:p>
          <a:p>
            <a:pPr lvl="1"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</a:rPr>
              <a:t>Endpoint POST /v1/predict accepts product + store attributes and returns predicted sales as JSON.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Streamlit web app provides a UI for single predictions and batch (CSV) scoring.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Both the backend API and frontend are containerized with Docker and hosted on Hugging Face Spaces.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Backend API: https://araujohn-rkt-superkart-backend.hf.space  (POST /v1/predict)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Frontend Streamlit app: https://araujohn-rkt-superkart-app.hf.space</a:t>
            </a:r>
          </a:p>
        </p:txBody>
      </p:sp>
      <p:sp>
        <p:nvSpPr>
          <p:cNvPr id="215" name="Google Shape;215;p45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Key Takeaways &amp; Business Recommendations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1" name="Google Shape;221;p4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marL="457200" rtl="0" algn="l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  <a:buClr>
                <a:srgbClr val="000000"/>
              </a:buClr>
              <a:buSzPts val="1400"/>
              <a:buChar char="●"/>
            </a:pPr>
            <a:r>
              <a:rPr sz="1400">
                <a:solidFill>
                  <a:srgbClr val="333333"/>
                </a:solidFill>
              </a:rPr>
              <a:t>Pricing &amp; store format are the biggest sales levers in the data: Product_MRP correlates 0.79 with sales, and Departmental/Tier-1 stores sell ~3x Food Marts/Tier-3.</a:t>
            </a:r>
            <a:endParaRPr sz="1400">
              <a:solidFill>
                <a:schemeClr val="dk1"/>
              </a:solidFill>
            </a:endParaRP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Replicate winners: study OUT004 and Departmental/Tier-1 formats to lift underperforming outlets (OUT002, Food Marts, Tier-3).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Model selection: Random Forest and XGBoost are statistically tied (Test R² ≈ 0.668), with a slight edge to Random Forest; tuned Random Forest was deployed.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Highest-impact next step: add Product_MRP (price) to the model — a controlled test lifts Test R² from 0.67 to 0.93 and cuts typical error roughly in half (see Recommendation slide).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</a:rPr>
              <a:t>Production-ready service (Flask API + Streamlit on Hugging Face); retrain periodically as new sales data arrives.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29" name="Google Shape;229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Recommendation: Adding Product Price (MRP)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Product_MRP (price) is the single strongest predictor of sales in EDA (correlation 0.79), yet the current production model excludes it per project scope.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A controlled experiment adding Product_MRP improves every metric dramatically — and confirms Random Forest as the best model, widening its edge over XGBoost.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Business impact: typical forecast error roughly halves (RMSE ₹616 → ₹291), enabling materially tighter inventory and supply-chain planning.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Recommendation: incorporate Product_MRP (and Product_Weight) in the next model iteration once approved for use.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429000"/>
          <a:ext cx="78638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1188720"/>
                <a:gridCol w="1280160"/>
                <a:gridCol w="118872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Feature set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Best model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RMSE (₹)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MAPE</a:t>
                      </a:r>
                    </a:p>
                  </a:txBody>
                  <a:tcPr marL="45720" marR="45720" marT="18288" marB="18288">
                    <a:solidFill>
                      <a:srgbClr val="2E75B6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Without price (current)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 (tuned)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18.7%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With price (proposed)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Random Forest (tuned)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0.926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291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5.2%</a:t>
                      </a:r>
                    </a:p>
                  </a:txBody>
                  <a:tcPr marL="45720" marR="45720" marT="18288" marB="18288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