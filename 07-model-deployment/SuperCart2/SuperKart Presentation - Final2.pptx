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1"/>
  </p:notesMasterIdLst>
  <p:sldIdLst>
    <p:sldId id="270" r:id="rId4"/>
    <p:sldId id="257" r:id="rId5"/>
    <p:sldId id="271" r:id="rId6"/>
    <p:sldId id="259" r:id="rId7"/>
    <p:sldId id="260" r:id="rId8"/>
    <p:sldId id="261" r:id="rId9"/>
    <p:sldId id="272" r:id="rId10"/>
    <p:sldId id="273" r:id="rId11"/>
    <p:sldId id="262" r:id="rId12"/>
    <p:sldId id="274" r:id="rId13"/>
    <p:sldId id="263" r:id="rId14"/>
    <p:sldId id="275" r:id="rId15"/>
    <p:sldId id="265" r:id="rId16"/>
    <p:sldId id="266" r:id="rId17"/>
    <p:sldId id="269" r:id="rId18"/>
    <p:sldId id="267" r:id="rId19"/>
    <p:sldId id="268" r:id="rId20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22"/>
      <p:bold r:id="rId23"/>
      <p:italic r:id="rId24"/>
      <p:boldItalic r:id="rId25"/>
    </p:embeddedFont>
    <p:embeddedFont>
      <p:font typeface="Nunito" pitchFamily="2" charset="0"/>
      <p:regular r:id="rId26"/>
      <p:bold r:id="rId27"/>
      <p:italic r:id="rId28"/>
      <p:boldItalic r:id="rId29"/>
    </p:embeddedFont>
    <p:embeddedFont>
      <p:font typeface="Nunito ExtraBold" pitchFamily="2" charset="0"/>
      <p:bold r:id="rId30"/>
      <p:boldItalic r:id="rId31"/>
    </p:embeddedFont>
    <p:embeddedFont>
      <p:font typeface="Nunito SemiBold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4BDF1D-0A76-4FD4-A49D-73CE3F465BEA}">
  <a:tblStyle styleId="{A34BDF1D-0A76-4FD4-A49D-73CE3F465BE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38" y="6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0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a6029fcee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4a6029fcee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a6029fcee_2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4a6029fcee_2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a6029fcee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4a6029fcee_2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a6029fcee_2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4a6029fcee_2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A617340-F7AE-0B1A-61B6-C95B23794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a6029fcee_2_77:notes">
            <a:extLst>
              <a:ext uri="{FF2B5EF4-FFF2-40B4-BE49-F238E27FC236}">
                <a16:creationId xmlns:a16="http://schemas.microsoft.com/office/drawing/2014/main" id="{479A8B0E-2AA1-0B6B-8B45-926EAEFD5C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4a6029fcee_2_77:notes">
            <a:extLst>
              <a:ext uri="{FF2B5EF4-FFF2-40B4-BE49-F238E27FC236}">
                <a16:creationId xmlns:a16="http://schemas.microsoft.com/office/drawing/2014/main" id="{F7599DB5-00FE-CD3E-EA57-09AAC76BF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3630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A5306DA5-4603-5C64-2A45-BBFF4DAA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a6029fcee_2_77:notes">
            <a:extLst>
              <a:ext uri="{FF2B5EF4-FFF2-40B4-BE49-F238E27FC236}">
                <a16:creationId xmlns:a16="http://schemas.microsoft.com/office/drawing/2014/main" id="{42C4489E-0C19-F3DE-C464-6FCAC6084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4a6029fcee_2_77:notes">
            <a:extLst>
              <a:ext uri="{FF2B5EF4-FFF2-40B4-BE49-F238E27FC236}">
                <a16:creationId xmlns:a16="http://schemas.microsoft.com/office/drawing/2014/main" id="{36E57D3F-9A37-89C2-6254-7DF693A1D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667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a6029fcee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34a6029fcee_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EE20747D-E9B2-49C4-9A52-1A231B989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a6029fcee_2_76:notes">
            <a:extLst>
              <a:ext uri="{FF2B5EF4-FFF2-40B4-BE49-F238E27FC236}">
                <a16:creationId xmlns:a16="http://schemas.microsoft.com/office/drawing/2014/main" id="{43C6EF3D-DE3D-7096-2484-A4322FAF3E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34a6029fcee_2_76:notes">
            <a:extLst>
              <a:ext uri="{FF2B5EF4-FFF2-40B4-BE49-F238E27FC236}">
                <a16:creationId xmlns:a16="http://schemas.microsoft.com/office/drawing/2014/main" id="{52959373-7EF6-4AF9-327C-85422645F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09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a6029fcee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34a6029fcee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C60C7265-C0B4-760D-C148-382F025BD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a6029fcee_0_0:notes">
            <a:extLst>
              <a:ext uri="{FF2B5EF4-FFF2-40B4-BE49-F238E27FC236}">
                <a16:creationId xmlns:a16="http://schemas.microsoft.com/office/drawing/2014/main" id="{7AAC0FD6-EEEE-2574-D283-8921A48EF8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34a6029fcee_0_0:notes">
            <a:extLst>
              <a:ext uri="{FF2B5EF4-FFF2-40B4-BE49-F238E27FC236}">
                <a16:creationId xmlns:a16="http://schemas.microsoft.com/office/drawing/2014/main" id="{2558F45C-FF1E-EF1E-3B5E-04C1709F6F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5429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a6029fce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4a6029fce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a6029fce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34a6029fce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a6029fce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4a6029fce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a6029fcee_2_1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34a6029fcee_2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4a6029fcee_2_1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4a6029fcee_2_169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71" name="Google Shape;71;p17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{A34BDF1D-0A76-4FD4-A49D-73CE3F465BEA}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23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8" r="37294" b="19149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97" name="Google Shape;9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5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8" r="37294" b="19149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25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12" name="Google Shape;11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125" name="Google Shape;125;p2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{A34BDF1D-0A76-4FD4-A49D-73CE3F465BEA}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6" name="Google Shape;126;p2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1" name="Google Shape;131;p3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1" name="Google Shape;141;p3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2" name="Google Shape;142;p3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143" name="Google Shape;143;p3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57" name="Google Shape;57;p13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1" name="Google Shape;101;p24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2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2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4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05" name="Google Shape;105;p24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8324A00-6812-0AAA-AF83-137CCD89D04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3983800" y="63500"/>
            <a:ext cx="1201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NATO UNCLASSIFIED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/>
        </p:nvSpPr>
        <p:spPr>
          <a:xfrm>
            <a:off x="979026" y="1278376"/>
            <a:ext cx="6280177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buSzPts val="4100"/>
            </a:pPr>
            <a:r>
              <a:rPr lang="en-US" sz="2000" b="1">
                <a:solidFill>
                  <a:srgbClr val="0E39A9"/>
                </a:solidFill>
                <a:latin typeface="Nunito"/>
              </a:rPr>
              <a:t>Forecasting at Scale: Transforming SuperKart Historical Sales Data into Predictive Intelligence</a:t>
            </a:r>
            <a:endParaRPr sz="2000" b="1">
              <a:solidFill>
                <a:srgbClr val="0E39A9"/>
              </a:solidFill>
              <a:latin typeface="Nunito"/>
              <a:sym typeface="Nunito"/>
            </a:endParaRPr>
          </a:p>
        </p:txBody>
      </p:sp>
      <p:sp>
        <p:nvSpPr>
          <p:cNvPr id="167" name="Google Shape;167;p36"/>
          <p:cNvSpPr txBox="1"/>
          <p:nvPr/>
        </p:nvSpPr>
        <p:spPr>
          <a:xfrm>
            <a:off x="1422608" y="2222327"/>
            <a:ext cx="51993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" sz="2000" b="1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SuperKart Forecast &amp; Model Deployment</a:t>
            </a:r>
          </a:p>
          <a:p>
            <a:pPr lvl="0" algn="ctr">
              <a:buSzPts val="2900"/>
            </a:pPr>
            <a:r>
              <a:rPr lang="en-US" sz="12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Austin University – Post Graduate Program in Artificial Intelligence</a:t>
            </a:r>
            <a:endParaRPr sz="1200" b="0" i="0" u="none" strike="noStrike" cap="non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36"/>
          <p:cNvSpPr txBox="1"/>
          <p:nvPr/>
        </p:nvSpPr>
        <p:spPr>
          <a:xfrm>
            <a:off x="3652187" y="3771739"/>
            <a:ext cx="2519041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2200"/>
            </a:pPr>
            <a:r>
              <a:rPr lang="en" sz="11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Contents / Agenda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8" name="Google Shape;158;p36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Results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Building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Performance Summary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Deployment</a:t>
            </a:r>
            <a:endParaRPr sz="1400">
              <a:solidFill>
                <a:srgbClr val="000000"/>
              </a:solidFill>
            </a:endParaRPr>
          </a:p>
          <a:p>
            <a:r>
              <a:rPr sz="1400">
                <a:solidFill>
                  <a:srgbClr val="000000"/>
                </a:solidFill>
              </a:rPr>
              <a:t>Recommendation – Adding Product Price (MRP)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FCB7E36-BBA8-EA23-1785-DACD4984CA00}"/>
              </a:ext>
            </a:extLst>
          </p:cNvPr>
          <p:cNvSpPr txBox="1"/>
          <p:nvPr/>
        </p:nvSpPr>
        <p:spPr>
          <a:xfrm>
            <a:off x="311853" y="578897"/>
            <a:ext cx="7695590" cy="4047262"/>
          </a:xfrm>
          <a:prstGeom prst="roundRect">
            <a:avLst>
              <a:gd name="adj" fmla="val 1134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The Challenge</a:t>
            </a:r>
          </a:p>
          <a:p>
            <a:pPr>
              <a:buNone/>
            </a:pP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To optimize inventory management and refine regional tactics, SuperKart required a scalable, data-driven solution to forecast product-level sales revenue. Utilizing a robust dataset of 8,763 product-store records across 4 distinct outlets, the objective was to pinpoint the exact structural and commercial drivers of supermarket revenue.</a:t>
            </a:r>
          </a:p>
          <a:p>
            <a:pPr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The Solution</a:t>
            </a:r>
          </a:p>
          <a:p>
            <a:pPr>
              <a:buNone/>
            </a:pP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We evaluated multiple advanced ensemble frameworks, including Random Forest and XGBoost, utilizing hyperparameter tuning (GridSearchCV). The models demonstrated strong alignment on test data, yielding a Test R² of ~0.66, an RMSE of ~₹616, and a MAPE of 18.7%. Based on its superior stability and consistent error minimization, the tuned Random Forest was selected as the final production model.</a:t>
            </a:r>
          </a:p>
          <a:p>
            <a:pPr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Strategic Insights </a:t>
            </a:r>
          </a:p>
          <a:p>
            <a:pPr>
              <a:buNone/>
            </a:pP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Revenue is heavily dictated by store format, city tier, and pricing. Departmental Stores and Tier-1 </a:t>
            </a:r>
          </a:p>
          <a:p>
            <a:pPr>
              <a:buNone/>
            </a:pP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City locations significantly outperformed Food Marts and Tier-3 settings. Notably, outlet OUT004 </a:t>
            </a:r>
          </a:p>
          <a:p>
            <a:pPr>
              <a:buNone/>
            </a:pP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emerged as a critical driver, generating ₹15.4M—outperforming the other three outlets combined.</a:t>
            </a:r>
          </a:p>
          <a:p>
            <a:pPr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The Recommendation</a:t>
            </a:r>
          </a:p>
          <a:p>
            <a:pPr>
              <a:buNone/>
            </a:pP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Deploy the finalized Random Forest pipeline via a decoupled Flask API and Streamlit UI to immediately improve supply-chain efficiency and inventory planning. For phase-two development, integrating Product_MRP directly into production is highly recommended, as testing proves it will significantly maximize future predictive accuracy.</a:t>
            </a:r>
          </a:p>
          <a:p>
            <a:pPr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4" name="Google Shape;194;p38"/>
          <p:cNvSpPr txBox="1">
            <a:spLocks noGrp="1"/>
          </p:cNvSpPr>
          <p:nvPr>
            <p:ph type="title"/>
          </p:nvPr>
        </p:nvSpPr>
        <p:spPr>
          <a:xfrm>
            <a:off x="225453" y="3493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4E73F95-F476-299C-CD6F-139ABF182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017204"/>
              </p:ext>
            </p:extLst>
          </p:nvPr>
        </p:nvGraphicFramePr>
        <p:xfrm>
          <a:off x="6625251" y="2448201"/>
          <a:ext cx="2453948" cy="121920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500375">
                  <a:extLst>
                    <a:ext uri="{9D8B030D-6E8A-4147-A177-3AD203B41FA5}">
                      <a16:colId xmlns:a16="http://schemas.microsoft.com/office/drawing/2014/main" val="3942130798"/>
                    </a:ext>
                  </a:extLst>
                </a:gridCol>
                <a:gridCol w="532102">
                  <a:extLst>
                    <a:ext uri="{9D8B030D-6E8A-4147-A177-3AD203B41FA5}">
                      <a16:colId xmlns:a16="http://schemas.microsoft.com/office/drawing/2014/main" val="1987691321"/>
                    </a:ext>
                  </a:extLst>
                </a:gridCol>
                <a:gridCol w="548181">
                  <a:extLst>
                    <a:ext uri="{9D8B030D-6E8A-4147-A177-3AD203B41FA5}">
                      <a16:colId xmlns:a16="http://schemas.microsoft.com/office/drawing/2014/main" val="1510727292"/>
                    </a:ext>
                  </a:extLst>
                </a:gridCol>
                <a:gridCol w="436645">
                  <a:extLst>
                    <a:ext uri="{9D8B030D-6E8A-4147-A177-3AD203B41FA5}">
                      <a16:colId xmlns:a16="http://schemas.microsoft.com/office/drawing/2014/main" val="1667435407"/>
                    </a:ext>
                  </a:extLst>
                </a:gridCol>
                <a:gridCol w="436645">
                  <a:extLst>
                    <a:ext uri="{9D8B030D-6E8A-4147-A177-3AD203B41FA5}">
                      <a16:colId xmlns:a16="http://schemas.microsoft.com/office/drawing/2014/main" val="3130774683"/>
                    </a:ext>
                  </a:extLst>
                </a:gridCol>
              </a:tblGrid>
              <a:tr h="41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E8E8E8"/>
                          </a:solidFill>
                          <a:effectLst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E8E8E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E8E8E8"/>
                          </a:solidFill>
                          <a:effectLst/>
                        </a:rPr>
                        <a:t>Random Forest</a:t>
                      </a:r>
                      <a:endParaRPr lang="en-US" sz="800" b="1" i="0" u="none" strike="noStrike">
                        <a:solidFill>
                          <a:srgbClr val="E8E8E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E8E8E8"/>
                          </a:solidFill>
                          <a:effectLst/>
                        </a:rPr>
                        <a:t>Random Forest Tuned</a:t>
                      </a:r>
                      <a:endParaRPr lang="en-US" sz="800" b="1" i="0" u="none" strike="noStrike">
                        <a:solidFill>
                          <a:srgbClr val="E8E8E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E8E8E8"/>
                          </a:solidFill>
                          <a:effectLst/>
                        </a:rPr>
                        <a:t>XGBoost</a:t>
                      </a:r>
                      <a:endParaRPr lang="en-US" sz="800" b="1" i="0" u="none" strike="noStrike">
                        <a:solidFill>
                          <a:srgbClr val="E8E8E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E8E8E8"/>
                          </a:solidFill>
                          <a:effectLst/>
                        </a:rPr>
                        <a:t>XGBoost Tuned</a:t>
                      </a:r>
                      <a:endParaRPr lang="en-US" sz="800" b="1" i="0" u="none" strike="noStrike">
                        <a:solidFill>
                          <a:srgbClr val="E8E8E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6719553"/>
                  </a:ext>
                </a:extLst>
              </a:tr>
              <a:tr h="1150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615.907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615.907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615.933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616.087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56426605"/>
                  </a:ext>
                </a:extLst>
              </a:tr>
              <a:tr h="1150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485.311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485.311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485.430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485.835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68057345"/>
                  </a:ext>
                </a:extLst>
              </a:tr>
              <a:tr h="2292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R-squared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0.669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0.669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0.668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0.668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612692"/>
                  </a:ext>
                </a:extLst>
              </a:tr>
              <a:tr h="2292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Adj. R-squared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0.667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0.667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0.667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0.667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6162684"/>
                  </a:ext>
                </a:extLst>
              </a:tr>
              <a:tr h="1150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MAPE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0.187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0.187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0.187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0.187 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3224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accent6">
                    <a:lumMod val="50000"/>
                  </a:schemeClr>
                </a:solidFill>
              </a:rPr>
              <a:t>Business Problem Overview and Solution Approach</a:t>
            </a:r>
            <a:endParaRPr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0" name="Google Shape;170;p38"/>
          <p:cNvSpPr txBox="1">
            <a:spLocks noGrp="1"/>
          </p:cNvSpPr>
          <p:nvPr>
            <p:ph type="body" idx="1"/>
          </p:nvPr>
        </p:nvSpPr>
        <p:spPr>
          <a:xfrm>
            <a:off x="202550" y="1638975"/>
            <a:ext cx="8629800" cy="3342825"/>
          </a:xfrm>
          <a:prstGeom prst="roundRect">
            <a:avLst>
              <a:gd name="adj" fmla="val 2273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lnSpc>
                <a:spcPct val="100000"/>
              </a:lnSpc>
              <a:buNone/>
            </a:pP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Solution Approach / Methodology</a:t>
            </a:r>
          </a:p>
          <a:p>
            <a:pPr marL="133350" indent="0">
              <a:lnSpc>
                <a:spcPct val="100000"/>
              </a:lnSpc>
              <a:buNone/>
            </a:pP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The solution followed a structured machine-learning workflow</a:t>
            </a:r>
          </a:p>
          <a:p>
            <a:pPr marL="133350" indent="0">
              <a:lnSpc>
                <a:spcPct val="100000"/>
              </a:lnSpc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 marL="133350" indent="0">
              <a:lnSpc>
                <a:spcPct val="100000"/>
              </a:lnSpc>
              <a:buNone/>
            </a:pP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Exploratory Data Analysis</a:t>
            </a:r>
            <a:br>
              <a:rPr lang="en-US" sz="11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Identified key sales drivers, data patterns, and potential data quality issues. </a:t>
            </a:r>
          </a:p>
          <a:p>
            <a:pPr marL="133350" indent="0">
              <a:lnSpc>
                <a:spcPct val="100000"/>
              </a:lnSpc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 marL="133350" indent="0">
              <a:lnSpc>
                <a:spcPct val="100000"/>
              </a:lnSpc>
              <a:buNone/>
            </a:pP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Data Preprocessing &amp; Feature Engineering</a:t>
            </a:r>
            <a:br>
              <a:rPr lang="en-US" sz="11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Prepared the dataset for modeling, including categorical encoding and pipeline creation. </a:t>
            </a:r>
          </a:p>
          <a:p>
            <a:pPr marL="133350" indent="0">
              <a:lnSpc>
                <a:spcPct val="100000"/>
              </a:lnSpc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 marL="133350" indent="0">
              <a:lnSpc>
                <a:spcPct val="100000"/>
              </a:lnSpc>
              <a:buNone/>
            </a:pP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Model Training &amp; Comparison</a:t>
            </a:r>
            <a:br>
              <a:rPr lang="en-US" sz="11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Trained and compared multiple tree-based and ensemble regression models using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R², RMSE, MAE, and MAPE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133350" indent="0">
              <a:lnSpc>
                <a:spcPct val="100000"/>
              </a:lnSpc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 marL="133350" indent="0">
              <a:lnSpc>
                <a:spcPct val="100000"/>
              </a:lnSpc>
              <a:buNone/>
            </a:pP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Model Tuning &amp; Selection</a:t>
            </a:r>
            <a:br>
              <a:rPr lang="en-US" sz="11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Tuned the strongest candidate models and selected the best-performing model based on test performance and generalization. </a:t>
            </a:r>
          </a:p>
          <a:p>
            <a:pPr marL="133350" indent="0">
              <a:lnSpc>
                <a:spcPct val="100000"/>
              </a:lnSpc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 marL="133350" indent="0">
              <a:lnSpc>
                <a:spcPct val="100000"/>
              </a:lnSpc>
              <a:buNone/>
            </a:pP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Deployment</a:t>
            </a:r>
            <a:br>
              <a:rPr lang="en-US" sz="11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Deployed the final model as a forecasting service using an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API and web application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 for business users.</a:t>
            </a:r>
            <a:endParaRPr sz="105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17000-9578-7E4E-9636-1EFB31287FD3}"/>
              </a:ext>
            </a:extLst>
          </p:cNvPr>
          <p:cNvSpPr txBox="1"/>
          <p:nvPr/>
        </p:nvSpPr>
        <p:spPr>
          <a:xfrm>
            <a:off x="202550" y="762592"/>
            <a:ext cx="8361779" cy="806648"/>
          </a:xfrm>
          <a:prstGeom prst="roundRect">
            <a:avLst>
              <a:gd name="adj" fmla="val 4088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Business Problem</a:t>
            </a:r>
          </a:p>
          <a:p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SuperKart needs accurate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product-store level sales forecasts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 to support better inventory planning, supply-chain optimization, and store performance benchmarking.</a:t>
            </a:r>
          </a:p>
          <a:p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Because the target variable,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Product_Store_Sales_Total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, is continuous, this is framed as a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regression problem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9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accent6">
                    <a:lumMod val="50000"/>
                  </a:schemeClr>
                </a:solidFill>
              </a:rPr>
              <a:t>EDA Results</a:t>
            </a:r>
            <a:endParaRPr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6" name="Google Shape;176;p39"/>
          <p:cNvSpPr txBox="1">
            <a:spLocks noGrp="1"/>
          </p:cNvSpPr>
          <p:nvPr>
            <p:ph type="body" idx="1"/>
          </p:nvPr>
        </p:nvSpPr>
        <p:spPr>
          <a:xfrm>
            <a:off x="202550" y="778121"/>
            <a:ext cx="6587050" cy="4076100"/>
          </a:xfrm>
          <a:prstGeom prst="roundRect">
            <a:avLst>
              <a:gd name="adj" fmla="val 1198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buNone/>
            </a:pP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The sales target showed an average product-store sale of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$3,464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, with values ranging from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$33 to $8,000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 and a roughly symmetric distribution.</a:t>
            </a:r>
          </a:p>
          <a:p>
            <a:pPr marL="133350" indent="0"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 marL="133350" indent="0">
              <a:buNone/>
            </a:pP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The strongest sales drivers were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Product_MRP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 and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Product_Weight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, with correlations of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0.79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 and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0.74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, respectively. In contrast,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Product_Allocated_Area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 showed almost no linear relationship with sales.</a:t>
            </a:r>
          </a:p>
          <a:p>
            <a:pPr marL="133350" indent="0"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 marL="133350" indent="0">
              <a:buNone/>
            </a:pP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Sales performance varied significantly by store format.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Departmental Stores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 generated the highest average sales, followed by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Supermarket Type 1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Supermarket Type 2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, and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Food Mart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 marL="133350" indent="0"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 marL="133350" indent="0">
              <a:buNone/>
            </a:pP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City tier and store size also showed clear differences in sales.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Tier 1 cities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 and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high-size stores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 generated the strongest sales performance, while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Tier 3 cities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 and smaller stores underperformed.</a:t>
            </a:r>
          </a:p>
          <a:p>
            <a:pPr marL="133350" indent="0"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 marL="133350" indent="0">
              <a:buNone/>
            </a:pP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Outlet-level revenue was highly concentrated, with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OUT004 contributing $15.4M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, followed by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OUT003 at $6.7M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OUT001 at $6.2M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, and 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</a:rPr>
              <a:t>OUT002 at $2.0M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 marL="133350" indent="0">
              <a:buNone/>
            </a:pPr>
            <a:endParaRPr lang="en-US" sz="1100">
              <a:solidFill>
                <a:schemeClr val="accent6">
                  <a:lumMod val="50000"/>
                </a:schemeClr>
              </a:solidFill>
            </a:endParaRPr>
          </a:p>
          <a:p>
            <a:pPr marL="133350" indent="0">
              <a:buNone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Business implication: </a:t>
            </a:r>
            <a:r>
              <a:rPr lang="en-US" sz="1100">
                <a:solidFill>
                  <a:schemeClr val="accent6">
                    <a:lumMod val="50000"/>
                  </a:schemeClr>
                </a:solidFill>
              </a:rPr>
              <a:t>pricing, product attributes, store format, and location are the strongest indicators of expected sales and should guide inventory planning and regional sales strategy.</a:t>
            </a:r>
          </a:p>
          <a:p>
            <a:pPr marL="13970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None/>
            </a:pPr>
            <a:endParaRPr sz="1200">
              <a:solidFill>
                <a:srgbClr val="333333"/>
              </a:solidFill>
            </a:endParaRPr>
          </a:p>
        </p:txBody>
      </p:sp>
      <p:pic>
        <p:nvPicPr>
          <p:cNvPr id="8" name="Picture 7" descr="corr_heatmap.png">
            <a:extLst>
              <a:ext uri="{FF2B5EF4-FFF2-40B4-BE49-F238E27FC236}">
                <a16:creationId xmlns:a16="http://schemas.microsoft.com/office/drawing/2014/main" id="{5F6410C6-0901-E973-8025-7B0FA8452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680" y="4004213"/>
            <a:ext cx="2015050" cy="1049867"/>
          </a:xfrm>
          <a:prstGeom prst="rect">
            <a:avLst/>
          </a:prstGeom>
        </p:spPr>
      </p:pic>
      <p:pic>
        <p:nvPicPr>
          <p:cNvPr id="9" name="Picture 8" descr="target_dist.png">
            <a:extLst>
              <a:ext uri="{FF2B5EF4-FFF2-40B4-BE49-F238E27FC236}">
                <a16:creationId xmlns:a16="http://schemas.microsoft.com/office/drawing/2014/main" id="{9C804522-AEAF-1D2F-08C6-29C92DF4E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961" y="1789312"/>
            <a:ext cx="2070488" cy="1188042"/>
          </a:xfrm>
          <a:prstGeom prst="rect">
            <a:avLst/>
          </a:prstGeom>
        </p:spPr>
      </p:pic>
      <p:pic>
        <p:nvPicPr>
          <p:cNvPr id="10" name="Picture 9" descr="sales_storetype.png">
            <a:extLst>
              <a:ext uri="{FF2B5EF4-FFF2-40B4-BE49-F238E27FC236}">
                <a16:creationId xmlns:a16="http://schemas.microsoft.com/office/drawing/2014/main" id="{59044665-26D9-1A2B-CFB2-AA96B4C8A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723" y="706674"/>
            <a:ext cx="2070488" cy="1014823"/>
          </a:xfrm>
          <a:prstGeom prst="rect">
            <a:avLst/>
          </a:prstGeom>
        </p:spPr>
      </p:pic>
      <p:pic>
        <p:nvPicPr>
          <p:cNvPr id="11" name="Picture 10" descr="revenue_outlet.png">
            <a:extLst>
              <a:ext uri="{FF2B5EF4-FFF2-40B4-BE49-F238E27FC236}">
                <a16:creationId xmlns:a16="http://schemas.microsoft.com/office/drawing/2014/main" id="{B816AB45-7D5A-A356-AEBB-FD61CC97CB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962" y="2939765"/>
            <a:ext cx="2070488" cy="10644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accent6">
                    <a:lumMod val="50000"/>
                  </a:schemeClr>
                </a:solidFill>
              </a:rPr>
              <a:t>Data Preprocessing </a:t>
            </a:r>
            <a:endParaRPr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3" name="Google Shape;183;p40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oundRect">
            <a:avLst>
              <a:gd name="adj" fmla="val 2100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Future Engineering</a:t>
            </a:r>
          </a:p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br>
              <a:rPr lang="en-US" sz="12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200">
                <a:solidFill>
                  <a:schemeClr val="accent6">
                    <a:lumMod val="50000"/>
                  </a:schemeClr>
                </a:solidFill>
              </a:rPr>
              <a:t>New variables were created to improve model performance and capture business-relevant patterns:</a:t>
            </a:r>
          </a:p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endParaRPr lang="en-US" sz="1200">
              <a:solidFill>
                <a:schemeClr val="accent6">
                  <a:lumMod val="50000"/>
                </a:schemeClr>
              </a:solidFill>
            </a:endParaRPr>
          </a:p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Store_Age_Years  </a:t>
            </a:r>
          </a:p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r>
              <a:rPr lang="en-US" sz="1200">
                <a:solidFill>
                  <a:schemeClr val="accent6">
                    <a:lumMod val="50000"/>
                  </a:schemeClr>
                </a:solidFill>
              </a:rPr>
              <a:t>  Calculated store age using: 2025 - Store_Establishment_Year</a:t>
            </a:r>
          </a:p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endParaRPr lang="en-US" sz="1200">
              <a:solidFill>
                <a:schemeClr val="accent6">
                  <a:lumMod val="50000"/>
                </a:schemeClr>
              </a:solidFill>
            </a:endParaRPr>
          </a:p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Product_Id_char  </a:t>
            </a:r>
          </a:p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r>
              <a:rPr lang="en-US" sz="1200">
                <a:solidFill>
                  <a:schemeClr val="accent6">
                    <a:lumMod val="50000"/>
                  </a:schemeClr>
                </a:solidFill>
              </a:rPr>
              <a:t>  Extracted the first two characters of Product_Id to identify broader product groups such as FD, DR, and NC</a:t>
            </a:r>
          </a:p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endParaRPr lang="en-US" sz="1200" b="1">
              <a:solidFill>
                <a:schemeClr val="accent6">
                  <a:lumMod val="50000"/>
                </a:schemeClr>
              </a:solidFill>
            </a:endParaRPr>
          </a:p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Product Category Grouping  </a:t>
            </a:r>
          </a:p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r>
              <a:rPr lang="en-US" sz="1200">
                <a:solidFill>
                  <a:schemeClr val="accent6">
                    <a:lumMod val="50000"/>
                  </a:schemeClr>
                </a:solidFill>
              </a:rPr>
              <a:t>  Consolidated 16 detailed product types into two broader groups: Perishables and Non-Perishables</a:t>
            </a:r>
            <a:endParaRPr sz="120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7EC732AF-437C-D73B-2071-0111AC70A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>
            <a:extLst>
              <a:ext uri="{FF2B5EF4-FFF2-40B4-BE49-F238E27FC236}">
                <a16:creationId xmlns:a16="http://schemas.microsoft.com/office/drawing/2014/main" id="{F99B1A77-91A8-FE00-1390-CF707CE94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accent6">
                    <a:lumMod val="50000"/>
                  </a:schemeClr>
                </a:solidFill>
              </a:rPr>
              <a:t>Data Preprocessing </a:t>
            </a:r>
            <a:endParaRPr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3" name="Google Shape;183;p40">
            <a:extLst>
              <a:ext uri="{FF2B5EF4-FFF2-40B4-BE49-F238E27FC236}">
                <a16:creationId xmlns:a16="http://schemas.microsoft.com/office/drawing/2014/main" id="{30F52292-CCD0-2EF9-6E6F-881322454F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oundRect">
            <a:avLst>
              <a:gd name="adj" fmla="val 1322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Data Cleaning</a:t>
            </a:r>
          </a:p>
          <a:p>
            <a:pPr marL="182880" lvl="1" indent="0">
              <a:spcBef>
                <a:spcPts val="0"/>
              </a:spcBef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r>
              <a:rPr lang="en-US" sz="1000">
                <a:solidFill>
                  <a:schemeClr val="accent6">
                    <a:lumMod val="50000"/>
                  </a:schemeClr>
                </a:solidFill>
              </a:rPr>
              <a:t>The dataset was reviewed and standardized before modeling:</a:t>
            </a:r>
          </a:p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endParaRPr lang="en-US" sz="1200">
              <a:solidFill>
                <a:schemeClr val="accent6">
                  <a:lumMod val="50000"/>
                </a:schemeClr>
              </a:solidFill>
            </a:endParaRP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050">
                <a:solidFill>
                  <a:schemeClr val="accent6">
                    <a:lumMod val="50000"/>
                  </a:schemeClr>
                </a:solidFill>
              </a:rPr>
              <a:t>Standardized inconsistent values in Product_Sugar_Content, changing "reg" to "Regular."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endParaRPr lang="en-US" sz="1050">
              <a:solidFill>
                <a:schemeClr val="accent6">
                  <a:lumMod val="50000"/>
                </a:schemeClr>
              </a:solidFill>
            </a:endParaRP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050">
                <a:solidFill>
                  <a:schemeClr val="accent6">
                    <a:lumMod val="50000"/>
                  </a:schemeClr>
                </a:solidFill>
              </a:rPr>
              <a:t>Confirmed there were no missing values and no duplicate rows in the dataset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endParaRPr lang="en-US" sz="1050">
              <a:solidFill>
                <a:schemeClr val="accent6">
                  <a:lumMod val="50000"/>
                </a:schemeClr>
              </a:solidFill>
            </a:endParaRPr>
          </a:p>
          <a:p>
            <a:pPr marL="115888" indent="0">
              <a:lnSpc>
                <a:spcPct val="100000"/>
              </a:lnSpc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Data Preparation for Modeling</a:t>
            </a:r>
          </a:p>
          <a:p>
            <a:pPr marL="182880" lvl="1" indent="0">
              <a:spcBef>
                <a:spcPts val="0"/>
              </a:spcBef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r>
              <a:rPr lang="en-US" sz="1000">
                <a:solidFill>
                  <a:schemeClr val="accent6">
                    <a:lumMod val="50000"/>
                  </a:schemeClr>
                </a:solidFill>
              </a:rPr>
              <a:t>The final modeling dataset was prepared using a reusable preprocessing pipeline: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050" b="1">
                <a:solidFill>
                  <a:schemeClr val="accent6">
                    <a:lumMod val="50000"/>
                  </a:schemeClr>
                </a:solidFill>
              </a:rPr>
              <a:t>Dropped</a:t>
            </a:r>
            <a:r>
              <a:rPr lang="en-US" sz="1050">
                <a:solidFill>
                  <a:schemeClr val="accent6">
                    <a:lumMod val="50000"/>
                  </a:schemeClr>
                </a:solidFill>
              </a:rPr>
              <a:t> identifier and redundant columns: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050">
                <a:solidFill>
                  <a:schemeClr val="accent6">
                    <a:lumMod val="50000"/>
                  </a:schemeClr>
                </a:solidFill>
              </a:rPr>
              <a:t>  Product_Id, Product_Type, Store_Id, and Store_Establishment_Year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endParaRPr lang="en-US" sz="1050">
              <a:solidFill>
                <a:schemeClr val="accent6">
                  <a:lumMod val="50000"/>
                </a:schemeClr>
              </a:solidFill>
            </a:endParaRP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050">
                <a:solidFill>
                  <a:schemeClr val="accent6">
                    <a:lumMod val="50000"/>
                  </a:schemeClr>
                </a:solidFill>
              </a:rPr>
              <a:t>Applied </a:t>
            </a:r>
            <a:r>
              <a:rPr lang="en-US" sz="1050" b="1">
                <a:solidFill>
                  <a:schemeClr val="accent6">
                    <a:lumMod val="50000"/>
                  </a:schemeClr>
                </a:solidFill>
              </a:rPr>
              <a:t>OneHotEncoder</a:t>
            </a:r>
            <a:r>
              <a:rPr lang="en-US" sz="1050">
                <a:solidFill>
                  <a:schemeClr val="accent6">
                    <a:lumMod val="50000"/>
                  </a:schemeClr>
                </a:solidFill>
              </a:rPr>
              <a:t> to categorical variables with handle_unknown="ignore" and passed numerical variables through unchanged</a:t>
            </a:r>
          </a:p>
          <a:p>
            <a:pPr marL="115888" indent="0">
              <a:lnSpc>
                <a:spcPct val="100000"/>
              </a:lnSpc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endParaRPr lang="en-US" sz="1250">
              <a:solidFill>
                <a:schemeClr val="accent6">
                  <a:lumMod val="50000"/>
                </a:schemeClr>
              </a:solidFill>
            </a:endParaRPr>
          </a:p>
          <a:p>
            <a:pPr marL="115888" indent="0">
              <a:lnSpc>
                <a:spcPct val="100000"/>
              </a:lnSpc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250">
                <a:solidFill>
                  <a:schemeClr val="accent6">
                    <a:lumMod val="50000"/>
                  </a:schemeClr>
                </a:solidFill>
              </a:rPr>
              <a:t>Split the data into a 70/30 train-test split (6,134 train / 2,629 test), random_state = 1</a:t>
            </a:r>
          </a:p>
        </p:txBody>
      </p:sp>
    </p:spTree>
    <p:extLst>
      <p:ext uri="{BB962C8B-B14F-4D97-AF65-F5344CB8AC3E}">
        <p14:creationId xmlns:p14="http://schemas.microsoft.com/office/powerpoint/2010/main" val="85447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BD5C8987-1F28-0145-B4AE-DEC0AE597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>
            <a:extLst>
              <a:ext uri="{FF2B5EF4-FFF2-40B4-BE49-F238E27FC236}">
                <a16:creationId xmlns:a16="http://schemas.microsoft.com/office/drawing/2014/main" id="{A00D18D6-29E6-7024-C678-CAA486D7C4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accent6">
                    <a:lumMod val="50000"/>
                  </a:schemeClr>
                </a:solidFill>
              </a:rPr>
              <a:t>Data Preprocessing </a:t>
            </a:r>
            <a:endParaRPr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3" name="Google Shape;183;p40">
            <a:extLst>
              <a:ext uri="{FF2B5EF4-FFF2-40B4-BE49-F238E27FC236}">
                <a16:creationId xmlns:a16="http://schemas.microsoft.com/office/drawing/2014/main" id="{C09CC5E8-5173-81E5-E8AA-0462470D88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oundRect">
            <a:avLst>
              <a:gd name="adj" fmla="val 2099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spcAft>
                <a:spcPts val="400"/>
              </a:spcAft>
              <a:buClr>
                <a:srgbClr val="2D3B45"/>
              </a:buClr>
              <a:buSzPts val="1400"/>
              <a:buNone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Future Engineering</a:t>
            </a:r>
          </a:p>
          <a:p>
            <a:pPr marL="36576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br>
              <a:rPr lang="en-US" sz="10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000">
                <a:solidFill>
                  <a:schemeClr val="accent6">
                    <a:lumMod val="50000"/>
                  </a:schemeClr>
                </a:solidFill>
              </a:rPr>
              <a:t>New variables were created to improve model performance and capture business-relevant patterns:</a:t>
            </a:r>
          </a:p>
          <a:p>
            <a:pPr marL="36576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endParaRPr lang="en-US" sz="1000">
              <a:solidFill>
                <a:schemeClr val="accent6">
                  <a:lumMod val="50000"/>
                </a:schemeClr>
              </a:solidFill>
            </a:endParaRPr>
          </a:p>
          <a:p>
            <a:pPr marL="36576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000" b="1">
                <a:solidFill>
                  <a:schemeClr val="accent6">
                    <a:lumMod val="50000"/>
                  </a:schemeClr>
                </a:solidFill>
              </a:rPr>
              <a:t>Store_Age_Years  </a:t>
            </a:r>
          </a:p>
          <a:p>
            <a:pPr marL="36576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000">
                <a:solidFill>
                  <a:schemeClr val="accent6">
                    <a:lumMod val="50000"/>
                  </a:schemeClr>
                </a:solidFill>
              </a:rPr>
              <a:t>  Calculated store age using: 2025 - Store_Establishment_Year</a:t>
            </a:r>
          </a:p>
          <a:p>
            <a:pPr marL="36576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endParaRPr lang="en-US" sz="1000">
              <a:solidFill>
                <a:schemeClr val="accent6">
                  <a:lumMod val="50000"/>
                </a:schemeClr>
              </a:solidFill>
            </a:endParaRPr>
          </a:p>
          <a:p>
            <a:pPr marL="36576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000" b="1">
                <a:solidFill>
                  <a:schemeClr val="accent6">
                    <a:lumMod val="50000"/>
                  </a:schemeClr>
                </a:solidFill>
              </a:rPr>
              <a:t>Product_Id_char  </a:t>
            </a:r>
          </a:p>
          <a:p>
            <a:pPr marL="36576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000">
                <a:solidFill>
                  <a:schemeClr val="accent6">
                    <a:lumMod val="50000"/>
                  </a:schemeClr>
                </a:solidFill>
              </a:rPr>
              <a:t>  Extracted the first two characters of Product_Id to identify broader product groups such as FD, DR, and NC</a:t>
            </a:r>
          </a:p>
          <a:p>
            <a:pPr marL="36576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endParaRPr lang="en-US" sz="1000" b="1">
              <a:solidFill>
                <a:schemeClr val="accent6">
                  <a:lumMod val="50000"/>
                </a:schemeClr>
              </a:solidFill>
            </a:endParaRPr>
          </a:p>
          <a:p>
            <a:pPr marL="36576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000" b="1">
                <a:solidFill>
                  <a:schemeClr val="accent6">
                    <a:lumMod val="50000"/>
                  </a:schemeClr>
                </a:solidFill>
              </a:rPr>
              <a:t>Product Category Grouping  </a:t>
            </a:r>
          </a:p>
          <a:p>
            <a:pPr marL="365760" lvl="1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D3B45"/>
              </a:buClr>
              <a:buSzPts val="1400"/>
              <a:buNone/>
            </a:pPr>
            <a:r>
              <a:rPr lang="en-US" sz="1000">
                <a:solidFill>
                  <a:schemeClr val="accent6">
                    <a:lumMod val="50000"/>
                  </a:schemeClr>
                </a:solidFill>
              </a:rPr>
              <a:t>  Consolidated 16 detailed product types into two broader groups: Perishables and Non-Perishables</a:t>
            </a:r>
            <a:endParaRPr sz="100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283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accent6">
                    <a:lumMod val="50000"/>
                  </a:schemeClr>
                </a:solidFill>
              </a:rPr>
              <a:t>Data Background and Contents</a:t>
            </a:r>
            <a:endParaRPr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9" name="Google Shape;189;p41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oundRect">
            <a:avLst>
              <a:gd name="adj" fmla="val 2099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 b="1">
                <a:solidFill>
                  <a:schemeClr val="accent6">
                    <a:lumMod val="50000"/>
                  </a:schemeClr>
                </a:solidFill>
              </a:rPr>
              <a:t>Dataset Overview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The dataset contains 8,763 rows and 12 columns, with no 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missing values and no duplicate records.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endParaRPr lang="en-US" sz="1400">
              <a:solidFill>
                <a:schemeClr val="accent6">
                  <a:lumMod val="50000"/>
                </a:schemeClr>
              </a:solidFill>
            </a:endParaRP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 b="1">
                <a:solidFill>
                  <a:schemeClr val="accent6">
                    <a:lumMod val="50000"/>
                  </a:schemeClr>
                </a:solidFill>
              </a:rPr>
              <a:t>Product Attributes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Product-level features include: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Product_Weight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Product_Sugar_Content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Product_Allocated_Area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Product_Type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Product_MRP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2756014C-D01E-BB90-F7D4-D87684481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">
            <a:extLst>
              <a:ext uri="{FF2B5EF4-FFF2-40B4-BE49-F238E27FC236}">
                <a16:creationId xmlns:a16="http://schemas.microsoft.com/office/drawing/2014/main" id="{6609F1A6-9173-B585-0C86-BCA910B8F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accent6">
                    <a:lumMod val="50000"/>
                  </a:schemeClr>
                </a:solidFill>
              </a:rPr>
              <a:t>Data Background and Contents</a:t>
            </a:r>
            <a:endParaRPr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9" name="Google Shape;189;p41">
            <a:extLst>
              <a:ext uri="{FF2B5EF4-FFF2-40B4-BE49-F238E27FC236}">
                <a16:creationId xmlns:a16="http://schemas.microsoft.com/office/drawing/2014/main" id="{08719264-C4EA-A1DB-FC75-A67CC68A6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992246"/>
          </a:xfrm>
          <a:prstGeom prst="roundRect">
            <a:avLst>
              <a:gd name="adj" fmla="val 2099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 b="1">
                <a:solidFill>
                  <a:schemeClr val="accent6">
                    <a:lumMod val="50000"/>
                  </a:schemeClr>
                </a:solidFill>
              </a:rPr>
              <a:t>Store Attributes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Store-level features include: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Store_Establishment_Year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Store_Size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Store_Location_City_Type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Store_Type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 b="1">
                <a:solidFill>
                  <a:schemeClr val="accent6">
                    <a:lumMod val="50000"/>
                  </a:schemeClr>
                </a:solidFill>
              </a:rPr>
              <a:t>Identifiers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The dataset includes product and store identifiers: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Product_Id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Store_Id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4 outlets: OUT001 to OUT004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 b="1">
                <a:solidFill>
                  <a:schemeClr val="accent6">
                    <a:lumMod val="50000"/>
                  </a:schemeClr>
                </a:solidFill>
              </a:rPr>
              <a:t>Target Variable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• Product_Store_Sales_Total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This represents the total sales revenue of a product at a specific store.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 b="1">
                <a:solidFill>
                  <a:schemeClr val="accent6">
                    <a:lumMod val="50000"/>
                  </a:schemeClr>
                </a:solidFill>
              </a:rPr>
              <a:t>Data Coverage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    The dataset covers 16 product types across 4 stores, spanning 3 city tiers and 3 store sizes.</a:t>
            </a:r>
            <a:endParaRPr sz="140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104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accent6">
                    <a:lumMod val="50000"/>
                  </a:schemeClr>
                </a:solidFill>
              </a:rPr>
              <a:t>Model Building</a:t>
            </a:r>
            <a:endParaRPr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5" name="Google Shape;195;p42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oundRect">
            <a:avLst>
              <a:gd name="adj" fmla="val 2488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17500" algn="l" rtl="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chemeClr val="accent6">
                    <a:lumMod val="50000"/>
                  </a:schemeClr>
                </a:solidFill>
              </a:rPr>
              <a:t>Built Random Forest and XGBoost regressors inside one preprocessing pipeline (one-hot encoded store/product categoricals); evaluated on the held-out test set.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chemeClr val="accent6">
                    <a:lumMod val="50000"/>
                  </a:schemeClr>
                </a:solidFill>
              </a:rPr>
              <a:t>Both base models perform almost identically — Test R² ≈ 0.668, RMSE ≈ 616, MAPE ≈ 18.7% — a statistical tie, with Random Forest holding a slight, consistent edge.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chemeClr val="accent6">
                    <a:lumMod val="50000"/>
                  </a:schemeClr>
                </a:solidFill>
              </a:rPr>
              <a:t>R² and RMSE are two views of the same errors (R² = 1 − RMSE²/Var(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</a:rPr>
              <a:t>Y</a:t>
            </a:r>
            <a:r>
              <a:rPr sz="1400">
                <a:solidFill>
                  <a:schemeClr val="accent6">
                    <a:lumMod val="50000"/>
                  </a:schemeClr>
                </a:solidFill>
              </a:rPr>
              <a:t>)), so they rank the models the same; MAPE ≈ 18.7% agrees, confirming the tie.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chemeClr val="accent6">
                    <a:lumMod val="50000"/>
                  </a:schemeClr>
                </a:solidFill>
              </a:rPr>
              <a:t>The models explain ~67% of sales variance, giving a solid baseline for demand planning.</a:t>
            </a:r>
          </a:p>
        </p:txBody>
      </p:sp>
      <p:graphicFrame>
        <p:nvGraphicFramePr>
          <p:cNvPr id="196" name="Table 1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333141"/>
              </p:ext>
            </p:extLst>
          </p:nvPr>
        </p:nvGraphicFramePr>
        <p:xfrm>
          <a:off x="494090" y="3275685"/>
          <a:ext cx="8046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 (base)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Random Forest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XGBoost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509306B9-368E-E957-C9B8-1573BD36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3">
            <a:extLst>
              <a:ext uri="{FF2B5EF4-FFF2-40B4-BE49-F238E27FC236}">
                <a16:creationId xmlns:a16="http://schemas.microsoft.com/office/drawing/2014/main" id="{E1E2D458-A971-AF50-FE54-08B4A3F85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accent6">
                    <a:lumMod val="50000"/>
                  </a:schemeClr>
                </a:solidFill>
              </a:rPr>
              <a:t>Model Improvement - Hyperparameter Tuning</a:t>
            </a:r>
            <a:endParaRPr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1" name="Google Shape;201;p43">
            <a:extLst>
              <a:ext uri="{FF2B5EF4-FFF2-40B4-BE49-F238E27FC236}">
                <a16:creationId xmlns:a16="http://schemas.microsoft.com/office/drawing/2014/main" id="{5312D276-A0AF-4091-75AD-939BF6AFF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3966250" cy="2630025"/>
          </a:xfrm>
          <a:prstGeom prst="roundRect">
            <a:avLst>
              <a:gd name="adj" fmla="val 1905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 b="1">
                <a:solidFill>
                  <a:schemeClr val="accent6">
                    <a:lumMod val="50000"/>
                  </a:schemeClr>
                </a:solidFill>
              </a:rPr>
              <a:t>Tuning Approach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Both finalist models were tuned using GridSearchCV.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• Cross-validation: </a:t>
            </a:r>
            <a:r>
              <a:rPr lang="en-US" sz="800" b="1">
                <a:solidFill>
                  <a:schemeClr val="accent6">
                    <a:lumMod val="50000"/>
                  </a:schemeClr>
                </a:solidFill>
              </a:rPr>
              <a:t>3-fold</a:t>
            </a: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CV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• Scoring metric</a:t>
            </a:r>
            <a:r>
              <a:rPr lang="en-US" sz="800" b="1">
                <a:solidFill>
                  <a:schemeClr val="accent6">
                    <a:lumMod val="50000"/>
                  </a:schemeClr>
                </a:solidFill>
              </a:rPr>
              <a:t>: R²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 b="1">
                <a:solidFill>
                  <a:schemeClr val="accent6">
                    <a:lumMod val="50000"/>
                  </a:schemeClr>
                </a:solidFill>
              </a:rPr>
              <a:t>Random Forest Tuning Results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Best parameters: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• max_features = "sqrt"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• n_estimators = 100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• max_depth = None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The selected parameters were </a:t>
            </a:r>
            <a:r>
              <a:rPr lang="en-US" sz="800" b="1">
                <a:solidFill>
                  <a:schemeClr val="accent6">
                    <a:lumMod val="50000"/>
                  </a:schemeClr>
                </a:solidFill>
              </a:rPr>
              <a:t>close to the default model </a:t>
            </a: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settings.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endParaRPr lang="en-US" sz="800">
              <a:solidFill>
                <a:schemeClr val="accent6">
                  <a:lumMod val="50000"/>
                </a:schemeClr>
              </a:solidFill>
            </a:endParaRP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 b="1">
                <a:solidFill>
                  <a:schemeClr val="accent6">
                    <a:lumMod val="50000"/>
                  </a:schemeClr>
                </a:solidFill>
              </a:rPr>
              <a:t>    Test performance: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• Test R² remained unchanged at 0.668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• Tuned Random Forest performed the same as the base Random Forest model</a:t>
            </a:r>
          </a:p>
        </p:txBody>
      </p:sp>
      <p:sp>
        <p:nvSpPr>
          <p:cNvPr id="2" name="Google Shape;201;p43">
            <a:extLst>
              <a:ext uri="{FF2B5EF4-FFF2-40B4-BE49-F238E27FC236}">
                <a16:creationId xmlns:a16="http://schemas.microsoft.com/office/drawing/2014/main" id="{1F784798-3E03-B4B8-2B37-F2FE1403D555}"/>
              </a:ext>
            </a:extLst>
          </p:cNvPr>
          <p:cNvSpPr txBox="1">
            <a:spLocks/>
          </p:cNvSpPr>
          <p:nvPr/>
        </p:nvSpPr>
        <p:spPr>
          <a:xfrm>
            <a:off x="4320950" y="859954"/>
            <a:ext cx="3966250" cy="2630025"/>
          </a:xfrm>
          <a:prstGeom prst="roundRect">
            <a:avLst>
              <a:gd name="adj" fmla="val 2293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700" b="1">
                <a:solidFill>
                  <a:schemeClr val="accent6">
                    <a:lumMod val="50000"/>
                  </a:schemeClr>
                </a:solidFill>
              </a:rPr>
              <a:t>XGBoost Tuning Results</a:t>
            </a:r>
          </a:p>
          <a:p>
            <a:pPr marL="139700" indent="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Best parameters: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• gamma = 0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• n_estimators = 100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   The selected parameters were also near the default settings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 b="1">
                <a:solidFill>
                  <a:schemeClr val="accent6">
                    <a:lumMod val="50000"/>
                  </a:schemeClr>
                </a:solidFill>
              </a:rPr>
              <a:t>    Test performance: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• Test R² remained unchanged at 0.668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• RMSE remained around 616</a:t>
            </a:r>
          </a:p>
          <a:p>
            <a:pPr marL="139700" indent="0">
              <a:lnSpc>
                <a:spcPct val="100000"/>
              </a:lnSpc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    • No meaningful performance gain was observed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14DAA7-10AB-F892-C5AC-E598B56C8ADA}"/>
              </a:ext>
            </a:extLst>
          </p:cNvPr>
          <p:cNvSpPr txBox="1"/>
          <p:nvPr/>
        </p:nvSpPr>
        <p:spPr>
          <a:xfrm>
            <a:off x="202550" y="3546554"/>
            <a:ext cx="8084650" cy="1258550"/>
          </a:xfrm>
          <a:prstGeom prst="roundRect">
            <a:avLst>
              <a:gd name="adj" fmla="val 2010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39700" indent="0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900" b="1">
                <a:solidFill>
                  <a:schemeClr val="accent6">
                    <a:lumMod val="50000"/>
                  </a:schemeClr>
                </a:solidFill>
              </a:rPr>
              <a:t>Key Takeaway</a:t>
            </a:r>
          </a:p>
          <a:p>
            <a:pPr marL="139700" indent="0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Hyperparameter tuning did not produce a measurable improvement.</a:t>
            </a:r>
          </a:p>
          <a:p>
            <a:pPr marL="139700" indent="0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The models appear to have reached the performance ceiling based on the available features.</a:t>
            </a:r>
          </a:p>
          <a:p>
            <a:pPr marL="139700" indent="0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Since Random Forest and XGBoost remained statistically tied, the tuned Random Forest model was selected as the final model due to its stability,    consistency, and simpler deployment profile.</a:t>
            </a:r>
          </a:p>
        </p:txBody>
      </p:sp>
    </p:spTree>
    <p:extLst>
      <p:ext uri="{BB962C8B-B14F-4D97-AF65-F5344CB8AC3E}">
        <p14:creationId xmlns:p14="http://schemas.microsoft.com/office/powerpoint/2010/main" val="3977871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4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accent6">
                    <a:lumMod val="50000"/>
                  </a:schemeClr>
                </a:solidFill>
              </a:rPr>
              <a:t>Model Performance Summary</a:t>
            </a:r>
            <a:endParaRPr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7" name="Google Shape;207;p44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oundRect">
            <a:avLst>
              <a:gd name="adj" fmla="val 3070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1750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chemeClr val="accent6">
                    <a:lumMod val="50000"/>
                  </a:schemeClr>
                </a:solidFill>
              </a:rPr>
              <a:t>Final selected model: Tuned Random Forest (serialized with joblib and deployed).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chemeClr val="accent6">
                    <a:lumMod val="50000"/>
                  </a:schemeClr>
                </a:solidFill>
              </a:rPr>
              <a:t>All four models are statistically tied — Test R² ≈ 0.668, differing only at the 4th decimal — but Random Forest holds a slight, consistent edge over XGBoost across every metric.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chemeClr val="accent6">
                    <a:lumMod val="50000"/>
                  </a:schemeClr>
                </a:solidFill>
              </a:rPr>
              <a:t>Random Forest (tuned) was selected for deployment; the price-inclusive analysis (next slide) reinforces Random Forest as the stronger model family.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chemeClr val="accent6">
                    <a:lumMod val="50000"/>
                  </a:schemeClr>
                </a:solidFill>
              </a:rPr>
              <a:t>Selected-model test performance: R² = 0.668, RMSE = 616, MAE = 485, MAPE = 18.7%.</a:t>
            </a:r>
          </a:p>
        </p:txBody>
      </p:sp>
      <p:sp>
        <p:nvSpPr>
          <p:cNvPr id="208" name="Google Shape;208;p44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209" name="Table 2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738784"/>
              </p:ext>
            </p:extLst>
          </p:nvPr>
        </p:nvGraphicFramePr>
        <p:xfrm>
          <a:off x="311650" y="267978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Adj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RMSE 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MAE 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Random Forest (tuned)  ★ deployed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Random Forest (base)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XGBoost (base)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XGBoost (tuned)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486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>
            <a:spLocks noGrp="1"/>
          </p:cNvSpPr>
          <p:nvPr>
            <p:ph type="title"/>
          </p:nvPr>
        </p:nvSpPr>
        <p:spPr>
          <a:xfrm>
            <a:off x="202550" y="5977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accent6">
                    <a:lumMod val="50000"/>
                  </a:schemeClr>
                </a:solidFill>
              </a:rPr>
              <a:t>Deployment</a:t>
            </a:r>
            <a:endParaRPr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4" name="Google Shape;214;p45"/>
          <p:cNvSpPr txBox="1">
            <a:spLocks noGrp="1"/>
          </p:cNvSpPr>
          <p:nvPr>
            <p:ph type="body" idx="1"/>
          </p:nvPr>
        </p:nvSpPr>
        <p:spPr>
          <a:xfrm>
            <a:off x="202550" y="460800"/>
            <a:ext cx="8629800" cy="46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 b="1">
                <a:solidFill>
                  <a:schemeClr val="accent6">
                    <a:lumMod val="50000"/>
                  </a:schemeClr>
                </a:solidFill>
              </a:rPr>
              <a:t>Production Model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The tuned Random Forest model was serialized using joblib and deployed as the production forecasting model.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 b="1">
                <a:solidFill>
                  <a:schemeClr val="accent6">
                    <a:lumMod val="50000"/>
                  </a:schemeClr>
                </a:solidFill>
              </a:rPr>
              <a:t>Backend API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The model is served through a Flask REST API.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• Endpoint: POST /v1/predict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• Input: product and store attributes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• Output: predicted sales value returned in JSON format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 b="1">
                <a:solidFill>
                  <a:schemeClr val="accent6">
                    <a:lumMod val="50000"/>
                  </a:schemeClr>
                </a:solidFill>
              </a:rPr>
              <a:t>Frontend Application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A Steamlit web application was created to make the model accessible to business users.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The app supports: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• Single product-store sales predictions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• Batch scoring using CSV uploads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 b="1">
                <a:solidFill>
                  <a:schemeClr val="accent6">
                    <a:lumMod val="50000"/>
                  </a:schemeClr>
                </a:solidFill>
              </a:rPr>
              <a:t>Hosting and Containerization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Both the backend API and frontend Streamlit app were containerized using Docker.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The solution is hosted on Hugging Face Spaces for deployment and accessibility.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 b="1">
                <a:solidFill>
                  <a:schemeClr val="accent6">
                    <a:lumMod val="50000"/>
                  </a:schemeClr>
                </a:solidFill>
              </a:rPr>
              <a:t>Deployment Links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</a:t>
            </a:r>
            <a:r>
              <a:rPr lang="en-US" sz="700" b="1">
                <a:solidFill>
                  <a:schemeClr val="accent6">
                    <a:lumMod val="50000"/>
                  </a:schemeClr>
                </a:solidFill>
              </a:rPr>
              <a:t>• Backend API: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  https://araujohn-rkt-superkart-backend.hf.space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  Endpoint: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  POST /v1/predict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</a:t>
            </a:r>
            <a:r>
              <a:rPr lang="en-US" sz="700" b="1">
                <a:solidFill>
                  <a:schemeClr val="accent6">
                    <a:lumMod val="50000"/>
                  </a:schemeClr>
                </a:solidFill>
              </a:rPr>
              <a:t>• Frontend Streamlit App:</a:t>
            </a:r>
          </a:p>
          <a:p>
            <a:pPr marL="13970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700">
                <a:solidFill>
                  <a:schemeClr val="accent6">
                    <a:lumMod val="50000"/>
                  </a:schemeClr>
                </a:solidFill>
              </a:rPr>
              <a:t>      https://araujohn-rkt-superkart-app.hf.space</a:t>
            </a:r>
            <a:endParaRPr sz="7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5" name="Google Shape;215;p45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chemeClr val="accent1">
                    <a:lumMod val="50000"/>
                  </a:schemeClr>
                </a:solidFill>
              </a:rPr>
              <a:t>Recommendation: Adding Product Price (MRP)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300">
                <a:solidFill>
                  <a:schemeClr val="accent1">
                    <a:lumMod val="50000"/>
                  </a:schemeClr>
                </a:solidFill>
              </a:rPr>
              <a:t>Product_MRP (price) is the single strongest predictor of sales in EDA (correlation 0.79), yet the current production model excludes it per project scope.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chemeClr val="accent1">
                    <a:lumMod val="50000"/>
                  </a:schemeClr>
                </a:solidFill>
              </a:rPr>
              <a:t>A controlled experiment adding Product_MRP improves every metric dramatically — and confirms Random Forest as the best model, widening its edge over XGBoost.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chemeClr val="accent1">
                    <a:lumMod val="50000"/>
                  </a:schemeClr>
                </a:solidFill>
              </a:rPr>
              <a:t>Business impact: typical forecast error roughly halves (RMSE 616</a:t>
            </a:r>
            <a:r>
              <a:rPr lang="en-US" sz="1300">
                <a:solidFill>
                  <a:schemeClr val="accent1">
                    <a:lumMod val="50000"/>
                  </a:schemeClr>
                </a:solidFill>
              </a:rPr>
              <a:t> -&gt;</a:t>
            </a:r>
            <a:r>
              <a:rPr sz="1300">
                <a:solidFill>
                  <a:schemeClr val="accent1">
                    <a:lumMod val="50000"/>
                  </a:schemeClr>
                </a:solidFill>
              </a:rPr>
              <a:t> 291), enabling materially tighter inventory and supply-chain planning.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chemeClr val="accent1">
                    <a:lumMod val="50000"/>
                  </a:schemeClr>
                </a:solidFill>
              </a:rPr>
              <a:t>Recommendation: incorporate Product_MRP (and Product_Weight) in the next model iteration once approved for use.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849087"/>
              </p:ext>
            </p:extLst>
          </p:nvPr>
        </p:nvGraphicFramePr>
        <p:xfrm>
          <a:off x="548640" y="3429000"/>
          <a:ext cx="78638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Feature set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Best model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 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Without price (current)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Random Forest (tuned)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With price (proposed)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Random Forest (tuned)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0.926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291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5.2%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accent6">
                    <a:lumMod val="50000"/>
                  </a:schemeClr>
                </a:solidFill>
              </a:rPr>
              <a:t>Key Takeaways &amp; Business Recommendations</a:t>
            </a:r>
            <a:endParaRPr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1" name="Google Shape;221;p46"/>
          <p:cNvSpPr txBox="1">
            <a:spLocks noGrp="1"/>
          </p:cNvSpPr>
          <p:nvPr>
            <p:ph type="body" idx="1"/>
          </p:nvPr>
        </p:nvSpPr>
        <p:spPr>
          <a:xfrm>
            <a:off x="202550" y="718349"/>
            <a:ext cx="8629800" cy="4242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Key Business Drivers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Pricing and store format are the strongest sales levers in the dataset.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• Product_MRP has a strong correlation with sales at 0.79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• Departmental and Tier-1 stores generate approximately 3x higher sales than Food Mart and Tier-3 stores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endParaRPr lang="en-US" sz="900">
              <a:solidFill>
                <a:schemeClr val="accent6">
                  <a:lumMod val="50000"/>
                </a:schemeClr>
              </a:solidFill>
            </a:endParaRP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Replicate High-Performing Store Patterns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SuperKart should analyze and replicate the success factors behind OUT004 and Departmental / Tier-1 store formats.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Focus areas include: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• Product assortment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• Pricing strategy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• Inventory availability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• Store format and location strategy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endParaRPr lang="en-US" sz="900">
              <a:solidFill>
                <a:schemeClr val="accent6">
                  <a:lumMod val="50000"/>
                </a:schemeClr>
              </a:solidFill>
            </a:endParaRP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Model Selection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Random Forest and XGBoost performed very similarly, with Test R² around 0.668.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The tuned Random Forest model was selected and deployed due to its slight performance edge, stability, and simpler production profile.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 XGBoost can be selected for a large amount of data, its parallelism improves performance.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endParaRPr lang="en-US" sz="900">
              <a:solidFill>
                <a:schemeClr val="accent6">
                  <a:lumMod val="50000"/>
                </a:schemeClr>
              </a:solidFill>
            </a:endParaRP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Highest-Impact Model Improvement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The next major improvement should be to add </a:t>
            </a:r>
            <a:r>
              <a:rPr lang="en-US" sz="900" b="1">
                <a:solidFill>
                  <a:schemeClr val="accent6">
                    <a:lumMod val="50000"/>
                  </a:schemeClr>
                </a:solidFill>
              </a:rPr>
              <a:t>Product_MRP </a:t>
            </a: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to the model.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A controlled test showed that including </a:t>
            </a:r>
            <a:r>
              <a:rPr lang="en-US" sz="900" b="1">
                <a:solidFill>
                  <a:schemeClr val="accent6">
                    <a:lumMod val="50000"/>
                  </a:schemeClr>
                </a:solidFill>
              </a:rPr>
              <a:t>Product_MRP </a:t>
            </a: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could: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• Increase Test R² from approximately 0.67 to 0.93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• Reduce typical prediction error by roughly half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endParaRPr lang="en-US" sz="900">
              <a:solidFill>
                <a:schemeClr val="accent6">
                  <a:lumMod val="50000"/>
                </a:schemeClr>
              </a:solidFill>
            </a:endParaRP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Production Readiness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The forecasting solution is production-ready through a </a:t>
            </a:r>
            <a:r>
              <a:rPr lang="en-US" sz="900" b="1">
                <a:solidFill>
                  <a:schemeClr val="accent6">
                    <a:lumMod val="50000"/>
                  </a:schemeClr>
                </a:solidFill>
              </a:rPr>
              <a:t>Flask</a:t>
            </a: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900" b="1">
                <a:solidFill>
                  <a:schemeClr val="accent6">
                    <a:lumMod val="50000"/>
                  </a:schemeClr>
                </a:solidFill>
              </a:rPr>
              <a:t>API</a:t>
            </a: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and Streamlit web app hosted on Hugging Face Spaces.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Recommended operating approach: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• Monitor prediction accuracy over time</a:t>
            </a:r>
          </a:p>
          <a:p>
            <a:pPr marL="139700" indent="0">
              <a:lnSpc>
                <a:spcPct val="100000"/>
              </a:lnSpc>
              <a:buClr>
                <a:srgbClr val="000000"/>
              </a:buClr>
              <a:buSzPts val="1400"/>
              <a:buNone/>
            </a:pPr>
            <a:r>
              <a:rPr lang="en-US" sz="900">
                <a:solidFill>
                  <a:schemeClr val="accent6">
                    <a:lumMod val="50000"/>
                  </a:schemeClr>
                </a:solidFill>
              </a:rPr>
              <a:t>    • Retrain periodically as new sales data becomes available</a:t>
            </a:r>
            <a:endParaRPr sz="90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7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  <p:sp>
        <p:nvSpPr>
          <p:cNvPr id="229" name="Google Shape;229;p47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2229</Words>
  <Application>Microsoft Office PowerPoint</Application>
  <PresentationFormat>On-screen Show (16:9)</PresentationFormat>
  <Paragraphs>315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Calibri</vt:lpstr>
      <vt:lpstr>Aptos</vt:lpstr>
      <vt:lpstr>Nunito SemiBold</vt:lpstr>
      <vt:lpstr>Arial</vt:lpstr>
      <vt:lpstr>Nunito ExtraBold</vt:lpstr>
      <vt:lpstr>Nunito</vt:lpstr>
      <vt:lpstr>Aptos Narrow</vt:lpstr>
      <vt:lpstr>Simple Light</vt:lpstr>
      <vt:lpstr>Just Logo</vt:lpstr>
      <vt:lpstr>Just Logo</vt:lpstr>
      <vt:lpstr>PowerPoint Presentation</vt:lpstr>
      <vt:lpstr>Contents / Agenda</vt:lpstr>
      <vt:lpstr>Executive Summary</vt:lpstr>
      <vt:lpstr>Business Problem Overview and Solution Approach</vt:lpstr>
      <vt:lpstr>EDA Results</vt:lpstr>
      <vt:lpstr>Data Preprocessing </vt:lpstr>
      <vt:lpstr>Data Preprocessing </vt:lpstr>
      <vt:lpstr>Data Preprocessing </vt:lpstr>
      <vt:lpstr>Data Background and Contents</vt:lpstr>
      <vt:lpstr>Data Background and Contents</vt:lpstr>
      <vt:lpstr>Model Building</vt:lpstr>
      <vt:lpstr>Model Improvement - Hyperparameter Tuning</vt:lpstr>
      <vt:lpstr>Model Performance Summary</vt:lpstr>
      <vt:lpstr>Deployment</vt:lpstr>
      <vt:lpstr>Recommendation: Adding Product Price (MRP)</vt:lpstr>
      <vt:lpstr>Key Takeaways &amp; Business 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John Araujo</cp:lastModifiedBy>
  <cp:revision>6</cp:revision>
  <dcterms:modified xsi:type="dcterms:W3CDTF">2026-06-08T07:37:24Z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1172fb5-86d0-42cb-ba27-645bef134c04_Enabled">
    <vt:lpwstr>true</vt:lpwstr>
  </property>
  <property fmtid="{D5CDD505-2E9C-101B-9397-08002B2CF9AE}" pid="3" name="MSIP_Label_81172fb5-86d0-42cb-ba27-645bef134c04_SetDate">
    <vt:lpwstr>2026-06-08T06:47:58Z</vt:lpwstr>
  </property>
  <property fmtid="{D5CDD505-2E9C-101B-9397-08002B2CF9AE}" pid="4" name="MSIP_Label_81172fb5-86d0-42cb-ba27-645bef134c04_Method">
    <vt:lpwstr>Standard</vt:lpwstr>
  </property>
  <property fmtid="{D5CDD505-2E9C-101B-9397-08002B2CF9AE}" pid="5" name="MSIP_Label_81172fb5-86d0-42cb-ba27-645bef134c04_Name">
    <vt:lpwstr>NATO Unclassified</vt:lpwstr>
  </property>
  <property fmtid="{D5CDD505-2E9C-101B-9397-08002B2CF9AE}" pid="6" name="MSIP_Label_81172fb5-86d0-42cb-ba27-645bef134c04_SiteId">
    <vt:lpwstr>4e058d4f-695c-4815-91b9-3bea0bf19c06</vt:lpwstr>
  </property>
  <property fmtid="{D5CDD505-2E9C-101B-9397-08002B2CF9AE}" pid="7" name="MSIP_Label_81172fb5-86d0-42cb-ba27-645bef134c04_ActionId">
    <vt:lpwstr>312aec8b-c640-4051-b694-05b6893f011d</vt:lpwstr>
  </property>
  <property fmtid="{D5CDD505-2E9C-101B-9397-08002B2CF9AE}" pid="8" name="MSIP_Label_81172fb5-86d0-42cb-ba27-645bef134c04_ContentBits">
    <vt:lpwstr>1</vt:lpwstr>
  </property>
  <property fmtid="{D5CDD505-2E9C-101B-9397-08002B2CF9AE}" pid="9" name="MSIP_Label_81172fb5-86d0-42cb-ba27-645bef134c04_Tag">
    <vt:lpwstr>10, 3, 0, 1</vt:lpwstr>
  </property>
  <property fmtid="{D5CDD505-2E9C-101B-9397-08002B2CF9AE}" pid="10" name="ClassificationContentMarkingHeaderLocations">
    <vt:lpwstr>Simple Light:3\Just Logo:3\Just Logo:3</vt:lpwstr>
  </property>
  <property fmtid="{D5CDD505-2E9C-101B-9397-08002B2CF9AE}" pid="11" name="ClassificationContentMarkingHeaderText">
    <vt:lpwstr>NATO UNCLASSIFIED</vt:lpwstr>
  </property>
</Properties>
</file>