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5"/>
    <p:sldMasterId id="2147483680" r:id="rId6"/>
    <p:sldMasterId id="2147483681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9" r:id="rId32"/>
    <p:sldId id="267" r:id="rId20"/>
    <p:sldId id="268" r:id="rId21"/>
  </p:sldIdLst>
  <p:sldSz cy="5143500" cx="9144000"/>
  <p:notesSz cx="6858000" cy="9144000"/>
  <p:embeddedFontLst>
    <p:embeddedFont>
      <p:font typeface="Nunito SemiBold"/>
      <p:regular r:id="rId22"/>
      <p:bold r:id="rId23"/>
      <p:italic r:id="rId24"/>
      <p:boldItalic r:id="rId25"/>
    </p:embeddedFont>
    <p:embeddedFont>
      <p:font typeface="Nunito"/>
      <p:regular r:id="rId26"/>
      <p:bold r:id="rId27"/>
      <p:italic r:id="rId28"/>
      <p:boldItalic r:id="rId29"/>
    </p:embeddedFont>
    <p:embeddedFont>
      <p:font typeface="Nunito ExtraBold"/>
      <p:bold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34BDF1D-0A76-4FD4-A49D-73CE3F465BEA}">
  <a:tblStyle styleId="{A34BDF1D-0A76-4FD4-A49D-73CE3F465BE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5B9BD5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5B9BD5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font" Target="fonts/NunitoSemiBold-regular.fntdata"/><Relationship Id="rId23" Type="http://schemas.openxmlformats.org/officeDocument/2006/relationships/font" Target="fonts/NunitoSemiBold-bold.fntdata"/><Relationship Id="rId24" Type="http://schemas.openxmlformats.org/officeDocument/2006/relationships/font" Target="fonts/NunitoSemiBold-italic.fntdata"/><Relationship Id="rId25" Type="http://schemas.openxmlformats.org/officeDocument/2006/relationships/font" Target="fonts/NunitoSemiBold-boldItalic.fntdata"/><Relationship Id="rId26" Type="http://schemas.openxmlformats.org/officeDocument/2006/relationships/font" Target="fonts/Nunito-regular.fntdata"/><Relationship Id="rId27" Type="http://schemas.openxmlformats.org/officeDocument/2006/relationships/font" Target="fonts/Nunito-bold.fntdata"/><Relationship Id="rId28" Type="http://schemas.openxmlformats.org/officeDocument/2006/relationships/font" Target="fonts/Nunito-italic.fntdata"/><Relationship Id="rId29" Type="http://schemas.openxmlformats.org/officeDocument/2006/relationships/font" Target="fonts/Nunito-boldItalic.fntdata"/><Relationship Id="rId30" Type="http://schemas.openxmlformats.org/officeDocument/2006/relationships/font" Target="fonts/NunitoExtraBold-bold.fntdata"/><Relationship Id="rId31" Type="http://schemas.openxmlformats.org/officeDocument/2006/relationships/font" Target="fonts/NunitoExtraBold-boldItalic.fntdata"/><Relationship Id="rId32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4a6029fcee_2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4a6029fcee_2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a6029fcee_2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4a6029fcee_2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4a6029fcee_2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4a6029fcee_2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4a6029fcee_2_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4a6029fcee_2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a6029fcee_2_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4a6029fcee_2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a6029fcee_2_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4a6029fcee_2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4a6029fcee_2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4a6029fcee_2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4a6029fcee_2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4a6029fcee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4a6029fc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4a6029fc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4a6029fcee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4a6029fce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4a6029fcee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4a6029fce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4a6029fce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4a6029fce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4a6029fcee_2_1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g34a6029fcee_2_1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34a6029fcee_2_1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4a6029fcee_2_169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Proprietary content. ©Great Learning. All Rights Reserved. Unauthorized use or distribution prohibited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71" name="Google Shape;71;p17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{A34BDF1D-0A76-4FD4-A49D-73CE3F465BEA}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7" name="Google Shape;8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8" name="Google Shape;8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89" name="Google Shape;89;p2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3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94" name="Google Shape;94;p23"/>
          <p:cNvPicPr preferRelativeResize="0"/>
          <p:nvPr/>
        </p:nvPicPr>
        <p:blipFill rotWithShape="1">
          <a:blip r:embed="rId2">
            <a:alphaModFix/>
          </a:blip>
          <a:srcRect b="19149" l="42816" r="37294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3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" name="Google Shape;96;p23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97" name="Google Shape;9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5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109" name="Google Shape;109;p25"/>
          <p:cNvPicPr preferRelativeResize="0"/>
          <p:nvPr/>
        </p:nvPicPr>
        <p:blipFill rotWithShape="1">
          <a:blip r:embed="rId2">
            <a:alphaModFix/>
          </a:blip>
          <a:srcRect b="19149" l="42816" r="37294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5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Google Shape;111;p25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112" name="Google Shape;11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6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15" name="Google Shape;115;p26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118" name="Google Shape;118;p2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22" name="Google Shape;122;p2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125" name="Google Shape;125;p29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{A34BDF1D-0A76-4FD4-A49D-73CE3F465BEA}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0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29" name="Google Shape;129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0" name="Google Shape;130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1" name="Google Shape;131;p3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34" name="Google Shape;134;p3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7" name="Google Shape;137;p3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1" name="Google Shape;141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2" name="Google Shape;142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143" name="Google Shape;143;p3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4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Relationship Id="rId9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3" name="Google Shape;53;p13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13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57" name="Google Shape;57;p13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4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100" name="Google Shape;100;p24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01" name="Google Shape;101;p24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3" name="Google Shape;103;p2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" name="Google Shape;104;p24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05" name="Google Shape;105;p24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4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mc:AlternateContent>
    <mc:Choice Requires="p14">
      <p:transition p14:dur="0">
        <p:fade thruBlk="1"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slide" Target="slide7.xml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5"/>
          <p:cNvSpPr txBox="1"/>
          <p:nvPr>
            <p:ph type="ctrTitle"/>
          </p:nvPr>
        </p:nvSpPr>
        <p:spPr>
          <a:xfrm>
            <a:off x="1158150" y="1412050"/>
            <a:ext cx="68277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600"/>
              <a:t>SuperKart Sales Forecasting &amp; Model Deployment</a:t>
            </a:r>
            <a:endParaRPr sz="3600"/>
          </a:p>
        </p:txBody>
      </p:sp>
      <p:sp>
        <p:nvSpPr>
          <p:cNvPr id="151" name="Google Shape;151;p35"/>
          <p:cNvSpPr txBox="1"/>
          <p:nvPr>
            <p:ph type="ctrTitle"/>
          </p:nvPr>
        </p:nvSpPr>
        <p:spPr>
          <a:xfrm>
            <a:off x="1153000" y="2038575"/>
            <a:ext cx="68277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0" lang="en" sz="3000"/>
              <a:t>Predicting Product-Store Sales with Machine Learning  |  Model Deployment</a:t>
            </a:r>
            <a:endParaRPr b="0" sz="3000"/>
          </a:p>
        </p:txBody>
      </p:sp>
      <p:sp>
        <p:nvSpPr>
          <p:cNvPr id="152" name="Google Shape;152;p35"/>
          <p:cNvSpPr txBox="1"/>
          <p:nvPr>
            <p:ph type="ctrTitle"/>
          </p:nvPr>
        </p:nvSpPr>
        <p:spPr>
          <a:xfrm>
            <a:off x="1153000" y="2429300"/>
            <a:ext cx="68277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0" lang="en" sz="1600"/>
              <a:t>June 2026</a:t>
            </a:r>
            <a:endParaRPr b="0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6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Contents / Agenda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8" name="Google Shape;158;p36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Executive Summary 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Business Problem Overview and Solution Approach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EDA Results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Data Preprocessing 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Model Building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Model </a:t>
            </a:r>
            <a:r>
              <a:rPr lang="en" sz="1400">
                <a:solidFill>
                  <a:srgbClr val="000000"/>
                </a:solidFill>
              </a:rPr>
              <a:t>Performance</a:t>
            </a:r>
            <a:r>
              <a:rPr lang="en" sz="1400">
                <a:solidFill>
                  <a:srgbClr val="000000"/>
                </a:solidFill>
              </a:rPr>
              <a:t> Summary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Deployment</a:t>
            </a:r>
            <a:endParaRPr sz="1400">
              <a:solidFill>
                <a:srgbClr val="000000"/>
              </a:solidFill>
            </a:endParaRPr>
          </a:p>
          <a:p>
            <a:pPr/>
            <a:r>
              <a:rPr sz="1400">
                <a:solidFill>
                  <a:srgbClr val="000000"/>
                </a:solidFill>
              </a:rPr>
              <a:t>Recommendation – Adding Product Price (MRP)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Executive Summary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4" name="Google Shape;164;p37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marL="457200" rtl="0" algn="l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  <a:buClr>
                <a:srgbClr val="000000"/>
              </a:buClr>
              <a:buSzPts val="1400"/>
              <a:buChar char="●"/>
            </a:pPr>
            <a:r>
              <a:rPr sz="1400">
                <a:solidFill>
                  <a:srgbClr val="333333"/>
                </a:solidFill>
              </a:rPr>
              <a:t>A machine-learning model was built to forecast product-level sales for each store, using historical data on 8,763 product-store records across 4 outlets.</a:t>
            </a:r>
            <a:endParaRPr sz="1400">
              <a:solidFill>
                <a:srgbClr val="000000"/>
              </a:solidFill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Random Forest and XGBoost (with and without tuning) were compared; all four are statistically tied at Test R² ≈ 0.668 (RMSE ≈ ₹616, MAPE ≈ 18.7%), with a slight, consistent edge to Random Forest.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Tuned Random Forest was selected and deployed as the production model.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Product MRP (price) is the strongest correlate of sales (r = 0.79); a controlled test shows adding it would lift Test R² from 0.67 to 0.93 — a recommended future enhancement (see Recommendation slide).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Store format drives revenue: Departmental Stores and Tier-1 cities generate ~3x the sales of Food Marts and Tier-3 locations; OUT004 alone produced ₹15.4M — more than the other three outlets combined.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Recommendation: operate the tuned Random Forest forecasting service (Flask API + Streamlit app) to guide inventory, supply-chain planning, and store strategy.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Business Problem Overview and Solution Approach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0" name="Google Shape;170;p38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marL="457200" rtl="0" algn="l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  <a:buClr>
                <a:srgbClr val="000000"/>
              </a:buClr>
              <a:buSzPts val="1400"/>
              <a:buChar char="●"/>
            </a:pPr>
            <a:r>
              <a:rPr sz="1400">
                <a:solidFill>
                  <a:srgbClr val="333333"/>
                </a:solidFill>
              </a:rPr>
              <a:t>Business problem</a:t>
            </a:r>
            <a:endParaRPr sz="1400">
              <a:solidFill>
                <a:srgbClr val="000000"/>
              </a:solidFill>
            </a:endParaRP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SuperKart needs accurate sales forecasts at the product-store level to plan inventory, optimize the supply chain, and benchmark store performance.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The target, Product_Store_Sales_Total, is continuous — this is a regression problem.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Solution approach / methodology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Exploratory data analysis to understand sales drivers and data quality.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Feature engineering + a preprocessing pipeline (one-hot encoding of categoricals).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Train and compare 6 tree-based / ensemble regressors on R², RMSE, MAE, MAPE.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Hyperparameter-tune the strongest candidates, select the best, and deploy it as an API + web app.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EDA Results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6" name="Google Shape;176;p39"/>
          <p:cNvSpPr txBox="1"/>
          <p:nvPr>
            <p:ph idx="1" type="body"/>
          </p:nvPr>
        </p:nvSpPr>
        <p:spPr>
          <a:xfrm>
            <a:off x="201168" y="914400"/>
            <a:ext cx="278892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marL="45720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400"/>
              <a:buChar char="●"/>
            </a:pPr>
            <a:r>
              <a:rPr sz="1100">
                <a:solidFill>
                  <a:srgbClr val="333333"/>
                </a:solidFill>
              </a:rPr>
              <a:t>Target sale averages ₹3,464, roughly symmetric.</a:t>
            </a:r>
            <a:endParaRPr sz="1400">
              <a:solidFill>
                <a:srgbClr val="000000"/>
              </a:solidFill>
            </a:endParaRP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</a:rPr>
              <a:t>Top drivers: Product_MRP (0.79) and Product_Weight (0.74); Allocated_Area ≈ 0.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</a:rPr>
              <a:t>Store format: Departmental &gt; Type1 &gt; Type2 &gt; Food Mart; Tier-1 and High-size lead.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</a:rPr>
              <a:t>Revenue: OUT004 ≫ OUT003 &gt; OUT001 &gt; OUT002.</a:t>
            </a:r>
          </a:p>
        </p:txBody>
      </p:sp>
      <p:sp>
        <p:nvSpPr>
          <p:cNvPr id="177" name="Google Shape;177;p39"/>
          <p:cNvSpPr txBox="1"/>
          <p:nvPr/>
        </p:nvSpPr>
        <p:spPr>
          <a:xfrm>
            <a:off x="4077350" y="4568775"/>
            <a:ext cx="501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" sz="1200" u="sng" cap="none" strike="noStrike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action="ppaction://hlinksldjump" r:id="rId3"/>
              </a:rPr>
              <a:t>Link to Appendix slide on data background check</a:t>
            </a:r>
            <a:endParaRPr b="0" i="1" sz="1200" u="none" cap="none" strike="noStrike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78" name="Picture 177" descr="corr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375" y="932688"/>
            <a:ext cx="2718968" cy="1737360"/>
          </a:xfrm>
          <a:prstGeom prst="rect">
            <a:avLst/>
          </a:prstGeom>
        </p:spPr>
      </p:pic>
      <p:pic>
        <p:nvPicPr>
          <p:cNvPr id="179" name="Picture 178" descr="target_di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938693"/>
            <a:ext cx="2880360" cy="1725349"/>
          </a:xfrm>
          <a:prstGeom prst="rect">
            <a:avLst/>
          </a:prstGeom>
        </p:spPr>
      </p:pic>
      <p:pic>
        <p:nvPicPr>
          <p:cNvPr id="180" name="Picture 179" descr="sales_storetyp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0857" y="2761488"/>
            <a:ext cx="1808005" cy="1737360"/>
          </a:xfrm>
          <a:prstGeom prst="rect">
            <a:avLst/>
          </a:prstGeom>
        </p:spPr>
      </p:pic>
      <p:pic>
        <p:nvPicPr>
          <p:cNvPr id="181" name="Picture 180" descr="revenue_outl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577" y="2761488"/>
            <a:ext cx="2062741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0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Data Preprocessing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3" name="Google Shape;183;p40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marL="45720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>
                <a:srgbClr val="2D3B45"/>
              </a:buClr>
              <a:buSzPts val="1400"/>
              <a:buChar char="●"/>
            </a:pPr>
            <a:r>
              <a:rPr sz="1400">
                <a:solidFill>
                  <a:srgbClr val="333333"/>
                </a:solidFill>
              </a:rPr>
              <a:t>Feature engineering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Store_Age_Years = 2025 − Store_Establishment_Year.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Product_Id_char = first two characters of Product_Id (FD / DR / NC categories).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Grouped 16 product types into two categories: Perishables vs Non-Perishables.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Data cleaning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Standardized inconsistent label: 'reg' → 'Regular' in Product_Sugar_Content.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No missing values and no duplicate rows in the dataset.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Data preparation for modeling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Dropped identifiers/redundant columns: Product_Id, Product_Type, Store_Id, Store_Establishment_Year.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Pipeline: OneHotEncoder(handle_unknown='ignore') on the categorical features; numeric columns are dropped (deployed model is categorical-only), fused with each model.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70/30 train-test split (6,134 train / 2,629 test), random_state = 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1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Data Background and Contents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9" name="Google Shape;189;p41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marL="457200" rtl="0" algn="l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  <a:buClr>
                <a:srgbClr val="000000"/>
              </a:buClr>
              <a:buSzPts val="1400"/>
              <a:buChar char="●"/>
            </a:pPr>
            <a:r>
              <a:rPr sz="1400">
                <a:solidFill>
                  <a:srgbClr val="333333"/>
                </a:solidFill>
              </a:rPr>
              <a:t>Dataset: 8,763 rows × 12 columns; no missing values, no duplicates.</a:t>
            </a:r>
            <a:endParaRPr sz="1400">
              <a:solidFill>
                <a:schemeClr val="dk1"/>
              </a:solidFill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Product attributes: Product_Weight, Product_Sugar_Content, Product_Allocated_Area, Product_Type, Product_MRP.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Store attributes: Store_Establishment_Year, Store_Size, Store_Location_City_Type, Store_Type.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Identifiers: Product_Id, Store_Id (4 outlets: OUT001–OUT004).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Target variable: Product_Store_Sales_Total (total sales of a product at a store).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Coverage: 16 product types across 4 stores spanning 3 city tiers and 3 store sizes.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Model Building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5" name="Google Shape;195;p42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marL="457200" rtl="0" algn="l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  <a:buClr>
                <a:srgbClr val="000000"/>
              </a:buClr>
              <a:buSzPts val="1400"/>
              <a:buChar char="●"/>
            </a:pPr>
            <a:r>
              <a:rPr sz="1400">
                <a:solidFill>
                  <a:srgbClr val="333333"/>
                </a:solidFill>
              </a:rPr>
              <a:t>Built Random Forest and XGBoost regressors inside one preprocessing pipeline (one-hot encoded store/product categoricals); evaluated on the held-out test set.</a:t>
            </a:r>
            <a:endParaRPr sz="1400">
              <a:solidFill>
                <a:schemeClr val="dk1"/>
              </a:solidFill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Both base models perform almost identically — Test R² ≈ 0.668, RMSE ≈ ₹616, MAPE ≈ 18.7% — a statistical tie, with Random Forest holding a slight, consistent edge.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R² and RMSE are two views of the same errors (R² = 1 − RMSE²/Var(y)), so they rank the models the same; MAPE ≈ 18.7% agrees, confirming the tie.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The models explain ~67% of sales variance, giving a solid baseline for demand planning.</a:t>
            </a:r>
          </a:p>
        </p:txBody>
      </p:sp>
      <p:graphicFrame>
        <p:nvGraphicFramePr>
          <p:cNvPr id="196" name="Table 195"/>
          <p:cNvGraphicFramePr>
            <a:graphicFrameLocks noGrp="1"/>
          </p:cNvGraphicFramePr>
          <p:nvPr/>
        </p:nvGraphicFramePr>
        <p:xfrm>
          <a:off x="548640" y="2468880"/>
          <a:ext cx="804672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25880"/>
                <a:gridCol w="1325880"/>
                <a:gridCol w="1325880"/>
                <a:gridCol w="1325880"/>
              </a:tblGrid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 (base)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Test R²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RMSE (₹)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MAE (₹)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MAPE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Random Forest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0.668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616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485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18.7%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XGBoost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0.668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616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485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18.7%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3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Model Improvement - Hyperparameter Tuning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1" name="Google Shape;201;p43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marL="457200" rtl="0" algn="l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  <a:buClr>
                <a:srgbClr val="000000"/>
              </a:buClr>
              <a:buSzPts val="1400"/>
              <a:buChar char="●"/>
            </a:pPr>
            <a:r>
              <a:rPr sz="1400">
                <a:solidFill>
                  <a:srgbClr val="333333"/>
                </a:solidFill>
              </a:rPr>
              <a:t>Tuned both finalists with GridSearchCV (cv = 3, scoring = R²).</a:t>
            </a:r>
            <a:endParaRPr sz="1400">
              <a:solidFill>
                <a:schemeClr val="dk1"/>
              </a:solidFill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Random Forest — best params: max_features = 'sqrt', n_estimators = 100, max_depth = None (the grid landed on the defaults).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Test R² unchanged at 0.668; tuned Random Forest is identical to the base model.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XGBoost — best params: gamma = 0, n_estimators = 100 (near-defaults).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Test R² unchanged at 0.668 (RMSE ₹616) — no meaningful gain.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Takeaway: tuning produced no measurable improvement — the models are already at the performance ceiling set by the available (categorical-only) features. Random Forest and XGBoost remain tied, and tuned Random Forest is taken forward as the selected model.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Model Performance Summary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7" name="Google Shape;207;p44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marL="45720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400"/>
              <a:buChar char="●"/>
            </a:pPr>
            <a:r>
              <a:rPr sz="1400">
                <a:solidFill>
                  <a:srgbClr val="333333"/>
                </a:solidFill>
              </a:rPr>
              <a:t>Final selected model: Tuned Random Forest (serialized with joblib and deployed).</a:t>
            </a:r>
            <a:endParaRPr sz="1400">
              <a:solidFill>
                <a:schemeClr val="dk1"/>
              </a:solidFill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All four models are statistically tied — Test R² ≈ 0.668, differing only at the 4th decimal — but Random Forest holds a slight, consistent edge over XGBoost across every metric.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Random Forest (tuned) was selected for deployment; the price-inclusive analysis (next slide) reinforces Random Forest as the stronger model family.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Selected-model test performance: R² = 0.668, RMSE = ₹616, MAE = ₹485, MAPE = 18.7%.</a:t>
            </a:r>
          </a:p>
        </p:txBody>
      </p:sp>
      <p:sp>
        <p:nvSpPr>
          <p:cNvPr id="208" name="Google Shape;208;p44"/>
          <p:cNvSpPr txBox="1"/>
          <p:nvPr/>
        </p:nvSpPr>
        <p:spPr>
          <a:xfrm>
            <a:off x="4077350" y="4568775"/>
            <a:ext cx="501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1" sz="1200" u="none" cap="none" strike="noStrike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209" name="Table 208"/>
          <p:cNvGraphicFramePr>
            <a:graphicFrameLocks noGrp="1"/>
          </p:cNvGraphicFramePr>
          <p:nvPr/>
        </p:nvGraphicFramePr>
        <p:xfrm>
          <a:off x="457200" y="2194560"/>
          <a:ext cx="8229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1143000"/>
                <a:gridCol w="1143000"/>
                <a:gridCol w="1143000"/>
                <a:gridCol w="1097280"/>
                <a:gridCol w="109728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Test R²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Adj R²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RMSE (₹)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MAE (₹)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MAPE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</a:rPr>
                        <a:t>Random Forest (tuned)  ★ deployed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0.668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0.667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616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485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18.7%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</a:rPr>
                        <a:t>Random Forest (base)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0.668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0.667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616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485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18.7%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</a:rPr>
                        <a:t>XGBoost (base)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0.668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0.667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616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485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18.7%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</a:rPr>
                        <a:t>XGBoost (tuned)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0.668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0.667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616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486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18.7%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Deployment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14" name="Google Shape;214;p45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marL="45720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400"/>
              <a:buChar char="●"/>
            </a:pPr>
            <a:r>
              <a:rPr sz="1400">
                <a:solidFill>
                  <a:srgbClr val="333333"/>
                </a:solidFill>
              </a:rPr>
              <a:t>Tuned Random Forest serialized with joblib and served via a Flask REST API.</a:t>
            </a:r>
            <a:endParaRPr sz="1400">
              <a:solidFill>
                <a:schemeClr val="dk1"/>
              </a:solidFill>
            </a:endParaRP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Endpoint POST /v1/predict accepts product + store attributes and returns predicted sales as JSON.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Streamlit web app provides a UI for single predictions and batch (CSV) scoring.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Both the backend API and frontend are containerized with Docker and hosted on Hugging Face Spaces.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Backend API: https://araujohn-rkt-superkart-backend.hf.space  (POST /v1/predict)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Frontend Streamlit app: https://araujohn-rkt-superkart-app.hf.space</a:t>
            </a:r>
          </a:p>
        </p:txBody>
      </p:sp>
      <p:sp>
        <p:nvSpPr>
          <p:cNvPr id="215" name="Google Shape;215;p45"/>
          <p:cNvSpPr txBox="1"/>
          <p:nvPr/>
        </p:nvSpPr>
        <p:spPr>
          <a:xfrm>
            <a:off x="4077350" y="4568775"/>
            <a:ext cx="501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1" sz="1200" u="none" cap="none" strike="noStrike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Recommendation: Adding Product Price (MRP)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Product_MRP (price) is the single strongest predictor of sales in EDA (correlation 0.79), yet the current production model excludes it per project scope.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A controlled experiment adding Product_MRP improves every metric dramatically — and confirms Random Forest as the best model, widening its edge over XGBoost.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Business impact: typical forecast error roughly halves (RMSE ₹616 → ₹291), enabling materially tighter inventory and supply-chain planning.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Recommendation: incorporate Product_MRP (and Product_Weight) in the next model iteration once approved for use.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429000"/>
          <a:ext cx="786384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011680"/>
                <a:gridCol w="1188720"/>
                <a:gridCol w="1280160"/>
                <a:gridCol w="1188720"/>
              </a:tblGrid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Feature set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Best model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Test R²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RMSE (₹)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MAPE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Without price (current)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Random Forest (tuned)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0.668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616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18.7%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With price (proposed)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Random Forest (tuned)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0.926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291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5.2%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6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Key Takeaways &amp; Business Recommendations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21" name="Google Shape;221;p46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marL="457200" rtl="0" algn="l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  <a:buClr>
                <a:srgbClr val="000000"/>
              </a:buClr>
              <a:buSzPts val="1400"/>
              <a:buChar char="●"/>
            </a:pPr>
            <a:r>
              <a:rPr sz="1400">
                <a:solidFill>
                  <a:srgbClr val="333333"/>
                </a:solidFill>
              </a:rPr>
              <a:t>Pricing &amp; store format are the biggest sales levers in the data: Product_MRP correlates 0.79 with sales, and Departmental/Tier-1 stores sell ~3x Food Marts/Tier-3.</a:t>
            </a:r>
            <a:endParaRPr sz="1400">
              <a:solidFill>
                <a:schemeClr val="dk1"/>
              </a:solidFill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Replicate winners: study OUT004 and Departmental/Tier-1 formats to lift underperforming outlets (OUT002, Food Marts, Tier-3).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Model selection: Random Forest and XGBoost are statistically tied (Test R² ≈ 0.668), with a slight edge to Random Forest; tuned Random Forest was deployed.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Highest-impact next step: add Product_MRP (price) to the model — a controlled test lifts Test R² from 0.67 to 0.93 and cuts typical error roughly in half (see Recommendation slide).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Production-ready service (Flask API + Streamlit on Hugging Face); retrain periodically as new sales data arrives.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7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29" name="Google Shape;229;p47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