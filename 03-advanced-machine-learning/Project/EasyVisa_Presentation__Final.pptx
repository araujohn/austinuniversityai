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9" r:id="rId1"/>
    <p:sldMasterId id="2147483680" r:id="rId2"/>
    <p:sldMasterId id="2147483681" r:id="rId3"/>
  </p:sldMasterIdLst>
  <p:notesMasterIdLst>
    <p:notesMasterId r:id="rId28"/>
  </p:notesMasterIdLst>
  <p:sldIdLst>
    <p:sldId id="256" r:id="rId4"/>
    <p:sldId id="257" r:id="rId5"/>
    <p:sldId id="258" r:id="rId6"/>
    <p:sldId id="259" r:id="rId7"/>
    <p:sldId id="271" r:id="rId8"/>
    <p:sldId id="277" r:id="rId9"/>
    <p:sldId id="273" r:id="rId10"/>
    <p:sldId id="272" r:id="rId11"/>
    <p:sldId id="262" r:id="rId12"/>
    <p:sldId id="279" r:id="rId13"/>
    <p:sldId id="278" r:id="rId14"/>
    <p:sldId id="280" r:id="rId15"/>
    <p:sldId id="281" r:id="rId16"/>
    <p:sldId id="282" r:id="rId17"/>
    <p:sldId id="263" r:id="rId18"/>
    <p:sldId id="264" r:id="rId19"/>
    <p:sldId id="274" r:id="rId20"/>
    <p:sldId id="265" r:id="rId21"/>
    <p:sldId id="266" r:id="rId22"/>
    <p:sldId id="276" r:id="rId23"/>
    <p:sldId id="267" r:id="rId24"/>
    <p:sldId id="275" r:id="rId25"/>
    <p:sldId id="268" r:id="rId26"/>
    <p:sldId id="270" r:id="rId27"/>
  </p:sldIdLst>
  <p:sldSz cx="9144000" cy="5143500" type="screen16x9"/>
  <p:notesSz cx="6858000" cy="9144000"/>
  <p:embeddedFontLst>
    <p:embeddedFont>
      <p:font typeface="Aptos Narrow" panose="020B0004020202020204" pitchFamily="34" charset="0"/>
      <p:regular r:id="rId29"/>
      <p:bold r:id="rId30"/>
      <p:italic r:id="rId31"/>
      <p:boldItalic r:id="rId32"/>
    </p:embeddedFont>
    <p:embeddedFont>
      <p:font typeface="Nunito" pitchFamily="2" charset="0"/>
      <p:regular r:id="rId33"/>
      <p:bold r:id="rId34"/>
      <p:italic r:id="rId35"/>
      <p:boldItalic r:id="rId36"/>
    </p:embeddedFont>
    <p:embeddedFont>
      <p:font typeface="Nunito ExtraBold" pitchFamily="2" charset="0"/>
      <p:bold r:id="rId37"/>
      <p:boldItalic r:id="rId38"/>
    </p:embeddedFont>
    <p:embeddedFont>
      <p:font typeface="Nunito SemiBold" pitchFamily="2"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921D070-E9E0-4708-ADE3-723659AD1A52}">
  <a:tblStyle styleId="{8921D070-E9E0-4708-ADE3-723659AD1A52}" styleName="Table_0">
    <a:wholeTbl>
      <a:tcTxStyle b="off" i="off">
        <a:font>
          <a:latin typeface="Arial"/>
          <a:ea typeface="Arial"/>
          <a:cs typeface="Arial"/>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12700" cap="flat" cmpd="sng">
              <a:solidFill>
                <a:srgbClr val="5B9BD5"/>
              </a:solidFill>
              <a:prstDash val="solid"/>
              <a:round/>
              <a:headEnd type="none" w="sm" len="sm"/>
              <a:tailEnd type="none" w="sm" len="sm"/>
            </a:ln>
          </a:top>
          <a:bottom>
            <a:ln w="12700" cap="flat" cmpd="sng">
              <a:solidFill>
                <a:srgbClr val="5B9BD5"/>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fill>
          <a:solidFill>
            <a:srgbClr val="5B9BD5">
              <a:alpha val="20000"/>
            </a:srgbClr>
          </a:solidFill>
        </a:fill>
      </a:tcStyle>
    </a:band1H>
    <a:band2H>
      <a:tcTxStyle b="off" i="off"/>
      <a:tcStyle>
        <a:tcBdr/>
      </a:tcStyle>
    </a:band2H>
    <a:band1V>
      <a:tcTxStyle b="off" i="off"/>
      <a:tcStyle>
        <a:tcBdr/>
        <a:fill>
          <a:solidFill>
            <a:srgbClr val="5B9BD5">
              <a:alpha val="20000"/>
            </a:srgbClr>
          </a:solidFill>
        </a:fill>
      </a:tcStyle>
    </a:band1V>
    <a:band2V>
      <a:tcTxStyle b="off" i="off"/>
      <a:tcStyle>
        <a:tcBdr/>
      </a:tcStyle>
    </a:band2V>
    <a:lastCol>
      <a:tcTxStyle b="on" i="off"/>
      <a:tcStyle>
        <a:tcBdr/>
      </a:tcStyle>
    </a:lastCol>
    <a:firstCol>
      <a:tcTxStyle b="on" i="off"/>
      <a:tcStyle>
        <a:tcBdr/>
      </a:tcStyle>
    </a:firstCol>
    <a:lastRow>
      <a:tcTxStyle b="on" i="off"/>
      <a:tcStyle>
        <a:tcBdr>
          <a:top>
            <a:ln w="12700" cap="flat" cmpd="sng">
              <a:solidFill>
                <a:srgbClr val="5B9BD5"/>
              </a:solidFill>
              <a:prstDash val="solid"/>
              <a:round/>
              <a:headEnd type="none" w="sm" len="sm"/>
              <a:tailEnd type="none" w="sm" len="sm"/>
            </a:ln>
          </a:top>
        </a:tcBdr>
        <a:fill>
          <a:solidFill>
            <a:srgbClr val="FFFFFF">
              <a:alpha val="0"/>
            </a:srgbClr>
          </a:solidFill>
        </a:fill>
      </a:tcStyle>
    </a:lastRow>
    <a:seCell>
      <a:tcTxStyle b="off" i="off"/>
      <a:tcStyle>
        <a:tcBdr/>
      </a:tcStyle>
    </a:seCell>
    <a:swCell>
      <a:tcTxStyle b="off" i="off"/>
      <a:tcStyle>
        <a:tcBdr/>
      </a:tcStyle>
    </a:swCell>
    <a:firstRow>
      <a:tcTxStyle b="on" i="off"/>
      <a:tcStyle>
        <a:tcBdr>
          <a:bottom>
            <a:ln w="12700" cap="flat" cmpd="sng">
              <a:solidFill>
                <a:srgbClr val="5B9BD5"/>
              </a:solidFill>
              <a:prstDash val="solid"/>
              <a:round/>
              <a:headEnd type="none" w="sm" len="sm"/>
              <a:tailEnd type="none" w="sm" len="sm"/>
            </a:ln>
          </a:bottom>
        </a:tcBdr>
        <a:fill>
          <a:solidFill>
            <a:srgbClr val="FFFFFF">
              <a:alpha val="0"/>
            </a:srgbClr>
          </a:solidFill>
        </a:fill>
      </a:tcStyle>
    </a:firstRow>
    <a:neCell>
      <a:tcTxStyle b="off" i="off"/>
      <a:tcStyle>
        <a:tcBdr/>
      </a:tcStyle>
    </a:neCell>
    <a:nwCell>
      <a:tcTxStyle b="off" i="off"/>
      <a:tcStyle>
        <a:tcBdr/>
      </a:tcStyle>
    </a:nwCell>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44" autoAdjust="0"/>
    <p:restoredTop sz="94660"/>
  </p:normalViewPr>
  <p:slideViewPr>
    <p:cSldViewPr snapToGrid="0">
      <p:cViewPr varScale="1">
        <p:scale>
          <a:sx n="104" d="100"/>
          <a:sy n="104" d="100"/>
        </p:scale>
        <p:origin x="114" y="114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font" Target="fonts/font11.fntdata"/><Relationship Id="rId21" Type="http://schemas.openxmlformats.org/officeDocument/2006/relationships/slide" Target="slides/slide18.xml"/><Relationship Id="rId34" Type="http://schemas.openxmlformats.org/officeDocument/2006/relationships/font" Target="fonts/font6.fntdata"/><Relationship Id="rId42" Type="http://schemas.openxmlformats.org/officeDocument/2006/relationships/font" Target="fonts/font14.fntdata"/><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notesMaster" Target="notesMasters/notesMaster1.xml"/><Relationship Id="rId36" Type="http://schemas.openxmlformats.org/officeDocument/2006/relationships/font" Target="fonts/font8.fntdata"/><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font" Target="fonts/font3.fntdata"/><Relationship Id="rId44"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presProps" Target="presProp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font" Target="fonts/font5.fntdata"/><Relationship Id="rId38" Type="http://schemas.openxmlformats.org/officeDocument/2006/relationships/font" Target="fonts/font10.fntdata"/><Relationship Id="rId46" Type="http://schemas.openxmlformats.org/officeDocument/2006/relationships/tableStyles" Target="tableStyles.xml"/><Relationship Id="rId20" Type="http://schemas.openxmlformats.org/officeDocument/2006/relationships/slide" Target="slides/slide17.xml"/><Relationship Id="rId41" Type="http://schemas.openxmlformats.org/officeDocument/2006/relationships/font" Target="fonts/font1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58a9e9d19c_2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8" name="Google Shape;148;g358a9e9d19c_2_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58a9e9d19c_2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5" name="Google Shape;155;g358a9e9d19c_2_5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58a9e9d19c_2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g358a9e9d19c_2_6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58a9e9d19c_2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7" name="Google Shape;167;g358a9e9d19c_2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a:extLst>
            <a:ext uri="{FF2B5EF4-FFF2-40B4-BE49-F238E27FC236}">
              <a16:creationId xmlns:a16="http://schemas.microsoft.com/office/drawing/2014/main" id="{F6D66146-32C5-36F1-6C93-6A4D1AAFB08A}"/>
            </a:ext>
          </a:extLst>
        </p:cNvPr>
        <p:cNvGrpSpPr/>
        <p:nvPr/>
      </p:nvGrpSpPr>
      <p:grpSpPr>
        <a:xfrm>
          <a:off x="0" y="0"/>
          <a:ext cx="0" cy="0"/>
          <a:chOff x="0" y="0"/>
          <a:chExt cx="0" cy="0"/>
        </a:xfrm>
      </p:grpSpPr>
      <p:sp>
        <p:nvSpPr>
          <p:cNvPr id="179" name="Google Shape;179;g358a9e9d19c_2_77:notes">
            <a:extLst>
              <a:ext uri="{FF2B5EF4-FFF2-40B4-BE49-F238E27FC236}">
                <a16:creationId xmlns:a16="http://schemas.microsoft.com/office/drawing/2014/main" id="{126E3CEC-F52C-8FF8-BF44-04149EF404D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0" name="Google Shape;180;g358a9e9d19c_2_77:notes">
            <a:extLst>
              <a:ext uri="{FF2B5EF4-FFF2-40B4-BE49-F238E27FC236}">
                <a16:creationId xmlns:a16="http://schemas.microsoft.com/office/drawing/2014/main" id="{8094F04B-88BE-4DA3-3A45-5CD9C6B20BA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5861005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a:extLst>
            <a:ext uri="{FF2B5EF4-FFF2-40B4-BE49-F238E27FC236}">
              <a16:creationId xmlns:a16="http://schemas.microsoft.com/office/drawing/2014/main" id="{510141CD-A68C-DB4D-7368-B3D5BA20D4FD}"/>
            </a:ext>
          </a:extLst>
        </p:cNvPr>
        <p:cNvGrpSpPr/>
        <p:nvPr/>
      </p:nvGrpSpPr>
      <p:grpSpPr>
        <a:xfrm>
          <a:off x="0" y="0"/>
          <a:ext cx="0" cy="0"/>
          <a:chOff x="0" y="0"/>
          <a:chExt cx="0" cy="0"/>
        </a:xfrm>
      </p:grpSpPr>
      <p:sp>
        <p:nvSpPr>
          <p:cNvPr id="179" name="Google Shape;179;g358a9e9d19c_2_77:notes">
            <a:extLst>
              <a:ext uri="{FF2B5EF4-FFF2-40B4-BE49-F238E27FC236}">
                <a16:creationId xmlns:a16="http://schemas.microsoft.com/office/drawing/2014/main" id="{0FF00060-422B-AE00-7B75-38899E35CB0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0" name="Google Shape;180;g358a9e9d19c_2_77:notes">
            <a:extLst>
              <a:ext uri="{FF2B5EF4-FFF2-40B4-BE49-F238E27FC236}">
                <a16:creationId xmlns:a16="http://schemas.microsoft.com/office/drawing/2014/main" id="{009BA119-0D64-9214-ACFD-6AC4222DDDA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1714059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C1439775-277F-EF4E-7C18-A034A8FD7A49}"/>
            </a:ext>
          </a:extLst>
        </p:cNvPr>
        <p:cNvGrpSpPr/>
        <p:nvPr/>
      </p:nvGrpSpPr>
      <p:grpSpPr>
        <a:xfrm>
          <a:off x="0" y="0"/>
          <a:ext cx="0" cy="0"/>
          <a:chOff x="0" y="0"/>
          <a:chExt cx="0" cy="0"/>
        </a:xfrm>
      </p:grpSpPr>
      <p:sp>
        <p:nvSpPr>
          <p:cNvPr id="172" name="Google Shape;172;g358a9e9d19c_2_70:notes">
            <a:extLst>
              <a:ext uri="{FF2B5EF4-FFF2-40B4-BE49-F238E27FC236}">
                <a16:creationId xmlns:a16="http://schemas.microsoft.com/office/drawing/2014/main" id="{C98B8E98-CAE6-1E24-8A04-075AA838C56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g358a9e9d19c_2_70:notes">
            <a:extLst>
              <a:ext uri="{FF2B5EF4-FFF2-40B4-BE49-F238E27FC236}">
                <a16:creationId xmlns:a16="http://schemas.microsoft.com/office/drawing/2014/main" id="{DAD34B66-69EA-B50A-E1C4-C184053FFDF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6185920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a:extLst>
            <a:ext uri="{FF2B5EF4-FFF2-40B4-BE49-F238E27FC236}">
              <a16:creationId xmlns:a16="http://schemas.microsoft.com/office/drawing/2014/main" id="{A019B035-FA38-21FD-550A-AC574898CDED}"/>
            </a:ext>
          </a:extLst>
        </p:cNvPr>
        <p:cNvGrpSpPr/>
        <p:nvPr/>
      </p:nvGrpSpPr>
      <p:grpSpPr>
        <a:xfrm>
          <a:off x="0" y="0"/>
          <a:ext cx="0" cy="0"/>
          <a:chOff x="0" y="0"/>
          <a:chExt cx="0" cy="0"/>
        </a:xfrm>
      </p:grpSpPr>
      <p:sp>
        <p:nvSpPr>
          <p:cNvPr id="179" name="Google Shape;179;g358a9e9d19c_2_77:notes">
            <a:extLst>
              <a:ext uri="{FF2B5EF4-FFF2-40B4-BE49-F238E27FC236}">
                <a16:creationId xmlns:a16="http://schemas.microsoft.com/office/drawing/2014/main" id="{B110FFCC-3051-C165-2280-BE06137E9EF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0" name="Google Shape;180;g358a9e9d19c_2_77:notes">
            <a:extLst>
              <a:ext uri="{FF2B5EF4-FFF2-40B4-BE49-F238E27FC236}">
                <a16:creationId xmlns:a16="http://schemas.microsoft.com/office/drawing/2014/main" id="{3C21FB9B-55D2-AFB9-2DD2-379000AC574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96266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358a9e9d19c_2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6" name="Google Shape;186;g358a9e9d19c_2_8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a:extLst>
            <a:ext uri="{FF2B5EF4-FFF2-40B4-BE49-F238E27FC236}">
              <a16:creationId xmlns:a16="http://schemas.microsoft.com/office/drawing/2014/main" id="{761B29D4-69FC-3509-5E16-59F5A646155E}"/>
            </a:ext>
          </a:extLst>
        </p:cNvPr>
        <p:cNvGrpSpPr/>
        <p:nvPr/>
      </p:nvGrpSpPr>
      <p:grpSpPr>
        <a:xfrm>
          <a:off x="0" y="0"/>
          <a:ext cx="0" cy="0"/>
          <a:chOff x="0" y="0"/>
          <a:chExt cx="0" cy="0"/>
        </a:xfrm>
      </p:grpSpPr>
      <p:sp>
        <p:nvSpPr>
          <p:cNvPr id="185" name="Google Shape;185;g358a9e9d19c_2_82:notes">
            <a:extLst>
              <a:ext uri="{FF2B5EF4-FFF2-40B4-BE49-F238E27FC236}">
                <a16:creationId xmlns:a16="http://schemas.microsoft.com/office/drawing/2014/main" id="{04088EF4-9522-069C-E540-95A6F0B054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6" name="Google Shape;186;g358a9e9d19c_2_82:notes">
            <a:extLst>
              <a:ext uri="{FF2B5EF4-FFF2-40B4-BE49-F238E27FC236}">
                <a16:creationId xmlns:a16="http://schemas.microsoft.com/office/drawing/2014/main" id="{04741780-BAC6-423A-019A-6C4C3F7DB8D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6062251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a:extLst>
            <a:ext uri="{FF2B5EF4-FFF2-40B4-BE49-F238E27FC236}">
              <a16:creationId xmlns:a16="http://schemas.microsoft.com/office/drawing/2014/main" id="{B4E48F99-863C-5152-4295-A57E3F88F11D}"/>
            </a:ext>
          </a:extLst>
        </p:cNvPr>
        <p:cNvGrpSpPr/>
        <p:nvPr/>
      </p:nvGrpSpPr>
      <p:grpSpPr>
        <a:xfrm>
          <a:off x="0" y="0"/>
          <a:ext cx="0" cy="0"/>
          <a:chOff x="0" y="0"/>
          <a:chExt cx="0" cy="0"/>
        </a:xfrm>
      </p:grpSpPr>
      <p:sp>
        <p:nvSpPr>
          <p:cNvPr id="185" name="Google Shape;185;g358a9e9d19c_2_82:notes">
            <a:extLst>
              <a:ext uri="{FF2B5EF4-FFF2-40B4-BE49-F238E27FC236}">
                <a16:creationId xmlns:a16="http://schemas.microsoft.com/office/drawing/2014/main" id="{DCE4BACB-19FC-E1E5-41CA-E9408C87415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6" name="Google Shape;186;g358a9e9d19c_2_82:notes">
            <a:extLst>
              <a:ext uri="{FF2B5EF4-FFF2-40B4-BE49-F238E27FC236}">
                <a16:creationId xmlns:a16="http://schemas.microsoft.com/office/drawing/2014/main" id="{08C9F4B3-2AF6-21BE-19DB-EA12B5661DB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90744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a:extLst>
            <a:ext uri="{FF2B5EF4-FFF2-40B4-BE49-F238E27FC236}">
              <a16:creationId xmlns:a16="http://schemas.microsoft.com/office/drawing/2014/main" id="{9EBDE41C-BDCC-ADAD-866A-B61FAA657B78}"/>
            </a:ext>
          </a:extLst>
        </p:cNvPr>
        <p:cNvGrpSpPr/>
        <p:nvPr/>
      </p:nvGrpSpPr>
      <p:grpSpPr>
        <a:xfrm>
          <a:off x="0" y="0"/>
          <a:ext cx="0" cy="0"/>
          <a:chOff x="0" y="0"/>
          <a:chExt cx="0" cy="0"/>
        </a:xfrm>
      </p:grpSpPr>
      <p:sp>
        <p:nvSpPr>
          <p:cNvPr id="185" name="Google Shape;185;g358a9e9d19c_2_82:notes">
            <a:extLst>
              <a:ext uri="{FF2B5EF4-FFF2-40B4-BE49-F238E27FC236}">
                <a16:creationId xmlns:a16="http://schemas.microsoft.com/office/drawing/2014/main" id="{9567AAC1-C090-A2D3-49C3-07288881179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6" name="Google Shape;186;g358a9e9d19c_2_82:notes">
            <a:extLst>
              <a:ext uri="{FF2B5EF4-FFF2-40B4-BE49-F238E27FC236}">
                <a16:creationId xmlns:a16="http://schemas.microsoft.com/office/drawing/2014/main" id="{B5CEDB89-DB48-23FC-CCC1-7C597E1B8BE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628357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a:extLst>
            <a:ext uri="{FF2B5EF4-FFF2-40B4-BE49-F238E27FC236}">
              <a16:creationId xmlns:a16="http://schemas.microsoft.com/office/drawing/2014/main" id="{C7EEFBF0-D046-74ED-572F-7F4C949F93C4}"/>
            </a:ext>
          </a:extLst>
        </p:cNvPr>
        <p:cNvGrpSpPr/>
        <p:nvPr/>
      </p:nvGrpSpPr>
      <p:grpSpPr>
        <a:xfrm>
          <a:off x="0" y="0"/>
          <a:ext cx="0" cy="0"/>
          <a:chOff x="0" y="0"/>
          <a:chExt cx="0" cy="0"/>
        </a:xfrm>
      </p:grpSpPr>
      <p:sp>
        <p:nvSpPr>
          <p:cNvPr id="185" name="Google Shape;185;g358a9e9d19c_2_82:notes">
            <a:extLst>
              <a:ext uri="{FF2B5EF4-FFF2-40B4-BE49-F238E27FC236}">
                <a16:creationId xmlns:a16="http://schemas.microsoft.com/office/drawing/2014/main" id="{07CB4551-6171-2506-EB05-12FC9527575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6" name="Google Shape;186;g358a9e9d19c_2_82:notes">
            <a:extLst>
              <a:ext uri="{FF2B5EF4-FFF2-40B4-BE49-F238E27FC236}">
                <a16:creationId xmlns:a16="http://schemas.microsoft.com/office/drawing/2014/main" id="{8FA88EC5-779E-89D8-262D-690890900FA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7820291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a:extLst>
            <a:ext uri="{FF2B5EF4-FFF2-40B4-BE49-F238E27FC236}">
              <a16:creationId xmlns:a16="http://schemas.microsoft.com/office/drawing/2014/main" id="{43BC3FED-A861-C889-5A3A-8159711BD0C3}"/>
            </a:ext>
          </a:extLst>
        </p:cNvPr>
        <p:cNvGrpSpPr/>
        <p:nvPr/>
      </p:nvGrpSpPr>
      <p:grpSpPr>
        <a:xfrm>
          <a:off x="0" y="0"/>
          <a:ext cx="0" cy="0"/>
          <a:chOff x="0" y="0"/>
          <a:chExt cx="0" cy="0"/>
        </a:xfrm>
      </p:grpSpPr>
      <p:sp>
        <p:nvSpPr>
          <p:cNvPr id="185" name="Google Shape;185;g358a9e9d19c_2_82:notes">
            <a:extLst>
              <a:ext uri="{FF2B5EF4-FFF2-40B4-BE49-F238E27FC236}">
                <a16:creationId xmlns:a16="http://schemas.microsoft.com/office/drawing/2014/main" id="{2A6E11FB-795E-B6C0-1C8E-8F3C8E54B92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6" name="Google Shape;186;g358a9e9d19c_2_82:notes">
            <a:extLst>
              <a:ext uri="{FF2B5EF4-FFF2-40B4-BE49-F238E27FC236}">
                <a16:creationId xmlns:a16="http://schemas.microsoft.com/office/drawing/2014/main" id="{AD25A337-18AA-114C-2A67-F807468C93D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7592062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358a9e9d19c_2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358a9e9d19c_2_8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358a9e9d19c_2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8" name="Google Shape;198;g358a9e9d19c_2_7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a:extLst>
            <a:ext uri="{FF2B5EF4-FFF2-40B4-BE49-F238E27FC236}">
              <a16:creationId xmlns:a16="http://schemas.microsoft.com/office/drawing/2014/main" id="{011AD8E4-50CA-817E-7448-B93B5B515BDF}"/>
            </a:ext>
          </a:extLst>
        </p:cNvPr>
        <p:cNvGrpSpPr/>
        <p:nvPr/>
      </p:nvGrpSpPr>
      <p:grpSpPr>
        <a:xfrm>
          <a:off x="0" y="0"/>
          <a:ext cx="0" cy="0"/>
          <a:chOff x="0" y="0"/>
          <a:chExt cx="0" cy="0"/>
        </a:xfrm>
      </p:grpSpPr>
      <p:sp>
        <p:nvSpPr>
          <p:cNvPr id="197" name="Google Shape;197;g358a9e9d19c_2_76:notes">
            <a:extLst>
              <a:ext uri="{FF2B5EF4-FFF2-40B4-BE49-F238E27FC236}">
                <a16:creationId xmlns:a16="http://schemas.microsoft.com/office/drawing/2014/main" id="{6A656C9A-E8A1-102D-3B84-9156F0F194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8" name="Google Shape;198;g358a9e9d19c_2_76:notes">
            <a:extLst>
              <a:ext uri="{FF2B5EF4-FFF2-40B4-BE49-F238E27FC236}">
                <a16:creationId xmlns:a16="http://schemas.microsoft.com/office/drawing/2014/main" id="{F30F8220-C005-C07C-98A6-5F938D55C04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1995136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358a9e9d19c_2_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4" name="Google Shape;204;g358a9e9d19c_2_9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358a9e9d19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0" name="Google Shape;210;g358a9e9d19c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a:extLst>
            <a:ext uri="{FF2B5EF4-FFF2-40B4-BE49-F238E27FC236}">
              <a16:creationId xmlns:a16="http://schemas.microsoft.com/office/drawing/2014/main" id="{AC1F390D-C6A2-0DE1-9E65-CCDCFD8A447D}"/>
            </a:ext>
          </a:extLst>
        </p:cNvPr>
        <p:cNvGrpSpPr/>
        <p:nvPr/>
      </p:nvGrpSpPr>
      <p:grpSpPr>
        <a:xfrm>
          <a:off x="0" y="0"/>
          <a:ext cx="0" cy="0"/>
          <a:chOff x="0" y="0"/>
          <a:chExt cx="0" cy="0"/>
        </a:xfrm>
      </p:grpSpPr>
      <p:sp>
        <p:nvSpPr>
          <p:cNvPr id="209" name="Google Shape;209;g358a9e9d19c_0_0:notes">
            <a:extLst>
              <a:ext uri="{FF2B5EF4-FFF2-40B4-BE49-F238E27FC236}">
                <a16:creationId xmlns:a16="http://schemas.microsoft.com/office/drawing/2014/main" id="{ADD29313-67C0-E70F-CB43-55B96911949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0" name="Google Shape;210;g358a9e9d19c_0_0:notes">
            <a:extLst>
              <a:ext uri="{FF2B5EF4-FFF2-40B4-BE49-F238E27FC236}">
                <a16:creationId xmlns:a16="http://schemas.microsoft.com/office/drawing/2014/main" id="{54155B32-786E-9839-1EFF-83D93C373B2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9887062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358a9e9d19c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6" name="Google Shape;216;g358a9e9d19c_0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a:extLst>
            <a:ext uri="{FF2B5EF4-FFF2-40B4-BE49-F238E27FC236}">
              <a16:creationId xmlns:a16="http://schemas.microsoft.com/office/drawing/2014/main" id="{6F124081-42DE-779B-BD0D-3EECC00F98B7}"/>
            </a:ext>
          </a:extLst>
        </p:cNvPr>
        <p:cNvGrpSpPr/>
        <p:nvPr/>
      </p:nvGrpSpPr>
      <p:grpSpPr>
        <a:xfrm>
          <a:off x="0" y="0"/>
          <a:ext cx="0" cy="0"/>
          <a:chOff x="0" y="0"/>
          <a:chExt cx="0" cy="0"/>
        </a:xfrm>
      </p:grpSpPr>
      <p:sp>
        <p:nvSpPr>
          <p:cNvPr id="215" name="Google Shape;215;g358a9e9d19c_0_5:notes">
            <a:extLst>
              <a:ext uri="{FF2B5EF4-FFF2-40B4-BE49-F238E27FC236}">
                <a16:creationId xmlns:a16="http://schemas.microsoft.com/office/drawing/2014/main" id="{352E55F9-A633-B26D-328C-89310573A5F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6" name="Google Shape;216;g358a9e9d19c_0_5:notes">
            <a:extLst>
              <a:ext uri="{FF2B5EF4-FFF2-40B4-BE49-F238E27FC236}">
                <a16:creationId xmlns:a16="http://schemas.microsoft.com/office/drawing/2014/main" id="{7E6F22F1-5F67-9EFE-CAF2-08C5032DBD5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5482346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358a9e9d19c_2_1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2" name="Google Shape;222;g358a9e9d19c_2_1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358a9e9d19c_2_16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 name="Google Shape;234;g358a9e9d19c_2_16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5" name="Google Shape;235;g358a9e9d19c_2_16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 sz="1200" b="0" i="0" u="none" strike="noStrike" cap="none">
                <a:solidFill>
                  <a:schemeClr val="dk1"/>
                </a:solidFill>
                <a:latin typeface="Calibri"/>
                <a:ea typeface="Calibri"/>
                <a:cs typeface="Calibri"/>
                <a:sym typeface="Calibri"/>
              </a:rPr>
              <a:t>24</a:t>
            </a:fld>
            <a:endParaRPr sz="1200" b="0" i="0" u="none" strike="noStrike" cap="none">
              <a:solidFill>
                <a:schemeClr val="dk1"/>
              </a:solidFill>
              <a:latin typeface="Calibri"/>
              <a:ea typeface="Calibri"/>
              <a:cs typeface="Calibri"/>
              <a:sym typeface="Calibri"/>
            </a:endParaRPr>
          </a:p>
        </p:txBody>
      </p:sp>
      <p:sp>
        <p:nvSpPr>
          <p:cNvPr id="236" name="Google Shape;236;g358a9e9d19c_2_169:notes"/>
          <p:cNvSpPr txBox="1">
            <a:spLocks noGrp="1"/>
          </p:cNvSpPr>
          <p:nvPr>
            <p:ph type="ftr" idx="11"/>
          </p:nvPr>
        </p:nvSpPr>
        <p:spPr>
          <a:xfrm>
            <a:off x="0" y="8685213"/>
            <a:ext cx="2971800" cy="4587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 Proprietary content. ©Great Learning. All Rights Reserved. Unauthorized use or distribution prohibited</a:t>
            </a:r>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2210208" y="744575"/>
            <a:ext cx="6622200" cy="2052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a:endParaRPr/>
          </a:p>
        </p:txBody>
      </p:sp>
      <p:sp>
        <p:nvSpPr>
          <p:cNvPr id="61" name="Google Shape;61;p14"/>
          <p:cNvSpPr txBox="1">
            <a:spLocks noGrp="1"/>
          </p:cNvSpPr>
          <p:nvPr>
            <p:ph type="subTitle" idx="1"/>
          </p:nvPr>
        </p:nvSpPr>
        <p:spPr>
          <a:xfrm>
            <a:off x="2210202" y="2834125"/>
            <a:ext cx="6622200" cy="792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1pPr>
            <a:lvl2pPr lvl="1"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2pPr>
            <a:lvl3pPr lvl="2"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3pPr>
            <a:lvl4pPr lvl="3"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4pPr>
            <a:lvl5pPr lvl="4"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5pPr>
            <a:lvl6pPr lvl="5"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6pPr>
            <a:lvl7pPr lvl="6"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7pPr>
            <a:lvl8pPr lvl="7"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8pPr>
            <a:lvl9pPr lvl="8"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2"/>
        <p:cNvGrpSpPr/>
        <p:nvPr/>
      </p:nvGrpSpPr>
      <p:grpSpPr>
        <a:xfrm>
          <a:off x="0" y="0"/>
          <a:ext cx="0" cy="0"/>
          <a:chOff x="0" y="0"/>
          <a:chExt cx="0" cy="0"/>
        </a:xfrm>
      </p:grpSpPr>
      <p:sp>
        <p:nvSpPr>
          <p:cNvPr id="63" name="Google Shape;63;p15"/>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64" name="Google Shape;64;p15"/>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lvl1pPr marL="457200" lvl="0" indent="-323850" algn="l">
              <a:lnSpc>
                <a:spcPct val="115000"/>
              </a:lnSpc>
              <a:spcBef>
                <a:spcPts val="0"/>
              </a:spcBef>
              <a:spcAft>
                <a:spcPts val="0"/>
              </a:spcAft>
              <a:buSzPts val="1500"/>
              <a:buFont typeface="Nunito"/>
              <a:buChar char="●"/>
              <a:defRPr>
                <a:latin typeface="Nunito"/>
                <a:ea typeface="Nunito"/>
                <a:cs typeface="Nunito"/>
                <a:sym typeface="Nunito"/>
              </a:defRPr>
            </a:lvl1pPr>
            <a:lvl2pPr marL="914400" lvl="1" indent="-311150" algn="l">
              <a:lnSpc>
                <a:spcPct val="115000"/>
              </a:lnSpc>
              <a:spcBef>
                <a:spcPts val="1600"/>
              </a:spcBef>
              <a:spcAft>
                <a:spcPts val="0"/>
              </a:spcAft>
              <a:buSzPts val="1300"/>
              <a:buFont typeface="Nunito"/>
              <a:buChar char="○"/>
              <a:defRPr>
                <a:latin typeface="Nunito"/>
                <a:ea typeface="Nunito"/>
                <a:cs typeface="Nunito"/>
                <a:sym typeface="Nunito"/>
              </a:defRPr>
            </a:lvl2pPr>
            <a:lvl3pPr marL="1371600" lvl="2" indent="-304800" algn="l">
              <a:lnSpc>
                <a:spcPct val="115000"/>
              </a:lnSpc>
              <a:spcBef>
                <a:spcPts val="1600"/>
              </a:spcBef>
              <a:spcAft>
                <a:spcPts val="0"/>
              </a:spcAft>
              <a:buSzPts val="1200"/>
              <a:buFont typeface="Nunito"/>
              <a:buChar char="■"/>
              <a:defRPr>
                <a:latin typeface="Nunito"/>
                <a:ea typeface="Nunito"/>
                <a:cs typeface="Nunito"/>
                <a:sym typeface="Nunito"/>
              </a:defRPr>
            </a:lvl3pPr>
            <a:lvl4pPr marL="1828800" lvl="3" indent="-298450" algn="l">
              <a:lnSpc>
                <a:spcPct val="115000"/>
              </a:lnSpc>
              <a:spcBef>
                <a:spcPts val="1600"/>
              </a:spcBef>
              <a:spcAft>
                <a:spcPts val="0"/>
              </a:spcAft>
              <a:buSzPts val="1100"/>
              <a:buFont typeface="Nunito"/>
              <a:buChar char="●"/>
              <a:defRPr>
                <a:latin typeface="Nunito"/>
                <a:ea typeface="Nunito"/>
                <a:cs typeface="Nunito"/>
                <a:sym typeface="Nunito"/>
              </a:defRPr>
            </a:lvl4pPr>
            <a:lvl5pPr marL="2286000" lvl="4" indent="-292100" algn="l">
              <a:lnSpc>
                <a:spcPct val="115000"/>
              </a:lnSpc>
              <a:spcBef>
                <a:spcPts val="1600"/>
              </a:spcBef>
              <a:spcAft>
                <a:spcPts val="0"/>
              </a:spcAft>
              <a:buSzPts val="1000"/>
              <a:buFont typeface="Nunito"/>
              <a:buChar char="○"/>
              <a:defRPr>
                <a:latin typeface="Nunito"/>
                <a:ea typeface="Nunito"/>
                <a:cs typeface="Nunito"/>
                <a:sym typeface="Nunito"/>
              </a:defRPr>
            </a:lvl5pPr>
            <a:lvl6pPr marL="2743200" lvl="5" indent="-285750" algn="l">
              <a:lnSpc>
                <a:spcPct val="115000"/>
              </a:lnSpc>
              <a:spcBef>
                <a:spcPts val="1600"/>
              </a:spcBef>
              <a:spcAft>
                <a:spcPts val="0"/>
              </a:spcAft>
              <a:buSzPts val="900"/>
              <a:buFont typeface="Nunito"/>
              <a:buChar char="■"/>
              <a:defRPr>
                <a:latin typeface="Nunito"/>
                <a:ea typeface="Nunito"/>
                <a:cs typeface="Nunito"/>
                <a:sym typeface="Nunito"/>
              </a:defRPr>
            </a:lvl6pPr>
            <a:lvl7pPr marL="3200400" lvl="6" indent="-279400" algn="l">
              <a:lnSpc>
                <a:spcPct val="115000"/>
              </a:lnSpc>
              <a:spcBef>
                <a:spcPts val="1600"/>
              </a:spcBef>
              <a:spcAft>
                <a:spcPts val="0"/>
              </a:spcAft>
              <a:buSzPts val="800"/>
              <a:buFont typeface="Nunito"/>
              <a:buChar char="●"/>
              <a:defRPr>
                <a:latin typeface="Nunito"/>
                <a:ea typeface="Nunito"/>
                <a:cs typeface="Nunito"/>
                <a:sym typeface="Nunito"/>
              </a:defRPr>
            </a:lvl7pPr>
            <a:lvl8pPr marL="3657600" lvl="7" indent="-273050" algn="l">
              <a:lnSpc>
                <a:spcPct val="115000"/>
              </a:lnSpc>
              <a:spcBef>
                <a:spcPts val="1600"/>
              </a:spcBef>
              <a:spcAft>
                <a:spcPts val="0"/>
              </a:spcAft>
              <a:buSzPts val="700"/>
              <a:buFont typeface="Nunito"/>
              <a:buChar char="○"/>
              <a:defRPr>
                <a:latin typeface="Nunito"/>
                <a:ea typeface="Nunito"/>
                <a:cs typeface="Nunito"/>
                <a:sym typeface="Nunito"/>
              </a:defRPr>
            </a:lvl8pPr>
            <a:lvl9pPr marL="4114800" lvl="8" indent="-266700" algn="l">
              <a:lnSpc>
                <a:spcPct val="115000"/>
              </a:lnSpc>
              <a:spcBef>
                <a:spcPts val="1600"/>
              </a:spcBef>
              <a:spcAft>
                <a:spcPts val="1600"/>
              </a:spcAft>
              <a:buSzPts val="600"/>
              <a:buFont typeface="Nunito"/>
              <a:buChar char="■"/>
              <a:defRPr>
                <a:latin typeface="Nunito"/>
                <a:ea typeface="Nunito"/>
                <a:cs typeface="Nunito"/>
                <a:sym typeface="Nunito"/>
              </a:defRPr>
            </a:lvl9pPr>
          </a:lstStyle>
          <a:p>
            <a:endParaRPr/>
          </a:p>
        </p:txBody>
      </p:sp>
      <p:sp>
        <p:nvSpPr>
          <p:cNvPr id="65" name="Google Shape;65;p15"/>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6"/>
        <p:cNvGrpSpPr/>
        <p:nvPr/>
      </p:nvGrpSpPr>
      <p:grpSpPr>
        <a:xfrm>
          <a:off x="0" y="0"/>
          <a:ext cx="0" cy="0"/>
          <a:chOff x="0" y="0"/>
          <a:chExt cx="0" cy="0"/>
        </a:xfrm>
      </p:grpSpPr>
      <p:sp>
        <p:nvSpPr>
          <p:cNvPr id="67" name="Google Shape;67;p16"/>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rgbClr val="0E39A9"/>
              </a:buClr>
              <a:buSzPts val="3600"/>
              <a:buNone/>
              <a:defRPr sz="3600">
                <a:solidFill>
                  <a:srgbClr val="0E39A9"/>
                </a:solidFill>
              </a:defRPr>
            </a:lvl1pPr>
            <a:lvl2pPr lvl="1" algn="l">
              <a:lnSpc>
                <a:spcPct val="100000"/>
              </a:lnSpc>
              <a:spcBef>
                <a:spcPts val="0"/>
              </a:spcBef>
              <a:spcAft>
                <a:spcPts val="0"/>
              </a:spcAft>
              <a:buClr>
                <a:srgbClr val="0E39A9"/>
              </a:buClr>
              <a:buSzPts val="3600"/>
              <a:buNone/>
              <a:defRPr sz="3600">
                <a:solidFill>
                  <a:srgbClr val="0E39A9"/>
                </a:solidFill>
              </a:defRPr>
            </a:lvl2pPr>
            <a:lvl3pPr lvl="2" algn="l">
              <a:lnSpc>
                <a:spcPct val="100000"/>
              </a:lnSpc>
              <a:spcBef>
                <a:spcPts val="0"/>
              </a:spcBef>
              <a:spcAft>
                <a:spcPts val="0"/>
              </a:spcAft>
              <a:buClr>
                <a:srgbClr val="0E39A9"/>
              </a:buClr>
              <a:buSzPts val="3600"/>
              <a:buNone/>
              <a:defRPr sz="3600">
                <a:solidFill>
                  <a:srgbClr val="0E39A9"/>
                </a:solidFill>
              </a:defRPr>
            </a:lvl3pPr>
            <a:lvl4pPr lvl="3" algn="l">
              <a:lnSpc>
                <a:spcPct val="100000"/>
              </a:lnSpc>
              <a:spcBef>
                <a:spcPts val="0"/>
              </a:spcBef>
              <a:spcAft>
                <a:spcPts val="0"/>
              </a:spcAft>
              <a:buClr>
                <a:srgbClr val="0E39A9"/>
              </a:buClr>
              <a:buSzPts val="3600"/>
              <a:buNone/>
              <a:defRPr sz="3600">
                <a:solidFill>
                  <a:srgbClr val="0E39A9"/>
                </a:solidFill>
              </a:defRPr>
            </a:lvl4pPr>
            <a:lvl5pPr lvl="4" algn="l">
              <a:lnSpc>
                <a:spcPct val="100000"/>
              </a:lnSpc>
              <a:spcBef>
                <a:spcPts val="0"/>
              </a:spcBef>
              <a:spcAft>
                <a:spcPts val="0"/>
              </a:spcAft>
              <a:buClr>
                <a:srgbClr val="0E39A9"/>
              </a:buClr>
              <a:buSzPts val="3600"/>
              <a:buNone/>
              <a:defRPr sz="3600">
                <a:solidFill>
                  <a:srgbClr val="0E39A9"/>
                </a:solidFill>
              </a:defRPr>
            </a:lvl5pPr>
            <a:lvl6pPr lvl="5" algn="l">
              <a:lnSpc>
                <a:spcPct val="100000"/>
              </a:lnSpc>
              <a:spcBef>
                <a:spcPts val="0"/>
              </a:spcBef>
              <a:spcAft>
                <a:spcPts val="0"/>
              </a:spcAft>
              <a:buClr>
                <a:srgbClr val="0E39A9"/>
              </a:buClr>
              <a:buSzPts val="3600"/>
              <a:buNone/>
              <a:defRPr sz="3600">
                <a:solidFill>
                  <a:srgbClr val="0E39A9"/>
                </a:solidFill>
              </a:defRPr>
            </a:lvl6pPr>
            <a:lvl7pPr lvl="6" algn="l">
              <a:lnSpc>
                <a:spcPct val="100000"/>
              </a:lnSpc>
              <a:spcBef>
                <a:spcPts val="0"/>
              </a:spcBef>
              <a:spcAft>
                <a:spcPts val="0"/>
              </a:spcAft>
              <a:buClr>
                <a:srgbClr val="0E39A9"/>
              </a:buClr>
              <a:buSzPts val="3600"/>
              <a:buNone/>
              <a:defRPr sz="3600">
                <a:solidFill>
                  <a:srgbClr val="0E39A9"/>
                </a:solidFill>
              </a:defRPr>
            </a:lvl7pPr>
            <a:lvl8pPr lvl="7" algn="l">
              <a:lnSpc>
                <a:spcPct val="100000"/>
              </a:lnSpc>
              <a:spcBef>
                <a:spcPts val="0"/>
              </a:spcBef>
              <a:spcAft>
                <a:spcPts val="0"/>
              </a:spcAft>
              <a:buClr>
                <a:srgbClr val="0E39A9"/>
              </a:buClr>
              <a:buSzPts val="3600"/>
              <a:buNone/>
              <a:defRPr sz="3600">
                <a:solidFill>
                  <a:srgbClr val="0E39A9"/>
                </a:solidFill>
              </a:defRPr>
            </a:lvl8pPr>
            <a:lvl9pPr lvl="8" algn="l">
              <a:lnSpc>
                <a:spcPct val="100000"/>
              </a:lnSpc>
              <a:spcBef>
                <a:spcPts val="0"/>
              </a:spcBef>
              <a:spcAft>
                <a:spcPts val="0"/>
              </a:spcAft>
              <a:buClr>
                <a:srgbClr val="0E39A9"/>
              </a:buClr>
              <a:buSzPts val="3600"/>
              <a:buNone/>
              <a:defRPr sz="3600">
                <a:solidFill>
                  <a:srgbClr val="0E39A9"/>
                </a:solidFill>
              </a:defRPr>
            </a:lvl9pPr>
          </a:lstStyle>
          <a:p>
            <a:endParaRPr/>
          </a:p>
        </p:txBody>
      </p:sp>
      <p:sp>
        <p:nvSpPr>
          <p:cNvPr id="68" name="Google Shape;68;p16"/>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able">
  <p:cSld name="CUSTOM">
    <p:spTree>
      <p:nvGrpSpPr>
        <p:cNvPr id="1" name="Shape 69"/>
        <p:cNvGrpSpPr/>
        <p:nvPr/>
      </p:nvGrpSpPr>
      <p:grpSpPr>
        <a:xfrm>
          <a:off x="0" y="0"/>
          <a:ext cx="0" cy="0"/>
          <a:chOff x="0" y="0"/>
          <a:chExt cx="0" cy="0"/>
        </a:xfrm>
      </p:grpSpPr>
      <p:sp>
        <p:nvSpPr>
          <p:cNvPr id="70" name="Google Shape;70;p17"/>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graphicFrame>
        <p:nvGraphicFramePr>
          <p:cNvPr id="71" name="Google Shape;71;p17"/>
          <p:cNvGraphicFramePr/>
          <p:nvPr/>
        </p:nvGraphicFramePr>
        <p:xfrm>
          <a:off x="201942" y="833662"/>
          <a:ext cx="8655225" cy="3435475"/>
        </p:xfrm>
        <a:graphic>
          <a:graphicData uri="http://schemas.openxmlformats.org/drawingml/2006/table">
            <a:tbl>
              <a:tblPr firstRow="1" bandRow="1">
                <a:noFill/>
                <a:tableStyleId>{8921D070-E9E0-4708-ADE3-723659AD1A52}</a:tableStyleId>
              </a:tblPr>
              <a:tblGrid>
                <a:gridCol w="883125">
                  <a:extLst>
                    <a:ext uri="{9D8B030D-6E8A-4147-A177-3AD203B41FA5}">
                      <a16:colId xmlns:a16="http://schemas.microsoft.com/office/drawing/2014/main" val="20000"/>
                    </a:ext>
                  </a:extLst>
                </a:gridCol>
                <a:gridCol w="3886050">
                  <a:extLst>
                    <a:ext uri="{9D8B030D-6E8A-4147-A177-3AD203B41FA5}">
                      <a16:colId xmlns:a16="http://schemas.microsoft.com/office/drawing/2014/main" val="20001"/>
                    </a:ext>
                  </a:extLst>
                </a:gridCol>
                <a:gridCol w="3886050">
                  <a:extLst>
                    <a:ext uri="{9D8B030D-6E8A-4147-A177-3AD203B41FA5}">
                      <a16:colId xmlns:a16="http://schemas.microsoft.com/office/drawing/2014/main" val="20002"/>
                    </a:ext>
                  </a:extLst>
                </a:gridCol>
              </a:tblGrid>
              <a:tr h="67357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a:t>
                      </a:r>
                      <a:endParaRPr sz="14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 Profile </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Business Insights for Marketing Team</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0"/>
                  </a:ext>
                </a:extLst>
              </a:tr>
              <a:tr h="7533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1</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High value customers who have many credit cards and prefer to engage online</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Engage Online – Set up priority calling in lines – Upsell and Cross sell premium products</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1"/>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2</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baseline="30000">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2"/>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3</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3"/>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4"/>
                  </a:ext>
                </a:extLst>
              </a:tr>
            </a:tbl>
          </a:graphicData>
        </a:graphic>
      </p:graphicFrame>
      <p:sp>
        <p:nvSpPr>
          <p:cNvPr id="72" name="Google Shape;72;p17"/>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3"/>
        <p:cNvGrpSpPr/>
        <p:nvPr/>
      </p:nvGrpSpPr>
      <p:grpSpPr>
        <a:xfrm>
          <a:off x="0" y="0"/>
          <a:ext cx="0" cy="0"/>
          <a:chOff x="0" y="0"/>
          <a:chExt cx="0" cy="0"/>
        </a:xfrm>
      </p:grpSpPr>
      <p:sp>
        <p:nvSpPr>
          <p:cNvPr id="74" name="Google Shape;74;p18"/>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75" name="Google Shape;75;p18"/>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76" name="Google Shape;76;p18"/>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77" name="Google Shape;77;p18"/>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8"/>
        <p:cNvGrpSpPr/>
        <p:nvPr/>
      </p:nvGrpSpPr>
      <p:grpSpPr>
        <a:xfrm>
          <a:off x="0" y="0"/>
          <a:ext cx="0" cy="0"/>
          <a:chOff x="0" y="0"/>
          <a:chExt cx="0" cy="0"/>
        </a:xfrm>
      </p:grpSpPr>
      <p:sp>
        <p:nvSpPr>
          <p:cNvPr id="79" name="Google Shape;79;p19"/>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80" name="Google Shape;80;p19"/>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1"/>
        <p:cNvGrpSpPr/>
        <p:nvPr/>
      </p:nvGrpSpPr>
      <p:grpSpPr>
        <a:xfrm>
          <a:off x="0" y="0"/>
          <a:ext cx="0" cy="0"/>
          <a:chOff x="0" y="0"/>
          <a:chExt cx="0" cy="0"/>
        </a:xfrm>
      </p:grpSpPr>
      <p:sp>
        <p:nvSpPr>
          <p:cNvPr id="82" name="Google Shape;82;p2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83" name="Google Shape;83;p20"/>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4"/>
        <p:cNvGrpSpPr/>
        <p:nvPr/>
      </p:nvGrpSpPr>
      <p:grpSpPr>
        <a:xfrm>
          <a:off x="0" y="0"/>
          <a:ext cx="0" cy="0"/>
          <a:chOff x="0" y="0"/>
          <a:chExt cx="0" cy="0"/>
        </a:xfrm>
      </p:grpSpPr>
      <p:sp>
        <p:nvSpPr>
          <p:cNvPr id="85" name="Google Shape;85;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 name="Google Shape;86;p2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87" name="Google Shape;87;p2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88" name="Google Shape;88;p2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23850" algn="l">
              <a:lnSpc>
                <a:spcPct val="115000"/>
              </a:lnSpc>
              <a:spcBef>
                <a:spcPts val="0"/>
              </a:spcBef>
              <a:spcAft>
                <a:spcPts val="0"/>
              </a:spcAft>
              <a:buSzPts val="1500"/>
              <a:buChar char="●"/>
              <a:defRPr/>
            </a:lvl1pPr>
            <a:lvl2pPr marL="914400" lvl="1" indent="-311150" algn="l">
              <a:lnSpc>
                <a:spcPct val="115000"/>
              </a:lnSpc>
              <a:spcBef>
                <a:spcPts val="1600"/>
              </a:spcBef>
              <a:spcAft>
                <a:spcPts val="0"/>
              </a:spcAft>
              <a:buSzPts val="1300"/>
              <a:buChar char="○"/>
              <a:defRPr/>
            </a:lvl2pPr>
            <a:lvl3pPr marL="1371600" lvl="2" indent="-304800" algn="l">
              <a:lnSpc>
                <a:spcPct val="115000"/>
              </a:lnSpc>
              <a:spcBef>
                <a:spcPts val="1600"/>
              </a:spcBef>
              <a:spcAft>
                <a:spcPts val="0"/>
              </a:spcAft>
              <a:buSzPts val="1200"/>
              <a:buChar char="■"/>
              <a:defRPr/>
            </a:lvl3pPr>
            <a:lvl4pPr marL="1828800" lvl="3" indent="-298450" algn="l">
              <a:lnSpc>
                <a:spcPct val="115000"/>
              </a:lnSpc>
              <a:spcBef>
                <a:spcPts val="1600"/>
              </a:spcBef>
              <a:spcAft>
                <a:spcPts val="0"/>
              </a:spcAft>
              <a:buSzPts val="1100"/>
              <a:buChar char="●"/>
              <a:defRPr/>
            </a:lvl4pPr>
            <a:lvl5pPr marL="2286000" lvl="4" indent="-292100" algn="l">
              <a:lnSpc>
                <a:spcPct val="115000"/>
              </a:lnSpc>
              <a:spcBef>
                <a:spcPts val="1600"/>
              </a:spcBef>
              <a:spcAft>
                <a:spcPts val="0"/>
              </a:spcAft>
              <a:buSzPts val="1000"/>
              <a:buChar char="○"/>
              <a:defRPr/>
            </a:lvl5pPr>
            <a:lvl6pPr marL="2743200" lvl="5" indent="-285750" algn="l">
              <a:lnSpc>
                <a:spcPct val="115000"/>
              </a:lnSpc>
              <a:spcBef>
                <a:spcPts val="1600"/>
              </a:spcBef>
              <a:spcAft>
                <a:spcPts val="0"/>
              </a:spcAft>
              <a:buSzPts val="900"/>
              <a:buChar char="■"/>
              <a:defRPr/>
            </a:lvl6pPr>
            <a:lvl7pPr marL="3200400" lvl="6" indent="-279400" algn="l">
              <a:lnSpc>
                <a:spcPct val="115000"/>
              </a:lnSpc>
              <a:spcBef>
                <a:spcPts val="1600"/>
              </a:spcBef>
              <a:spcAft>
                <a:spcPts val="0"/>
              </a:spcAft>
              <a:buSzPts val="800"/>
              <a:buChar char="●"/>
              <a:defRPr/>
            </a:lvl7pPr>
            <a:lvl8pPr marL="3657600" lvl="7" indent="-273050" algn="l">
              <a:lnSpc>
                <a:spcPct val="115000"/>
              </a:lnSpc>
              <a:spcBef>
                <a:spcPts val="1600"/>
              </a:spcBef>
              <a:spcAft>
                <a:spcPts val="0"/>
              </a:spcAft>
              <a:buSzPts val="700"/>
              <a:buChar char="○"/>
              <a:defRPr/>
            </a:lvl8pPr>
            <a:lvl9pPr marL="4114800" lvl="8" indent="-266700" algn="l">
              <a:lnSpc>
                <a:spcPct val="115000"/>
              </a:lnSpc>
              <a:spcBef>
                <a:spcPts val="1600"/>
              </a:spcBef>
              <a:spcAft>
                <a:spcPts val="1600"/>
              </a:spcAft>
              <a:buSzPts val="600"/>
              <a:buChar char="■"/>
              <a:defRPr/>
            </a:lvl9pPr>
          </a:lstStyle>
          <a:p>
            <a:endParaRPr/>
          </a:p>
        </p:txBody>
      </p:sp>
      <p:sp>
        <p:nvSpPr>
          <p:cNvPr id="89" name="Google Shape;89;p21"/>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0"/>
        <p:cNvGrpSpPr/>
        <p:nvPr/>
      </p:nvGrpSpPr>
      <p:grpSpPr>
        <a:xfrm>
          <a:off x="0" y="0"/>
          <a:ext cx="0" cy="0"/>
          <a:chOff x="0" y="0"/>
          <a:chExt cx="0" cy="0"/>
        </a:xfrm>
      </p:grpSpPr>
      <p:sp>
        <p:nvSpPr>
          <p:cNvPr id="91" name="Google Shape;91;p22"/>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ank 1">
  <p:cSld name="BLANK_1">
    <p:spTree>
      <p:nvGrpSpPr>
        <p:cNvPr id="1" name="Shape 92"/>
        <p:cNvGrpSpPr/>
        <p:nvPr/>
      </p:nvGrpSpPr>
      <p:grpSpPr>
        <a:xfrm>
          <a:off x="0" y="0"/>
          <a:ext cx="0" cy="0"/>
          <a:chOff x="0" y="0"/>
          <a:chExt cx="0" cy="0"/>
        </a:xfrm>
      </p:grpSpPr>
      <p:sp>
        <p:nvSpPr>
          <p:cNvPr id="93" name="Google Shape;93;p23"/>
          <p:cNvSpPr/>
          <p:nvPr/>
        </p:nvSpPr>
        <p:spPr>
          <a:xfrm>
            <a:off x="1" y="-335"/>
            <a:ext cx="9144600" cy="5143800"/>
          </a:xfrm>
          <a:prstGeom prst="rect">
            <a:avLst/>
          </a:prstGeom>
          <a:solidFill>
            <a:srgbClr val="0E39A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94" name="Google Shape;94;p23" descr="A close up of a logo&#10;&#10;Description automatically generated"/>
          <p:cNvPicPr preferRelativeResize="0"/>
          <p:nvPr/>
        </p:nvPicPr>
        <p:blipFill rotWithShape="1">
          <a:blip r:embed="rId2">
            <a:alphaModFix/>
          </a:blip>
          <a:srcRect l="42816" t="18358" r="37294" b="19149"/>
          <a:stretch/>
        </p:blipFill>
        <p:spPr>
          <a:xfrm>
            <a:off x="6052536" y="514443"/>
            <a:ext cx="2095112" cy="3703320"/>
          </a:xfrm>
          <a:prstGeom prst="rect">
            <a:avLst/>
          </a:prstGeom>
          <a:noFill/>
          <a:ln>
            <a:noFill/>
          </a:ln>
        </p:spPr>
      </p:pic>
      <p:sp>
        <p:nvSpPr>
          <p:cNvPr id="95" name="Google Shape;95;p23"/>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lvl1pPr marR="0" lvl="0" algn="l">
              <a:lnSpc>
                <a:spcPct val="100000"/>
              </a:lnSpc>
              <a:spcBef>
                <a:spcPts val="0"/>
              </a:spcBef>
              <a:spcAft>
                <a:spcPts val="0"/>
              </a:spcAft>
              <a:buSzPts val="2200"/>
              <a:buNone/>
              <a:defRPr sz="24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9pPr>
          </a:lstStyle>
          <a:p>
            <a:endParaRPr/>
          </a:p>
        </p:txBody>
      </p:sp>
      <p:sp>
        <p:nvSpPr>
          <p:cNvPr id="96" name="Google Shape;96;p23"/>
          <p:cNvSpPr txBox="1"/>
          <p:nvPr/>
        </p:nvSpPr>
        <p:spPr>
          <a:xfrm>
            <a:off x="334565" y="1676232"/>
            <a:ext cx="4372800" cy="17907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dk1"/>
              </a:buClr>
              <a:buSzPts val="4500"/>
              <a:buFont typeface="Calibri"/>
              <a:buNone/>
            </a:pPr>
            <a:r>
              <a:rPr lang="en" sz="3300" b="0" i="0" u="none" strike="noStrike" cap="none">
                <a:solidFill>
                  <a:schemeClr val="lt1"/>
                </a:solidFill>
                <a:latin typeface="Nunito ExtraBold"/>
                <a:ea typeface="Nunito ExtraBold"/>
                <a:cs typeface="Nunito ExtraBold"/>
                <a:sym typeface="Nunito ExtraBold"/>
              </a:rPr>
              <a:t>Happy Learning !</a:t>
            </a:r>
            <a:endParaRPr sz="3300" b="0" i="0" u="none" strike="noStrike" cap="none">
              <a:solidFill>
                <a:schemeClr val="lt1"/>
              </a:solidFill>
              <a:latin typeface="Nunito ExtraBold"/>
              <a:ea typeface="Nunito ExtraBold"/>
              <a:cs typeface="Nunito ExtraBold"/>
              <a:sym typeface="Nunito ExtraBold"/>
            </a:endParaRPr>
          </a:p>
        </p:txBody>
      </p:sp>
      <p:pic>
        <p:nvPicPr>
          <p:cNvPr id="97" name="Google Shape;97;p23"/>
          <p:cNvPicPr preferRelativeResize="0"/>
          <p:nvPr/>
        </p:nvPicPr>
        <p:blipFill rotWithShape="1">
          <a:blip r:embed="rId3">
            <a:alphaModFix/>
          </a:blip>
          <a:srcRect/>
          <a:stretch/>
        </p:blipFill>
        <p:spPr>
          <a:xfrm>
            <a:off x="295874" y="683275"/>
            <a:ext cx="3757725" cy="825875"/>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1">
  <p:cSld name="BLANK_1">
    <p:spTree>
      <p:nvGrpSpPr>
        <p:cNvPr id="1" name="Shape 107"/>
        <p:cNvGrpSpPr/>
        <p:nvPr/>
      </p:nvGrpSpPr>
      <p:grpSpPr>
        <a:xfrm>
          <a:off x="0" y="0"/>
          <a:ext cx="0" cy="0"/>
          <a:chOff x="0" y="0"/>
          <a:chExt cx="0" cy="0"/>
        </a:xfrm>
      </p:grpSpPr>
      <p:sp>
        <p:nvSpPr>
          <p:cNvPr id="108" name="Google Shape;108;p25"/>
          <p:cNvSpPr/>
          <p:nvPr/>
        </p:nvSpPr>
        <p:spPr>
          <a:xfrm>
            <a:off x="1" y="-335"/>
            <a:ext cx="9144600" cy="5143800"/>
          </a:xfrm>
          <a:prstGeom prst="rect">
            <a:avLst/>
          </a:prstGeom>
          <a:solidFill>
            <a:srgbClr val="0E39A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109" name="Google Shape;109;p25" descr="A close up of a logo&#10;&#10;Description automatically generated"/>
          <p:cNvPicPr preferRelativeResize="0"/>
          <p:nvPr/>
        </p:nvPicPr>
        <p:blipFill rotWithShape="1">
          <a:blip r:embed="rId2">
            <a:alphaModFix/>
          </a:blip>
          <a:srcRect l="42816" t="18358" r="37294" b="19149"/>
          <a:stretch/>
        </p:blipFill>
        <p:spPr>
          <a:xfrm>
            <a:off x="6052536" y="514443"/>
            <a:ext cx="2095112" cy="3703320"/>
          </a:xfrm>
          <a:prstGeom prst="rect">
            <a:avLst/>
          </a:prstGeom>
          <a:noFill/>
          <a:ln>
            <a:noFill/>
          </a:ln>
        </p:spPr>
      </p:pic>
      <p:sp>
        <p:nvSpPr>
          <p:cNvPr id="110" name="Google Shape;110;p25"/>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lvl1pPr marR="0" lvl="0" algn="l">
              <a:lnSpc>
                <a:spcPct val="100000"/>
              </a:lnSpc>
              <a:spcBef>
                <a:spcPts val="0"/>
              </a:spcBef>
              <a:spcAft>
                <a:spcPts val="0"/>
              </a:spcAft>
              <a:buSzPts val="2200"/>
              <a:buNone/>
              <a:defRPr sz="24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9pPr>
          </a:lstStyle>
          <a:p>
            <a:endParaRPr/>
          </a:p>
        </p:txBody>
      </p:sp>
      <p:sp>
        <p:nvSpPr>
          <p:cNvPr id="111" name="Google Shape;111;p25"/>
          <p:cNvSpPr txBox="1"/>
          <p:nvPr/>
        </p:nvSpPr>
        <p:spPr>
          <a:xfrm>
            <a:off x="334565" y="1676232"/>
            <a:ext cx="4372800" cy="17907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dk1"/>
              </a:buClr>
              <a:buSzPts val="4500"/>
              <a:buFont typeface="Calibri"/>
              <a:buNone/>
            </a:pPr>
            <a:r>
              <a:rPr lang="en" sz="3300" b="0" i="0" u="none" strike="noStrike" cap="none">
                <a:solidFill>
                  <a:schemeClr val="lt1"/>
                </a:solidFill>
                <a:latin typeface="Nunito ExtraBold"/>
                <a:ea typeface="Nunito ExtraBold"/>
                <a:cs typeface="Nunito ExtraBold"/>
                <a:sym typeface="Nunito ExtraBold"/>
              </a:rPr>
              <a:t>Happy Learning !</a:t>
            </a:r>
            <a:endParaRPr sz="3300" b="0" i="0" u="none" strike="noStrike" cap="none">
              <a:solidFill>
                <a:schemeClr val="lt1"/>
              </a:solidFill>
              <a:latin typeface="Nunito ExtraBold"/>
              <a:ea typeface="Nunito ExtraBold"/>
              <a:cs typeface="Nunito ExtraBold"/>
              <a:sym typeface="Nunito ExtraBold"/>
            </a:endParaRPr>
          </a:p>
        </p:txBody>
      </p:sp>
      <p:pic>
        <p:nvPicPr>
          <p:cNvPr id="112" name="Google Shape;112;p25"/>
          <p:cNvPicPr preferRelativeResize="0"/>
          <p:nvPr/>
        </p:nvPicPr>
        <p:blipFill rotWithShape="1">
          <a:blip r:embed="rId3">
            <a:alphaModFix/>
          </a:blip>
          <a:srcRect/>
          <a:stretch/>
        </p:blipFill>
        <p:spPr>
          <a:xfrm>
            <a:off x="421875" y="769949"/>
            <a:ext cx="3071452" cy="1261275"/>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3"/>
        <p:cNvGrpSpPr/>
        <p:nvPr/>
      </p:nvGrpSpPr>
      <p:grpSpPr>
        <a:xfrm>
          <a:off x="0" y="0"/>
          <a:ext cx="0" cy="0"/>
          <a:chOff x="0" y="0"/>
          <a:chExt cx="0" cy="0"/>
        </a:xfrm>
      </p:grpSpPr>
      <p:sp>
        <p:nvSpPr>
          <p:cNvPr id="114" name="Google Shape;114;p26"/>
          <p:cNvSpPr txBox="1">
            <a:spLocks noGrp="1"/>
          </p:cNvSpPr>
          <p:nvPr>
            <p:ph type="ctrTitle"/>
          </p:nvPr>
        </p:nvSpPr>
        <p:spPr>
          <a:xfrm>
            <a:off x="2210208" y="744575"/>
            <a:ext cx="6622200" cy="2052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a:endParaRPr/>
          </a:p>
        </p:txBody>
      </p:sp>
      <p:sp>
        <p:nvSpPr>
          <p:cNvPr id="115" name="Google Shape;115;p26"/>
          <p:cNvSpPr txBox="1">
            <a:spLocks noGrp="1"/>
          </p:cNvSpPr>
          <p:nvPr>
            <p:ph type="subTitle" idx="1"/>
          </p:nvPr>
        </p:nvSpPr>
        <p:spPr>
          <a:xfrm>
            <a:off x="2210202" y="2834125"/>
            <a:ext cx="6622200" cy="792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1pPr>
            <a:lvl2pPr lvl="1"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2pPr>
            <a:lvl3pPr lvl="2"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3pPr>
            <a:lvl4pPr lvl="3"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4pPr>
            <a:lvl5pPr lvl="4"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5pPr>
            <a:lvl6pPr lvl="5"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6pPr>
            <a:lvl7pPr lvl="6"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7pPr>
            <a:lvl8pPr lvl="7"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8pPr>
            <a:lvl9pPr lvl="8"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6"/>
        <p:cNvGrpSpPr/>
        <p:nvPr/>
      </p:nvGrpSpPr>
      <p:grpSpPr>
        <a:xfrm>
          <a:off x="0" y="0"/>
          <a:ext cx="0" cy="0"/>
          <a:chOff x="0" y="0"/>
          <a:chExt cx="0" cy="0"/>
        </a:xfrm>
      </p:grpSpPr>
      <p:sp>
        <p:nvSpPr>
          <p:cNvPr id="117" name="Google Shape;117;p27"/>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rgbClr val="0E39A9"/>
              </a:buClr>
              <a:buSzPts val="3600"/>
              <a:buNone/>
              <a:defRPr sz="3600">
                <a:solidFill>
                  <a:srgbClr val="0E39A9"/>
                </a:solidFill>
              </a:defRPr>
            </a:lvl1pPr>
            <a:lvl2pPr lvl="1" algn="l">
              <a:lnSpc>
                <a:spcPct val="100000"/>
              </a:lnSpc>
              <a:spcBef>
                <a:spcPts val="0"/>
              </a:spcBef>
              <a:spcAft>
                <a:spcPts val="0"/>
              </a:spcAft>
              <a:buClr>
                <a:srgbClr val="0E39A9"/>
              </a:buClr>
              <a:buSzPts val="3600"/>
              <a:buNone/>
              <a:defRPr sz="3600">
                <a:solidFill>
                  <a:srgbClr val="0E39A9"/>
                </a:solidFill>
              </a:defRPr>
            </a:lvl2pPr>
            <a:lvl3pPr lvl="2" algn="l">
              <a:lnSpc>
                <a:spcPct val="100000"/>
              </a:lnSpc>
              <a:spcBef>
                <a:spcPts val="0"/>
              </a:spcBef>
              <a:spcAft>
                <a:spcPts val="0"/>
              </a:spcAft>
              <a:buClr>
                <a:srgbClr val="0E39A9"/>
              </a:buClr>
              <a:buSzPts val="3600"/>
              <a:buNone/>
              <a:defRPr sz="3600">
                <a:solidFill>
                  <a:srgbClr val="0E39A9"/>
                </a:solidFill>
              </a:defRPr>
            </a:lvl3pPr>
            <a:lvl4pPr lvl="3" algn="l">
              <a:lnSpc>
                <a:spcPct val="100000"/>
              </a:lnSpc>
              <a:spcBef>
                <a:spcPts val="0"/>
              </a:spcBef>
              <a:spcAft>
                <a:spcPts val="0"/>
              </a:spcAft>
              <a:buClr>
                <a:srgbClr val="0E39A9"/>
              </a:buClr>
              <a:buSzPts val="3600"/>
              <a:buNone/>
              <a:defRPr sz="3600">
                <a:solidFill>
                  <a:srgbClr val="0E39A9"/>
                </a:solidFill>
              </a:defRPr>
            </a:lvl4pPr>
            <a:lvl5pPr lvl="4" algn="l">
              <a:lnSpc>
                <a:spcPct val="100000"/>
              </a:lnSpc>
              <a:spcBef>
                <a:spcPts val="0"/>
              </a:spcBef>
              <a:spcAft>
                <a:spcPts val="0"/>
              </a:spcAft>
              <a:buClr>
                <a:srgbClr val="0E39A9"/>
              </a:buClr>
              <a:buSzPts val="3600"/>
              <a:buNone/>
              <a:defRPr sz="3600">
                <a:solidFill>
                  <a:srgbClr val="0E39A9"/>
                </a:solidFill>
              </a:defRPr>
            </a:lvl5pPr>
            <a:lvl6pPr lvl="5" algn="l">
              <a:lnSpc>
                <a:spcPct val="100000"/>
              </a:lnSpc>
              <a:spcBef>
                <a:spcPts val="0"/>
              </a:spcBef>
              <a:spcAft>
                <a:spcPts val="0"/>
              </a:spcAft>
              <a:buClr>
                <a:srgbClr val="0E39A9"/>
              </a:buClr>
              <a:buSzPts val="3600"/>
              <a:buNone/>
              <a:defRPr sz="3600">
                <a:solidFill>
                  <a:srgbClr val="0E39A9"/>
                </a:solidFill>
              </a:defRPr>
            </a:lvl6pPr>
            <a:lvl7pPr lvl="6" algn="l">
              <a:lnSpc>
                <a:spcPct val="100000"/>
              </a:lnSpc>
              <a:spcBef>
                <a:spcPts val="0"/>
              </a:spcBef>
              <a:spcAft>
                <a:spcPts val="0"/>
              </a:spcAft>
              <a:buClr>
                <a:srgbClr val="0E39A9"/>
              </a:buClr>
              <a:buSzPts val="3600"/>
              <a:buNone/>
              <a:defRPr sz="3600">
                <a:solidFill>
                  <a:srgbClr val="0E39A9"/>
                </a:solidFill>
              </a:defRPr>
            </a:lvl7pPr>
            <a:lvl8pPr lvl="7" algn="l">
              <a:lnSpc>
                <a:spcPct val="100000"/>
              </a:lnSpc>
              <a:spcBef>
                <a:spcPts val="0"/>
              </a:spcBef>
              <a:spcAft>
                <a:spcPts val="0"/>
              </a:spcAft>
              <a:buClr>
                <a:srgbClr val="0E39A9"/>
              </a:buClr>
              <a:buSzPts val="3600"/>
              <a:buNone/>
              <a:defRPr sz="3600">
                <a:solidFill>
                  <a:srgbClr val="0E39A9"/>
                </a:solidFill>
              </a:defRPr>
            </a:lvl8pPr>
            <a:lvl9pPr lvl="8" algn="l">
              <a:lnSpc>
                <a:spcPct val="100000"/>
              </a:lnSpc>
              <a:spcBef>
                <a:spcPts val="0"/>
              </a:spcBef>
              <a:spcAft>
                <a:spcPts val="0"/>
              </a:spcAft>
              <a:buClr>
                <a:srgbClr val="0E39A9"/>
              </a:buClr>
              <a:buSzPts val="3600"/>
              <a:buNone/>
              <a:defRPr sz="3600">
                <a:solidFill>
                  <a:srgbClr val="0E39A9"/>
                </a:solidFill>
              </a:defRPr>
            </a:lvl9pPr>
          </a:lstStyle>
          <a:p>
            <a:endParaRPr/>
          </a:p>
        </p:txBody>
      </p:sp>
      <p:sp>
        <p:nvSpPr>
          <p:cNvPr id="118" name="Google Shape;118;p27"/>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19"/>
        <p:cNvGrpSpPr/>
        <p:nvPr/>
      </p:nvGrpSpPr>
      <p:grpSpPr>
        <a:xfrm>
          <a:off x="0" y="0"/>
          <a:ext cx="0" cy="0"/>
          <a:chOff x="0" y="0"/>
          <a:chExt cx="0" cy="0"/>
        </a:xfrm>
      </p:grpSpPr>
      <p:sp>
        <p:nvSpPr>
          <p:cNvPr id="120" name="Google Shape;120;p28"/>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21" name="Google Shape;121;p28"/>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lvl1pPr marL="457200" lvl="0" indent="-323850" algn="l">
              <a:lnSpc>
                <a:spcPct val="115000"/>
              </a:lnSpc>
              <a:spcBef>
                <a:spcPts val="0"/>
              </a:spcBef>
              <a:spcAft>
                <a:spcPts val="0"/>
              </a:spcAft>
              <a:buSzPts val="1500"/>
              <a:buFont typeface="Nunito"/>
              <a:buChar char="●"/>
              <a:defRPr>
                <a:latin typeface="Nunito"/>
                <a:ea typeface="Nunito"/>
                <a:cs typeface="Nunito"/>
                <a:sym typeface="Nunito"/>
              </a:defRPr>
            </a:lvl1pPr>
            <a:lvl2pPr marL="914400" lvl="1" indent="-311150" algn="l">
              <a:lnSpc>
                <a:spcPct val="115000"/>
              </a:lnSpc>
              <a:spcBef>
                <a:spcPts val="1600"/>
              </a:spcBef>
              <a:spcAft>
                <a:spcPts val="0"/>
              </a:spcAft>
              <a:buSzPts val="1300"/>
              <a:buFont typeface="Nunito"/>
              <a:buChar char="○"/>
              <a:defRPr>
                <a:latin typeface="Nunito"/>
                <a:ea typeface="Nunito"/>
                <a:cs typeface="Nunito"/>
                <a:sym typeface="Nunito"/>
              </a:defRPr>
            </a:lvl2pPr>
            <a:lvl3pPr marL="1371600" lvl="2" indent="-304800" algn="l">
              <a:lnSpc>
                <a:spcPct val="115000"/>
              </a:lnSpc>
              <a:spcBef>
                <a:spcPts val="1600"/>
              </a:spcBef>
              <a:spcAft>
                <a:spcPts val="0"/>
              </a:spcAft>
              <a:buSzPts val="1200"/>
              <a:buFont typeface="Nunito"/>
              <a:buChar char="■"/>
              <a:defRPr>
                <a:latin typeface="Nunito"/>
                <a:ea typeface="Nunito"/>
                <a:cs typeface="Nunito"/>
                <a:sym typeface="Nunito"/>
              </a:defRPr>
            </a:lvl3pPr>
            <a:lvl4pPr marL="1828800" lvl="3" indent="-298450" algn="l">
              <a:lnSpc>
                <a:spcPct val="115000"/>
              </a:lnSpc>
              <a:spcBef>
                <a:spcPts val="1600"/>
              </a:spcBef>
              <a:spcAft>
                <a:spcPts val="0"/>
              </a:spcAft>
              <a:buSzPts val="1100"/>
              <a:buFont typeface="Nunito"/>
              <a:buChar char="●"/>
              <a:defRPr>
                <a:latin typeface="Nunito"/>
                <a:ea typeface="Nunito"/>
                <a:cs typeface="Nunito"/>
                <a:sym typeface="Nunito"/>
              </a:defRPr>
            </a:lvl4pPr>
            <a:lvl5pPr marL="2286000" lvl="4" indent="-292100" algn="l">
              <a:lnSpc>
                <a:spcPct val="115000"/>
              </a:lnSpc>
              <a:spcBef>
                <a:spcPts val="1600"/>
              </a:spcBef>
              <a:spcAft>
                <a:spcPts val="0"/>
              </a:spcAft>
              <a:buSzPts val="1000"/>
              <a:buFont typeface="Nunito"/>
              <a:buChar char="○"/>
              <a:defRPr>
                <a:latin typeface="Nunito"/>
                <a:ea typeface="Nunito"/>
                <a:cs typeface="Nunito"/>
                <a:sym typeface="Nunito"/>
              </a:defRPr>
            </a:lvl5pPr>
            <a:lvl6pPr marL="2743200" lvl="5" indent="-285750" algn="l">
              <a:lnSpc>
                <a:spcPct val="115000"/>
              </a:lnSpc>
              <a:spcBef>
                <a:spcPts val="1600"/>
              </a:spcBef>
              <a:spcAft>
                <a:spcPts val="0"/>
              </a:spcAft>
              <a:buSzPts val="900"/>
              <a:buFont typeface="Nunito"/>
              <a:buChar char="■"/>
              <a:defRPr>
                <a:latin typeface="Nunito"/>
                <a:ea typeface="Nunito"/>
                <a:cs typeface="Nunito"/>
                <a:sym typeface="Nunito"/>
              </a:defRPr>
            </a:lvl6pPr>
            <a:lvl7pPr marL="3200400" lvl="6" indent="-279400" algn="l">
              <a:lnSpc>
                <a:spcPct val="115000"/>
              </a:lnSpc>
              <a:spcBef>
                <a:spcPts val="1600"/>
              </a:spcBef>
              <a:spcAft>
                <a:spcPts val="0"/>
              </a:spcAft>
              <a:buSzPts val="800"/>
              <a:buFont typeface="Nunito"/>
              <a:buChar char="●"/>
              <a:defRPr>
                <a:latin typeface="Nunito"/>
                <a:ea typeface="Nunito"/>
                <a:cs typeface="Nunito"/>
                <a:sym typeface="Nunito"/>
              </a:defRPr>
            </a:lvl7pPr>
            <a:lvl8pPr marL="3657600" lvl="7" indent="-273050" algn="l">
              <a:lnSpc>
                <a:spcPct val="115000"/>
              </a:lnSpc>
              <a:spcBef>
                <a:spcPts val="1600"/>
              </a:spcBef>
              <a:spcAft>
                <a:spcPts val="0"/>
              </a:spcAft>
              <a:buSzPts val="700"/>
              <a:buFont typeface="Nunito"/>
              <a:buChar char="○"/>
              <a:defRPr>
                <a:latin typeface="Nunito"/>
                <a:ea typeface="Nunito"/>
                <a:cs typeface="Nunito"/>
                <a:sym typeface="Nunito"/>
              </a:defRPr>
            </a:lvl8pPr>
            <a:lvl9pPr marL="4114800" lvl="8" indent="-266700" algn="l">
              <a:lnSpc>
                <a:spcPct val="115000"/>
              </a:lnSpc>
              <a:spcBef>
                <a:spcPts val="1600"/>
              </a:spcBef>
              <a:spcAft>
                <a:spcPts val="1600"/>
              </a:spcAft>
              <a:buSzPts val="600"/>
              <a:buFont typeface="Nunito"/>
              <a:buChar char="■"/>
              <a:defRPr>
                <a:latin typeface="Nunito"/>
                <a:ea typeface="Nunito"/>
                <a:cs typeface="Nunito"/>
                <a:sym typeface="Nunito"/>
              </a:defRPr>
            </a:lvl9pPr>
          </a:lstStyle>
          <a:p>
            <a:endParaRPr/>
          </a:p>
        </p:txBody>
      </p:sp>
      <p:sp>
        <p:nvSpPr>
          <p:cNvPr id="122" name="Google Shape;122;p28"/>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Table">
  <p:cSld name="CUSTOM">
    <p:spTree>
      <p:nvGrpSpPr>
        <p:cNvPr id="1" name="Shape 123"/>
        <p:cNvGrpSpPr/>
        <p:nvPr/>
      </p:nvGrpSpPr>
      <p:grpSpPr>
        <a:xfrm>
          <a:off x="0" y="0"/>
          <a:ext cx="0" cy="0"/>
          <a:chOff x="0" y="0"/>
          <a:chExt cx="0" cy="0"/>
        </a:xfrm>
      </p:grpSpPr>
      <p:sp>
        <p:nvSpPr>
          <p:cNvPr id="124" name="Google Shape;124;p29"/>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graphicFrame>
        <p:nvGraphicFramePr>
          <p:cNvPr id="125" name="Google Shape;125;p29"/>
          <p:cNvGraphicFramePr/>
          <p:nvPr/>
        </p:nvGraphicFramePr>
        <p:xfrm>
          <a:off x="201942" y="833662"/>
          <a:ext cx="3000000" cy="3000000"/>
        </p:xfrm>
        <a:graphic>
          <a:graphicData uri="http://schemas.openxmlformats.org/drawingml/2006/table">
            <a:tbl>
              <a:tblPr firstRow="1" bandRow="1">
                <a:noFill/>
                <a:tableStyleId>{8921D070-E9E0-4708-ADE3-723659AD1A52}</a:tableStyleId>
              </a:tblPr>
              <a:tblGrid>
                <a:gridCol w="883125">
                  <a:extLst>
                    <a:ext uri="{9D8B030D-6E8A-4147-A177-3AD203B41FA5}">
                      <a16:colId xmlns:a16="http://schemas.microsoft.com/office/drawing/2014/main" val="20000"/>
                    </a:ext>
                  </a:extLst>
                </a:gridCol>
                <a:gridCol w="3886050">
                  <a:extLst>
                    <a:ext uri="{9D8B030D-6E8A-4147-A177-3AD203B41FA5}">
                      <a16:colId xmlns:a16="http://schemas.microsoft.com/office/drawing/2014/main" val="20001"/>
                    </a:ext>
                  </a:extLst>
                </a:gridCol>
                <a:gridCol w="3886050">
                  <a:extLst>
                    <a:ext uri="{9D8B030D-6E8A-4147-A177-3AD203B41FA5}">
                      <a16:colId xmlns:a16="http://schemas.microsoft.com/office/drawing/2014/main" val="20002"/>
                    </a:ext>
                  </a:extLst>
                </a:gridCol>
              </a:tblGrid>
              <a:tr h="67357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a:t>
                      </a:r>
                      <a:endParaRPr sz="14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 Profile </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Business Insights for Marketing Team</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0"/>
                  </a:ext>
                </a:extLst>
              </a:tr>
              <a:tr h="7533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1</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High value customers who have many credit cards and prefer to engage online</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Engage Online – Set up priority calling in lines – Upsell and Cross sell premium products</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1"/>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2</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baseline="30000">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2"/>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3</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3"/>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4"/>
                  </a:ext>
                </a:extLst>
              </a:tr>
            </a:tbl>
          </a:graphicData>
        </a:graphic>
      </p:graphicFrame>
      <p:sp>
        <p:nvSpPr>
          <p:cNvPr id="126" name="Google Shape;126;p29"/>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27"/>
        <p:cNvGrpSpPr/>
        <p:nvPr/>
      </p:nvGrpSpPr>
      <p:grpSpPr>
        <a:xfrm>
          <a:off x="0" y="0"/>
          <a:ext cx="0" cy="0"/>
          <a:chOff x="0" y="0"/>
          <a:chExt cx="0" cy="0"/>
        </a:xfrm>
      </p:grpSpPr>
      <p:sp>
        <p:nvSpPr>
          <p:cNvPr id="128" name="Google Shape;128;p30"/>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29" name="Google Shape;129;p30"/>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130" name="Google Shape;130;p30"/>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131" name="Google Shape;131;p30"/>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32"/>
        <p:cNvGrpSpPr/>
        <p:nvPr/>
      </p:nvGrpSpPr>
      <p:grpSpPr>
        <a:xfrm>
          <a:off x="0" y="0"/>
          <a:ext cx="0" cy="0"/>
          <a:chOff x="0" y="0"/>
          <a:chExt cx="0" cy="0"/>
        </a:xfrm>
      </p:grpSpPr>
      <p:sp>
        <p:nvSpPr>
          <p:cNvPr id="133" name="Google Shape;133;p31"/>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34" name="Google Shape;134;p31"/>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35"/>
        <p:cNvGrpSpPr/>
        <p:nvPr/>
      </p:nvGrpSpPr>
      <p:grpSpPr>
        <a:xfrm>
          <a:off x="0" y="0"/>
          <a:ext cx="0" cy="0"/>
          <a:chOff x="0" y="0"/>
          <a:chExt cx="0" cy="0"/>
        </a:xfrm>
      </p:grpSpPr>
      <p:sp>
        <p:nvSpPr>
          <p:cNvPr id="136" name="Google Shape;136;p32"/>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137" name="Google Shape;137;p32"/>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38"/>
        <p:cNvGrpSpPr/>
        <p:nvPr/>
      </p:nvGrpSpPr>
      <p:grpSpPr>
        <a:xfrm>
          <a:off x="0" y="0"/>
          <a:ext cx="0" cy="0"/>
          <a:chOff x="0" y="0"/>
          <a:chExt cx="0" cy="0"/>
        </a:xfrm>
      </p:grpSpPr>
      <p:sp>
        <p:nvSpPr>
          <p:cNvPr id="139" name="Google Shape;139;p33"/>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 name="Google Shape;140;p33"/>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141" name="Google Shape;141;p33"/>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42" name="Google Shape;142;p33"/>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23850" algn="l">
              <a:lnSpc>
                <a:spcPct val="115000"/>
              </a:lnSpc>
              <a:spcBef>
                <a:spcPts val="0"/>
              </a:spcBef>
              <a:spcAft>
                <a:spcPts val="0"/>
              </a:spcAft>
              <a:buSzPts val="1500"/>
              <a:buChar char="●"/>
              <a:defRPr/>
            </a:lvl1pPr>
            <a:lvl2pPr marL="914400" lvl="1" indent="-311150" algn="l">
              <a:lnSpc>
                <a:spcPct val="115000"/>
              </a:lnSpc>
              <a:spcBef>
                <a:spcPts val="1600"/>
              </a:spcBef>
              <a:spcAft>
                <a:spcPts val="0"/>
              </a:spcAft>
              <a:buSzPts val="1300"/>
              <a:buChar char="○"/>
              <a:defRPr/>
            </a:lvl2pPr>
            <a:lvl3pPr marL="1371600" lvl="2" indent="-304800" algn="l">
              <a:lnSpc>
                <a:spcPct val="115000"/>
              </a:lnSpc>
              <a:spcBef>
                <a:spcPts val="1600"/>
              </a:spcBef>
              <a:spcAft>
                <a:spcPts val="0"/>
              </a:spcAft>
              <a:buSzPts val="1200"/>
              <a:buChar char="■"/>
              <a:defRPr/>
            </a:lvl3pPr>
            <a:lvl4pPr marL="1828800" lvl="3" indent="-298450" algn="l">
              <a:lnSpc>
                <a:spcPct val="115000"/>
              </a:lnSpc>
              <a:spcBef>
                <a:spcPts val="1600"/>
              </a:spcBef>
              <a:spcAft>
                <a:spcPts val="0"/>
              </a:spcAft>
              <a:buSzPts val="1100"/>
              <a:buChar char="●"/>
              <a:defRPr/>
            </a:lvl4pPr>
            <a:lvl5pPr marL="2286000" lvl="4" indent="-292100" algn="l">
              <a:lnSpc>
                <a:spcPct val="115000"/>
              </a:lnSpc>
              <a:spcBef>
                <a:spcPts val="1600"/>
              </a:spcBef>
              <a:spcAft>
                <a:spcPts val="0"/>
              </a:spcAft>
              <a:buSzPts val="1000"/>
              <a:buChar char="○"/>
              <a:defRPr/>
            </a:lvl5pPr>
            <a:lvl6pPr marL="2743200" lvl="5" indent="-285750" algn="l">
              <a:lnSpc>
                <a:spcPct val="115000"/>
              </a:lnSpc>
              <a:spcBef>
                <a:spcPts val="1600"/>
              </a:spcBef>
              <a:spcAft>
                <a:spcPts val="0"/>
              </a:spcAft>
              <a:buSzPts val="900"/>
              <a:buChar char="■"/>
              <a:defRPr/>
            </a:lvl6pPr>
            <a:lvl7pPr marL="3200400" lvl="6" indent="-279400" algn="l">
              <a:lnSpc>
                <a:spcPct val="115000"/>
              </a:lnSpc>
              <a:spcBef>
                <a:spcPts val="1600"/>
              </a:spcBef>
              <a:spcAft>
                <a:spcPts val="0"/>
              </a:spcAft>
              <a:buSzPts val="800"/>
              <a:buChar char="●"/>
              <a:defRPr/>
            </a:lvl7pPr>
            <a:lvl8pPr marL="3657600" lvl="7" indent="-273050" algn="l">
              <a:lnSpc>
                <a:spcPct val="115000"/>
              </a:lnSpc>
              <a:spcBef>
                <a:spcPts val="1600"/>
              </a:spcBef>
              <a:spcAft>
                <a:spcPts val="0"/>
              </a:spcAft>
              <a:buSzPts val="700"/>
              <a:buChar char="○"/>
              <a:defRPr/>
            </a:lvl8pPr>
            <a:lvl9pPr marL="4114800" lvl="8" indent="-266700" algn="l">
              <a:lnSpc>
                <a:spcPct val="115000"/>
              </a:lnSpc>
              <a:spcBef>
                <a:spcPts val="1600"/>
              </a:spcBef>
              <a:spcAft>
                <a:spcPts val="1600"/>
              </a:spcAft>
              <a:buSzPts val="600"/>
              <a:buChar char="■"/>
              <a:defRPr/>
            </a:lvl9pPr>
          </a:lstStyle>
          <a:p>
            <a:endParaRPr/>
          </a:p>
        </p:txBody>
      </p:sp>
      <p:sp>
        <p:nvSpPr>
          <p:cNvPr id="143" name="Google Shape;143;p33"/>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44"/>
        <p:cNvGrpSpPr/>
        <p:nvPr/>
      </p:nvGrpSpPr>
      <p:grpSpPr>
        <a:xfrm>
          <a:off x="0" y="0"/>
          <a:ext cx="0" cy="0"/>
          <a:chOff x="0" y="0"/>
          <a:chExt cx="0" cy="0"/>
        </a:xfrm>
      </p:grpSpPr>
      <p:sp>
        <p:nvSpPr>
          <p:cNvPr id="145" name="Google Shape;145;p34"/>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image" Target="../media/image1.pn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theme" Target="../theme/theme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9.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image" Target="../media/image1.png"/><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theme" Target="../theme/theme3.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9pPr>
          </a:lstStyle>
          <a:p>
            <a:endParaRPr/>
          </a:p>
        </p:txBody>
      </p:sp>
      <p:sp>
        <p:nvSpPr>
          <p:cNvPr id="52" name="Google Shape;52;p13"/>
          <p:cNvSpPr txBox="1">
            <a:spLocks noGrp="1"/>
          </p:cNvSpPr>
          <p:nvPr>
            <p:ph type="body" idx="1"/>
          </p:nvPr>
        </p:nvSpPr>
        <p:spPr>
          <a:xfrm>
            <a:off x="311700" y="861075"/>
            <a:ext cx="8520600" cy="3416400"/>
          </a:xfrm>
          <a:prstGeom prst="rect">
            <a:avLst/>
          </a:prstGeom>
          <a:noFill/>
          <a:ln>
            <a:noFill/>
          </a:ln>
        </p:spPr>
        <p:txBody>
          <a:bodyPr spcFirstLastPara="1" wrap="square" lIns="91425" tIns="91425" rIns="91425" bIns="91425" anchor="t" anchorCtr="0">
            <a:noAutofit/>
          </a:bodyPr>
          <a:lstStyle>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endParaRPr/>
          </a:p>
        </p:txBody>
      </p:sp>
      <p:sp>
        <p:nvSpPr>
          <p:cNvPr id="53" name="Google Shape;53;p13"/>
          <p:cNvSpPr txBox="1"/>
          <p:nvPr/>
        </p:nvSpPr>
        <p:spPr>
          <a:xfrm>
            <a:off x="2234400" y="4917657"/>
            <a:ext cx="4675200" cy="275700"/>
          </a:xfrm>
          <a:prstGeom prst="rect">
            <a:avLst/>
          </a:prstGeom>
          <a:noFill/>
          <a:ln>
            <a:noFill/>
          </a:ln>
        </p:spPr>
        <p:txBody>
          <a:bodyPr spcFirstLastPara="1" wrap="square" lIns="91425" tIns="91425" rIns="91425" bIns="91425" anchor="t" anchorCtr="0">
            <a:noAutofit/>
          </a:bodyPr>
          <a:lstStyle/>
          <a:p>
            <a:pPr marL="12700" marR="0" lvl="0" indent="0" algn="ctr" rtl="0">
              <a:lnSpc>
                <a:spcPct val="102500"/>
              </a:lnSpc>
              <a:spcBef>
                <a:spcPts val="0"/>
              </a:spcBef>
              <a:spcAft>
                <a:spcPts val="0"/>
              </a:spcAft>
              <a:buClr>
                <a:srgbClr val="000000"/>
              </a:buClr>
              <a:buSzPts val="700"/>
              <a:buFont typeface="Arial"/>
              <a:buNone/>
            </a:pPr>
            <a:r>
              <a:rPr lang="en" sz="700" b="1" i="0" u="none" strike="noStrike" cap="none">
                <a:solidFill>
                  <a:srgbClr val="434343"/>
                </a:solidFill>
                <a:latin typeface="Nunito"/>
                <a:ea typeface="Nunito"/>
                <a:cs typeface="Nunito"/>
                <a:sym typeface="Nunito"/>
              </a:rPr>
              <a:t>Proprietary content. © Great Learning. All Rights Reserved. Unauthorized use or distribution prohibited.</a:t>
            </a:r>
            <a:endParaRPr sz="700" b="1" i="0" u="none" strike="noStrike" cap="none">
              <a:solidFill>
                <a:srgbClr val="434343"/>
              </a:solidFill>
              <a:latin typeface="Nunito"/>
              <a:ea typeface="Nunito"/>
              <a:cs typeface="Nunito"/>
              <a:sym typeface="Nunito"/>
            </a:endParaRPr>
          </a:p>
        </p:txBody>
      </p:sp>
      <p:sp>
        <p:nvSpPr>
          <p:cNvPr id="54" name="Google Shape;54;p13"/>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pic>
        <p:nvPicPr>
          <p:cNvPr id="55" name="Google Shape;55;p13"/>
          <p:cNvPicPr preferRelativeResize="0"/>
          <p:nvPr/>
        </p:nvPicPr>
        <p:blipFill rotWithShape="1">
          <a:blip r:embed="rId12">
            <a:alphaModFix/>
          </a:blip>
          <a:srcRect/>
          <a:stretch/>
        </p:blipFill>
        <p:spPr>
          <a:xfrm>
            <a:off x="7669500" y="68264"/>
            <a:ext cx="1395476" cy="572701"/>
          </a:xfrm>
          <a:prstGeom prst="rect">
            <a:avLst/>
          </a:prstGeom>
          <a:noFill/>
          <a:ln>
            <a:noFill/>
          </a:ln>
        </p:spPr>
      </p:pic>
      <p:grpSp>
        <p:nvGrpSpPr>
          <p:cNvPr id="56" name="Google Shape;56;p13"/>
          <p:cNvGrpSpPr/>
          <p:nvPr/>
        </p:nvGrpSpPr>
        <p:grpSpPr>
          <a:xfrm>
            <a:off x="6593" y="10"/>
            <a:ext cx="175500" cy="709221"/>
            <a:chOff x="6593" y="10"/>
            <a:chExt cx="175500" cy="709221"/>
          </a:xfrm>
        </p:grpSpPr>
        <p:sp>
          <p:nvSpPr>
            <p:cNvPr id="57" name="Google Shape;57;p13"/>
            <p:cNvSpPr/>
            <p:nvPr/>
          </p:nvSpPr>
          <p:spPr>
            <a:xfrm>
              <a:off x="6593" y="10"/>
              <a:ext cx="175500" cy="355500"/>
            </a:xfrm>
            <a:prstGeom prst="rect">
              <a:avLst/>
            </a:prstGeom>
            <a:solidFill>
              <a:srgbClr val="0E39A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13"/>
            <p:cNvSpPr/>
            <p:nvPr/>
          </p:nvSpPr>
          <p:spPr>
            <a:xfrm>
              <a:off x="6593" y="353731"/>
              <a:ext cx="175500" cy="355500"/>
            </a:xfrm>
            <a:prstGeom prst="rect">
              <a:avLst/>
            </a:prstGeom>
            <a:solidFill>
              <a:srgbClr val="1974D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98"/>
        <p:cNvGrpSpPr/>
        <p:nvPr/>
      </p:nvGrpSpPr>
      <p:grpSpPr>
        <a:xfrm>
          <a:off x="0" y="0"/>
          <a:ext cx="0" cy="0"/>
          <a:chOff x="0" y="0"/>
          <a:chExt cx="0" cy="0"/>
        </a:xfrm>
      </p:grpSpPr>
      <p:sp>
        <p:nvSpPr>
          <p:cNvPr id="99" name="Google Shape;99;p24"/>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9pPr>
          </a:lstStyle>
          <a:p>
            <a:endParaRPr/>
          </a:p>
        </p:txBody>
      </p:sp>
      <p:sp>
        <p:nvSpPr>
          <p:cNvPr id="100" name="Google Shape;100;p24"/>
          <p:cNvSpPr txBox="1">
            <a:spLocks noGrp="1"/>
          </p:cNvSpPr>
          <p:nvPr>
            <p:ph type="body" idx="1"/>
          </p:nvPr>
        </p:nvSpPr>
        <p:spPr>
          <a:xfrm>
            <a:off x="311700" y="861075"/>
            <a:ext cx="8520600" cy="3416400"/>
          </a:xfrm>
          <a:prstGeom prst="rect">
            <a:avLst/>
          </a:prstGeom>
          <a:noFill/>
          <a:ln>
            <a:noFill/>
          </a:ln>
        </p:spPr>
        <p:txBody>
          <a:bodyPr spcFirstLastPara="1" wrap="square" lIns="91425" tIns="91425" rIns="91425" bIns="91425" anchor="t" anchorCtr="0">
            <a:noAutofit/>
          </a:bodyPr>
          <a:lstStyle>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endParaRPr/>
          </a:p>
        </p:txBody>
      </p:sp>
      <p:sp>
        <p:nvSpPr>
          <p:cNvPr id="101" name="Google Shape;101;p24"/>
          <p:cNvSpPr txBox="1"/>
          <p:nvPr/>
        </p:nvSpPr>
        <p:spPr>
          <a:xfrm>
            <a:off x="2234400" y="4917657"/>
            <a:ext cx="4675200" cy="275700"/>
          </a:xfrm>
          <a:prstGeom prst="rect">
            <a:avLst/>
          </a:prstGeom>
          <a:noFill/>
          <a:ln>
            <a:noFill/>
          </a:ln>
        </p:spPr>
        <p:txBody>
          <a:bodyPr spcFirstLastPara="1" wrap="square" lIns="91425" tIns="91425" rIns="91425" bIns="91425" anchor="t" anchorCtr="0">
            <a:noAutofit/>
          </a:bodyPr>
          <a:lstStyle/>
          <a:p>
            <a:pPr marL="12700" marR="0" lvl="0" indent="0" algn="ctr" rtl="0">
              <a:lnSpc>
                <a:spcPct val="102500"/>
              </a:lnSpc>
              <a:spcBef>
                <a:spcPts val="0"/>
              </a:spcBef>
              <a:spcAft>
                <a:spcPts val="0"/>
              </a:spcAft>
              <a:buClr>
                <a:srgbClr val="000000"/>
              </a:buClr>
              <a:buSzPts val="700"/>
              <a:buFont typeface="Arial"/>
              <a:buNone/>
            </a:pPr>
            <a:r>
              <a:rPr lang="en" sz="700" b="1" i="0" u="none" strike="noStrike" cap="none">
                <a:solidFill>
                  <a:srgbClr val="434343"/>
                </a:solidFill>
                <a:latin typeface="Nunito"/>
                <a:ea typeface="Nunito"/>
                <a:cs typeface="Nunito"/>
                <a:sym typeface="Nunito"/>
              </a:rPr>
              <a:t>Proprietary content. © Great Learning. All Rights Reserved. Unauthorized use or distribution prohibited.</a:t>
            </a:r>
            <a:endParaRPr sz="700" b="1" i="0" u="none" strike="noStrike" cap="none">
              <a:solidFill>
                <a:srgbClr val="434343"/>
              </a:solidFill>
              <a:latin typeface="Nunito"/>
              <a:ea typeface="Nunito"/>
              <a:cs typeface="Nunito"/>
              <a:sym typeface="Nunito"/>
            </a:endParaRPr>
          </a:p>
        </p:txBody>
      </p:sp>
      <p:sp>
        <p:nvSpPr>
          <p:cNvPr id="102" name="Google Shape;102;p24"/>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pic>
        <p:nvPicPr>
          <p:cNvPr id="103" name="Google Shape;103;p24"/>
          <p:cNvPicPr preferRelativeResize="0"/>
          <p:nvPr/>
        </p:nvPicPr>
        <p:blipFill rotWithShape="1">
          <a:blip r:embed="rId12">
            <a:alphaModFix/>
          </a:blip>
          <a:srcRect/>
          <a:stretch/>
        </p:blipFill>
        <p:spPr>
          <a:xfrm>
            <a:off x="7669500" y="68264"/>
            <a:ext cx="1395476" cy="572701"/>
          </a:xfrm>
          <a:prstGeom prst="rect">
            <a:avLst/>
          </a:prstGeom>
          <a:noFill/>
          <a:ln>
            <a:noFill/>
          </a:ln>
        </p:spPr>
      </p:pic>
      <p:grpSp>
        <p:nvGrpSpPr>
          <p:cNvPr id="104" name="Google Shape;104;p24"/>
          <p:cNvGrpSpPr/>
          <p:nvPr/>
        </p:nvGrpSpPr>
        <p:grpSpPr>
          <a:xfrm>
            <a:off x="6593" y="10"/>
            <a:ext cx="175500" cy="709221"/>
            <a:chOff x="6593" y="10"/>
            <a:chExt cx="175500" cy="709221"/>
          </a:xfrm>
        </p:grpSpPr>
        <p:sp>
          <p:nvSpPr>
            <p:cNvPr id="105" name="Google Shape;105;p24"/>
            <p:cNvSpPr/>
            <p:nvPr/>
          </p:nvSpPr>
          <p:spPr>
            <a:xfrm>
              <a:off x="6593" y="10"/>
              <a:ext cx="175500" cy="355500"/>
            </a:xfrm>
            <a:prstGeom prst="rect">
              <a:avLst/>
            </a:prstGeom>
            <a:solidFill>
              <a:srgbClr val="0E39A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 name="Google Shape;106;p24"/>
            <p:cNvSpPr/>
            <p:nvPr/>
          </p:nvSpPr>
          <p:spPr>
            <a:xfrm>
              <a:off x="6593" y="353731"/>
              <a:ext cx="175500" cy="355500"/>
            </a:xfrm>
            <a:prstGeom prst="rect">
              <a:avLst/>
            </a:prstGeom>
            <a:solidFill>
              <a:srgbClr val="1974D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Lst>
  <mc:AlternateContent xmlns:mc="http://schemas.openxmlformats.org/markup-compatibility/2006" xmlns:p14="http://schemas.microsoft.com/office/powerpoint/2010/main">
    <mc:Choice Requires="p14">
      <p:transition p14:dur="0">
        <p:fade thruBlk="1"/>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slide" Target="slide16.xml"/><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35"/>
          <p:cNvSpPr txBox="1">
            <a:spLocks noGrp="1"/>
          </p:cNvSpPr>
          <p:nvPr>
            <p:ph type="ctrTitle"/>
          </p:nvPr>
        </p:nvSpPr>
        <p:spPr>
          <a:xfrm>
            <a:off x="1158150" y="802450"/>
            <a:ext cx="6827700" cy="1194576"/>
          </a:xfrm>
          <a:prstGeom prst="rect">
            <a:avLst/>
          </a:prstGeom>
          <a:noFill/>
          <a:ln>
            <a:noFill/>
          </a:ln>
        </p:spPr>
        <p:txBody>
          <a:bodyPr spcFirstLastPara="1" wrap="square" lIns="91425" tIns="91425" rIns="91425" bIns="91425" anchor="b" anchorCtr="0">
            <a:noAutofit/>
          </a:bodyPr>
          <a:lstStyle/>
          <a:p>
            <a:pPr lvl="0" algn="ctr"/>
            <a:r>
              <a:rPr lang="en-US" sz="3600"/>
              <a:t>Streamlining U.S. Workforce Immigration</a:t>
            </a:r>
            <a:endParaRPr sz="3600"/>
          </a:p>
        </p:txBody>
      </p:sp>
      <p:sp>
        <p:nvSpPr>
          <p:cNvPr id="151" name="Google Shape;151;p35"/>
          <p:cNvSpPr txBox="1">
            <a:spLocks noGrp="1"/>
          </p:cNvSpPr>
          <p:nvPr>
            <p:ph type="ctrTitle"/>
          </p:nvPr>
        </p:nvSpPr>
        <p:spPr>
          <a:xfrm>
            <a:off x="1158150" y="2479365"/>
            <a:ext cx="6827700" cy="819274"/>
          </a:xfrm>
          <a:prstGeom prst="rect">
            <a:avLst/>
          </a:prstGeom>
          <a:noFill/>
          <a:ln>
            <a:noFill/>
          </a:ln>
        </p:spPr>
        <p:txBody>
          <a:bodyPr spcFirstLastPara="1" wrap="square" lIns="91425" tIns="91425" rIns="91425" bIns="91425" anchor="b" anchorCtr="0">
            <a:noAutofit/>
          </a:bodyPr>
          <a:lstStyle/>
          <a:p>
            <a:pPr lvl="0" algn="ctr"/>
            <a:r>
              <a:rPr lang="en-US" sz="3200"/>
              <a:t>NextGen Visa Intelligence</a:t>
            </a:r>
            <a:br>
              <a:rPr lang="en-US" sz="3200"/>
            </a:br>
            <a:r>
              <a:rPr lang="en-US" sz="1400"/>
              <a:t>Austin University – Post Graduate Program in Artificial Intelligence</a:t>
            </a:r>
            <a:endParaRPr lang="en-US" sz="3200"/>
          </a:p>
        </p:txBody>
      </p:sp>
      <p:sp>
        <p:nvSpPr>
          <p:cNvPr id="152" name="Google Shape;152;p35"/>
          <p:cNvSpPr txBox="1">
            <a:spLocks noGrp="1"/>
          </p:cNvSpPr>
          <p:nvPr>
            <p:ph type="ctrTitle"/>
          </p:nvPr>
        </p:nvSpPr>
        <p:spPr>
          <a:xfrm>
            <a:off x="1158150" y="4145044"/>
            <a:ext cx="6827700" cy="498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800"/>
              <a:buNone/>
            </a:pPr>
            <a:r>
              <a:rPr lang="en" sz="1600" b="0"/>
              <a:t>02-21-2026</a:t>
            </a:r>
            <a:endParaRPr sz="1600" b="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36"/>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Contents / Agenda</a:t>
            </a:r>
            <a:endParaRPr>
              <a:solidFill>
                <a:srgbClr val="000000"/>
              </a:solidFill>
            </a:endParaRPr>
          </a:p>
        </p:txBody>
      </p:sp>
      <p:sp>
        <p:nvSpPr>
          <p:cNvPr id="158" name="Google Shape;158;p36"/>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000"/>
              </a:spcBef>
              <a:spcAft>
                <a:spcPts val="0"/>
              </a:spcAft>
              <a:buClr>
                <a:srgbClr val="000000"/>
              </a:buClr>
              <a:buSzPts val="1400"/>
              <a:buChar char="●"/>
            </a:pPr>
            <a:r>
              <a:rPr lang="en" sz="1400">
                <a:solidFill>
                  <a:srgbClr val="000000"/>
                </a:solidFill>
              </a:rPr>
              <a:t>Executive Summary </a:t>
            </a:r>
            <a:endParaRPr sz="1400">
              <a:solidFill>
                <a:srgbClr val="000000"/>
              </a:solidFill>
            </a:endParaRPr>
          </a:p>
          <a:p>
            <a:pPr marL="457200" lvl="0" indent="-317500" algn="l" rtl="0">
              <a:lnSpc>
                <a:spcPct val="115000"/>
              </a:lnSpc>
              <a:spcBef>
                <a:spcPts val="1000"/>
              </a:spcBef>
              <a:spcAft>
                <a:spcPts val="0"/>
              </a:spcAft>
              <a:buClr>
                <a:srgbClr val="000000"/>
              </a:buClr>
              <a:buSzPts val="1400"/>
              <a:buChar char="●"/>
            </a:pPr>
            <a:r>
              <a:rPr lang="en" sz="1400">
                <a:solidFill>
                  <a:srgbClr val="000000"/>
                </a:solidFill>
              </a:rPr>
              <a:t>Business Problem Overview and Solution Approach</a:t>
            </a:r>
            <a:endParaRPr sz="1400">
              <a:solidFill>
                <a:srgbClr val="000000"/>
              </a:solidFill>
            </a:endParaRPr>
          </a:p>
          <a:p>
            <a:pPr marL="457200" lvl="0" indent="-317500" algn="l" rtl="0">
              <a:lnSpc>
                <a:spcPct val="115000"/>
              </a:lnSpc>
              <a:spcBef>
                <a:spcPts val="1000"/>
              </a:spcBef>
              <a:spcAft>
                <a:spcPts val="0"/>
              </a:spcAft>
              <a:buClr>
                <a:srgbClr val="000000"/>
              </a:buClr>
              <a:buSzPts val="1400"/>
              <a:buChar char="●"/>
            </a:pPr>
            <a:r>
              <a:rPr lang="en" sz="1400">
                <a:solidFill>
                  <a:srgbClr val="000000"/>
                </a:solidFill>
              </a:rPr>
              <a:t>EDA Results</a:t>
            </a:r>
            <a:endParaRPr sz="1400">
              <a:solidFill>
                <a:srgbClr val="000000"/>
              </a:solidFill>
            </a:endParaRPr>
          </a:p>
          <a:p>
            <a:pPr marL="457200" lvl="0" indent="-317500" algn="l" rtl="0">
              <a:lnSpc>
                <a:spcPct val="115000"/>
              </a:lnSpc>
              <a:spcBef>
                <a:spcPts val="1000"/>
              </a:spcBef>
              <a:spcAft>
                <a:spcPts val="0"/>
              </a:spcAft>
              <a:buClr>
                <a:srgbClr val="000000"/>
              </a:buClr>
              <a:buSzPts val="1400"/>
              <a:buChar char="●"/>
            </a:pPr>
            <a:r>
              <a:rPr lang="en" sz="1400">
                <a:solidFill>
                  <a:srgbClr val="000000"/>
                </a:solidFill>
              </a:rPr>
              <a:t>Data Preprocessing </a:t>
            </a:r>
            <a:endParaRPr sz="1400">
              <a:solidFill>
                <a:srgbClr val="000000"/>
              </a:solidFill>
            </a:endParaRPr>
          </a:p>
          <a:p>
            <a:pPr marL="457200" lvl="0" indent="-317500" algn="l" rtl="0">
              <a:lnSpc>
                <a:spcPct val="115000"/>
              </a:lnSpc>
              <a:spcBef>
                <a:spcPts val="1000"/>
              </a:spcBef>
              <a:spcAft>
                <a:spcPts val="0"/>
              </a:spcAft>
              <a:buClr>
                <a:srgbClr val="000000"/>
              </a:buClr>
              <a:buSzPts val="1400"/>
              <a:buChar char="●"/>
            </a:pPr>
            <a:r>
              <a:rPr lang="en" sz="1400">
                <a:solidFill>
                  <a:srgbClr val="000000"/>
                </a:solidFill>
              </a:rPr>
              <a:t>Model Performance Summary</a:t>
            </a:r>
            <a:endParaRPr sz="1400">
              <a:solidFill>
                <a:srgbClr val="000000"/>
              </a:solidFill>
            </a:endParaRPr>
          </a:p>
          <a:p>
            <a:pPr marL="457200" lvl="0" indent="-317500" algn="l" rtl="0">
              <a:lnSpc>
                <a:spcPct val="115000"/>
              </a:lnSpc>
              <a:spcBef>
                <a:spcPts val="1000"/>
              </a:spcBef>
              <a:spcAft>
                <a:spcPts val="1000"/>
              </a:spcAft>
              <a:buClr>
                <a:srgbClr val="000000"/>
              </a:buClr>
              <a:buSzPts val="1400"/>
              <a:buChar char="●"/>
            </a:pPr>
            <a:r>
              <a:rPr lang="en" sz="1400">
                <a:solidFill>
                  <a:srgbClr val="000000"/>
                </a:solidFill>
              </a:rPr>
              <a:t>Appendix</a:t>
            </a:r>
            <a:endParaRPr sz="1400">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37"/>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Executive Summary </a:t>
            </a:r>
            <a:endParaRPr>
              <a:solidFill>
                <a:srgbClr val="000000"/>
              </a:solidFill>
            </a:endParaRPr>
          </a:p>
        </p:txBody>
      </p:sp>
      <p:sp>
        <p:nvSpPr>
          <p:cNvPr id="164" name="Google Shape;164;p37"/>
          <p:cNvSpPr txBox="1">
            <a:spLocks noGrp="1"/>
          </p:cNvSpPr>
          <p:nvPr>
            <p:ph type="body" idx="1"/>
          </p:nvPr>
        </p:nvSpPr>
        <p:spPr>
          <a:xfrm>
            <a:off x="202550" y="861975"/>
            <a:ext cx="8629800" cy="3992246"/>
          </a:xfrm>
          <a:prstGeom prst="rect">
            <a:avLst/>
          </a:prstGeom>
          <a:noFill/>
          <a:ln>
            <a:noFill/>
          </a:ln>
        </p:spPr>
        <p:txBody>
          <a:bodyPr spcFirstLastPara="1" wrap="square" lIns="91425" tIns="91425" rIns="91425" bIns="91425" anchor="t" anchorCtr="0">
            <a:noAutofit/>
          </a:bodyPr>
          <a:lstStyle/>
          <a:p>
            <a:pPr>
              <a:buNone/>
            </a:pPr>
            <a:r>
              <a:rPr lang="en-US" sz="1200" b="1"/>
              <a:t>Executive Summary: EasyVisa Strategic Optimization</a:t>
            </a:r>
          </a:p>
          <a:p>
            <a:pPr>
              <a:buNone/>
            </a:pPr>
            <a:endParaRPr lang="en-US" sz="1050" b="1">
              <a:solidFill>
                <a:srgbClr val="002060"/>
              </a:solidFill>
            </a:endParaRPr>
          </a:p>
          <a:p>
            <a:pPr>
              <a:buNone/>
            </a:pPr>
            <a:r>
              <a:rPr lang="en-US" sz="1000" b="1">
                <a:solidFill>
                  <a:srgbClr val="002060"/>
                </a:solidFill>
              </a:rPr>
              <a:t>The Challenge</a:t>
            </a:r>
            <a:r>
              <a:rPr lang="en-US" sz="1000">
                <a:solidFill>
                  <a:srgbClr val="002060"/>
                </a:solidFill>
              </a:rPr>
              <a:t> </a:t>
            </a:r>
          </a:p>
          <a:p>
            <a:pPr marL="274320">
              <a:buNone/>
            </a:pPr>
            <a:r>
              <a:rPr lang="en-US" sz="900">
                <a:solidFill>
                  <a:srgbClr val="002060"/>
                </a:solidFill>
              </a:rPr>
              <a:t>	</a:t>
            </a:r>
            <a:r>
              <a:rPr lang="en-US" sz="1000">
                <a:solidFill>
                  <a:srgbClr val="002060"/>
                </a:solidFill>
              </a:rPr>
              <a:t>As visa application volumes grow, the Office of Foreign Labor Certification (OFLC) needs a reliable way to </a:t>
            </a:r>
          </a:p>
          <a:p>
            <a:pPr marL="274320">
              <a:buNone/>
            </a:pPr>
            <a:r>
              <a:rPr lang="en-US" sz="1000">
                <a:solidFill>
                  <a:srgbClr val="002060"/>
                </a:solidFill>
              </a:rPr>
              <a:t>	fast-track approvals while maintaining strict oversight of high-risk cases.</a:t>
            </a:r>
          </a:p>
          <a:p>
            <a:pPr marL="274320">
              <a:buNone/>
            </a:pPr>
            <a:endParaRPr lang="en-US" sz="1000">
              <a:solidFill>
                <a:srgbClr val="002060"/>
              </a:solidFill>
            </a:endParaRPr>
          </a:p>
          <a:p>
            <a:pPr>
              <a:buNone/>
            </a:pPr>
            <a:r>
              <a:rPr lang="en-US" sz="1000" b="1">
                <a:solidFill>
                  <a:srgbClr val="002060"/>
                </a:solidFill>
              </a:rPr>
              <a:t>Key Drivers of Success</a:t>
            </a:r>
            <a:r>
              <a:rPr lang="en-US" sz="1000">
                <a:solidFill>
                  <a:srgbClr val="002060"/>
                </a:solidFill>
              </a:rPr>
              <a:t> Our model identified a clear "Golden Profile" for successful applicants:</a:t>
            </a:r>
          </a:p>
          <a:p>
            <a:pPr marL="274320" lvl="2" indent="0">
              <a:lnSpc>
                <a:spcPct val="100000"/>
              </a:lnSpc>
              <a:spcBef>
                <a:spcPts val="100"/>
              </a:spcBef>
              <a:buNone/>
            </a:pPr>
            <a:r>
              <a:rPr lang="en-US" sz="900" b="1">
                <a:solidFill>
                  <a:srgbClr val="002060"/>
                </a:solidFill>
              </a:rPr>
              <a:t>Education:</a:t>
            </a:r>
            <a:r>
              <a:rPr lang="en-US" sz="900">
                <a:solidFill>
                  <a:srgbClr val="002060"/>
                </a:solidFill>
              </a:rPr>
              <a:t> Doctorate and Master’s degree holders have the highest approval rates (up to 87%).</a:t>
            </a:r>
          </a:p>
          <a:p>
            <a:pPr marL="274320" lvl="2" indent="0">
              <a:lnSpc>
                <a:spcPct val="100000"/>
              </a:lnSpc>
              <a:spcBef>
                <a:spcPts val="100"/>
              </a:spcBef>
              <a:buNone/>
            </a:pPr>
            <a:r>
              <a:rPr lang="en-US" sz="900" b="1">
                <a:solidFill>
                  <a:srgbClr val="002060"/>
                </a:solidFill>
              </a:rPr>
              <a:t>Experience:</a:t>
            </a:r>
            <a:r>
              <a:rPr lang="en-US" sz="900">
                <a:solidFill>
                  <a:srgbClr val="002060"/>
                </a:solidFill>
              </a:rPr>
              <a:t> Prior job experience increases the likelihood of certification to 74%.</a:t>
            </a:r>
          </a:p>
          <a:p>
            <a:pPr marL="274320" lvl="2" indent="0">
              <a:lnSpc>
                <a:spcPct val="100000"/>
              </a:lnSpc>
              <a:spcBef>
                <a:spcPts val="100"/>
              </a:spcBef>
              <a:buNone/>
            </a:pPr>
            <a:r>
              <a:rPr lang="en-US" sz="900" b="1">
                <a:solidFill>
                  <a:srgbClr val="002060"/>
                </a:solidFill>
              </a:rPr>
              <a:t>Wages:</a:t>
            </a:r>
            <a:r>
              <a:rPr lang="en-US" sz="900">
                <a:solidFill>
                  <a:srgbClr val="002060"/>
                </a:solidFill>
              </a:rPr>
              <a:t> Higher prevailing wages (median ~$72,500) strongly correlate with positive outcomes.</a:t>
            </a:r>
          </a:p>
          <a:p>
            <a:pPr marL="457200" lvl="2" indent="0">
              <a:lnSpc>
                <a:spcPct val="100000"/>
              </a:lnSpc>
              <a:spcBef>
                <a:spcPts val="100"/>
              </a:spcBef>
              <a:buNone/>
            </a:pPr>
            <a:endParaRPr lang="en-US" sz="900">
              <a:solidFill>
                <a:srgbClr val="002060"/>
              </a:solidFill>
            </a:endParaRPr>
          </a:p>
          <a:p>
            <a:pPr>
              <a:buNone/>
            </a:pPr>
            <a:r>
              <a:rPr lang="en-US" sz="1000" b="1">
                <a:solidFill>
                  <a:srgbClr val="002060"/>
                </a:solidFill>
              </a:rPr>
              <a:t>Model Performance &amp; Reliability</a:t>
            </a:r>
            <a:r>
              <a:rPr lang="en-US" sz="1000">
                <a:solidFill>
                  <a:srgbClr val="002060"/>
                </a:solidFill>
              </a:rPr>
              <a:t> </a:t>
            </a:r>
          </a:p>
          <a:p>
            <a:pPr marL="274320">
              <a:buNone/>
            </a:pPr>
            <a:r>
              <a:rPr lang="en-US" sz="1000">
                <a:solidFill>
                  <a:srgbClr val="002060"/>
                </a:solidFill>
              </a:rPr>
              <a:t>	We </a:t>
            </a:r>
            <a:r>
              <a:rPr lang="en-US" sz="900">
                <a:solidFill>
                  <a:srgbClr val="002060"/>
                </a:solidFill>
              </a:rPr>
              <a:t>selected the </a:t>
            </a:r>
            <a:r>
              <a:rPr lang="en-US" sz="900" b="1">
                <a:solidFill>
                  <a:srgbClr val="002060"/>
                </a:solidFill>
              </a:rPr>
              <a:t>Tuned Gradient Boosting Machine (GBM)</a:t>
            </a:r>
            <a:r>
              <a:rPr lang="en-US" sz="900">
                <a:solidFill>
                  <a:srgbClr val="002060"/>
                </a:solidFill>
              </a:rPr>
              <a:t> as the champion model. It provides a stable, balanced approach to decision-making:</a:t>
            </a:r>
          </a:p>
          <a:p>
            <a:pPr marL="274320" lvl="2" indent="0">
              <a:lnSpc>
                <a:spcPct val="100000"/>
              </a:lnSpc>
              <a:spcBef>
                <a:spcPts val="100"/>
              </a:spcBef>
              <a:buNone/>
            </a:pPr>
            <a:r>
              <a:rPr lang="en-US" sz="900" b="1">
                <a:solidFill>
                  <a:srgbClr val="002060"/>
                </a:solidFill>
              </a:rPr>
              <a:t>Recall (84.5%): </a:t>
            </a:r>
            <a:r>
              <a:rPr lang="en-US" sz="900">
                <a:solidFill>
                  <a:srgbClr val="002060"/>
                </a:solidFill>
              </a:rPr>
              <a:t>The model is exceptionally good at finding qualified candidates, ensuring deserving talent is not filtered out.</a:t>
            </a:r>
          </a:p>
          <a:p>
            <a:pPr marL="274320" lvl="2" indent="0">
              <a:lnSpc>
                <a:spcPct val="100000"/>
              </a:lnSpc>
              <a:spcBef>
                <a:spcPts val="100"/>
              </a:spcBef>
              <a:buNone/>
            </a:pPr>
            <a:r>
              <a:rPr lang="en-US" sz="900" b="1">
                <a:solidFill>
                  <a:srgbClr val="002060"/>
                </a:solidFill>
              </a:rPr>
              <a:t>Precision (80.1%): </a:t>
            </a:r>
            <a:r>
              <a:rPr lang="en-US" sz="900">
                <a:solidFill>
                  <a:srgbClr val="002060"/>
                </a:solidFill>
              </a:rPr>
              <a:t>The model is highly reliable; 8 out of 10 automated approvals are perfect matches for OFLC standards.</a:t>
            </a:r>
          </a:p>
          <a:p>
            <a:pPr marL="274320" lvl="2" indent="0">
              <a:lnSpc>
                <a:spcPct val="100000"/>
              </a:lnSpc>
              <a:spcBef>
                <a:spcPts val="100"/>
              </a:spcBef>
              <a:buNone/>
            </a:pPr>
            <a:r>
              <a:rPr lang="en-US" sz="900" b="1">
                <a:solidFill>
                  <a:srgbClr val="002060"/>
                </a:solidFill>
              </a:rPr>
              <a:t>F1-Score (0.823): </a:t>
            </a:r>
            <a:r>
              <a:rPr lang="en-US" sz="900">
                <a:solidFill>
                  <a:srgbClr val="002060"/>
                </a:solidFill>
              </a:rPr>
              <a:t>This high score confirms the model is ready for real-world deployment.</a:t>
            </a:r>
          </a:p>
          <a:p>
            <a:pPr marL="457200" lvl="2" indent="0">
              <a:lnSpc>
                <a:spcPct val="100000"/>
              </a:lnSpc>
              <a:spcBef>
                <a:spcPts val="100"/>
              </a:spcBef>
              <a:buNone/>
            </a:pPr>
            <a:endParaRPr lang="en-US" sz="900" b="1">
              <a:solidFill>
                <a:srgbClr val="002060"/>
              </a:solidFill>
            </a:endParaRPr>
          </a:p>
          <a:p>
            <a:pPr>
              <a:buNone/>
            </a:pPr>
            <a:r>
              <a:rPr lang="en-US" sz="1000" b="1">
                <a:solidFill>
                  <a:srgbClr val="002060"/>
                </a:solidFill>
              </a:rPr>
              <a:t>Strategic Recommendations</a:t>
            </a:r>
            <a:endParaRPr lang="en-US" sz="1000">
              <a:solidFill>
                <a:srgbClr val="002060"/>
              </a:solidFill>
            </a:endParaRPr>
          </a:p>
          <a:p>
            <a:pPr marL="274320" lvl="2" indent="0">
              <a:lnSpc>
                <a:spcPct val="100000"/>
              </a:lnSpc>
              <a:spcBef>
                <a:spcPts val="100"/>
              </a:spcBef>
              <a:buNone/>
            </a:pPr>
            <a:r>
              <a:rPr lang="en-US" sz="1000" b="1">
                <a:solidFill>
                  <a:srgbClr val="002060"/>
                </a:solidFill>
              </a:rPr>
              <a:t>Automate "Low-Risk" Visas: </a:t>
            </a:r>
            <a:r>
              <a:rPr lang="en-US" sz="1000">
                <a:solidFill>
                  <a:srgbClr val="002060"/>
                </a:solidFill>
              </a:rPr>
              <a:t>Implement an immediate fast-track for applicants with advanced degrees and prior experience.</a:t>
            </a:r>
          </a:p>
          <a:p>
            <a:pPr marL="274320" lvl="2" indent="0">
              <a:lnSpc>
                <a:spcPct val="100000"/>
              </a:lnSpc>
              <a:spcBef>
                <a:spcPts val="100"/>
              </a:spcBef>
              <a:buNone/>
            </a:pPr>
            <a:r>
              <a:rPr lang="en-US" sz="1000" b="1">
                <a:solidFill>
                  <a:srgbClr val="002060"/>
                </a:solidFill>
              </a:rPr>
              <a:t>Focus Human Audits: </a:t>
            </a:r>
            <a:r>
              <a:rPr lang="en-US" sz="1000">
                <a:solidFill>
                  <a:srgbClr val="002060"/>
                </a:solidFill>
              </a:rPr>
              <a:t>Redirect investigators to cases the model flags as "Denied," which typically lack advanced education or competitive wages.</a:t>
            </a:r>
          </a:p>
          <a:p>
            <a:pPr marL="274320" lvl="2" indent="0">
              <a:lnSpc>
                <a:spcPct val="100000"/>
              </a:lnSpc>
              <a:spcBef>
                <a:spcPts val="100"/>
              </a:spcBef>
              <a:buNone/>
            </a:pPr>
            <a:r>
              <a:rPr lang="en-US" sz="1000" b="1">
                <a:solidFill>
                  <a:srgbClr val="002060"/>
                </a:solidFill>
              </a:rPr>
              <a:t>Regional Allocation: </a:t>
            </a:r>
            <a:r>
              <a:rPr lang="en-US" sz="1000">
                <a:solidFill>
                  <a:srgbClr val="002060"/>
                </a:solidFill>
              </a:rPr>
              <a:t>Shift processing resources toward the South and Northeast, which show the highest density of successful applications.</a:t>
            </a:r>
          </a:p>
          <a:p>
            <a:pPr marL="139700" lvl="0" indent="0" algn="l" rtl="0">
              <a:lnSpc>
                <a:spcPct val="115000"/>
              </a:lnSpc>
              <a:spcBef>
                <a:spcPts val="1000"/>
              </a:spcBef>
              <a:spcAft>
                <a:spcPts val="1000"/>
              </a:spcAft>
              <a:buClr>
                <a:srgbClr val="000000"/>
              </a:buClr>
              <a:buSzPts val="1400"/>
              <a:buNone/>
            </a:pPr>
            <a:endParaRPr sz="800">
              <a:solidFill>
                <a:srgbClr val="0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38"/>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Business Problem Overview and Solution Approach</a:t>
            </a:r>
            <a:endParaRPr>
              <a:solidFill>
                <a:srgbClr val="000000"/>
              </a:solidFill>
            </a:endParaRPr>
          </a:p>
        </p:txBody>
      </p:sp>
      <p:sp>
        <p:nvSpPr>
          <p:cNvPr id="170" name="Google Shape;170;p38"/>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0" indent="0">
              <a:buNone/>
            </a:pPr>
            <a:r>
              <a:rPr lang="en-US" sz="1400" b="1">
                <a:solidFill>
                  <a:srgbClr val="002060"/>
                </a:solidFill>
              </a:rPr>
              <a:t>The Problem: The Scalability Gap</a:t>
            </a:r>
          </a:p>
          <a:p>
            <a:pPr marL="274320" lvl="1" indent="0">
              <a:lnSpc>
                <a:spcPct val="100000"/>
              </a:lnSpc>
              <a:spcBef>
                <a:spcPts val="600"/>
              </a:spcBef>
              <a:buNone/>
            </a:pPr>
            <a:r>
              <a:rPr lang="en-US" sz="1200">
                <a:solidFill>
                  <a:srgbClr val="002060"/>
                </a:solidFill>
              </a:rPr>
              <a:t>The Office of Foreign Labor Certification (OFLC) is facing a </a:t>
            </a:r>
            <a:r>
              <a:rPr lang="en-US" sz="1200" b="1">
                <a:solidFill>
                  <a:srgbClr val="002060"/>
                </a:solidFill>
              </a:rPr>
              <a:t>9% year-over-year increase</a:t>
            </a:r>
            <a:r>
              <a:rPr lang="en-US" sz="1200">
                <a:solidFill>
                  <a:srgbClr val="002060"/>
                </a:solidFill>
              </a:rPr>
              <a:t> in labor certification requests. The current manual evaluation process is a tedious task that threatens to slow the integration of essential foreign workers into the U.S. economy. The challenge lies in identifying high-potential candidates efficiently while maintaining strict compliance with the </a:t>
            </a:r>
            <a:r>
              <a:rPr lang="en-US" sz="1200" b="1">
                <a:solidFill>
                  <a:srgbClr val="002060"/>
                </a:solidFill>
              </a:rPr>
              <a:t>Immigration and Nationality Act (INA)</a:t>
            </a:r>
            <a:r>
              <a:rPr lang="en-US" sz="1200">
                <a:solidFill>
                  <a:srgbClr val="002060"/>
                </a:solidFill>
              </a:rPr>
              <a:t>.</a:t>
            </a:r>
          </a:p>
          <a:p>
            <a:pPr marL="0" indent="-182880">
              <a:lnSpc>
                <a:spcPct val="100000"/>
              </a:lnSpc>
              <a:spcBef>
                <a:spcPts val="600"/>
              </a:spcBef>
              <a:buNone/>
            </a:pPr>
            <a:r>
              <a:rPr lang="en-US" sz="1300" b="1">
                <a:solidFill>
                  <a:srgbClr val="002060"/>
                </a:solidFill>
                <a:effectLst/>
                <a:latin typeface="Calibri" panose="020F0502020204030204" pitchFamily="34" charset="0"/>
              </a:rPr>
              <a:t>A Two-Layer Metric Solution </a:t>
            </a:r>
            <a:endParaRPr lang="en-US" sz="1300">
              <a:solidFill>
                <a:srgbClr val="002060"/>
              </a:solidFill>
              <a:effectLst/>
              <a:latin typeface="Calibri" panose="020F0502020204030204" pitchFamily="34" charset="0"/>
            </a:endParaRPr>
          </a:p>
          <a:p>
            <a:pPr marL="274320" lvl="1" indent="0">
              <a:lnSpc>
                <a:spcPct val="100000"/>
              </a:lnSpc>
              <a:spcBef>
                <a:spcPts val="0"/>
              </a:spcBef>
              <a:buNone/>
            </a:pPr>
            <a:r>
              <a:rPr lang="en-US" sz="1050">
                <a:solidFill>
                  <a:srgbClr val="002060"/>
                </a:solidFill>
                <a:effectLst/>
                <a:latin typeface="Calibri" panose="020F0502020204030204" pitchFamily="34" charset="0"/>
              </a:rPr>
              <a:t>We selected the </a:t>
            </a:r>
            <a:r>
              <a:rPr lang="en-US" sz="1050" b="1">
                <a:solidFill>
                  <a:srgbClr val="002060"/>
                </a:solidFill>
                <a:effectLst/>
                <a:latin typeface="Calibri" panose="020F0502020204030204" pitchFamily="34" charset="0"/>
              </a:rPr>
              <a:t>Tuned Gradient Boosting Machine (GBM)</a:t>
            </a:r>
            <a:r>
              <a:rPr lang="en-US" sz="1050">
                <a:solidFill>
                  <a:srgbClr val="002060"/>
                </a:solidFill>
                <a:effectLst/>
                <a:latin typeface="Calibri" panose="020F0502020204030204" pitchFamily="34" charset="0"/>
              </a:rPr>
              <a:t> as our champion model. It utilizes a two-layer approach to meet OFLC objectives:</a:t>
            </a:r>
          </a:p>
          <a:p>
            <a:pPr marL="274320" lvl="1" indent="0">
              <a:lnSpc>
                <a:spcPct val="100000"/>
              </a:lnSpc>
              <a:spcBef>
                <a:spcPts val="100"/>
              </a:spcBef>
              <a:buNone/>
            </a:pPr>
            <a:r>
              <a:rPr lang="en-US" sz="1050" b="1">
                <a:solidFill>
                  <a:srgbClr val="002060"/>
                </a:solidFill>
                <a:effectLst/>
                <a:latin typeface="Calibri" panose="020F0502020204030204" pitchFamily="34" charset="0"/>
              </a:rPr>
              <a:t>Layer 1 (F1-Score): </a:t>
            </a:r>
            <a:endParaRPr lang="en-US" sz="1050">
              <a:solidFill>
                <a:srgbClr val="002060"/>
              </a:solidFill>
              <a:effectLst/>
              <a:latin typeface="Calibri" panose="020F0502020204030204" pitchFamily="34" charset="0"/>
            </a:endParaRPr>
          </a:p>
          <a:p>
            <a:pPr marL="457200" lvl="1" indent="0">
              <a:lnSpc>
                <a:spcPct val="100000"/>
              </a:lnSpc>
              <a:spcBef>
                <a:spcPts val="100"/>
              </a:spcBef>
              <a:buNone/>
            </a:pPr>
            <a:r>
              <a:rPr lang="en-US" sz="1050">
                <a:solidFill>
                  <a:srgbClr val="002060"/>
                </a:solidFill>
                <a:effectLst/>
                <a:latin typeface="Calibri" panose="020F0502020204030204" pitchFamily="34" charset="0"/>
              </a:rPr>
              <a:t>Used to train and tune models to handle class imbalance. Our final model achieved an </a:t>
            </a:r>
            <a:br>
              <a:rPr lang="en-US" sz="1050">
                <a:solidFill>
                  <a:srgbClr val="002060"/>
                </a:solidFill>
                <a:effectLst/>
                <a:latin typeface="Calibri" panose="020F0502020204030204" pitchFamily="34" charset="0"/>
              </a:rPr>
            </a:br>
            <a:r>
              <a:rPr lang="en-US" sz="1050" b="1">
                <a:solidFill>
                  <a:srgbClr val="002060"/>
                </a:solidFill>
                <a:effectLst/>
                <a:latin typeface="Calibri" panose="020F0502020204030204" pitchFamily="34" charset="0"/>
              </a:rPr>
              <a:t>F1-Score of 0.823</a:t>
            </a:r>
            <a:r>
              <a:rPr lang="en-US" sz="1050">
                <a:solidFill>
                  <a:srgbClr val="002060"/>
                </a:solidFill>
                <a:effectLst/>
                <a:latin typeface="Calibri" panose="020F0502020204030204" pitchFamily="34" charset="0"/>
              </a:rPr>
              <a:t>, ensuring a robust profile of candidates.</a:t>
            </a:r>
          </a:p>
          <a:p>
            <a:pPr marL="274320" lvl="1" indent="0">
              <a:lnSpc>
                <a:spcPct val="100000"/>
              </a:lnSpc>
              <a:spcBef>
                <a:spcPts val="100"/>
              </a:spcBef>
              <a:buNone/>
            </a:pPr>
            <a:r>
              <a:rPr lang="en-US" sz="1050" b="1">
                <a:solidFill>
                  <a:srgbClr val="002060"/>
                </a:solidFill>
                <a:effectLst/>
                <a:latin typeface="Calibri" panose="020F0502020204030204" pitchFamily="34" charset="0"/>
              </a:rPr>
              <a:t>Layer 2 (Precision): </a:t>
            </a:r>
            <a:endParaRPr lang="en-US" sz="1050">
              <a:solidFill>
                <a:srgbClr val="002060"/>
              </a:solidFill>
              <a:effectLst/>
              <a:latin typeface="Calibri" panose="020F0502020204030204" pitchFamily="34" charset="0"/>
            </a:endParaRPr>
          </a:p>
          <a:p>
            <a:pPr marL="457200" lvl="1" indent="0">
              <a:lnSpc>
                <a:spcPct val="100000"/>
              </a:lnSpc>
              <a:spcBef>
                <a:spcPts val="100"/>
              </a:spcBef>
              <a:buNone/>
            </a:pPr>
            <a:r>
              <a:rPr lang="en-US" sz="1050">
                <a:solidFill>
                  <a:srgbClr val="002060"/>
                </a:solidFill>
                <a:effectLst/>
                <a:latin typeface="Calibri" panose="020F0502020204030204" pitchFamily="34" charset="0"/>
              </a:rPr>
              <a:t>This segments findings to identify a "Gold Standard" group. Our model maintains a </a:t>
            </a:r>
            <a:r>
              <a:rPr lang="en-US" sz="1050" b="1">
                <a:solidFill>
                  <a:srgbClr val="002060"/>
                </a:solidFill>
                <a:effectLst/>
                <a:latin typeface="Calibri" panose="020F0502020204030204" pitchFamily="34" charset="0"/>
              </a:rPr>
              <a:t>Precision of 80.1%</a:t>
            </a:r>
            <a:r>
              <a:rPr lang="en-US" sz="1050">
                <a:solidFill>
                  <a:srgbClr val="002060"/>
                </a:solidFill>
                <a:effectLst/>
                <a:latin typeface="Calibri" panose="020F0502020204030204" pitchFamily="34" charset="0"/>
              </a:rPr>
              <a:t>, meaning 4 out of 5 automated approvals are perfectly aligned with standards.</a:t>
            </a:r>
          </a:p>
          <a:p>
            <a:pPr marL="274320" lvl="1" indent="0">
              <a:lnSpc>
                <a:spcPct val="100000"/>
              </a:lnSpc>
              <a:spcBef>
                <a:spcPts val="100"/>
              </a:spcBef>
              <a:buNone/>
            </a:pPr>
            <a:r>
              <a:rPr lang="en-US" sz="1050" b="1">
                <a:solidFill>
                  <a:srgbClr val="002060"/>
                </a:solidFill>
                <a:effectLst/>
                <a:latin typeface="Calibri" panose="020F0502020204030204" pitchFamily="34" charset="0"/>
              </a:rPr>
              <a:t>Efficiency (Recall): </a:t>
            </a:r>
            <a:endParaRPr lang="en-US" sz="1050">
              <a:solidFill>
                <a:srgbClr val="002060"/>
              </a:solidFill>
              <a:effectLst/>
              <a:latin typeface="Calibri" panose="020F0502020204030204" pitchFamily="34" charset="0"/>
            </a:endParaRPr>
          </a:p>
          <a:p>
            <a:pPr marL="457200" lvl="1" indent="0">
              <a:lnSpc>
                <a:spcPct val="100000"/>
              </a:lnSpc>
              <a:spcBef>
                <a:spcPts val="100"/>
              </a:spcBef>
              <a:buNone/>
            </a:pPr>
            <a:r>
              <a:rPr lang="en-US" sz="1050">
                <a:solidFill>
                  <a:srgbClr val="002060"/>
                </a:solidFill>
                <a:effectLst/>
                <a:latin typeface="Calibri" panose="020F0502020204030204" pitchFamily="34" charset="0"/>
              </a:rPr>
              <a:t>With a </a:t>
            </a:r>
            <a:r>
              <a:rPr lang="en-US" sz="1050" b="1">
                <a:solidFill>
                  <a:srgbClr val="002060"/>
                </a:solidFill>
                <a:effectLst/>
                <a:latin typeface="Calibri" panose="020F0502020204030204" pitchFamily="34" charset="0"/>
              </a:rPr>
              <a:t>Recall of 84.5%</a:t>
            </a:r>
            <a:r>
              <a:rPr lang="en-US" sz="1050">
                <a:solidFill>
                  <a:srgbClr val="002060"/>
                </a:solidFill>
                <a:effectLst/>
                <a:latin typeface="Calibri" panose="020F0502020204030204" pitchFamily="34" charset="0"/>
              </a:rPr>
              <a:t>, the model successfully captures the vast majority of qualified candidates, significantly closing the scalability gap.</a:t>
            </a:r>
          </a:p>
          <a:p>
            <a:pPr marL="274320" lvl="1" indent="0">
              <a:lnSpc>
                <a:spcPct val="100000"/>
              </a:lnSpc>
              <a:spcBef>
                <a:spcPts val="600"/>
              </a:spcBef>
              <a:buNone/>
            </a:pPr>
            <a:endParaRPr lang="en-US" sz="1400" b="1">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1">
          <a:extLst>
            <a:ext uri="{FF2B5EF4-FFF2-40B4-BE49-F238E27FC236}">
              <a16:creationId xmlns:a16="http://schemas.microsoft.com/office/drawing/2014/main" id="{B0824604-4C6E-8C08-2030-C7F7A84408D5}"/>
            </a:ext>
          </a:extLst>
        </p:cNvPr>
        <p:cNvGrpSpPr/>
        <p:nvPr/>
      </p:nvGrpSpPr>
      <p:grpSpPr>
        <a:xfrm>
          <a:off x="0" y="0"/>
          <a:ext cx="0" cy="0"/>
          <a:chOff x="0" y="0"/>
          <a:chExt cx="0" cy="0"/>
        </a:xfrm>
      </p:grpSpPr>
      <p:sp>
        <p:nvSpPr>
          <p:cNvPr id="182" name="Google Shape;182;p40">
            <a:extLst>
              <a:ext uri="{FF2B5EF4-FFF2-40B4-BE49-F238E27FC236}">
                <a16:creationId xmlns:a16="http://schemas.microsoft.com/office/drawing/2014/main" id="{E0C7B973-4A4C-A2B6-3E7C-11A11B27FFD3}"/>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Data Preprocessing - Basics</a:t>
            </a:r>
            <a:endParaRPr>
              <a:solidFill>
                <a:srgbClr val="000000"/>
              </a:solidFill>
            </a:endParaRPr>
          </a:p>
        </p:txBody>
      </p:sp>
      <p:sp>
        <p:nvSpPr>
          <p:cNvPr id="183" name="Google Shape;183;p40">
            <a:extLst>
              <a:ext uri="{FF2B5EF4-FFF2-40B4-BE49-F238E27FC236}">
                <a16:creationId xmlns:a16="http://schemas.microsoft.com/office/drawing/2014/main" id="{CE820FF5-7D69-BBFA-E48C-FA55DC91EAFA}"/>
              </a:ext>
            </a:extLst>
          </p:cNvPr>
          <p:cNvSpPr txBox="1">
            <a:spLocks noGrp="1"/>
          </p:cNvSpPr>
          <p:nvPr>
            <p:ph type="body" idx="1"/>
          </p:nvPr>
        </p:nvSpPr>
        <p:spPr>
          <a:xfrm>
            <a:off x="93350" y="802708"/>
            <a:ext cx="8629800" cy="3315236"/>
          </a:xfrm>
          <a:prstGeom prst="rect">
            <a:avLst/>
          </a:prstGeom>
          <a:noFill/>
          <a:ln>
            <a:noFill/>
          </a:ln>
        </p:spPr>
        <p:txBody>
          <a:bodyPr spcFirstLastPara="1" wrap="square" lIns="91425" tIns="91425" rIns="91425" bIns="91425" anchor="t" anchorCtr="0">
            <a:spAutoFit/>
          </a:bodyPr>
          <a:lstStyle/>
          <a:p>
            <a:pPr marL="139700" lvl="0" indent="0" algn="l" rtl="0">
              <a:lnSpc>
                <a:spcPct val="100000"/>
              </a:lnSpc>
              <a:spcBef>
                <a:spcPts val="300"/>
              </a:spcBef>
              <a:spcAft>
                <a:spcPts val="0"/>
              </a:spcAft>
              <a:buClr>
                <a:srgbClr val="2D3B45"/>
              </a:buClr>
              <a:buSzPts val="1400"/>
              <a:buNone/>
            </a:pPr>
            <a:r>
              <a:rPr lang="en" sz="1400" b="1">
                <a:solidFill>
                  <a:srgbClr val="2D3B45"/>
                </a:solidFill>
                <a:highlight>
                  <a:srgbClr val="FFFFFF"/>
                </a:highlight>
              </a:rPr>
              <a:t>Duplicate Value Check</a:t>
            </a:r>
          </a:p>
          <a:p>
            <a:pPr marL="768350" lvl="1" indent="-171450">
              <a:lnSpc>
                <a:spcPct val="100000"/>
              </a:lnSpc>
              <a:spcBef>
                <a:spcPts val="300"/>
              </a:spcBef>
              <a:buClr>
                <a:srgbClr val="2D3B45"/>
              </a:buClr>
              <a:buSzPts val="1400"/>
            </a:pPr>
            <a:r>
              <a:rPr lang="en" sz="1200">
                <a:solidFill>
                  <a:srgbClr val="2D3B45"/>
                </a:solidFill>
                <a:highlight>
                  <a:srgbClr val="FFFFFF"/>
                </a:highlight>
              </a:rPr>
              <a:t>The dataset does not have duplicate values. It is a clean, well-collected dataset.</a:t>
            </a:r>
            <a:endParaRPr sz="1200">
              <a:solidFill>
                <a:srgbClr val="2D3B45"/>
              </a:solidFill>
              <a:highlight>
                <a:srgbClr val="FFFFFF"/>
              </a:highlight>
            </a:endParaRPr>
          </a:p>
          <a:p>
            <a:pPr marL="139700" lvl="0" indent="0" algn="l" rtl="0">
              <a:lnSpc>
                <a:spcPct val="100000"/>
              </a:lnSpc>
              <a:spcBef>
                <a:spcPts val="300"/>
              </a:spcBef>
              <a:spcAft>
                <a:spcPts val="0"/>
              </a:spcAft>
              <a:buClr>
                <a:srgbClr val="2D3B45"/>
              </a:buClr>
              <a:buSzPts val="1400"/>
              <a:buNone/>
            </a:pPr>
            <a:r>
              <a:rPr lang="en" sz="1400" b="1">
                <a:solidFill>
                  <a:srgbClr val="2D3B45"/>
                </a:solidFill>
                <a:highlight>
                  <a:srgbClr val="FFFFFF"/>
                </a:highlight>
              </a:rPr>
              <a:t>Missing Value Detection and Treatment (if needed with rationale)</a:t>
            </a:r>
          </a:p>
          <a:p>
            <a:pPr marL="768350" lvl="1" indent="-171450">
              <a:lnSpc>
                <a:spcPct val="100000"/>
              </a:lnSpc>
              <a:spcBef>
                <a:spcPts val="300"/>
              </a:spcBef>
              <a:buClr>
                <a:srgbClr val="2D3B45"/>
              </a:buClr>
              <a:buSzPts val="1400"/>
            </a:pPr>
            <a:r>
              <a:rPr lang="en" sz="1200">
                <a:solidFill>
                  <a:srgbClr val="2D3B45"/>
                </a:solidFill>
                <a:highlight>
                  <a:srgbClr val="FFFFFF"/>
                </a:highlight>
              </a:rPr>
              <a:t>There are no missing values or columns with Null or NaN in any of the 25.480 rows.</a:t>
            </a:r>
          </a:p>
          <a:p>
            <a:pPr marL="768350" lvl="1" indent="-171450">
              <a:lnSpc>
                <a:spcPct val="100000"/>
              </a:lnSpc>
              <a:spcBef>
                <a:spcPts val="300"/>
              </a:spcBef>
              <a:buClr>
                <a:srgbClr val="2D3B45"/>
              </a:buClr>
              <a:buSzPts val="1400"/>
            </a:pPr>
            <a:r>
              <a:rPr lang="en" sz="1200">
                <a:solidFill>
                  <a:srgbClr val="2D3B45"/>
                </a:solidFill>
                <a:highlight>
                  <a:srgbClr val="FFFFFF"/>
                </a:highlight>
              </a:rPr>
              <a:t>The category columns, which are the majority of the columns (8 out of 12, not considering the key) do</a:t>
            </a:r>
            <a:br>
              <a:rPr lang="en" sz="1200">
                <a:solidFill>
                  <a:srgbClr val="2D3B45"/>
                </a:solidFill>
                <a:highlight>
                  <a:srgbClr val="FFFFFF"/>
                </a:highlight>
              </a:rPr>
            </a:br>
            <a:r>
              <a:rPr lang="en" sz="1200">
                <a:solidFill>
                  <a:srgbClr val="2D3B45"/>
                </a:solidFill>
                <a:highlight>
                  <a:srgbClr val="FFFFFF"/>
                </a:highlight>
              </a:rPr>
              <a:t>not have issues like: Unknown values, or empty strings</a:t>
            </a:r>
          </a:p>
          <a:p>
            <a:pPr marL="139700" lvl="0" indent="0" algn="l" rtl="0">
              <a:lnSpc>
                <a:spcPct val="100000"/>
              </a:lnSpc>
              <a:spcBef>
                <a:spcPts val="300"/>
              </a:spcBef>
              <a:spcAft>
                <a:spcPts val="0"/>
              </a:spcAft>
              <a:buClr>
                <a:srgbClr val="2D3B45"/>
              </a:buClr>
              <a:buSzPts val="1400"/>
              <a:buNone/>
            </a:pPr>
            <a:r>
              <a:rPr lang="en" sz="1400" b="1">
                <a:solidFill>
                  <a:srgbClr val="2D3B45"/>
                </a:solidFill>
                <a:highlight>
                  <a:srgbClr val="FFFFFF"/>
                </a:highlight>
              </a:rPr>
              <a:t>Outlier Detection and Treatment (if needed with rationale)</a:t>
            </a:r>
          </a:p>
          <a:p>
            <a:pPr marL="768350" lvl="1" indent="-171450">
              <a:lnSpc>
                <a:spcPct val="100000"/>
              </a:lnSpc>
              <a:spcBef>
                <a:spcPts val="300"/>
              </a:spcBef>
              <a:buClr>
                <a:srgbClr val="2D3B45"/>
              </a:buClr>
              <a:buSzPts val="1400"/>
            </a:pPr>
            <a:r>
              <a:rPr lang="en" sz="1200">
                <a:solidFill>
                  <a:srgbClr val="2D3B45"/>
                </a:solidFill>
                <a:highlight>
                  <a:srgbClr val="FFFFFF"/>
                </a:highlight>
              </a:rPr>
              <a:t>There is a fix required in the </a:t>
            </a:r>
            <a:r>
              <a:rPr lang="en" sz="1200" i="1">
                <a:solidFill>
                  <a:srgbClr val="2D3B45"/>
                </a:solidFill>
                <a:highlight>
                  <a:srgbClr val="FFFFFF"/>
                </a:highlight>
              </a:rPr>
              <a:t>no_of_employees </a:t>
            </a:r>
            <a:r>
              <a:rPr lang="en" sz="1200">
                <a:solidFill>
                  <a:srgbClr val="2D3B45"/>
                </a:solidFill>
                <a:highlight>
                  <a:srgbClr val="FFFFFF"/>
                </a:highlight>
              </a:rPr>
              <a:t>column, as it has 33 negative values in it. We used the abs() </a:t>
            </a:r>
            <a:br>
              <a:rPr lang="en" sz="1200">
                <a:solidFill>
                  <a:srgbClr val="2D3B45"/>
                </a:solidFill>
                <a:highlight>
                  <a:srgbClr val="FFFFFF"/>
                </a:highlight>
              </a:rPr>
            </a:br>
            <a:r>
              <a:rPr lang="en" sz="1200">
                <a:solidFill>
                  <a:srgbClr val="2D3B45"/>
                </a:solidFill>
                <a:highlight>
                  <a:srgbClr val="FFFFFF"/>
                </a:highlight>
              </a:rPr>
              <a:t>function to correct the problem.</a:t>
            </a:r>
          </a:p>
          <a:p>
            <a:pPr marL="596900" lvl="1" indent="0">
              <a:lnSpc>
                <a:spcPct val="100000"/>
              </a:lnSpc>
              <a:spcBef>
                <a:spcPts val="300"/>
              </a:spcBef>
              <a:buClr>
                <a:srgbClr val="2D3B45"/>
              </a:buClr>
              <a:buSzPts val="1400"/>
              <a:buNone/>
            </a:pPr>
            <a:endParaRPr lang="en" sz="1200">
              <a:solidFill>
                <a:srgbClr val="2D3B45"/>
              </a:solidFill>
              <a:highlight>
                <a:srgbClr val="FFFFFF"/>
              </a:highlight>
            </a:endParaRPr>
          </a:p>
          <a:p>
            <a:pPr marL="139700" lvl="0" indent="0" algn="l" rtl="0">
              <a:lnSpc>
                <a:spcPct val="100000"/>
              </a:lnSpc>
              <a:spcBef>
                <a:spcPts val="300"/>
              </a:spcBef>
              <a:spcAft>
                <a:spcPts val="0"/>
              </a:spcAft>
              <a:buClr>
                <a:srgbClr val="2D3B45"/>
              </a:buClr>
              <a:buSzPts val="1400"/>
              <a:buNone/>
            </a:pPr>
            <a:endParaRPr lang="en" sz="1400" b="1">
              <a:solidFill>
                <a:srgbClr val="2D3B45"/>
              </a:solidFill>
              <a:highlight>
                <a:srgbClr val="FFFFFF"/>
              </a:highlight>
            </a:endParaRPr>
          </a:p>
          <a:p>
            <a:pPr marL="139700" lvl="0" indent="0" algn="l" rtl="0">
              <a:lnSpc>
                <a:spcPct val="100000"/>
              </a:lnSpc>
              <a:spcBef>
                <a:spcPts val="300"/>
              </a:spcBef>
              <a:spcAft>
                <a:spcPts val="0"/>
              </a:spcAft>
              <a:buClr>
                <a:srgbClr val="2D3B45"/>
              </a:buClr>
              <a:buSzPts val="1400"/>
              <a:buNone/>
            </a:pPr>
            <a:endParaRPr sz="1400" b="1">
              <a:solidFill>
                <a:srgbClr val="2D3B45"/>
              </a:solidFill>
              <a:highlight>
                <a:srgbClr val="FFFFFF"/>
              </a:highlight>
            </a:endParaRPr>
          </a:p>
          <a:p>
            <a:pPr marL="0" lvl="0" indent="0" algn="l" rtl="0">
              <a:lnSpc>
                <a:spcPct val="115000"/>
              </a:lnSpc>
              <a:spcBef>
                <a:spcPts val="1000"/>
              </a:spcBef>
              <a:spcAft>
                <a:spcPts val="0"/>
              </a:spcAft>
              <a:buSzPts val="1500"/>
              <a:buNone/>
            </a:pPr>
            <a:endParaRPr sz="1400">
              <a:solidFill>
                <a:srgbClr val="2D3B45"/>
              </a:solidFill>
              <a:highlight>
                <a:srgbClr val="FFFFFF"/>
              </a:highlight>
            </a:endParaRPr>
          </a:p>
        </p:txBody>
      </p:sp>
      <p:pic>
        <p:nvPicPr>
          <p:cNvPr id="13" name="Picture 12">
            <a:extLst>
              <a:ext uri="{FF2B5EF4-FFF2-40B4-BE49-F238E27FC236}">
                <a16:creationId xmlns:a16="http://schemas.microsoft.com/office/drawing/2014/main" id="{379E811D-98AB-C4B7-A06D-909EA378A869}"/>
              </a:ext>
            </a:extLst>
          </p:cNvPr>
          <p:cNvPicPr>
            <a:picLocks noChangeAspect="1"/>
          </p:cNvPicPr>
          <p:nvPr/>
        </p:nvPicPr>
        <p:blipFill>
          <a:blip r:embed="rId3">
            <a:duotone>
              <a:prstClr val="black"/>
              <a:schemeClr val="accent6">
                <a:tint val="45000"/>
                <a:satMod val="400000"/>
              </a:schemeClr>
            </a:duotone>
          </a:blip>
          <a:stretch>
            <a:fillRect/>
          </a:stretch>
        </p:blipFill>
        <p:spPr>
          <a:xfrm>
            <a:off x="929390" y="2975472"/>
            <a:ext cx="7293622" cy="413689"/>
          </a:xfrm>
          <a:prstGeom prst="rect">
            <a:avLst/>
          </a:prstGeom>
        </p:spPr>
      </p:pic>
    </p:spTree>
    <p:extLst>
      <p:ext uri="{BB962C8B-B14F-4D97-AF65-F5344CB8AC3E}">
        <p14:creationId xmlns:p14="http://schemas.microsoft.com/office/powerpoint/2010/main" val="25348413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1">
          <a:extLst>
            <a:ext uri="{FF2B5EF4-FFF2-40B4-BE49-F238E27FC236}">
              <a16:creationId xmlns:a16="http://schemas.microsoft.com/office/drawing/2014/main" id="{08EE0DC8-BBDE-9546-7C25-1150C17D94D9}"/>
            </a:ext>
          </a:extLst>
        </p:cNvPr>
        <p:cNvGrpSpPr/>
        <p:nvPr/>
      </p:nvGrpSpPr>
      <p:grpSpPr>
        <a:xfrm>
          <a:off x="0" y="0"/>
          <a:ext cx="0" cy="0"/>
          <a:chOff x="0" y="0"/>
          <a:chExt cx="0" cy="0"/>
        </a:xfrm>
      </p:grpSpPr>
      <p:sp>
        <p:nvSpPr>
          <p:cNvPr id="182" name="Google Shape;182;p40">
            <a:extLst>
              <a:ext uri="{FF2B5EF4-FFF2-40B4-BE49-F238E27FC236}">
                <a16:creationId xmlns:a16="http://schemas.microsoft.com/office/drawing/2014/main" id="{25CB2376-8DDF-3726-0687-D75E2B30A0F3}"/>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Data Preprocessing - Basics</a:t>
            </a:r>
            <a:endParaRPr>
              <a:solidFill>
                <a:srgbClr val="000000"/>
              </a:solidFill>
            </a:endParaRPr>
          </a:p>
        </p:txBody>
      </p:sp>
      <p:sp>
        <p:nvSpPr>
          <p:cNvPr id="183" name="Google Shape;183;p40">
            <a:extLst>
              <a:ext uri="{FF2B5EF4-FFF2-40B4-BE49-F238E27FC236}">
                <a16:creationId xmlns:a16="http://schemas.microsoft.com/office/drawing/2014/main" id="{0E308984-3800-3AC4-5545-30FFF290F928}"/>
              </a:ext>
            </a:extLst>
          </p:cNvPr>
          <p:cNvSpPr txBox="1">
            <a:spLocks noGrp="1"/>
          </p:cNvSpPr>
          <p:nvPr>
            <p:ph type="body" idx="1"/>
          </p:nvPr>
        </p:nvSpPr>
        <p:spPr>
          <a:xfrm>
            <a:off x="93350" y="802708"/>
            <a:ext cx="8629800" cy="4530954"/>
          </a:xfrm>
          <a:prstGeom prst="rect">
            <a:avLst/>
          </a:prstGeom>
          <a:noFill/>
          <a:ln>
            <a:noFill/>
          </a:ln>
        </p:spPr>
        <p:txBody>
          <a:bodyPr spcFirstLastPara="1" wrap="square" lIns="91425" tIns="91425" rIns="91425" bIns="91425" anchor="t" anchorCtr="0">
            <a:spAutoFit/>
          </a:bodyPr>
          <a:lstStyle/>
          <a:p>
            <a:pPr marL="139700" lvl="0" indent="0" algn="l" rtl="0">
              <a:lnSpc>
                <a:spcPct val="100000"/>
              </a:lnSpc>
              <a:spcBef>
                <a:spcPts val="300"/>
              </a:spcBef>
              <a:spcAft>
                <a:spcPts val="0"/>
              </a:spcAft>
              <a:buClr>
                <a:srgbClr val="2D3B45"/>
              </a:buClr>
              <a:buSzPts val="1400"/>
              <a:buNone/>
            </a:pPr>
            <a:r>
              <a:rPr lang="en" sz="1400" b="1">
                <a:solidFill>
                  <a:srgbClr val="2D3B45"/>
                </a:solidFill>
                <a:highlight>
                  <a:srgbClr val="FFFFFF"/>
                </a:highlight>
              </a:rPr>
              <a:t>Feature Engineering (if needed with rationale)</a:t>
            </a:r>
            <a:endParaRPr sz="1400" b="1">
              <a:solidFill>
                <a:srgbClr val="2D3B45"/>
              </a:solidFill>
              <a:highlight>
                <a:srgbClr val="FFFFFF"/>
              </a:highlight>
            </a:endParaRPr>
          </a:p>
          <a:p>
            <a:pPr marL="139700" lvl="0" indent="0" algn="l" rtl="0">
              <a:lnSpc>
                <a:spcPct val="100000"/>
              </a:lnSpc>
              <a:spcBef>
                <a:spcPts val="300"/>
              </a:spcBef>
              <a:spcAft>
                <a:spcPts val="0"/>
              </a:spcAft>
              <a:buClr>
                <a:srgbClr val="2D3B45"/>
              </a:buClr>
              <a:buSzPts val="1400"/>
              <a:buNone/>
            </a:pPr>
            <a:r>
              <a:rPr lang="en" sz="1400" b="1">
                <a:solidFill>
                  <a:srgbClr val="2D3B45"/>
                </a:solidFill>
                <a:highlight>
                  <a:srgbClr val="FFFFFF"/>
                </a:highlight>
              </a:rPr>
              <a:t>Data Preparation for Modeling</a:t>
            </a:r>
            <a:endParaRPr sz="1400" b="1">
              <a:solidFill>
                <a:srgbClr val="2D3B45"/>
              </a:solidFill>
              <a:highlight>
                <a:srgbClr val="FFFFFF"/>
              </a:highlight>
            </a:endParaRPr>
          </a:p>
          <a:p>
            <a:pPr marL="274320" lvl="1" indent="0" algn="l" rtl="0">
              <a:lnSpc>
                <a:spcPct val="100000"/>
              </a:lnSpc>
              <a:spcBef>
                <a:spcPts val="300"/>
              </a:spcBef>
              <a:spcAft>
                <a:spcPts val="0"/>
              </a:spcAft>
              <a:buClr>
                <a:srgbClr val="2D3B45"/>
              </a:buClr>
              <a:buSzPts val="1400"/>
              <a:buNone/>
            </a:pPr>
            <a:r>
              <a:rPr lang="en" sz="1400" b="1">
                <a:solidFill>
                  <a:srgbClr val="002060"/>
                </a:solidFill>
                <a:highlight>
                  <a:srgbClr val="FFFFFF"/>
                </a:highlight>
              </a:rPr>
              <a:t>Split the data into different sets</a:t>
            </a:r>
          </a:p>
          <a:p>
            <a:pPr marL="457200" lvl="2" indent="0">
              <a:lnSpc>
                <a:spcPct val="100000"/>
              </a:lnSpc>
              <a:spcBef>
                <a:spcPts val="300"/>
              </a:spcBef>
              <a:buClr>
                <a:srgbClr val="2D3B45"/>
              </a:buClr>
              <a:buSzPts val="1400"/>
              <a:buNone/>
            </a:pPr>
            <a:r>
              <a:rPr lang="en-US">
                <a:solidFill>
                  <a:srgbClr val="002060"/>
                </a:solidFill>
                <a:highlight>
                  <a:srgbClr val="FFFFFF"/>
                </a:highlight>
              </a:rPr>
              <a:t>The dataset was divided into three subsets. </a:t>
            </a:r>
          </a:p>
          <a:p>
            <a:pPr marL="457200" lvl="2" indent="0">
              <a:lnSpc>
                <a:spcPct val="100000"/>
              </a:lnSpc>
              <a:spcBef>
                <a:spcPts val="300"/>
              </a:spcBef>
              <a:buClr>
                <a:srgbClr val="2D3B45"/>
              </a:buClr>
              <a:buSzPts val="1400"/>
              <a:buNone/>
            </a:pPr>
            <a:r>
              <a:rPr lang="en-US">
                <a:solidFill>
                  <a:srgbClr val="002060"/>
                </a:solidFill>
                <a:highlight>
                  <a:srgbClr val="FFFFFF"/>
                </a:highlight>
              </a:rPr>
              <a:t>Initially, 70% was allocated for training and 30% for validation. </a:t>
            </a:r>
          </a:p>
          <a:p>
            <a:pPr marL="457200" lvl="2" indent="0">
              <a:lnSpc>
                <a:spcPct val="100000"/>
              </a:lnSpc>
              <a:spcBef>
                <a:spcPts val="300"/>
              </a:spcBef>
              <a:buClr>
                <a:srgbClr val="2D3B45"/>
              </a:buClr>
              <a:buSzPts val="1400"/>
              <a:buNone/>
            </a:pPr>
            <a:r>
              <a:rPr lang="en-US">
                <a:solidFill>
                  <a:srgbClr val="002060"/>
                </a:solidFill>
                <a:highlight>
                  <a:srgbClr val="FFFFFF"/>
                </a:highlight>
              </a:rPr>
              <a:t>The validation set was then further split into 90% validation and 10% testing.</a:t>
            </a:r>
            <a:endParaRPr lang="en-US" sz="1400" b="1">
              <a:solidFill>
                <a:srgbClr val="002060"/>
              </a:solidFill>
              <a:highlight>
                <a:srgbClr val="FFFFFF"/>
              </a:highlight>
            </a:endParaRPr>
          </a:p>
          <a:p>
            <a:pPr marL="596900" lvl="1" indent="0" algn="l" rtl="0">
              <a:lnSpc>
                <a:spcPct val="100000"/>
              </a:lnSpc>
              <a:spcBef>
                <a:spcPts val="300"/>
              </a:spcBef>
              <a:spcAft>
                <a:spcPts val="0"/>
              </a:spcAft>
              <a:buClr>
                <a:srgbClr val="2D3B45"/>
              </a:buClr>
              <a:buSzPts val="1400"/>
              <a:buNone/>
            </a:pPr>
            <a:endParaRPr sz="1400" b="1">
              <a:solidFill>
                <a:srgbClr val="002060"/>
              </a:solidFill>
              <a:highlight>
                <a:srgbClr val="FFFFFF"/>
              </a:highlight>
            </a:endParaRPr>
          </a:p>
          <a:p>
            <a:pPr marL="274320" lvl="1" indent="0" algn="l" rtl="0">
              <a:lnSpc>
                <a:spcPct val="100000"/>
              </a:lnSpc>
              <a:spcBef>
                <a:spcPts val="300"/>
              </a:spcBef>
              <a:spcAft>
                <a:spcPts val="0"/>
              </a:spcAft>
              <a:buClr>
                <a:srgbClr val="2D3B45"/>
              </a:buClr>
              <a:buSzPts val="1400"/>
              <a:buNone/>
            </a:pPr>
            <a:r>
              <a:rPr lang="en" sz="1400" b="1">
                <a:solidFill>
                  <a:srgbClr val="002060"/>
                </a:solidFill>
                <a:highlight>
                  <a:srgbClr val="FFFFFF"/>
                </a:highlight>
              </a:rPr>
              <a:t>Encode the categorical variables</a:t>
            </a:r>
            <a:endParaRPr sz="1400" b="1">
              <a:solidFill>
                <a:srgbClr val="002060"/>
              </a:solidFill>
              <a:highlight>
                <a:srgbClr val="FFFFFF"/>
              </a:highlight>
            </a:endParaRPr>
          </a:p>
          <a:p>
            <a:pPr marL="457200" lvl="2" indent="0">
              <a:lnSpc>
                <a:spcPct val="100000"/>
              </a:lnSpc>
              <a:spcBef>
                <a:spcPts val="300"/>
              </a:spcBef>
              <a:buSzPts val="1500"/>
              <a:buNone/>
            </a:pPr>
            <a:r>
              <a:rPr lang="en-US">
                <a:solidFill>
                  <a:srgbClr val="002060"/>
                </a:solidFill>
                <a:highlight>
                  <a:srgbClr val="FFFFFF"/>
                </a:highlight>
              </a:rPr>
              <a:t>Because the majority of predictors (8 out of 12, excluding </a:t>
            </a:r>
          </a:p>
          <a:p>
            <a:pPr marL="457200" lvl="2" indent="0">
              <a:lnSpc>
                <a:spcPct val="100000"/>
              </a:lnSpc>
              <a:spcBef>
                <a:spcPts val="300"/>
              </a:spcBef>
              <a:buSzPts val="1500"/>
              <a:buNone/>
            </a:pPr>
            <a:r>
              <a:rPr lang="en-US">
                <a:solidFill>
                  <a:srgbClr val="002060"/>
                </a:solidFill>
                <a:highlight>
                  <a:srgbClr val="FFFFFF"/>
                </a:highlight>
              </a:rPr>
              <a:t>case_id) were categorical, one-hot encoding via get_dummies() </a:t>
            </a:r>
          </a:p>
          <a:p>
            <a:pPr marL="457200" lvl="2" indent="0">
              <a:lnSpc>
                <a:spcPct val="100000"/>
              </a:lnSpc>
              <a:spcBef>
                <a:spcPts val="300"/>
              </a:spcBef>
              <a:buSzPts val="1500"/>
              <a:buNone/>
            </a:pPr>
            <a:r>
              <a:rPr lang="en-US">
                <a:solidFill>
                  <a:srgbClr val="002060"/>
                </a:solidFill>
                <a:highlight>
                  <a:srgbClr val="FFFFFF"/>
                </a:highlight>
              </a:rPr>
              <a:t>was required. This led to a notable increase in dimensionality, </a:t>
            </a:r>
          </a:p>
          <a:p>
            <a:pPr marL="457200" lvl="2" indent="0">
              <a:lnSpc>
                <a:spcPct val="100000"/>
              </a:lnSpc>
              <a:spcBef>
                <a:spcPts val="300"/>
              </a:spcBef>
              <a:buSzPts val="1500"/>
              <a:buNone/>
            </a:pPr>
            <a:r>
              <a:rPr lang="en-US">
                <a:solidFill>
                  <a:srgbClr val="002060"/>
                </a:solidFill>
                <a:highlight>
                  <a:srgbClr val="FFFFFF"/>
                </a:highlight>
              </a:rPr>
              <a:t>a common trade-off when encoding categorical data for ML </a:t>
            </a:r>
          </a:p>
          <a:p>
            <a:pPr marL="457200" lvl="2" indent="0">
              <a:lnSpc>
                <a:spcPct val="100000"/>
              </a:lnSpc>
              <a:spcBef>
                <a:spcPts val="300"/>
              </a:spcBef>
              <a:buSzPts val="1500"/>
              <a:buNone/>
            </a:pPr>
            <a:r>
              <a:rPr lang="en-US">
                <a:solidFill>
                  <a:srgbClr val="002060"/>
                </a:solidFill>
                <a:highlight>
                  <a:srgbClr val="FFFFFF"/>
                </a:highlight>
              </a:rPr>
              <a:t>models.</a:t>
            </a:r>
            <a:endParaRPr lang="en-US" sz="1100">
              <a:solidFill>
                <a:srgbClr val="002060"/>
              </a:solidFill>
              <a:highlight>
                <a:srgbClr val="FFFFFF"/>
              </a:highlight>
            </a:endParaRPr>
          </a:p>
          <a:p>
            <a:pPr marL="914400" lvl="2" indent="0">
              <a:spcBef>
                <a:spcPts val="1000"/>
              </a:spcBef>
              <a:buSzPts val="1500"/>
              <a:buNone/>
            </a:pPr>
            <a:endParaRPr lang="en-US" sz="1100">
              <a:solidFill>
                <a:srgbClr val="2D3B45"/>
              </a:solidFill>
              <a:highlight>
                <a:srgbClr val="FFFFFF"/>
              </a:highlight>
            </a:endParaRPr>
          </a:p>
          <a:p>
            <a:pPr marL="914400" lvl="2" indent="0">
              <a:spcBef>
                <a:spcPts val="1000"/>
              </a:spcBef>
              <a:buSzPts val="1500"/>
              <a:buNone/>
            </a:pPr>
            <a:endParaRPr lang="en-US" sz="1100">
              <a:solidFill>
                <a:srgbClr val="2D3B45"/>
              </a:solidFill>
              <a:highlight>
                <a:srgbClr val="FFFFFF"/>
              </a:highlight>
            </a:endParaRPr>
          </a:p>
          <a:p>
            <a:pPr marL="914400" lvl="2" indent="0">
              <a:spcBef>
                <a:spcPts val="1000"/>
              </a:spcBef>
              <a:buSzPts val="1500"/>
              <a:buNone/>
            </a:pPr>
            <a:endParaRPr lang="en-US" sz="1100">
              <a:solidFill>
                <a:srgbClr val="2D3B45"/>
              </a:solidFill>
              <a:highlight>
                <a:srgbClr val="FFFFFF"/>
              </a:highlight>
            </a:endParaRPr>
          </a:p>
          <a:p>
            <a:pPr marL="914400" lvl="2" indent="0">
              <a:spcBef>
                <a:spcPts val="1000"/>
              </a:spcBef>
              <a:buSzPts val="1500"/>
              <a:buNone/>
            </a:pPr>
            <a:endParaRPr sz="1100">
              <a:solidFill>
                <a:srgbClr val="2D3B45"/>
              </a:solidFill>
              <a:highlight>
                <a:srgbClr val="FFFFFF"/>
              </a:highlight>
            </a:endParaRPr>
          </a:p>
        </p:txBody>
      </p:sp>
      <p:pic>
        <p:nvPicPr>
          <p:cNvPr id="3" name="Picture 2">
            <a:extLst>
              <a:ext uri="{FF2B5EF4-FFF2-40B4-BE49-F238E27FC236}">
                <a16:creationId xmlns:a16="http://schemas.microsoft.com/office/drawing/2014/main" id="{7DC42CAE-4A88-053C-1968-4194E0C7660D}"/>
              </a:ext>
            </a:extLst>
          </p:cNvPr>
          <p:cNvPicPr>
            <a:picLocks noChangeAspect="1"/>
          </p:cNvPicPr>
          <p:nvPr/>
        </p:nvPicPr>
        <p:blipFill>
          <a:blip r:embed="rId3">
            <a:duotone>
              <a:prstClr val="black"/>
              <a:schemeClr val="accent6">
                <a:tint val="45000"/>
                <a:satMod val="400000"/>
              </a:schemeClr>
            </a:duotone>
          </a:blip>
          <a:stretch>
            <a:fillRect/>
          </a:stretch>
        </p:blipFill>
        <p:spPr>
          <a:xfrm>
            <a:off x="5096656" y="2719857"/>
            <a:ext cx="2732582" cy="2005964"/>
          </a:xfrm>
          <a:prstGeom prst="rect">
            <a:avLst/>
          </a:prstGeom>
        </p:spPr>
      </p:pic>
    </p:spTree>
    <p:extLst>
      <p:ext uri="{BB962C8B-B14F-4D97-AF65-F5344CB8AC3E}">
        <p14:creationId xmlns:p14="http://schemas.microsoft.com/office/powerpoint/2010/main" val="5046356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4">
          <a:extLst>
            <a:ext uri="{FF2B5EF4-FFF2-40B4-BE49-F238E27FC236}">
              <a16:creationId xmlns:a16="http://schemas.microsoft.com/office/drawing/2014/main" id="{F5C6EBF5-4D4A-7B06-EA07-F056E0B6B91D}"/>
            </a:ext>
          </a:extLst>
        </p:cNvPr>
        <p:cNvGrpSpPr/>
        <p:nvPr/>
      </p:nvGrpSpPr>
      <p:grpSpPr>
        <a:xfrm>
          <a:off x="0" y="0"/>
          <a:ext cx="0" cy="0"/>
          <a:chOff x="0" y="0"/>
          <a:chExt cx="0" cy="0"/>
        </a:xfrm>
      </p:grpSpPr>
      <p:sp>
        <p:nvSpPr>
          <p:cNvPr id="175" name="Google Shape;175;p39">
            <a:extLst>
              <a:ext uri="{FF2B5EF4-FFF2-40B4-BE49-F238E27FC236}">
                <a16:creationId xmlns:a16="http://schemas.microsoft.com/office/drawing/2014/main" id="{E9CF0660-A858-AE2F-4C79-8466D8CEC7EF}"/>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EDA Results</a:t>
            </a:r>
            <a:endParaRPr>
              <a:solidFill>
                <a:srgbClr val="000000"/>
              </a:solidFill>
            </a:endParaRPr>
          </a:p>
        </p:txBody>
      </p:sp>
      <p:sp>
        <p:nvSpPr>
          <p:cNvPr id="176" name="Google Shape;176;p39">
            <a:extLst>
              <a:ext uri="{FF2B5EF4-FFF2-40B4-BE49-F238E27FC236}">
                <a16:creationId xmlns:a16="http://schemas.microsoft.com/office/drawing/2014/main" id="{FB83B324-7C9B-2A28-30F7-AE402250E792}"/>
              </a:ext>
            </a:extLst>
          </p:cNvPr>
          <p:cNvSpPr txBox="1">
            <a:spLocks noGrp="1"/>
          </p:cNvSpPr>
          <p:nvPr>
            <p:ph type="body" idx="1"/>
          </p:nvPr>
        </p:nvSpPr>
        <p:spPr>
          <a:xfrm>
            <a:off x="252184" y="719254"/>
            <a:ext cx="8835766" cy="3992246"/>
          </a:xfrm>
          <a:prstGeom prst="rect">
            <a:avLst/>
          </a:prstGeom>
          <a:noFill/>
          <a:ln>
            <a:noFill/>
          </a:ln>
        </p:spPr>
        <p:txBody>
          <a:bodyPr spcFirstLastPara="1" wrap="square" lIns="91425" tIns="91425" rIns="91425" bIns="91425" anchor="t" anchorCtr="0">
            <a:noAutofit/>
          </a:bodyPr>
          <a:lstStyle/>
          <a:p>
            <a:pPr marL="133350" indent="0">
              <a:buNone/>
            </a:pPr>
            <a:r>
              <a:rPr lang="en-US" sz="1000" b="1">
                <a:solidFill>
                  <a:srgbClr val="002060"/>
                </a:solidFill>
              </a:rPr>
              <a:t>Data Quality and Overview</a:t>
            </a:r>
          </a:p>
          <a:p>
            <a:pPr marL="365760" lvl="1" indent="-171450">
              <a:lnSpc>
                <a:spcPct val="100000"/>
              </a:lnSpc>
              <a:spcBef>
                <a:spcPts val="300"/>
              </a:spcBef>
              <a:buClr>
                <a:srgbClr val="2D3B45"/>
              </a:buClr>
              <a:buSzPts val="1400"/>
            </a:pPr>
            <a:r>
              <a:rPr lang="en-US" sz="1000">
                <a:solidFill>
                  <a:srgbClr val="002060"/>
                </a:solidFill>
                <a:highlight>
                  <a:srgbClr val="FFFFFF"/>
                </a:highlight>
              </a:rPr>
              <a:t>Completeness: The dataset is exceptionally clean with zero missing values and no duplicate records across the 25,480 entries.</a:t>
            </a:r>
          </a:p>
          <a:p>
            <a:pPr marL="365760" lvl="1" indent="-171450">
              <a:lnSpc>
                <a:spcPct val="100000"/>
              </a:lnSpc>
              <a:spcBef>
                <a:spcPts val="300"/>
              </a:spcBef>
              <a:buClr>
                <a:srgbClr val="2D3B45"/>
              </a:buClr>
              <a:buSzPts val="1400"/>
            </a:pPr>
            <a:r>
              <a:rPr lang="en-US" sz="1000">
                <a:solidFill>
                  <a:srgbClr val="002060"/>
                </a:solidFill>
                <a:highlight>
                  <a:srgbClr val="FFFFFF"/>
                </a:highlight>
              </a:rPr>
              <a:t>Anomalies: There were 33 records with negative values for no_of_employees. These are potential data entry error,  and they were treated by applying the absolute value for analysis.</a:t>
            </a:r>
          </a:p>
          <a:p>
            <a:pPr marL="365760" lvl="1" indent="-171450">
              <a:lnSpc>
                <a:spcPct val="100000"/>
              </a:lnSpc>
              <a:spcBef>
                <a:spcPts val="300"/>
              </a:spcBef>
              <a:buClr>
                <a:srgbClr val="2D3B45"/>
              </a:buClr>
              <a:buSzPts val="1400"/>
            </a:pPr>
            <a:r>
              <a:rPr lang="en-US" sz="1000">
                <a:solidFill>
                  <a:srgbClr val="002060"/>
                </a:solidFill>
                <a:highlight>
                  <a:srgbClr val="FFFFFF"/>
                </a:highlight>
              </a:rPr>
              <a:t>Target Balance: The data is slightly imbalanced, with 66.8% of cases being Certified and 33.2% Denied.</a:t>
            </a:r>
          </a:p>
          <a:p>
            <a:pPr marL="133350" indent="0">
              <a:buNone/>
            </a:pPr>
            <a:r>
              <a:rPr lang="en-US" sz="1000" b="1">
                <a:solidFill>
                  <a:srgbClr val="002060"/>
                </a:solidFill>
              </a:rPr>
              <a:t>Key Feature Insights</a:t>
            </a:r>
          </a:p>
          <a:p>
            <a:pPr marL="365760" lvl="1" indent="-171450">
              <a:lnSpc>
                <a:spcPct val="100000"/>
              </a:lnSpc>
              <a:spcBef>
                <a:spcPts val="300"/>
              </a:spcBef>
              <a:buClr>
                <a:srgbClr val="2D3B45"/>
              </a:buClr>
              <a:buSzPts val="1400"/>
            </a:pPr>
            <a:r>
              <a:rPr lang="en-US" sz="1000">
                <a:solidFill>
                  <a:srgbClr val="002060"/>
                </a:solidFill>
                <a:highlight>
                  <a:srgbClr val="FFFFFF"/>
                </a:highlight>
              </a:rPr>
              <a:t>Education is the Strongest Predictor: There is a direct correlation between higher education and approval rates:</a:t>
            </a:r>
          </a:p>
          <a:p>
            <a:pPr marL="365760" lvl="1" indent="-171450">
              <a:lnSpc>
                <a:spcPct val="100000"/>
              </a:lnSpc>
              <a:spcBef>
                <a:spcPts val="300"/>
              </a:spcBef>
              <a:buClr>
                <a:srgbClr val="2D3B45"/>
              </a:buClr>
              <a:buSzPts val="1400"/>
            </a:pPr>
            <a:r>
              <a:rPr lang="en-US" sz="1000">
                <a:solidFill>
                  <a:srgbClr val="002060"/>
                </a:solidFill>
                <a:highlight>
                  <a:srgbClr val="FFFFFF"/>
                </a:highlight>
              </a:rPr>
              <a:t>Doctorate: ~87% Certification rate.</a:t>
            </a:r>
          </a:p>
          <a:p>
            <a:pPr marL="365760" lvl="1" indent="-171450">
              <a:lnSpc>
                <a:spcPct val="100000"/>
              </a:lnSpc>
              <a:spcBef>
                <a:spcPts val="300"/>
              </a:spcBef>
              <a:buClr>
                <a:srgbClr val="2D3B45"/>
              </a:buClr>
              <a:buSzPts val="1400"/>
            </a:pPr>
            <a:r>
              <a:rPr lang="en-US" sz="1000">
                <a:solidFill>
                  <a:srgbClr val="002060"/>
                </a:solidFill>
                <a:highlight>
                  <a:srgbClr val="FFFFFF"/>
                </a:highlight>
              </a:rPr>
              <a:t>Master's: ~79% Certification rate.</a:t>
            </a:r>
          </a:p>
          <a:p>
            <a:pPr marL="365760" lvl="1" indent="-171450">
              <a:lnSpc>
                <a:spcPct val="100000"/>
              </a:lnSpc>
              <a:spcBef>
                <a:spcPts val="300"/>
              </a:spcBef>
              <a:buClr>
                <a:srgbClr val="2D3B45"/>
              </a:buClr>
              <a:buSzPts val="1400"/>
            </a:pPr>
            <a:r>
              <a:rPr lang="en-US" sz="1000">
                <a:solidFill>
                  <a:srgbClr val="002060"/>
                </a:solidFill>
                <a:highlight>
                  <a:srgbClr val="FFFFFF"/>
                </a:highlight>
              </a:rPr>
              <a:t>Bachelor's: ~62% Certification rate.</a:t>
            </a:r>
          </a:p>
          <a:p>
            <a:pPr marL="365760" lvl="1" indent="-171450">
              <a:lnSpc>
                <a:spcPct val="100000"/>
              </a:lnSpc>
              <a:spcBef>
                <a:spcPts val="300"/>
              </a:spcBef>
              <a:buClr>
                <a:srgbClr val="2D3B45"/>
              </a:buClr>
              <a:buSzPts val="1400"/>
            </a:pPr>
            <a:r>
              <a:rPr lang="en-US" sz="1000">
                <a:solidFill>
                  <a:srgbClr val="002060"/>
                </a:solidFill>
                <a:highlight>
                  <a:srgbClr val="FFFFFF"/>
                </a:highlight>
              </a:rPr>
              <a:t>High School: Only ~34% Certification rate (highest denial rate at 66%).</a:t>
            </a:r>
          </a:p>
          <a:p>
            <a:pPr marL="133350" indent="0">
              <a:lnSpc>
                <a:spcPct val="100000"/>
              </a:lnSpc>
              <a:buNone/>
            </a:pPr>
            <a:r>
              <a:rPr lang="en-US" sz="1000" b="1">
                <a:solidFill>
                  <a:srgbClr val="002060"/>
                </a:solidFill>
              </a:rPr>
              <a:t>Job Experience Matters</a:t>
            </a:r>
            <a:endParaRPr lang="en-US" sz="1000">
              <a:solidFill>
                <a:srgbClr val="002060"/>
              </a:solidFill>
            </a:endParaRPr>
          </a:p>
          <a:p>
            <a:pPr marL="365760" lvl="1" indent="-171450">
              <a:lnSpc>
                <a:spcPct val="100000"/>
              </a:lnSpc>
              <a:spcBef>
                <a:spcPts val="300"/>
              </a:spcBef>
              <a:buClr>
                <a:srgbClr val="2D3B45"/>
              </a:buClr>
              <a:buSzPts val="1400"/>
            </a:pPr>
            <a:r>
              <a:rPr lang="en-US" sz="1000">
                <a:solidFill>
                  <a:srgbClr val="002060"/>
                </a:solidFill>
                <a:highlight>
                  <a:srgbClr val="FFFFFF"/>
                </a:highlight>
              </a:rPr>
              <a:t>Applicants with prior job experience have a much higher likelihood of approval (74.5%) compared to those without experience (56.1%).</a:t>
            </a:r>
          </a:p>
          <a:p>
            <a:pPr marL="133350" indent="0">
              <a:lnSpc>
                <a:spcPct val="100000"/>
              </a:lnSpc>
              <a:buNone/>
            </a:pPr>
            <a:r>
              <a:rPr lang="en-US" sz="1000" b="1">
                <a:solidFill>
                  <a:srgbClr val="002060"/>
                </a:solidFill>
              </a:rPr>
              <a:t>Prevailing Wage Patterns:</a:t>
            </a:r>
            <a:r>
              <a:rPr lang="en-US" sz="1000">
                <a:solidFill>
                  <a:srgbClr val="002060"/>
                </a:solidFill>
              </a:rPr>
              <a:t> * </a:t>
            </a:r>
          </a:p>
          <a:p>
            <a:pPr marL="365760" lvl="1" indent="-171450">
              <a:lnSpc>
                <a:spcPct val="100000"/>
              </a:lnSpc>
              <a:spcBef>
                <a:spcPts val="300"/>
              </a:spcBef>
              <a:buClr>
                <a:srgbClr val="2D3B45"/>
              </a:buClr>
              <a:buSzPts val="1400"/>
            </a:pPr>
            <a:r>
              <a:rPr lang="en-US" sz="1000">
                <a:solidFill>
                  <a:srgbClr val="002060"/>
                </a:solidFill>
                <a:highlight>
                  <a:srgbClr val="FFFFFF"/>
                </a:highlight>
              </a:rPr>
              <a:t>The average prevailing wage is approximately $74,456.</a:t>
            </a:r>
          </a:p>
          <a:p>
            <a:pPr marL="365760" lvl="1" indent="-171450">
              <a:lnSpc>
                <a:spcPct val="100000"/>
              </a:lnSpc>
              <a:spcBef>
                <a:spcPts val="300"/>
              </a:spcBef>
              <a:buClr>
                <a:srgbClr val="2D3B45"/>
              </a:buClr>
              <a:buSzPts val="1400"/>
            </a:pPr>
            <a:r>
              <a:rPr lang="en-US" sz="1000">
                <a:solidFill>
                  <a:srgbClr val="002060"/>
                </a:solidFill>
                <a:highlight>
                  <a:srgbClr val="FFFFFF"/>
                </a:highlight>
              </a:rPr>
              <a:t>The wage distribution is right-skewed, with most wages concentrated between $34,000 and $108,000, though some "outliers" reach as high as $319,000.</a:t>
            </a:r>
          </a:p>
          <a:p>
            <a:pPr marL="365760" lvl="1" indent="-171450">
              <a:lnSpc>
                <a:spcPct val="100000"/>
              </a:lnSpc>
              <a:spcBef>
                <a:spcPts val="300"/>
              </a:spcBef>
              <a:buClr>
                <a:srgbClr val="2D3B45"/>
              </a:buClr>
              <a:buSzPts val="1400"/>
            </a:pPr>
            <a:r>
              <a:rPr lang="en-US" sz="1000">
                <a:solidFill>
                  <a:srgbClr val="002060"/>
                </a:solidFill>
                <a:highlight>
                  <a:srgbClr val="FFFFFF"/>
                </a:highlight>
              </a:rPr>
              <a:t>Certified applicants generally have a higher median wage than those who are denied.</a:t>
            </a:r>
          </a:p>
          <a:p>
            <a:pPr marL="133350" indent="0">
              <a:lnSpc>
                <a:spcPct val="100000"/>
              </a:lnSpc>
              <a:buNone/>
            </a:pPr>
            <a:r>
              <a:rPr lang="en-US" sz="1000" b="1">
                <a:solidFill>
                  <a:srgbClr val="002060"/>
                </a:solidFill>
              </a:rPr>
              <a:t>Company Characteristics:</a:t>
            </a:r>
          </a:p>
          <a:p>
            <a:pPr marL="365760" lvl="1" indent="-171450">
              <a:lnSpc>
                <a:spcPct val="100000"/>
              </a:lnSpc>
              <a:spcBef>
                <a:spcPts val="300"/>
              </a:spcBef>
              <a:buClr>
                <a:srgbClr val="2D3B45"/>
              </a:buClr>
              <a:buSzPts val="1400"/>
            </a:pPr>
            <a:r>
              <a:rPr lang="en-US" sz="1000">
                <a:solidFill>
                  <a:srgbClr val="002060"/>
                </a:solidFill>
                <a:highlight>
                  <a:srgbClr val="FFFFFF"/>
                </a:highlight>
              </a:rPr>
              <a:t>The companies range from small businesses (11 employees) to massive corporations (602,000+ employees).</a:t>
            </a:r>
          </a:p>
          <a:p>
            <a:pPr marL="365760" lvl="1" indent="-171450">
              <a:lnSpc>
                <a:spcPct val="100000"/>
              </a:lnSpc>
              <a:spcBef>
                <a:spcPts val="300"/>
              </a:spcBef>
              <a:buClr>
                <a:srgbClr val="2D3B45"/>
              </a:buClr>
              <a:buSzPts val="1400"/>
            </a:pPr>
            <a:r>
              <a:rPr lang="en-US" sz="1000">
                <a:solidFill>
                  <a:srgbClr val="002060"/>
                </a:solidFill>
                <a:highlight>
                  <a:srgbClr val="FFFFFF"/>
                </a:highlight>
              </a:rPr>
              <a:t>The median company age is 19 years, showing a mix of established firms and newer startups.</a:t>
            </a:r>
          </a:p>
          <a:p>
            <a:pPr marL="139700" lvl="0" indent="0" algn="l" rtl="0">
              <a:lnSpc>
                <a:spcPct val="100000"/>
              </a:lnSpc>
              <a:spcBef>
                <a:spcPts val="0"/>
              </a:spcBef>
              <a:spcAft>
                <a:spcPts val="0"/>
              </a:spcAft>
              <a:buClr>
                <a:srgbClr val="000000"/>
              </a:buClr>
              <a:buSzPts val="1400"/>
              <a:buNone/>
            </a:pPr>
            <a:endParaRPr lang="en" sz="1000">
              <a:solidFill>
                <a:srgbClr val="000000"/>
              </a:solidFill>
            </a:endParaRPr>
          </a:p>
          <a:p>
            <a:pPr marL="139700" lvl="0" indent="0" algn="l" rtl="0">
              <a:lnSpc>
                <a:spcPct val="115000"/>
              </a:lnSpc>
              <a:spcBef>
                <a:spcPts val="0"/>
              </a:spcBef>
              <a:spcAft>
                <a:spcPts val="0"/>
              </a:spcAft>
              <a:buClr>
                <a:srgbClr val="000000"/>
              </a:buClr>
              <a:buSzPts val="1400"/>
              <a:buNone/>
            </a:pPr>
            <a:endParaRPr lang="en" sz="1000">
              <a:solidFill>
                <a:srgbClr val="000000"/>
              </a:solidFill>
            </a:endParaRPr>
          </a:p>
          <a:p>
            <a:pPr marL="457200" lvl="0" indent="-317500" algn="l" rtl="0">
              <a:lnSpc>
                <a:spcPct val="115000"/>
              </a:lnSpc>
              <a:spcBef>
                <a:spcPts val="0"/>
              </a:spcBef>
              <a:spcAft>
                <a:spcPts val="0"/>
              </a:spcAft>
              <a:buClr>
                <a:srgbClr val="000000"/>
              </a:buClr>
              <a:buSzPts val="1400"/>
              <a:buChar char="●"/>
            </a:pPr>
            <a:endParaRPr lang="en" sz="1000">
              <a:solidFill>
                <a:srgbClr val="000000"/>
              </a:solidFill>
            </a:endParaRPr>
          </a:p>
        </p:txBody>
      </p:sp>
      <p:sp>
        <p:nvSpPr>
          <p:cNvPr id="177" name="Google Shape;177;p39">
            <a:extLst>
              <a:ext uri="{FF2B5EF4-FFF2-40B4-BE49-F238E27FC236}">
                <a16:creationId xmlns:a16="http://schemas.microsoft.com/office/drawing/2014/main" id="{4D632A76-1F49-EBF1-B704-D39035517BE9}"/>
              </a:ext>
            </a:extLst>
          </p:cNvPr>
          <p:cNvSpPr txBox="1"/>
          <p:nvPr/>
        </p:nvSpPr>
        <p:spPr>
          <a:xfrm>
            <a:off x="4077350" y="4568775"/>
            <a:ext cx="5010600" cy="3693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1200"/>
              <a:buFont typeface="Arial"/>
              <a:buNone/>
            </a:pPr>
            <a:r>
              <a:rPr lang="en" sz="1200" b="0" i="1" u="sng" strike="noStrike" cap="none">
                <a:solidFill>
                  <a:schemeClr val="hlink"/>
                </a:solidFill>
                <a:latin typeface="Nunito"/>
                <a:ea typeface="Nunito"/>
                <a:cs typeface="Nunito"/>
                <a:sym typeface="Nunito"/>
                <a:hlinkClick r:id="rId3" action="ppaction://hlinksldjump"/>
              </a:rPr>
              <a:t>Link to Appendix slide on data background check</a:t>
            </a:r>
            <a:endParaRPr sz="1200" b="0" i="1" u="none" strike="noStrike" cap="none">
              <a:solidFill>
                <a:srgbClr val="666666"/>
              </a:solidFill>
              <a:latin typeface="Nunito"/>
              <a:ea typeface="Nunito"/>
              <a:cs typeface="Nunito"/>
              <a:sym typeface="Nunito"/>
            </a:endParaRPr>
          </a:p>
        </p:txBody>
      </p:sp>
    </p:spTree>
    <p:extLst>
      <p:ext uri="{BB962C8B-B14F-4D97-AF65-F5344CB8AC3E}">
        <p14:creationId xmlns:p14="http://schemas.microsoft.com/office/powerpoint/2010/main" val="22913264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1">
          <a:extLst>
            <a:ext uri="{FF2B5EF4-FFF2-40B4-BE49-F238E27FC236}">
              <a16:creationId xmlns:a16="http://schemas.microsoft.com/office/drawing/2014/main" id="{694F908F-9641-5CFC-E4E1-BAE302A296F4}"/>
            </a:ext>
          </a:extLst>
        </p:cNvPr>
        <p:cNvGrpSpPr/>
        <p:nvPr/>
      </p:nvGrpSpPr>
      <p:grpSpPr>
        <a:xfrm>
          <a:off x="0" y="0"/>
          <a:ext cx="0" cy="0"/>
          <a:chOff x="0" y="0"/>
          <a:chExt cx="0" cy="0"/>
        </a:xfrm>
      </p:grpSpPr>
      <p:sp>
        <p:nvSpPr>
          <p:cNvPr id="182" name="Google Shape;182;p40">
            <a:extLst>
              <a:ext uri="{FF2B5EF4-FFF2-40B4-BE49-F238E27FC236}">
                <a16:creationId xmlns:a16="http://schemas.microsoft.com/office/drawing/2014/main" id="{C7806063-830C-2EBD-4876-B6BC3121D387}"/>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Data Preprocessing - Basics</a:t>
            </a:r>
            <a:endParaRPr>
              <a:solidFill>
                <a:srgbClr val="000000"/>
              </a:solidFill>
            </a:endParaRPr>
          </a:p>
        </p:txBody>
      </p:sp>
      <p:sp>
        <p:nvSpPr>
          <p:cNvPr id="183" name="Google Shape;183;p40">
            <a:extLst>
              <a:ext uri="{FF2B5EF4-FFF2-40B4-BE49-F238E27FC236}">
                <a16:creationId xmlns:a16="http://schemas.microsoft.com/office/drawing/2014/main" id="{A54D4BF7-3D27-380C-AE8E-74BA0A4934DF}"/>
              </a:ext>
            </a:extLst>
          </p:cNvPr>
          <p:cNvSpPr txBox="1">
            <a:spLocks noGrp="1"/>
          </p:cNvSpPr>
          <p:nvPr>
            <p:ph type="body" idx="1"/>
          </p:nvPr>
        </p:nvSpPr>
        <p:spPr>
          <a:xfrm>
            <a:off x="202550" y="861975"/>
            <a:ext cx="8629800" cy="3567613"/>
          </a:xfrm>
          <a:prstGeom prst="rect">
            <a:avLst/>
          </a:prstGeom>
          <a:noFill/>
          <a:ln>
            <a:noFill/>
          </a:ln>
        </p:spPr>
        <p:txBody>
          <a:bodyPr spcFirstLastPara="1" wrap="square" lIns="91425" tIns="91425" rIns="91425" bIns="91425" anchor="t" anchorCtr="0">
            <a:spAutoFit/>
          </a:bodyPr>
          <a:lstStyle/>
          <a:p>
            <a:pPr marL="139700" lvl="0" indent="0" algn="l" rtl="0">
              <a:lnSpc>
                <a:spcPct val="100000"/>
              </a:lnSpc>
              <a:spcBef>
                <a:spcPts val="600"/>
              </a:spcBef>
              <a:spcAft>
                <a:spcPts val="0"/>
              </a:spcAft>
              <a:buClr>
                <a:srgbClr val="2D3B45"/>
              </a:buClr>
              <a:buSzPts val="1400"/>
              <a:buNone/>
            </a:pPr>
            <a:r>
              <a:rPr lang="en" sz="1000" b="1">
                <a:solidFill>
                  <a:srgbClr val="002060"/>
                </a:solidFill>
                <a:highlight>
                  <a:srgbClr val="FFFFFF"/>
                </a:highlight>
              </a:rPr>
              <a:t>Duplicate Value Check</a:t>
            </a:r>
          </a:p>
          <a:p>
            <a:pPr marL="139700" lvl="0" indent="0" algn="l" rtl="0">
              <a:lnSpc>
                <a:spcPct val="100000"/>
              </a:lnSpc>
              <a:spcBef>
                <a:spcPts val="600"/>
              </a:spcBef>
              <a:spcAft>
                <a:spcPts val="0"/>
              </a:spcAft>
              <a:buClr>
                <a:srgbClr val="2D3B45"/>
              </a:buClr>
              <a:buSzPts val="1400"/>
              <a:buNone/>
            </a:pPr>
            <a:r>
              <a:rPr lang="en" sz="1000" b="1">
                <a:solidFill>
                  <a:srgbClr val="002060"/>
                </a:solidFill>
                <a:highlight>
                  <a:srgbClr val="FFFFFF"/>
                </a:highlight>
              </a:rPr>
              <a:t>     No duplicates found </a:t>
            </a:r>
            <a:endParaRPr sz="1000" b="1">
              <a:solidFill>
                <a:srgbClr val="002060"/>
              </a:solidFill>
              <a:highlight>
                <a:srgbClr val="FFFFFF"/>
              </a:highlight>
            </a:endParaRPr>
          </a:p>
          <a:p>
            <a:pPr marL="139700" lvl="0" indent="0" algn="l" rtl="0">
              <a:lnSpc>
                <a:spcPct val="100000"/>
              </a:lnSpc>
              <a:spcBef>
                <a:spcPts val="600"/>
              </a:spcBef>
              <a:spcAft>
                <a:spcPts val="0"/>
              </a:spcAft>
              <a:buClr>
                <a:srgbClr val="2D3B45"/>
              </a:buClr>
              <a:buSzPts val="1400"/>
              <a:buNone/>
            </a:pPr>
            <a:r>
              <a:rPr lang="en" sz="1000" b="1">
                <a:solidFill>
                  <a:srgbClr val="002060"/>
                </a:solidFill>
                <a:highlight>
                  <a:srgbClr val="FFFFFF"/>
                </a:highlight>
              </a:rPr>
              <a:t>Missing Value Detection and Treatment (if needed with rationale)</a:t>
            </a:r>
          </a:p>
          <a:p>
            <a:pPr marL="139700" lvl="0" indent="0" algn="l" rtl="0">
              <a:lnSpc>
                <a:spcPct val="100000"/>
              </a:lnSpc>
              <a:spcBef>
                <a:spcPts val="600"/>
              </a:spcBef>
              <a:spcAft>
                <a:spcPts val="0"/>
              </a:spcAft>
              <a:buClr>
                <a:srgbClr val="2D3B45"/>
              </a:buClr>
              <a:buSzPts val="1400"/>
              <a:buNone/>
            </a:pPr>
            <a:r>
              <a:rPr lang="en" sz="1000" b="1">
                <a:solidFill>
                  <a:srgbClr val="002060"/>
                </a:solidFill>
                <a:highlight>
                  <a:srgbClr val="FFFFFF"/>
                </a:highlight>
              </a:rPr>
              <a:t>      There were no missing values detected or replaced by unknown or null</a:t>
            </a:r>
            <a:endParaRPr sz="1000" b="1">
              <a:solidFill>
                <a:srgbClr val="002060"/>
              </a:solidFill>
              <a:highlight>
                <a:srgbClr val="FFFFFF"/>
              </a:highlight>
            </a:endParaRPr>
          </a:p>
          <a:p>
            <a:pPr marL="139700" lvl="0" indent="0" algn="l" rtl="0">
              <a:lnSpc>
                <a:spcPct val="100000"/>
              </a:lnSpc>
              <a:spcBef>
                <a:spcPts val="600"/>
              </a:spcBef>
              <a:spcAft>
                <a:spcPts val="0"/>
              </a:spcAft>
              <a:buClr>
                <a:srgbClr val="2D3B45"/>
              </a:buClr>
              <a:buSzPts val="1400"/>
              <a:buNone/>
            </a:pPr>
            <a:r>
              <a:rPr lang="en" sz="1000" b="1">
                <a:solidFill>
                  <a:srgbClr val="002060"/>
                </a:solidFill>
                <a:highlight>
                  <a:srgbClr val="FFFFFF"/>
                </a:highlight>
              </a:rPr>
              <a:t>Outlier Detection and Treatment (if needed with rationale)</a:t>
            </a:r>
          </a:p>
          <a:p>
            <a:pPr marL="139700" lvl="0" indent="0" algn="l" rtl="0">
              <a:lnSpc>
                <a:spcPct val="100000"/>
              </a:lnSpc>
              <a:spcBef>
                <a:spcPts val="600"/>
              </a:spcBef>
              <a:spcAft>
                <a:spcPts val="0"/>
              </a:spcAft>
              <a:buClr>
                <a:srgbClr val="2D3B45"/>
              </a:buClr>
              <a:buSzPts val="1400"/>
              <a:buNone/>
            </a:pPr>
            <a:r>
              <a:rPr lang="en" sz="1000" b="1">
                <a:solidFill>
                  <a:srgbClr val="002060"/>
                </a:solidFill>
                <a:highlight>
                  <a:srgbClr val="FFFFFF"/>
                </a:highlight>
              </a:rPr>
              <a:t>      There were lots of outliers detected in columns that were not totally relevant. </a:t>
            </a:r>
            <a:endParaRPr sz="1000" b="1">
              <a:solidFill>
                <a:srgbClr val="002060"/>
              </a:solidFill>
              <a:highlight>
                <a:srgbClr val="FFFFFF"/>
              </a:highlight>
            </a:endParaRPr>
          </a:p>
          <a:p>
            <a:pPr marL="139700" lvl="0" indent="0" algn="l" rtl="0">
              <a:lnSpc>
                <a:spcPct val="100000"/>
              </a:lnSpc>
              <a:spcBef>
                <a:spcPts val="600"/>
              </a:spcBef>
              <a:spcAft>
                <a:spcPts val="0"/>
              </a:spcAft>
              <a:buClr>
                <a:srgbClr val="2D3B45"/>
              </a:buClr>
              <a:buSzPts val="1400"/>
              <a:buNone/>
            </a:pPr>
            <a:r>
              <a:rPr lang="en" sz="1000" b="1">
                <a:solidFill>
                  <a:srgbClr val="002060"/>
                </a:solidFill>
                <a:highlight>
                  <a:srgbClr val="FFFFFF"/>
                </a:highlight>
              </a:rPr>
              <a:t>Feature Engineering (if needed with rationale)</a:t>
            </a:r>
          </a:p>
          <a:p>
            <a:pPr marL="139700" lvl="0" indent="0" algn="l" rtl="0">
              <a:lnSpc>
                <a:spcPct val="100000"/>
              </a:lnSpc>
              <a:spcBef>
                <a:spcPts val="600"/>
              </a:spcBef>
              <a:spcAft>
                <a:spcPts val="0"/>
              </a:spcAft>
              <a:buClr>
                <a:srgbClr val="2D3B45"/>
              </a:buClr>
              <a:buSzPts val="1400"/>
              <a:buNone/>
            </a:pPr>
            <a:r>
              <a:rPr lang="en" sz="1000" b="1">
                <a:solidFill>
                  <a:srgbClr val="002060"/>
                </a:solidFill>
                <a:highlight>
                  <a:srgbClr val="FFFFFF"/>
                </a:highlight>
              </a:rPr>
              <a:t>       We had to apply pd.get_dummies because we had  8  object columns which did not help the models. Get Dummies properly prepared the columns. OneHotEncoder would be a better solution for production data. It supports pipelines, preserves mapping, and align automatically. </a:t>
            </a:r>
          </a:p>
          <a:p>
            <a:pPr marL="139700" lvl="0" indent="0" algn="l" rtl="0">
              <a:lnSpc>
                <a:spcPct val="100000"/>
              </a:lnSpc>
              <a:spcBef>
                <a:spcPts val="600"/>
              </a:spcBef>
              <a:spcAft>
                <a:spcPts val="0"/>
              </a:spcAft>
              <a:buClr>
                <a:srgbClr val="2D3B45"/>
              </a:buClr>
              <a:buSzPts val="1400"/>
              <a:buNone/>
            </a:pPr>
            <a:r>
              <a:rPr lang="en" sz="1000" b="1">
                <a:solidFill>
                  <a:srgbClr val="002060"/>
                </a:solidFill>
                <a:highlight>
                  <a:srgbClr val="FFFFFF"/>
                </a:highlight>
              </a:rPr>
              <a:t>        We had to convert the column case_status to 1 for certified  and 0 for denied.</a:t>
            </a:r>
            <a:endParaRPr sz="1000" b="1">
              <a:solidFill>
                <a:srgbClr val="002060"/>
              </a:solidFill>
              <a:highlight>
                <a:srgbClr val="FFFFFF"/>
              </a:highlight>
            </a:endParaRPr>
          </a:p>
          <a:p>
            <a:pPr marL="139700" lvl="0" indent="0" algn="l" rtl="0">
              <a:lnSpc>
                <a:spcPct val="100000"/>
              </a:lnSpc>
              <a:spcBef>
                <a:spcPts val="600"/>
              </a:spcBef>
              <a:spcAft>
                <a:spcPts val="0"/>
              </a:spcAft>
              <a:buClr>
                <a:srgbClr val="2D3B45"/>
              </a:buClr>
              <a:buSzPts val="1400"/>
              <a:buNone/>
            </a:pPr>
            <a:r>
              <a:rPr lang="en" sz="1000" b="1">
                <a:solidFill>
                  <a:srgbClr val="002060"/>
                </a:solidFill>
                <a:highlight>
                  <a:srgbClr val="FFFFFF"/>
                </a:highlight>
              </a:rPr>
              <a:t>Data Preparation for Modeling</a:t>
            </a:r>
            <a:endParaRPr sz="1000" b="1">
              <a:solidFill>
                <a:srgbClr val="002060"/>
              </a:solidFill>
              <a:highlight>
                <a:srgbClr val="FFFFFF"/>
              </a:highlight>
            </a:endParaRPr>
          </a:p>
          <a:p>
            <a:pPr marL="596900" lvl="1" indent="0" algn="l" rtl="0">
              <a:lnSpc>
                <a:spcPct val="100000"/>
              </a:lnSpc>
              <a:spcBef>
                <a:spcPts val="600"/>
              </a:spcBef>
              <a:spcAft>
                <a:spcPts val="0"/>
              </a:spcAft>
              <a:buClr>
                <a:srgbClr val="2D3B45"/>
              </a:buClr>
              <a:buSzPts val="1400"/>
              <a:buNone/>
            </a:pPr>
            <a:r>
              <a:rPr lang="en" sz="1000" b="1">
                <a:solidFill>
                  <a:srgbClr val="002060"/>
                </a:solidFill>
                <a:highlight>
                  <a:srgbClr val="FFFFFF"/>
                </a:highlight>
              </a:rPr>
              <a:t>Split the data into 2 different sets</a:t>
            </a:r>
            <a:endParaRPr sz="1000" b="1">
              <a:solidFill>
                <a:srgbClr val="002060"/>
              </a:solidFill>
              <a:highlight>
                <a:srgbClr val="FFFFFF"/>
              </a:highlight>
            </a:endParaRPr>
          </a:p>
          <a:p>
            <a:pPr marL="596900" lvl="1" indent="0" algn="l" rtl="0">
              <a:lnSpc>
                <a:spcPct val="100000"/>
              </a:lnSpc>
              <a:spcBef>
                <a:spcPts val="600"/>
              </a:spcBef>
              <a:spcAft>
                <a:spcPts val="0"/>
              </a:spcAft>
              <a:buClr>
                <a:srgbClr val="2D3B45"/>
              </a:buClr>
              <a:buSzPts val="1400"/>
              <a:buNone/>
            </a:pPr>
            <a:r>
              <a:rPr lang="en" sz="1000" b="1">
                <a:solidFill>
                  <a:srgbClr val="002060"/>
                </a:solidFill>
                <a:highlight>
                  <a:srgbClr val="FFFFFF"/>
                </a:highlight>
              </a:rPr>
              <a:t>Encode the categorical variables using get_dummie</a:t>
            </a:r>
            <a:endParaRPr sz="1000" b="1">
              <a:solidFill>
                <a:srgbClr val="002060"/>
              </a:solidFill>
              <a:highlight>
                <a:srgbClr val="FFFFFF"/>
              </a:highlight>
            </a:endParaRPr>
          </a:p>
          <a:p>
            <a:pPr marL="0" lvl="0" indent="0" algn="l" rtl="0">
              <a:lnSpc>
                <a:spcPct val="115000"/>
              </a:lnSpc>
              <a:spcBef>
                <a:spcPts val="1000"/>
              </a:spcBef>
              <a:spcAft>
                <a:spcPts val="0"/>
              </a:spcAft>
              <a:buSzPts val="1500"/>
              <a:buNone/>
            </a:pPr>
            <a:endParaRPr sz="1000">
              <a:solidFill>
                <a:srgbClr val="2D3B45"/>
              </a:solidFill>
              <a:highlight>
                <a:srgbClr val="FFFFFF"/>
              </a:highlight>
            </a:endParaRPr>
          </a:p>
        </p:txBody>
      </p:sp>
    </p:spTree>
    <p:extLst>
      <p:ext uri="{BB962C8B-B14F-4D97-AF65-F5344CB8AC3E}">
        <p14:creationId xmlns:p14="http://schemas.microsoft.com/office/powerpoint/2010/main" val="22394622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41"/>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Model Performance Summary and Final Model Selection</a:t>
            </a:r>
            <a:endParaRPr>
              <a:solidFill>
                <a:srgbClr val="000000"/>
              </a:solidFill>
            </a:endParaRPr>
          </a:p>
        </p:txBody>
      </p:sp>
      <p:sp>
        <p:nvSpPr>
          <p:cNvPr id="189" name="Google Shape;189;p41"/>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139700" lvl="0" indent="0" algn="l" rtl="0">
              <a:lnSpc>
                <a:spcPct val="115000"/>
              </a:lnSpc>
              <a:spcBef>
                <a:spcPts val="0"/>
              </a:spcBef>
              <a:spcAft>
                <a:spcPts val="0"/>
              </a:spcAft>
              <a:buClr>
                <a:srgbClr val="000000"/>
              </a:buClr>
              <a:buSzPts val="1400"/>
              <a:buNone/>
            </a:pPr>
            <a:r>
              <a:rPr lang="en" sz="1400" b="1">
                <a:solidFill>
                  <a:schemeClr val="dk1"/>
                </a:solidFill>
              </a:rPr>
              <a:t>Compare the performance of the tuned models</a:t>
            </a:r>
          </a:p>
          <a:p>
            <a:pPr marL="139700" lvl="0" indent="0" algn="l" rtl="0">
              <a:lnSpc>
                <a:spcPct val="115000"/>
              </a:lnSpc>
              <a:spcBef>
                <a:spcPts val="0"/>
              </a:spcBef>
              <a:spcAft>
                <a:spcPts val="0"/>
              </a:spcAft>
              <a:buClr>
                <a:srgbClr val="000000"/>
              </a:buClr>
              <a:buSzPts val="1400"/>
              <a:buNone/>
            </a:pPr>
            <a:endParaRPr lang="en" sz="1400" b="1">
              <a:solidFill>
                <a:schemeClr val="dk1"/>
              </a:solidFill>
            </a:endParaRPr>
          </a:p>
          <a:p>
            <a:pPr marL="139700" indent="0">
              <a:buClr>
                <a:srgbClr val="000000"/>
              </a:buClr>
              <a:buSzPts val="1400"/>
              <a:buNone/>
            </a:pPr>
            <a:endParaRPr lang="en" sz="1400">
              <a:solidFill>
                <a:schemeClr val="dk1"/>
              </a:solidFill>
            </a:endParaRPr>
          </a:p>
          <a:p>
            <a:pPr marL="139700" lvl="0" indent="0" algn="l" rtl="0">
              <a:lnSpc>
                <a:spcPct val="115000"/>
              </a:lnSpc>
              <a:spcBef>
                <a:spcPts val="0"/>
              </a:spcBef>
              <a:spcAft>
                <a:spcPts val="0"/>
              </a:spcAft>
              <a:buClr>
                <a:srgbClr val="000000"/>
              </a:buClr>
              <a:buSzPts val="1400"/>
              <a:buNone/>
            </a:pPr>
            <a:endParaRPr lang="en" sz="1400">
              <a:solidFill>
                <a:schemeClr val="dk1"/>
              </a:solidFill>
            </a:endParaRPr>
          </a:p>
          <a:p>
            <a:pPr marL="139700" lvl="0" indent="0" algn="l" rtl="0">
              <a:lnSpc>
                <a:spcPct val="115000"/>
              </a:lnSpc>
              <a:spcBef>
                <a:spcPts val="0"/>
              </a:spcBef>
              <a:spcAft>
                <a:spcPts val="0"/>
              </a:spcAft>
              <a:buClr>
                <a:srgbClr val="000000"/>
              </a:buClr>
              <a:buSzPts val="1400"/>
              <a:buNone/>
            </a:pPr>
            <a:endParaRPr lang="en" sz="1400">
              <a:solidFill>
                <a:schemeClr val="dk1"/>
              </a:solidFill>
            </a:endParaRPr>
          </a:p>
          <a:p>
            <a:pPr indent="0">
              <a:spcBef>
                <a:spcPts val="300"/>
              </a:spcBef>
              <a:buClr>
                <a:srgbClr val="000000"/>
              </a:buClr>
              <a:buSzPts val="1400"/>
              <a:buNone/>
            </a:pPr>
            <a:r>
              <a:rPr lang="en" sz="1400">
                <a:solidFill>
                  <a:srgbClr val="002060"/>
                </a:solidFill>
              </a:rPr>
              <a:t>To avoid leakeage we took the data against the validation set. The results show </a:t>
            </a:r>
            <a:r>
              <a:rPr lang="en-US" sz="1400">
                <a:solidFill>
                  <a:srgbClr val="002060"/>
                </a:solidFill>
              </a:rPr>
              <a:t>very consistent and balanced (F1-Score: ~0.80) performance across all </a:t>
            </a:r>
            <a:r>
              <a:rPr lang="en" sz="1400">
                <a:solidFill>
                  <a:srgbClr val="002060"/>
                </a:solidFill>
              </a:rPr>
              <a:t>three tuned models. The models are more stable than their predecessors and demonstrate strong generalization. The F1 shows good quality for a classification model, while precision, which is the second layer, shows that false approvals have been avoided.</a:t>
            </a:r>
          </a:p>
          <a:p>
            <a:pPr lvl="0" indent="0" algn="l" rtl="0">
              <a:lnSpc>
                <a:spcPct val="100000"/>
              </a:lnSpc>
              <a:spcBef>
                <a:spcPts val="300"/>
              </a:spcBef>
              <a:spcAft>
                <a:spcPts val="0"/>
              </a:spcAft>
              <a:buClr>
                <a:srgbClr val="000000"/>
              </a:buClr>
              <a:buSzPts val="1400"/>
              <a:buNone/>
            </a:pPr>
            <a:endParaRPr lang="en" sz="1400" b="1">
              <a:solidFill>
                <a:schemeClr val="dk1"/>
              </a:solidFill>
            </a:endParaRPr>
          </a:p>
          <a:p>
            <a:pPr marL="0" lvl="0" indent="0" algn="l" rtl="0">
              <a:lnSpc>
                <a:spcPct val="115000"/>
              </a:lnSpc>
              <a:spcBef>
                <a:spcPts val="1000"/>
              </a:spcBef>
              <a:spcAft>
                <a:spcPts val="1000"/>
              </a:spcAft>
              <a:buSzPts val="1500"/>
              <a:buNone/>
            </a:pPr>
            <a:endParaRPr sz="1400">
              <a:solidFill>
                <a:srgbClr val="000000"/>
              </a:solidFill>
            </a:endParaRPr>
          </a:p>
        </p:txBody>
      </p:sp>
      <p:sp>
        <p:nvSpPr>
          <p:cNvPr id="190" name="Google Shape;190;p41"/>
          <p:cNvSpPr txBox="1"/>
          <p:nvPr/>
        </p:nvSpPr>
        <p:spPr>
          <a:xfrm>
            <a:off x="4077350" y="4568775"/>
            <a:ext cx="5010600" cy="3693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1200"/>
              <a:buFont typeface="Arial"/>
              <a:buNone/>
            </a:pPr>
            <a:endParaRPr sz="1200" b="0" i="1" u="none" strike="noStrike" cap="none">
              <a:solidFill>
                <a:srgbClr val="666666"/>
              </a:solidFill>
              <a:latin typeface="Nunito"/>
              <a:ea typeface="Nunito"/>
              <a:cs typeface="Nunito"/>
              <a:sym typeface="Nunito"/>
            </a:endParaRPr>
          </a:p>
        </p:txBody>
      </p:sp>
      <p:graphicFrame>
        <p:nvGraphicFramePr>
          <p:cNvPr id="4" name="Table 3">
            <a:extLst>
              <a:ext uri="{FF2B5EF4-FFF2-40B4-BE49-F238E27FC236}">
                <a16:creationId xmlns:a16="http://schemas.microsoft.com/office/drawing/2014/main" id="{66F08C21-D5FF-1550-9AFE-C5D9A568A99A}"/>
              </a:ext>
            </a:extLst>
          </p:cNvPr>
          <p:cNvGraphicFramePr>
            <a:graphicFrameLocks noGrp="1"/>
          </p:cNvGraphicFramePr>
          <p:nvPr>
            <p:extLst>
              <p:ext uri="{D42A27DB-BD31-4B8C-83A1-F6EECF244321}">
                <p14:modId xmlns:p14="http://schemas.microsoft.com/office/powerpoint/2010/main" val="3583911133"/>
              </p:ext>
            </p:extLst>
          </p:nvPr>
        </p:nvGraphicFramePr>
        <p:xfrm>
          <a:off x="749508" y="1214203"/>
          <a:ext cx="7856193" cy="945627"/>
        </p:xfrm>
        <a:graphic>
          <a:graphicData uri="http://schemas.openxmlformats.org/drawingml/2006/table">
            <a:tbl>
              <a:tblPr firstRow="1">
                <a:tableStyleId>{93296810-A885-4BE3-A3E7-6D5BEEA58F35}</a:tableStyleId>
              </a:tblPr>
              <a:tblGrid>
                <a:gridCol w="974555">
                  <a:extLst>
                    <a:ext uri="{9D8B030D-6E8A-4147-A177-3AD203B41FA5}">
                      <a16:colId xmlns:a16="http://schemas.microsoft.com/office/drawing/2014/main" val="4120227969"/>
                    </a:ext>
                  </a:extLst>
                </a:gridCol>
                <a:gridCol w="2465050">
                  <a:extLst>
                    <a:ext uri="{9D8B030D-6E8A-4147-A177-3AD203B41FA5}">
                      <a16:colId xmlns:a16="http://schemas.microsoft.com/office/drawing/2014/main" val="3783554762"/>
                    </a:ext>
                  </a:extLst>
                </a:gridCol>
                <a:gridCol w="2031795">
                  <a:extLst>
                    <a:ext uri="{9D8B030D-6E8A-4147-A177-3AD203B41FA5}">
                      <a16:colId xmlns:a16="http://schemas.microsoft.com/office/drawing/2014/main" val="2470333530"/>
                    </a:ext>
                  </a:extLst>
                </a:gridCol>
                <a:gridCol w="2384793">
                  <a:extLst>
                    <a:ext uri="{9D8B030D-6E8A-4147-A177-3AD203B41FA5}">
                      <a16:colId xmlns:a16="http://schemas.microsoft.com/office/drawing/2014/main" val="3031143990"/>
                    </a:ext>
                  </a:extLst>
                </a:gridCol>
              </a:tblGrid>
              <a:tr h="107242">
                <a:tc>
                  <a:txBody>
                    <a:bodyPr/>
                    <a:lstStyle/>
                    <a:p>
                      <a:pPr algn="l" fontAlgn="b">
                        <a:buNone/>
                      </a:pPr>
                      <a:endParaRPr lang="en-US" sz="1000" b="0" i="0" u="none" strike="noStrike">
                        <a:solidFill>
                          <a:srgbClr val="EBFFFF"/>
                        </a:solidFill>
                        <a:effectLst/>
                        <a:latin typeface="Aptos Narrow" panose="020B0004020202020204" pitchFamily="34" charset="0"/>
                      </a:endParaRPr>
                    </a:p>
                  </a:txBody>
                  <a:tcPr marL="3727" marR="3727" marT="3727" marB="0" anchor="b"/>
                </a:tc>
                <a:tc>
                  <a:txBody>
                    <a:bodyPr/>
                    <a:lstStyle/>
                    <a:p>
                      <a:pPr algn="r" fontAlgn="b">
                        <a:buNone/>
                      </a:pPr>
                      <a:r>
                        <a:rPr lang="en-US" sz="1000" b="0" u="none" strike="noStrike">
                          <a:solidFill>
                            <a:srgbClr val="EBFFFF"/>
                          </a:solidFill>
                          <a:effectLst/>
                        </a:rPr>
                        <a:t>Gradient Boosting tuned with oversampled</a:t>
                      </a:r>
                      <a:endParaRPr lang="en-US" sz="1000" b="0" i="0" u="none" strike="noStrike">
                        <a:solidFill>
                          <a:srgbClr val="EBFFFF"/>
                        </a:solidFill>
                        <a:effectLst/>
                        <a:latin typeface="Aptos Narrow" panose="020B0004020202020204" pitchFamily="34" charset="0"/>
                      </a:endParaRPr>
                    </a:p>
                  </a:txBody>
                  <a:tcPr marL="3727" marR="3727" marT="3727" marB="0" anchor="b"/>
                </a:tc>
                <a:tc>
                  <a:txBody>
                    <a:bodyPr/>
                    <a:lstStyle/>
                    <a:p>
                      <a:pPr algn="r" fontAlgn="b">
                        <a:buNone/>
                      </a:pPr>
                      <a:r>
                        <a:rPr lang="en-US" sz="1000" b="0" u="none" strike="noStrike">
                          <a:solidFill>
                            <a:srgbClr val="EBFFFF"/>
                          </a:solidFill>
                          <a:effectLst/>
                        </a:rPr>
                        <a:t>AdaBoost tuned with oversampled</a:t>
                      </a:r>
                      <a:endParaRPr lang="en-US" sz="1000" b="0" i="0" u="none" strike="noStrike">
                        <a:solidFill>
                          <a:srgbClr val="EBFFFF"/>
                        </a:solidFill>
                        <a:effectLst/>
                        <a:latin typeface="Aptos Narrow" panose="020B0004020202020204" pitchFamily="34" charset="0"/>
                      </a:endParaRPr>
                    </a:p>
                  </a:txBody>
                  <a:tcPr marL="3727" marR="3727" marT="3727" marB="0" anchor="b"/>
                </a:tc>
                <a:tc>
                  <a:txBody>
                    <a:bodyPr/>
                    <a:lstStyle/>
                    <a:p>
                      <a:pPr algn="r" fontAlgn="b">
                        <a:buNone/>
                      </a:pPr>
                      <a:r>
                        <a:rPr lang="en-US" sz="1000" b="0" u="none" strike="noStrike">
                          <a:solidFill>
                            <a:srgbClr val="EBFFFF"/>
                          </a:solidFill>
                          <a:effectLst/>
                        </a:rPr>
                        <a:t>Random forest tuned with undersampled</a:t>
                      </a:r>
                      <a:endParaRPr lang="en-US" sz="1000" b="0" i="0" u="none" strike="noStrike">
                        <a:solidFill>
                          <a:srgbClr val="EBFFFF"/>
                        </a:solidFill>
                        <a:effectLst/>
                        <a:latin typeface="Aptos Narrow" panose="020B0004020202020204" pitchFamily="34" charset="0"/>
                      </a:endParaRPr>
                    </a:p>
                  </a:txBody>
                  <a:tcPr marL="3727" marR="3727" marT="3727" marB="0" anchor="b"/>
                </a:tc>
                <a:extLst>
                  <a:ext uri="{0D108BD9-81ED-4DB2-BD59-A6C34878D82A}">
                    <a16:rowId xmlns:a16="http://schemas.microsoft.com/office/drawing/2014/main" val="462663079"/>
                  </a:ext>
                </a:extLst>
              </a:tr>
              <a:tr h="197375">
                <a:tc>
                  <a:txBody>
                    <a:bodyPr/>
                    <a:lstStyle/>
                    <a:p>
                      <a:pPr algn="r" fontAlgn="ctr">
                        <a:buNone/>
                      </a:pPr>
                      <a:r>
                        <a:rPr lang="en-US" sz="1050" b="0" u="none" strike="noStrike">
                          <a:solidFill>
                            <a:srgbClr val="333333"/>
                          </a:solidFill>
                          <a:effectLst/>
                        </a:rPr>
                        <a:t>Accuracy</a:t>
                      </a:r>
                      <a:endParaRPr lang="en-US" sz="1050" b="0" i="0" u="none" strike="noStrike">
                        <a:solidFill>
                          <a:srgbClr val="333333"/>
                        </a:solidFill>
                        <a:effectLst/>
                        <a:latin typeface="Calibri" panose="020F0502020204030204" pitchFamily="34" charset="0"/>
                      </a:endParaRPr>
                    </a:p>
                  </a:txBody>
                  <a:tcPr marL="3727" marR="3727" marT="3727" marB="0" anchor="ctr"/>
                </a:tc>
                <a:tc>
                  <a:txBody>
                    <a:bodyPr/>
                    <a:lstStyle/>
                    <a:p>
                      <a:pPr algn="r" fontAlgn="ctr">
                        <a:buNone/>
                      </a:pPr>
                      <a:r>
                        <a:rPr lang="en-US" sz="1050" b="0" u="none" strike="noStrike">
                          <a:solidFill>
                            <a:srgbClr val="333333"/>
                          </a:solidFill>
                          <a:effectLst/>
                        </a:rPr>
                        <a:t>0.728885</a:t>
                      </a:r>
                      <a:endParaRPr lang="en-US" sz="1050" b="0" i="0" u="none" strike="noStrike">
                        <a:solidFill>
                          <a:srgbClr val="333333"/>
                        </a:solidFill>
                        <a:effectLst/>
                        <a:latin typeface="Calibri" panose="020F0502020204030204" pitchFamily="34" charset="0"/>
                      </a:endParaRPr>
                    </a:p>
                  </a:txBody>
                  <a:tcPr marL="3727" marR="3727" marT="3727" marB="0" anchor="ctr"/>
                </a:tc>
                <a:tc>
                  <a:txBody>
                    <a:bodyPr/>
                    <a:lstStyle/>
                    <a:p>
                      <a:pPr algn="r" fontAlgn="ctr">
                        <a:buNone/>
                      </a:pPr>
                      <a:r>
                        <a:rPr lang="en-US" sz="1050" b="0" u="none" strike="noStrike">
                          <a:solidFill>
                            <a:srgbClr val="333333"/>
                          </a:solidFill>
                          <a:effectLst/>
                        </a:rPr>
                        <a:t>0.726850</a:t>
                      </a:r>
                      <a:endParaRPr lang="en-US" sz="1050" b="0" i="0" u="none" strike="noStrike">
                        <a:solidFill>
                          <a:srgbClr val="333333"/>
                        </a:solidFill>
                        <a:effectLst/>
                        <a:latin typeface="Calibri" panose="020F0502020204030204" pitchFamily="34" charset="0"/>
                      </a:endParaRPr>
                    </a:p>
                  </a:txBody>
                  <a:tcPr marL="3727" marR="3727" marT="3727" marB="0" anchor="ctr"/>
                </a:tc>
                <a:tc>
                  <a:txBody>
                    <a:bodyPr/>
                    <a:lstStyle/>
                    <a:p>
                      <a:pPr algn="r" fontAlgn="ctr">
                        <a:buNone/>
                      </a:pPr>
                      <a:r>
                        <a:rPr lang="en-US" sz="1050" b="0" u="none" strike="noStrike">
                          <a:solidFill>
                            <a:srgbClr val="333333"/>
                          </a:solidFill>
                          <a:effectLst/>
                        </a:rPr>
                        <a:t>0.730775</a:t>
                      </a:r>
                      <a:endParaRPr lang="en-US" sz="1050" b="0" i="0" u="none" strike="noStrike">
                        <a:solidFill>
                          <a:srgbClr val="333333"/>
                        </a:solidFill>
                        <a:effectLst/>
                        <a:latin typeface="Calibri" panose="020F0502020204030204" pitchFamily="34" charset="0"/>
                      </a:endParaRPr>
                    </a:p>
                  </a:txBody>
                  <a:tcPr marL="3727" marR="3727" marT="3727" marB="0" anchor="ctr"/>
                </a:tc>
                <a:extLst>
                  <a:ext uri="{0D108BD9-81ED-4DB2-BD59-A6C34878D82A}">
                    <a16:rowId xmlns:a16="http://schemas.microsoft.com/office/drawing/2014/main" val="1392599025"/>
                  </a:ext>
                </a:extLst>
              </a:tr>
              <a:tr h="197375">
                <a:tc>
                  <a:txBody>
                    <a:bodyPr/>
                    <a:lstStyle/>
                    <a:p>
                      <a:pPr algn="r" fontAlgn="ctr">
                        <a:buNone/>
                      </a:pPr>
                      <a:r>
                        <a:rPr lang="en-US" sz="1050" b="0" u="none" strike="noStrike">
                          <a:solidFill>
                            <a:srgbClr val="333333"/>
                          </a:solidFill>
                          <a:effectLst/>
                        </a:rPr>
                        <a:t>Recall</a:t>
                      </a:r>
                      <a:endParaRPr lang="en-US" sz="1050" b="0" i="0" u="none" strike="noStrike">
                        <a:solidFill>
                          <a:srgbClr val="333333"/>
                        </a:solidFill>
                        <a:effectLst/>
                        <a:latin typeface="Calibri" panose="020F0502020204030204" pitchFamily="34" charset="0"/>
                      </a:endParaRPr>
                    </a:p>
                  </a:txBody>
                  <a:tcPr marL="3727" marR="3727" marT="3727" marB="0" anchor="ctr"/>
                </a:tc>
                <a:tc>
                  <a:txBody>
                    <a:bodyPr/>
                    <a:lstStyle/>
                    <a:p>
                      <a:pPr algn="r" fontAlgn="ctr">
                        <a:buNone/>
                      </a:pPr>
                      <a:r>
                        <a:rPr lang="en-US" sz="1050" b="0" u="none" strike="noStrike">
                          <a:solidFill>
                            <a:srgbClr val="333333"/>
                          </a:solidFill>
                          <a:effectLst/>
                        </a:rPr>
                        <a:t>0.816935</a:t>
                      </a:r>
                      <a:endParaRPr lang="en-US" sz="1050" b="0" i="0" u="none" strike="noStrike">
                        <a:solidFill>
                          <a:srgbClr val="333333"/>
                        </a:solidFill>
                        <a:effectLst/>
                        <a:latin typeface="Calibri" panose="020F0502020204030204" pitchFamily="34" charset="0"/>
                      </a:endParaRPr>
                    </a:p>
                  </a:txBody>
                  <a:tcPr marL="3727" marR="3727" marT="3727" marB="0" anchor="ctr"/>
                </a:tc>
                <a:tc>
                  <a:txBody>
                    <a:bodyPr/>
                    <a:lstStyle/>
                    <a:p>
                      <a:pPr algn="r" fontAlgn="ctr">
                        <a:buNone/>
                      </a:pPr>
                      <a:r>
                        <a:rPr lang="en-US" sz="1050" b="0" u="none" strike="noStrike">
                          <a:solidFill>
                            <a:srgbClr val="333333"/>
                          </a:solidFill>
                          <a:effectLst/>
                        </a:rPr>
                        <a:t>0.810840</a:t>
                      </a:r>
                      <a:endParaRPr lang="en-US" sz="1050" b="0" i="0" u="none" strike="noStrike">
                        <a:solidFill>
                          <a:srgbClr val="333333"/>
                        </a:solidFill>
                        <a:effectLst/>
                        <a:latin typeface="Calibri" panose="020F0502020204030204" pitchFamily="34" charset="0"/>
                      </a:endParaRPr>
                    </a:p>
                  </a:txBody>
                  <a:tcPr marL="3727" marR="3727" marT="3727" marB="0" anchor="ctr"/>
                </a:tc>
                <a:tc>
                  <a:txBody>
                    <a:bodyPr/>
                    <a:lstStyle/>
                    <a:p>
                      <a:pPr algn="r" fontAlgn="ctr">
                        <a:buNone/>
                      </a:pPr>
                      <a:r>
                        <a:rPr lang="en-US" sz="1050" b="0" u="none" strike="noStrike">
                          <a:solidFill>
                            <a:srgbClr val="333333"/>
                          </a:solidFill>
                          <a:effectLst/>
                        </a:rPr>
                        <a:t>0.814758</a:t>
                      </a:r>
                      <a:endParaRPr lang="en-US" sz="1050" b="0" i="0" u="none" strike="noStrike">
                        <a:solidFill>
                          <a:srgbClr val="333333"/>
                        </a:solidFill>
                        <a:effectLst/>
                        <a:latin typeface="Calibri" panose="020F0502020204030204" pitchFamily="34" charset="0"/>
                      </a:endParaRPr>
                    </a:p>
                  </a:txBody>
                  <a:tcPr marL="3727" marR="3727" marT="3727" marB="0" anchor="ctr"/>
                </a:tc>
                <a:extLst>
                  <a:ext uri="{0D108BD9-81ED-4DB2-BD59-A6C34878D82A}">
                    <a16:rowId xmlns:a16="http://schemas.microsoft.com/office/drawing/2014/main" val="1577337065"/>
                  </a:ext>
                </a:extLst>
              </a:tr>
              <a:tr h="197375">
                <a:tc>
                  <a:txBody>
                    <a:bodyPr/>
                    <a:lstStyle/>
                    <a:p>
                      <a:pPr algn="r" fontAlgn="ctr">
                        <a:buNone/>
                      </a:pPr>
                      <a:r>
                        <a:rPr lang="en-US" sz="1050" b="0" u="none" strike="noStrike">
                          <a:solidFill>
                            <a:srgbClr val="333333"/>
                          </a:solidFill>
                          <a:effectLst/>
                        </a:rPr>
                        <a:t>Precision</a:t>
                      </a:r>
                      <a:endParaRPr lang="en-US" sz="1050" b="0" i="0" u="none" strike="noStrike">
                        <a:solidFill>
                          <a:srgbClr val="333333"/>
                        </a:solidFill>
                        <a:effectLst/>
                        <a:latin typeface="Calibri" panose="020F0502020204030204" pitchFamily="34" charset="0"/>
                      </a:endParaRPr>
                    </a:p>
                  </a:txBody>
                  <a:tcPr marL="3727" marR="3727" marT="3727" marB="0" anchor="ctr"/>
                </a:tc>
                <a:tc>
                  <a:txBody>
                    <a:bodyPr/>
                    <a:lstStyle/>
                    <a:p>
                      <a:pPr algn="r" fontAlgn="ctr">
                        <a:buNone/>
                      </a:pPr>
                      <a:r>
                        <a:rPr lang="en-US" sz="1050" b="0" u="none" strike="noStrike">
                          <a:solidFill>
                            <a:srgbClr val="333333"/>
                          </a:solidFill>
                          <a:effectLst/>
                        </a:rPr>
                        <a:t>0.785640</a:t>
                      </a:r>
                      <a:endParaRPr lang="en-US" sz="1050" b="0" i="0" u="none" strike="noStrike">
                        <a:solidFill>
                          <a:srgbClr val="333333"/>
                        </a:solidFill>
                        <a:effectLst/>
                        <a:latin typeface="Calibri" panose="020F0502020204030204" pitchFamily="34" charset="0"/>
                      </a:endParaRPr>
                    </a:p>
                  </a:txBody>
                  <a:tcPr marL="3727" marR="3727" marT="3727" marB="0" anchor="ctr"/>
                </a:tc>
                <a:tc>
                  <a:txBody>
                    <a:bodyPr/>
                    <a:lstStyle/>
                    <a:p>
                      <a:pPr algn="r" fontAlgn="ctr">
                        <a:buNone/>
                      </a:pPr>
                      <a:r>
                        <a:rPr lang="en-US" sz="1050" b="0" u="none" strike="noStrike">
                          <a:solidFill>
                            <a:srgbClr val="333333"/>
                          </a:solidFill>
                          <a:effectLst/>
                        </a:rPr>
                        <a:t>0.786695</a:t>
                      </a:r>
                      <a:endParaRPr lang="en-US" sz="1050" b="0" i="0" u="none" strike="noStrike">
                        <a:solidFill>
                          <a:srgbClr val="333333"/>
                        </a:solidFill>
                        <a:effectLst/>
                        <a:latin typeface="Calibri" panose="020F0502020204030204" pitchFamily="34" charset="0"/>
                      </a:endParaRPr>
                    </a:p>
                  </a:txBody>
                  <a:tcPr marL="3727" marR="3727" marT="3727" marB="0" anchor="ctr"/>
                </a:tc>
                <a:tc>
                  <a:txBody>
                    <a:bodyPr/>
                    <a:lstStyle/>
                    <a:p>
                      <a:pPr algn="r" fontAlgn="ctr">
                        <a:buNone/>
                      </a:pPr>
                      <a:r>
                        <a:rPr lang="en-US" sz="1050" b="0" u="none" strike="noStrike">
                          <a:solidFill>
                            <a:srgbClr val="333333"/>
                          </a:solidFill>
                          <a:effectLst/>
                        </a:rPr>
                        <a:t>0.788997</a:t>
                      </a:r>
                      <a:endParaRPr lang="en-US" sz="1050" b="0" i="0" u="none" strike="noStrike">
                        <a:solidFill>
                          <a:srgbClr val="333333"/>
                        </a:solidFill>
                        <a:effectLst/>
                        <a:latin typeface="Calibri" panose="020F0502020204030204" pitchFamily="34" charset="0"/>
                      </a:endParaRPr>
                    </a:p>
                  </a:txBody>
                  <a:tcPr marL="3727" marR="3727" marT="3727" marB="0" anchor="ctr"/>
                </a:tc>
                <a:extLst>
                  <a:ext uri="{0D108BD9-81ED-4DB2-BD59-A6C34878D82A}">
                    <a16:rowId xmlns:a16="http://schemas.microsoft.com/office/drawing/2014/main" val="2395380336"/>
                  </a:ext>
                </a:extLst>
              </a:tr>
              <a:tr h="197375">
                <a:tc>
                  <a:txBody>
                    <a:bodyPr/>
                    <a:lstStyle/>
                    <a:p>
                      <a:pPr algn="r" fontAlgn="ctr">
                        <a:buNone/>
                      </a:pPr>
                      <a:r>
                        <a:rPr lang="en-US" sz="1050" b="0" u="none" strike="noStrike">
                          <a:solidFill>
                            <a:srgbClr val="333333"/>
                          </a:solidFill>
                          <a:effectLst/>
                        </a:rPr>
                        <a:t>F1</a:t>
                      </a:r>
                      <a:endParaRPr lang="en-US" sz="1050" b="0" i="0" u="none" strike="noStrike">
                        <a:solidFill>
                          <a:srgbClr val="333333"/>
                        </a:solidFill>
                        <a:effectLst/>
                        <a:latin typeface="Calibri" panose="020F0502020204030204" pitchFamily="34" charset="0"/>
                      </a:endParaRPr>
                    </a:p>
                  </a:txBody>
                  <a:tcPr marL="3727" marR="3727" marT="3727" marB="0" anchor="ctr"/>
                </a:tc>
                <a:tc>
                  <a:txBody>
                    <a:bodyPr/>
                    <a:lstStyle/>
                    <a:p>
                      <a:pPr algn="r" fontAlgn="ctr">
                        <a:buNone/>
                      </a:pPr>
                      <a:r>
                        <a:rPr lang="en-US" sz="1050" b="0" u="none" strike="noStrike">
                          <a:solidFill>
                            <a:srgbClr val="333333"/>
                          </a:solidFill>
                          <a:effectLst/>
                        </a:rPr>
                        <a:t>0.800982</a:t>
                      </a:r>
                      <a:endParaRPr lang="en-US" sz="1050" b="0" i="0" u="none" strike="noStrike">
                        <a:solidFill>
                          <a:srgbClr val="333333"/>
                        </a:solidFill>
                        <a:effectLst/>
                        <a:latin typeface="Calibri" panose="020F0502020204030204" pitchFamily="34" charset="0"/>
                      </a:endParaRPr>
                    </a:p>
                  </a:txBody>
                  <a:tcPr marL="3727" marR="3727" marT="3727" marB="0" anchor="ctr"/>
                </a:tc>
                <a:tc>
                  <a:txBody>
                    <a:bodyPr/>
                    <a:lstStyle/>
                    <a:p>
                      <a:pPr algn="r" fontAlgn="ctr">
                        <a:buNone/>
                      </a:pPr>
                      <a:r>
                        <a:rPr lang="en-US" sz="1050" b="0" u="none" strike="noStrike">
                          <a:solidFill>
                            <a:srgbClr val="333333"/>
                          </a:solidFill>
                          <a:effectLst/>
                        </a:rPr>
                        <a:t>0.798585</a:t>
                      </a:r>
                      <a:endParaRPr lang="en-US" sz="1050" b="0" i="0" u="none" strike="noStrike">
                        <a:solidFill>
                          <a:srgbClr val="333333"/>
                        </a:solidFill>
                        <a:effectLst/>
                        <a:latin typeface="Calibri" panose="020F0502020204030204" pitchFamily="34" charset="0"/>
                      </a:endParaRPr>
                    </a:p>
                  </a:txBody>
                  <a:tcPr marL="3727" marR="3727" marT="3727" marB="0" anchor="ctr"/>
                </a:tc>
                <a:tc>
                  <a:txBody>
                    <a:bodyPr/>
                    <a:lstStyle/>
                    <a:p>
                      <a:pPr algn="r" fontAlgn="ctr">
                        <a:buNone/>
                      </a:pPr>
                      <a:r>
                        <a:rPr lang="en-US" sz="1050" b="0" u="none" strike="noStrike">
                          <a:solidFill>
                            <a:srgbClr val="333333"/>
                          </a:solidFill>
                          <a:effectLst/>
                        </a:rPr>
                        <a:t>0.801671</a:t>
                      </a:r>
                      <a:endParaRPr lang="en-US" sz="1050" b="0" i="0" u="none" strike="noStrike">
                        <a:solidFill>
                          <a:srgbClr val="333333"/>
                        </a:solidFill>
                        <a:effectLst/>
                        <a:latin typeface="Calibri" panose="020F0502020204030204" pitchFamily="34" charset="0"/>
                      </a:endParaRPr>
                    </a:p>
                  </a:txBody>
                  <a:tcPr marL="3727" marR="3727" marT="3727" marB="0" anchor="ctr"/>
                </a:tc>
                <a:extLst>
                  <a:ext uri="{0D108BD9-81ED-4DB2-BD59-A6C34878D82A}">
                    <a16:rowId xmlns:a16="http://schemas.microsoft.com/office/drawing/2014/main" val="1718234229"/>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7">
          <a:extLst>
            <a:ext uri="{FF2B5EF4-FFF2-40B4-BE49-F238E27FC236}">
              <a16:creationId xmlns:a16="http://schemas.microsoft.com/office/drawing/2014/main" id="{ABA8DCAA-4ED8-132F-FB37-BDEC118A8E26}"/>
            </a:ext>
          </a:extLst>
        </p:cNvPr>
        <p:cNvGrpSpPr/>
        <p:nvPr/>
      </p:nvGrpSpPr>
      <p:grpSpPr>
        <a:xfrm>
          <a:off x="0" y="0"/>
          <a:ext cx="0" cy="0"/>
          <a:chOff x="0" y="0"/>
          <a:chExt cx="0" cy="0"/>
        </a:xfrm>
      </p:grpSpPr>
      <p:sp>
        <p:nvSpPr>
          <p:cNvPr id="188" name="Google Shape;188;p41">
            <a:extLst>
              <a:ext uri="{FF2B5EF4-FFF2-40B4-BE49-F238E27FC236}">
                <a16:creationId xmlns:a16="http://schemas.microsoft.com/office/drawing/2014/main" id="{3852FB2E-9A21-233D-E9DD-164E2073DFB9}"/>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Model Performance Summary and Final Model Selection</a:t>
            </a:r>
            <a:endParaRPr>
              <a:solidFill>
                <a:srgbClr val="000000"/>
              </a:solidFill>
            </a:endParaRPr>
          </a:p>
        </p:txBody>
      </p:sp>
      <p:sp>
        <p:nvSpPr>
          <p:cNvPr id="189" name="Google Shape;189;p41">
            <a:extLst>
              <a:ext uri="{FF2B5EF4-FFF2-40B4-BE49-F238E27FC236}">
                <a16:creationId xmlns:a16="http://schemas.microsoft.com/office/drawing/2014/main" id="{ED88ECE8-89EF-5994-968F-98D8329E6118}"/>
              </a:ext>
            </a:extLst>
          </p:cNvPr>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139700" lvl="0" indent="0" algn="l" rtl="0">
              <a:lnSpc>
                <a:spcPct val="115000"/>
              </a:lnSpc>
              <a:spcBef>
                <a:spcPts val="1000"/>
              </a:spcBef>
              <a:spcAft>
                <a:spcPts val="0"/>
              </a:spcAft>
              <a:buClr>
                <a:srgbClr val="000000"/>
              </a:buClr>
              <a:buSzPts val="1400"/>
              <a:buNone/>
            </a:pPr>
            <a:r>
              <a:rPr lang="en" sz="1400" b="1">
                <a:solidFill>
                  <a:schemeClr val="dk1"/>
                </a:solidFill>
              </a:rPr>
              <a:t>Overview of final ML model and its parameters</a:t>
            </a:r>
          </a:p>
          <a:p>
            <a:pPr marL="457200" lvl="1" indent="0">
              <a:lnSpc>
                <a:spcPct val="100000"/>
              </a:lnSpc>
              <a:spcBef>
                <a:spcPts val="300"/>
              </a:spcBef>
              <a:buClr>
                <a:srgbClr val="000000"/>
              </a:buClr>
              <a:buSzPts val="1400"/>
              <a:buNone/>
            </a:pPr>
            <a:endParaRPr lang="en-US" sz="1200">
              <a:solidFill>
                <a:schemeClr val="dk1"/>
              </a:solidFill>
            </a:endParaRPr>
          </a:p>
          <a:p>
            <a:pPr marL="274320" lvl="1" indent="0">
              <a:lnSpc>
                <a:spcPct val="100000"/>
              </a:lnSpc>
              <a:spcBef>
                <a:spcPts val="300"/>
              </a:spcBef>
              <a:buClr>
                <a:srgbClr val="000000"/>
              </a:buClr>
              <a:buSzPts val="1400"/>
              <a:buNone/>
            </a:pPr>
            <a:endParaRPr lang="en-US" sz="1200">
              <a:solidFill>
                <a:schemeClr val="dk1"/>
              </a:solidFill>
            </a:endParaRPr>
          </a:p>
          <a:p>
            <a:pPr marL="0" lvl="0" indent="0" algn="l" rtl="0">
              <a:lnSpc>
                <a:spcPct val="115000"/>
              </a:lnSpc>
              <a:spcBef>
                <a:spcPts val="1000"/>
              </a:spcBef>
              <a:spcAft>
                <a:spcPts val="1000"/>
              </a:spcAft>
              <a:buSzPts val="1500"/>
              <a:buNone/>
            </a:pPr>
            <a:endParaRPr sz="1400">
              <a:solidFill>
                <a:srgbClr val="000000"/>
              </a:solidFill>
            </a:endParaRPr>
          </a:p>
        </p:txBody>
      </p:sp>
      <p:sp>
        <p:nvSpPr>
          <p:cNvPr id="190" name="Google Shape;190;p41">
            <a:extLst>
              <a:ext uri="{FF2B5EF4-FFF2-40B4-BE49-F238E27FC236}">
                <a16:creationId xmlns:a16="http://schemas.microsoft.com/office/drawing/2014/main" id="{11BB81CD-4D9A-F718-10D2-EC56DBC67A49}"/>
              </a:ext>
            </a:extLst>
          </p:cNvPr>
          <p:cNvSpPr txBox="1"/>
          <p:nvPr/>
        </p:nvSpPr>
        <p:spPr>
          <a:xfrm>
            <a:off x="4077350" y="4568775"/>
            <a:ext cx="5010600" cy="3693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1200"/>
              <a:buFont typeface="Arial"/>
              <a:buNone/>
            </a:pPr>
            <a:endParaRPr sz="1200" b="0" i="1" u="none" strike="noStrike" cap="none">
              <a:solidFill>
                <a:srgbClr val="666666"/>
              </a:solidFill>
              <a:latin typeface="Nunito"/>
              <a:ea typeface="Nunito"/>
              <a:cs typeface="Nunito"/>
              <a:sym typeface="Nunito"/>
            </a:endParaRPr>
          </a:p>
        </p:txBody>
      </p:sp>
      <p:sp>
        <p:nvSpPr>
          <p:cNvPr id="2" name="Rectangle 1">
            <a:extLst>
              <a:ext uri="{FF2B5EF4-FFF2-40B4-BE49-F238E27FC236}">
                <a16:creationId xmlns:a16="http://schemas.microsoft.com/office/drawing/2014/main" id="{123191BB-8C4A-70BA-9C6E-49A0699CC9DF}"/>
              </a:ext>
            </a:extLst>
          </p:cNvPr>
          <p:cNvSpPr/>
          <p:nvPr/>
        </p:nvSpPr>
        <p:spPr>
          <a:xfrm>
            <a:off x="3934691" y="1699491"/>
            <a:ext cx="3519055" cy="270625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74320" lvl="1">
              <a:spcBef>
                <a:spcPts val="300"/>
              </a:spcBef>
              <a:buSzPts val="1400"/>
            </a:pPr>
            <a:r>
              <a:rPr lang="en-US" sz="1200">
                <a:solidFill>
                  <a:schemeClr val="accent6">
                    <a:lumMod val="50000"/>
                  </a:schemeClr>
                </a:solidFill>
              </a:rPr>
              <a:t>Best parameters are</a:t>
            </a:r>
          </a:p>
          <a:p>
            <a:pPr marL="457200" lvl="1">
              <a:spcBef>
                <a:spcPts val="300"/>
              </a:spcBef>
              <a:buSzPts val="1400"/>
            </a:pPr>
            <a:r>
              <a:rPr lang="en-US" sz="1200">
                <a:solidFill>
                  <a:schemeClr val="accent6">
                    <a:lumMod val="50000"/>
                  </a:schemeClr>
                </a:solidFill>
              </a:rPr>
              <a:t> {'subsample': 0.8, </a:t>
            </a:r>
          </a:p>
          <a:p>
            <a:pPr marL="457200" lvl="1">
              <a:spcBef>
                <a:spcPts val="300"/>
              </a:spcBef>
              <a:buSzPts val="1400"/>
            </a:pPr>
            <a:r>
              <a:rPr lang="en-US" sz="1200">
                <a:solidFill>
                  <a:schemeClr val="accent6">
                    <a:lumMod val="50000"/>
                  </a:schemeClr>
                </a:solidFill>
              </a:rPr>
              <a:t>  'n_estimators': 150, </a:t>
            </a:r>
          </a:p>
          <a:p>
            <a:pPr marL="457200" lvl="1">
              <a:spcBef>
                <a:spcPts val="300"/>
              </a:spcBef>
              <a:buSzPts val="1400"/>
            </a:pPr>
            <a:r>
              <a:rPr lang="en-US" sz="1200">
                <a:solidFill>
                  <a:schemeClr val="accent6">
                    <a:lumMod val="50000"/>
                  </a:schemeClr>
                </a:solidFill>
              </a:rPr>
              <a:t>  'gamma': 5, </a:t>
            </a:r>
          </a:p>
          <a:p>
            <a:pPr marL="457200" lvl="1">
              <a:spcBef>
                <a:spcPts val="300"/>
              </a:spcBef>
              <a:buSzPts val="1400"/>
            </a:pPr>
            <a:r>
              <a:rPr lang="en-US" sz="1200">
                <a:solidFill>
                  <a:schemeClr val="accent6">
                    <a:lumMod val="50000"/>
                  </a:schemeClr>
                </a:solidFill>
              </a:rPr>
              <a:t>  'colsample_bytree': 1.0, </a:t>
            </a:r>
          </a:p>
          <a:p>
            <a:pPr marL="457200" lvl="1">
              <a:spcBef>
                <a:spcPts val="300"/>
              </a:spcBef>
              <a:buSzPts val="1400"/>
            </a:pPr>
            <a:r>
              <a:rPr lang="en-US" sz="1200">
                <a:solidFill>
                  <a:schemeClr val="accent6">
                    <a:lumMod val="50000"/>
                  </a:schemeClr>
                </a:solidFill>
              </a:rPr>
              <a:t>  'colsample_bylevel': 1.0} </a:t>
            </a:r>
          </a:p>
          <a:p>
            <a:pPr marL="457200" lvl="1">
              <a:spcBef>
                <a:spcPts val="300"/>
              </a:spcBef>
              <a:buSzPts val="1400"/>
            </a:pPr>
            <a:r>
              <a:rPr lang="en-US" sz="1200">
                <a:solidFill>
                  <a:schemeClr val="accent6">
                    <a:lumMod val="50000"/>
                  </a:schemeClr>
                </a:solidFill>
              </a:rPr>
              <a:t> CV score=0.8028357969498081:</a:t>
            </a:r>
          </a:p>
          <a:p>
            <a:pPr algn="ctr"/>
            <a:endParaRPr lang="en-US"/>
          </a:p>
        </p:txBody>
      </p:sp>
      <p:sp>
        <p:nvSpPr>
          <p:cNvPr id="3" name="Rectangle 2">
            <a:extLst>
              <a:ext uri="{FF2B5EF4-FFF2-40B4-BE49-F238E27FC236}">
                <a16:creationId xmlns:a16="http://schemas.microsoft.com/office/drawing/2014/main" id="{F74AC5A5-9F33-0A25-8128-5A8CDEBAF17D}"/>
              </a:ext>
            </a:extLst>
          </p:cNvPr>
          <p:cNvSpPr/>
          <p:nvPr/>
        </p:nvSpPr>
        <p:spPr>
          <a:xfrm>
            <a:off x="434109" y="1699491"/>
            <a:ext cx="3389746" cy="270625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lvl="1" algn="ctr">
              <a:spcBef>
                <a:spcPts val="300"/>
              </a:spcBef>
              <a:buSzPts val="1400"/>
            </a:pPr>
            <a:r>
              <a:rPr lang="en-US" sz="1200">
                <a:solidFill>
                  <a:schemeClr val="accent6">
                    <a:lumMod val="50000"/>
                  </a:schemeClr>
                </a:solidFill>
              </a:rPr>
              <a:t>The final model is stable, it utilizes the optimized parameters such as Gamma of 5 and 80% subsampling. </a:t>
            </a:r>
          </a:p>
          <a:p>
            <a:pPr marL="457200" lvl="1" algn="ctr">
              <a:spcBef>
                <a:spcPts val="300"/>
              </a:spcBef>
              <a:buSzPts val="1400"/>
            </a:pPr>
            <a:r>
              <a:rPr lang="en-US" sz="1200">
                <a:solidFill>
                  <a:schemeClr val="accent6">
                    <a:lumMod val="50000"/>
                  </a:schemeClr>
                </a:solidFill>
              </a:rPr>
              <a:t>This way, we transitioned from a model that was memorizing data to one that understands the underlying </a:t>
            </a:r>
          </a:p>
          <a:p>
            <a:pPr marL="457200" lvl="1" algn="ctr">
              <a:spcBef>
                <a:spcPts val="300"/>
              </a:spcBef>
              <a:buSzPts val="1400"/>
            </a:pPr>
            <a:r>
              <a:rPr lang="en-US" sz="1200">
                <a:solidFill>
                  <a:schemeClr val="accent6">
                    <a:lumMod val="50000"/>
                  </a:schemeClr>
                </a:solidFill>
              </a:rPr>
              <a:t>logic of visa approvals</a:t>
            </a:r>
          </a:p>
        </p:txBody>
      </p:sp>
    </p:spTree>
    <p:extLst>
      <p:ext uri="{BB962C8B-B14F-4D97-AF65-F5344CB8AC3E}">
        <p14:creationId xmlns:p14="http://schemas.microsoft.com/office/powerpoint/2010/main" val="37661423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7">
          <a:extLst>
            <a:ext uri="{FF2B5EF4-FFF2-40B4-BE49-F238E27FC236}">
              <a16:creationId xmlns:a16="http://schemas.microsoft.com/office/drawing/2014/main" id="{DB77CA1D-0E20-EB5C-53BC-E31BEE9754B5}"/>
            </a:ext>
          </a:extLst>
        </p:cNvPr>
        <p:cNvGrpSpPr/>
        <p:nvPr/>
      </p:nvGrpSpPr>
      <p:grpSpPr>
        <a:xfrm>
          <a:off x="0" y="0"/>
          <a:ext cx="0" cy="0"/>
          <a:chOff x="0" y="0"/>
          <a:chExt cx="0" cy="0"/>
        </a:xfrm>
      </p:grpSpPr>
      <p:sp>
        <p:nvSpPr>
          <p:cNvPr id="188" name="Google Shape;188;p41">
            <a:extLst>
              <a:ext uri="{FF2B5EF4-FFF2-40B4-BE49-F238E27FC236}">
                <a16:creationId xmlns:a16="http://schemas.microsoft.com/office/drawing/2014/main" id="{8F98FA65-236B-F1AE-BACB-6F0CF17529C2}"/>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Model Performance Summary and Final Model Selection</a:t>
            </a:r>
            <a:endParaRPr>
              <a:solidFill>
                <a:srgbClr val="000000"/>
              </a:solidFill>
            </a:endParaRPr>
          </a:p>
        </p:txBody>
      </p:sp>
      <p:sp>
        <p:nvSpPr>
          <p:cNvPr id="189" name="Google Shape;189;p41">
            <a:extLst>
              <a:ext uri="{FF2B5EF4-FFF2-40B4-BE49-F238E27FC236}">
                <a16:creationId xmlns:a16="http://schemas.microsoft.com/office/drawing/2014/main" id="{1D9ABE51-883B-04C7-B730-08060770AF3F}"/>
              </a:ext>
            </a:extLst>
          </p:cNvPr>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139700" lvl="0" indent="0">
              <a:spcBef>
                <a:spcPts val="1000"/>
              </a:spcBef>
              <a:buClr>
                <a:schemeClr val="dk1"/>
              </a:buClr>
              <a:buSzPts val="1400"/>
              <a:buNone/>
            </a:pPr>
            <a:r>
              <a:rPr lang="en-US" sz="1400" b="1">
                <a:solidFill>
                  <a:schemeClr val="dk1"/>
                </a:solidFill>
              </a:rPr>
              <a:t>Comment on the performance of the final model</a:t>
            </a:r>
          </a:p>
          <a:p>
            <a:pPr marL="0" lvl="0" indent="0" algn="l" rtl="0">
              <a:lnSpc>
                <a:spcPct val="100000"/>
              </a:lnSpc>
              <a:spcAft>
                <a:spcPts val="1000"/>
              </a:spcAft>
              <a:buSzPts val="1500"/>
              <a:buNone/>
            </a:pPr>
            <a:endParaRPr sz="1400">
              <a:solidFill>
                <a:srgbClr val="000000"/>
              </a:solidFill>
            </a:endParaRPr>
          </a:p>
        </p:txBody>
      </p:sp>
      <p:sp>
        <p:nvSpPr>
          <p:cNvPr id="190" name="Google Shape;190;p41">
            <a:extLst>
              <a:ext uri="{FF2B5EF4-FFF2-40B4-BE49-F238E27FC236}">
                <a16:creationId xmlns:a16="http://schemas.microsoft.com/office/drawing/2014/main" id="{5BC34117-BF24-0D1C-6C20-EE5D2D57B968}"/>
              </a:ext>
            </a:extLst>
          </p:cNvPr>
          <p:cNvSpPr txBox="1"/>
          <p:nvPr/>
        </p:nvSpPr>
        <p:spPr>
          <a:xfrm>
            <a:off x="4077350" y="4568775"/>
            <a:ext cx="5010600" cy="3693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1200"/>
              <a:buFont typeface="Arial"/>
              <a:buNone/>
            </a:pPr>
            <a:endParaRPr sz="1200" b="0" i="1" u="none" strike="noStrike" cap="none">
              <a:solidFill>
                <a:srgbClr val="666666"/>
              </a:solidFill>
              <a:latin typeface="Nunito"/>
              <a:ea typeface="Nunito"/>
              <a:cs typeface="Nunito"/>
              <a:sym typeface="Nunito"/>
            </a:endParaRPr>
          </a:p>
        </p:txBody>
      </p:sp>
      <p:pic>
        <p:nvPicPr>
          <p:cNvPr id="6" name="Picture 5">
            <a:extLst>
              <a:ext uri="{FF2B5EF4-FFF2-40B4-BE49-F238E27FC236}">
                <a16:creationId xmlns:a16="http://schemas.microsoft.com/office/drawing/2014/main" id="{6ADF1D88-1CB6-EA4D-46F3-AC9138AA0C5D}"/>
              </a:ext>
            </a:extLst>
          </p:cNvPr>
          <p:cNvPicPr>
            <a:picLocks noChangeAspect="1"/>
          </p:cNvPicPr>
          <p:nvPr/>
        </p:nvPicPr>
        <p:blipFill>
          <a:blip r:embed="rId3">
            <a:alphaModFix/>
          </a:blip>
          <a:stretch>
            <a:fillRect/>
          </a:stretch>
        </p:blipFill>
        <p:spPr>
          <a:xfrm>
            <a:off x="4294909" y="1213002"/>
            <a:ext cx="4537441" cy="2971071"/>
          </a:xfrm>
          <a:prstGeom prst="roundRect">
            <a:avLst/>
          </a:prstGeom>
        </p:spPr>
      </p:pic>
      <p:sp>
        <p:nvSpPr>
          <p:cNvPr id="10" name="Rectangle 9">
            <a:extLst>
              <a:ext uri="{FF2B5EF4-FFF2-40B4-BE49-F238E27FC236}">
                <a16:creationId xmlns:a16="http://schemas.microsoft.com/office/drawing/2014/main" id="{038F3945-D319-BF00-AA3D-AFC0034A35B2}"/>
              </a:ext>
            </a:extLst>
          </p:cNvPr>
          <p:cNvSpPr/>
          <p:nvPr/>
        </p:nvSpPr>
        <p:spPr>
          <a:xfrm>
            <a:off x="0" y="1450109"/>
            <a:ext cx="4516582" cy="273396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74320" lvl="1" algn="ctr">
              <a:spcBef>
                <a:spcPts val="300"/>
              </a:spcBef>
              <a:buSzPts val="1400"/>
            </a:pPr>
            <a:r>
              <a:rPr lang="en-US" sz="1200">
                <a:solidFill>
                  <a:schemeClr val="accent6">
                    <a:lumMod val="50000"/>
                  </a:schemeClr>
                </a:solidFill>
              </a:rPr>
              <a:t>Our final model successfully decodes the complexity of the visa process.</a:t>
            </a:r>
          </a:p>
          <a:p>
            <a:pPr marL="274320" lvl="1" algn="ctr">
              <a:spcBef>
                <a:spcPts val="300"/>
              </a:spcBef>
              <a:buSzPts val="1400"/>
            </a:pPr>
            <a:r>
              <a:rPr lang="en-US" sz="1200">
                <a:solidFill>
                  <a:schemeClr val="accent6">
                    <a:lumMod val="50000"/>
                  </a:schemeClr>
                </a:solidFill>
              </a:rPr>
              <a:t>By prioritizing Education and Experience (as seen in the Feature Importance plot), </a:t>
            </a:r>
          </a:p>
          <a:p>
            <a:pPr marL="274320" lvl="1" algn="ctr">
              <a:spcBef>
                <a:spcPts val="300"/>
              </a:spcBef>
              <a:buSzPts val="1400"/>
            </a:pPr>
            <a:r>
              <a:rPr lang="en-US" sz="1200">
                <a:solidFill>
                  <a:schemeClr val="accent6">
                    <a:lumMod val="50000"/>
                  </a:schemeClr>
                </a:solidFill>
              </a:rPr>
              <a:t>It achieves a high Recall of 84.5% on unseen data. This allows the OFLC to automate </a:t>
            </a:r>
          </a:p>
          <a:p>
            <a:pPr marL="274320" lvl="1" algn="ctr">
              <a:spcBef>
                <a:spcPts val="300"/>
              </a:spcBef>
              <a:buSzPts val="1400"/>
            </a:pPr>
            <a:r>
              <a:rPr lang="en-US" sz="1200">
                <a:solidFill>
                  <a:schemeClr val="accent6">
                    <a:lumMod val="50000"/>
                  </a:schemeClr>
                </a:solidFill>
              </a:rPr>
              <a:t>the vast majority of 'clear-path' applications while maintaining an 80% precision rate, </a:t>
            </a:r>
          </a:p>
          <a:p>
            <a:pPr marL="274320" lvl="1" algn="ctr">
              <a:spcBef>
                <a:spcPts val="300"/>
              </a:spcBef>
              <a:buSzPts val="1400"/>
            </a:pPr>
            <a:r>
              <a:rPr lang="en-US" sz="1200">
                <a:solidFill>
                  <a:schemeClr val="accent6">
                    <a:lumMod val="50000"/>
                  </a:schemeClr>
                </a:solidFill>
              </a:rPr>
              <a:t>effectively solving the scalability crisis</a:t>
            </a:r>
          </a:p>
        </p:txBody>
      </p:sp>
    </p:spTree>
    <p:extLst>
      <p:ext uri="{BB962C8B-B14F-4D97-AF65-F5344CB8AC3E}">
        <p14:creationId xmlns:p14="http://schemas.microsoft.com/office/powerpoint/2010/main" val="6513358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7">
          <a:extLst>
            <a:ext uri="{FF2B5EF4-FFF2-40B4-BE49-F238E27FC236}">
              <a16:creationId xmlns:a16="http://schemas.microsoft.com/office/drawing/2014/main" id="{262991FE-C328-1FA9-48BC-3D6BF5B2C0CD}"/>
            </a:ext>
          </a:extLst>
        </p:cNvPr>
        <p:cNvGrpSpPr/>
        <p:nvPr/>
      </p:nvGrpSpPr>
      <p:grpSpPr>
        <a:xfrm>
          <a:off x="0" y="0"/>
          <a:ext cx="0" cy="0"/>
          <a:chOff x="0" y="0"/>
          <a:chExt cx="0" cy="0"/>
        </a:xfrm>
      </p:grpSpPr>
      <p:sp>
        <p:nvSpPr>
          <p:cNvPr id="188" name="Google Shape;188;p41">
            <a:extLst>
              <a:ext uri="{FF2B5EF4-FFF2-40B4-BE49-F238E27FC236}">
                <a16:creationId xmlns:a16="http://schemas.microsoft.com/office/drawing/2014/main" id="{8C43AFDB-E473-5F63-6A99-DE5B03F5D5EB}"/>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Model Performance Summary and Final Model Selection</a:t>
            </a:r>
            <a:endParaRPr>
              <a:solidFill>
                <a:srgbClr val="000000"/>
              </a:solidFill>
            </a:endParaRPr>
          </a:p>
        </p:txBody>
      </p:sp>
      <p:sp>
        <p:nvSpPr>
          <p:cNvPr id="189" name="Google Shape;189;p41">
            <a:extLst>
              <a:ext uri="{FF2B5EF4-FFF2-40B4-BE49-F238E27FC236}">
                <a16:creationId xmlns:a16="http://schemas.microsoft.com/office/drawing/2014/main" id="{D1E01E54-C471-5DD6-8FF5-479A23FC99B2}"/>
              </a:ext>
            </a:extLst>
          </p:cNvPr>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139700" lvl="0" indent="0" algn="l" rtl="0">
              <a:lnSpc>
                <a:spcPct val="115000"/>
              </a:lnSpc>
              <a:spcBef>
                <a:spcPts val="1000"/>
              </a:spcBef>
              <a:spcAft>
                <a:spcPts val="0"/>
              </a:spcAft>
              <a:buClr>
                <a:schemeClr val="dk1"/>
              </a:buClr>
              <a:buSzPts val="1400"/>
              <a:buNone/>
            </a:pPr>
            <a:r>
              <a:rPr lang="en" sz="1400" b="1">
                <a:solidFill>
                  <a:schemeClr val="dk1"/>
                </a:solidFill>
              </a:rPr>
              <a:t>Comment on the performance of the final model</a:t>
            </a:r>
          </a:p>
          <a:p>
            <a:pPr marL="139700" lvl="0" indent="0" algn="l" rtl="0">
              <a:lnSpc>
                <a:spcPct val="115000"/>
              </a:lnSpc>
              <a:spcBef>
                <a:spcPts val="1000"/>
              </a:spcBef>
              <a:spcAft>
                <a:spcPts val="0"/>
              </a:spcAft>
              <a:buClr>
                <a:schemeClr val="dk1"/>
              </a:buClr>
              <a:buSzPts val="1400"/>
              <a:buNone/>
            </a:pPr>
            <a:endParaRPr lang="en" sz="1400" b="1">
              <a:solidFill>
                <a:schemeClr val="dk1"/>
              </a:solidFill>
            </a:endParaRPr>
          </a:p>
          <a:p>
            <a:pPr marL="139700" lvl="0" indent="0" algn="l" rtl="0">
              <a:lnSpc>
                <a:spcPct val="115000"/>
              </a:lnSpc>
              <a:spcBef>
                <a:spcPts val="1000"/>
              </a:spcBef>
              <a:spcAft>
                <a:spcPts val="0"/>
              </a:spcAft>
              <a:buClr>
                <a:schemeClr val="dk1"/>
              </a:buClr>
              <a:buSzPts val="1400"/>
              <a:buNone/>
            </a:pPr>
            <a:endParaRPr sz="1400" b="1">
              <a:solidFill>
                <a:schemeClr val="dk1"/>
              </a:solidFill>
            </a:endParaRPr>
          </a:p>
          <a:p>
            <a:pPr marL="0" lvl="0" indent="0" algn="l" rtl="0">
              <a:lnSpc>
                <a:spcPct val="115000"/>
              </a:lnSpc>
              <a:spcBef>
                <a:spcPts val="1000"/>
              </a:spcBef>
              <a:spcAft>
                <a:spcPts val="1000"/>
              </a:spcAft>
              <a:buSzPts val="1500"/>
              <a:buNone/>
            </a:pPr>
            <a:endParaRPr sz="1400">
              <a:solidFill>
                <a:srgbClr val="000000"/>
              </a:solidFill>
            </a:endParaRPr>
          </a:p>
        </p:txBody>
      </p:sp>
      <p:sp>
        <p:nvSpPr>
          <p:cNvPr id="190" name="Google Shape;190;p41">
            <a:extLst>
              <a:ext uri="{FF2B5EF4-FFF2-40B4-BE49-F238E27FC236}">
                <a16:creationId xmlns:a16="http://schemas.microsoft.com/office/drawing/2014/main" id="{F5A08048-1A4B-CFD2-63F2-B115BF8A4326}"/>
              </a:ext>
            </a:extLst>
          </p:cNvPr>
          <p:cNvSpPr txBox="1"/>
          <p:nvPr/>
        </p:nvSpPr>
        <p:spPr>
          <a:xfrm>
            <a:off x="4077350" y="4568775"/>
            <a:ext cx="5010600" cy="3693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1200"/>
              <a:buFont typeface="Arial"/>
              <a:buNone/>
            </a:pPr>
            <a:endParaRPr sz="1200" b="0" i="1" u="none" strike="noStrike" cap="none">
              <a:solidFill>
                <a:srgbClr val="666666"/>
              </a:solidFill>
              <a:latin typeface="Nunito"/>
              <a:ea typeface="Nunito"/>
              <a:cs typeface="Nunito"/>
              <a:sym typeface="Nunito"/>
            </a:endParaRPr>
          </a:p>
        </p:txBody>
      </p:sp>
      <p:sp>
        <p:nvSpPr>
          <p:cNvPr id="2" name="Rectangle 1">
            <a:extLst>
              <a:ext uri="{FF2B5EF4-FFF2-40B4-BE49-F238E27FC236}">
                <a16:creationId xmlns:a16="http://schemas.microsoft.com/office/drawing/2014/main" id="{AC9ADFA8-8BC1-978B-B6BD-7C0F62E8B2E1}"/>
              </a:ext>
            </a:extLst>
          </p:cNvPr>
          <p:cNvSpPr/>
          <p:nvPr/>
        </p:nvSpPr>
        <p:spPr>
          <a:xfrm>
            <a:off x="5661891" y="1348509"/>
            <a:ext cx="2826327" cy="151453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accent6">
                    <a:lumMod val="50000"/>
                  </a:schemeClr>
                </a:solidFill>
              </a:rPr>
              <a:t>Accuracy 	0.756863 </a:t>
            </a:r>
          </a:p>
          <a:p>
            <a:pPr algn="ctr"/>
            <a:r>
              <a:rPr lang="en-US">
                <a:solidFill>
                  <a:schemeClr val="accent6">
                    <a:lumMod val="50000"/>
                  </a:schemeClr>
                </a:solidFill>
              </a:rPr>
              <a:t>Recall 	0.845401 </a:t>
            </a:r>
          </a:p>
          <a:p>
            <a:pPr algn="ctr"/>
            <a:r>
              <a:rPr lang="en-US">
                <a:solidFill>
                  <a:schemeClr val="accent6">
                    <a:lumMod val="50000"/>
                  </a:schemeClr>
                </a:solidFill>
              </a:rPr>
              <a:t>Precision 	0.801484 </a:t>
            </a:r>
          </a:p>
          <a:p>
            <a:pPr algn="ctr"/>
            <a:r>
              <a:rPr lang="en-US">
                <a:solidFill>
                  <a:schemeClr val="accent6">
                    <a:lumMod val="50000"/>
                  </a:schemeClr>
                </a:solidFill>
              </a:rPr>
              <a:t>F1 	0.822857</a:t>
            </a:r>
          </a:p>
        </p:txBody>
      </p:sp>
      <p:sp>
        <p:nvSpPr>
          <p:cNvPr id="3" name="Rectangle 2">
            <a:extLst>
              <a:ext uri="{FF2B5EF4-FFF2-40B4-BE49-F238E27FC236}">
                <a16:creationId xmlns:a16="http://schemas.microsoft.com/office/drawing/2014/main" id="{D61B079A-4C13-F063-4DF2-AECD12AD77F4}"/>
              </a:ext>
            </a:extLst>
          </p:cNvPr>
          <p:cNvSpPr/>
          <p:nvPr/>
        </p:nvSpPr>
        <p:spPr>
          <a:xfrm>
            <a:off x="424873" y="1348509"/>
            <a:ext cx="4892886" cy="322026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Bef>
                <a:spcPts val="200"/>
              </a:spcBef>
              <a:spcAft>
                <a:spcPts val="200"/>
              </a:spcAft>
            </a:pPr>
            <a:r>
              <a:rPr lang="en-US" i="1">
                <a:solidFill>
                  <a:schemeClr val="accent6">
                    <a:lumMod val="50000"/>
                  </a:schemeClr>
                </a:solidFill>
              </a:rPr>
              <a:t>Strong Generalization</a:t>
            </a:r>
          </a:p>
          <a:p>
            <a:pPr marL="274320">
              <a:spcBef>
                <a:spcPts val="200"/>
              </a:spcBef>
              <a:spcAft>
                <a:spcPts val="200"/>
              </a:spcAft>
            </a:pPr>
            <a:r>
              <a:rPr lang="en-US">
                <a:solidFill>
                  <a:schemeClr val="accent6">
                    <a:lumMod val="50000"/>
                  </a:schemeClr>
                </a:solidFill>
              </a:rPr>
              <a:t>Test scores closely match cross-validation (~0.80), indicating minimal overfitting.</a:t>
            </a:r>
          </a:p>
          <a:p>
            <a:pPr>
              <a:spcBef>
                <a:spcPts val="200"/>
              </a:spcBef>
              <a:spcAft>
                <a:spcPts val="200"/>
              </a:spcAft>
            </a:pPr>
            <a:r>
              <a:rPr lang="en-US" i="1">
                <a:solidFill>
                  <a:schemeClr val="accent6">
                    <a:lumMod val="50000"/>
                  </a:schemeClr>
                </a:solidFill>
              </a:rPr>
              <a:t>High Recall (0.845)</a:t>
            </a:r>
          </a:p>
          <a:p>
            <a:pPr marL="274320">
              <a:spcBef>
                <a:spcPts val="200"/>
              </a:spcBef>
              <a:spcAft>
                <a:spcPts val="200"/>
              </a:spcAft>
            </a:pPr>
            <a:r>
              <a:rPr lang="en-US">
                <a:solidFill>
                  <a:schemeClr val="accent6">
                    <a:lumMod val="50000"/>
                  </a:schemeClr>
                </a:solidFill>
              </a:rPr>
              <a:t>The model captures ~85% of likely approvals, reducing the risk of missing qualified applicants.</a:t>
            </a:r>
          </a:p>
          <a:p>
            <a:pPr>
              <a:spcBef>
                <a:spcPts val="200"/>
              </a:spcBef>
              <a:spcAft>
                <a:spcPts val="200"/>
              </a:spcAft>
            </a:pPr>
            <a:r>
              <a:rPr lang="en-US" i="1">
                <a:solidFill>
                  <a:schemeClr val="accent6">
                    <a:lumMod val="50000"/>
                  </a:schemeClr>
                </a:solidFill>
              </a:rPr>
              <a:t>Solid Precision (0.801)</a:t>
            </a:r>
          </a:p>
          <a:p>
            <a:pPr marL="274320">
              <a:spcBef>
                <a:spcPts val="200"/>
              </a:spcBef>
              <a:spcAft>
                <a:spcPts val="200"/>
              </a:spcAft>
            </a:pPr>
            <a:r>
              <a:rPr lang="en-US">
                <a:solidFill>
                  <a:schemeClr val="accent6">
                    <a:lumMod val="50000"/>
                  </a:schemeClr>
                </a:solidFill>
              </a:rPr>
              <a:t>When predicting “Certified,” the model is correct ~80% of the time.</a:t>
            </a:r>
          </a:p>
          <a:p>
            <a:r>
              <a:rPr lang="en-US" i="1">
                <a:solidFill>
                  <a:schemeClr val="accent6">
                    <a:lumMod val="50000"/>
                  </a:schemeClr>
                </a:solidFill>
              </a:rPr>
              <a:t>Balanced Outcome</a:t>
            </a:r>
          </a:p>
          <a:p>
            <a:pPr marL="274320">
              <a:spcBef>
                <a:spcPts val="200"/>
              </a:spcBef>
              <a:spcAft>
                <a:spcPts val="200"/>
              </a:spcAft>
            </a:pPr>
            <a:r>
              <a:rPr lang="en-US">
                <a:solidFill>
                  <a:schemeClr val="accent6">
                    <a:lumMod val="50000"/>
                  </a:schemeClr>
                </a:solidFill>
              </a:rPr>
              <a:t>Maximizes approval detection while maintaining prediction reliability. It accomplishes the 2-layered approach where we look for a high score and precision.</a:t>
            </a:r>
          </a:p>
        </p:txBody>
      </p:sp>
    </p:spTree>
    <p:extLst>
      <p:ext uri="{BB962C8B-B14F-4D97-AF65-F5344CB8AC3E}">
        <p14:creationId xmlns:p14="http://schemas.microsoft.com/office/powerpoint/2010/main" val="31318042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7">
          <a:extLst>
            <a:ext uri="{FF2B5EF4-FFF2-40B4-BE49-F238E27FC236}">
              <a16:creationId xmlns:a16="http://schemas.microsoft.com/office/drawing/2014/main" id="{372F3702-3F92-B664-BFA1-0865544E3DE9}"/>
            </a:ext>
          </a:extLst>
        </p:cNvPr>
        <p:cNvGrpSpPr/>
        <p:nvPr/>
      </p:nvGrpSpPr>
      <p:grpSpPr>
        <a:xfrm>
          <a:off x="0" y="0"/>
          <a:ext cx="0" cy="0"/>
          <a:chOff x="0" y="0"/>
          <a:chExt cx="0" cy="0"/>
        </a:xfrm>
      </p:grpSpPr>
      <p:sp>
        <p:nvSpPr>
          <p:cNvPr id="188" name="Google Shape;188;p41">
            <a:extLst>
              <a:ext uri="{FF2B5EF4-FFF2-40B4-BE49-F238E27FC236}">
                <a16:creationId xmlns:a16="http://schemas.microsoft.com/office/drawing/2014/main" id="{40FAFFB1-E473-0333-3A2B-60C60D94C271}"/>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Model Performance Summary and Final Model Selection</a:t>
            </a:r>
            <a:endParaRPr>
              <a:solidFill>
                <a:srgbClr val="000000"/>
              </a:solidFill>
            </a:endParaRPr>
          </a:p>
        </p:txBody>
      </p:sp>
      <p:sp>
        <p:nvSpPr>
          <p:cNvPr id="189" name="Google Shape;189;p41">
            <a:extLst>
              <a:ext uri="{FF2B5EF4-FFF2-40B4-BE49-F238E27FC236}">
                <a16:creationId xmlns:a16="http://schemas.microsoft.com/office/drawing/2014/main" id="{4F38E044-101C-FC4F-7DC8-C25451748BE4}"/>
              </a:ext>
            </a:extLst>
          </p:cNvPr>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139700" lvl="0" indent="0" algn="l" rtl="0">
              <a:lnSpc>
                <a:spcPct val="115000"/>
              </a:lnSpc>
              <a:spcBef>
                <a:spcPts val="1000"/>
              </a:spcBef>
              <a:spcAft>
                <a:spcPts val="0"/>
              </a:spcAft>
              <a:buClr>
                <a:srgbClr val="000000"/>
              </a:buClr>
              <a:buSzPts val="1400"/>
              <a:buNone/>
            </a:pPr>
            <a:r>
              <a:rPr lang="en-US" sz="1400" b="1">
                <a:solidFill>
                  <a:schemeClr val="dk1"/>
                </a:solidFill>
              </a:rPr>
              <a:t>Overview of final ML model and its parameters</a:t>
            </a:r>
          </a:p>
          <a:p>
            <a:pPr marL="274320" lvl="1" indent="0">
              <a:lnSpc>
                <a:spcPct val="100000"/>
              </a:lnSpc>
              <a:spcBef>
                <a:spcPts val="300"/>
              </a:spcBef>
              <a:buClr>
                <a:srgbClr val="000000"/>
              </a:buClr>
              <a:buSzPts val="1400"/>
              <a:buNone/>
            </a:pPr>
            <a:r>
              <a:rPr lang="en-US" sz="1200">
                <a:solidFill>
                  <a:srgbClr val="002060"/>
                </a:solidFill>
              </a:rPr>
              <a:t>Best parameters are {'subsample': 0.8, 'n_estimators': 150, 'gamma': 5, 'colsample_bytree': 1.0, 'colsample_bylevel': 1.0} with CV score=0.8028357969498081:</a:t>
            </a:r>
          </a:p>
          <a:p>
            <a:pPr marL="274320" lvl="1" indent="0">
              <a:lnSpc>
                <a:spcPct val="100000"/>
              </a:lnSpc>
              <a:spcBef>
                <a:spcPts val="300"/>
              </a:spcBef>
              <a:buClr>
                <a:srgbClr val="000000"/>
              </a:buClr>
              <a:buSzPts val="1400"/>
              <a:buNone/>
            </a:pPr>
            <a:endParaRPr lang="en-US" sz="1200">
              <a:solidFill>
                <a:srgbClr val="002060"/>
              </a:solidFill>
            </a:endParaRPr>
          </a:p>
          <a:p>
            <a:pPr marL="274320" lvl="1" indent="0">
              <a:lnSpc>
                <a:spcPct val="100000"/>
              </a:lnSpc>
              <a:spcBef>
                <a:spcPts val="300"/>
              </a:spcBef>
              <a:buClr>
                <a:srgbClr val="000000"/>
              </a:buClr>
              <a:buSzPts val="1400"/>
              <a:buNone/>
            </a:pPr>
            <a:r>
              <a:rPr lang="en-US" sz="1050">
                <a:solidFill>
                  <a:srgbClr val="002060"/>
                </a:solidFill>
              </a:rPr>
              <a:t>Our final model successfully decodes the complexity of the visa process.</a:t>
            </a:r>
          </a:p>
          <a:p>
            <a:pPr marL="274320" lvl="1" indent="0">
              <a:lnSpc>
                <a:spcPct val="100000"/>
              </a:lnSpc>
              <a:spcBef>
                <a:spcPts val="300"/>
              </a:spcBef>
              <a:buClr>
                <a:srgbClr val="000000"/>
              </a:buClr>
              <a:buSzPts val="1400"/>
              <a:buNone/>
            </a:pPr>
            <a:r>
              <a:rPr lang="en-US" sz="1050">
                <a:solidFill>
                  <a:srgbClr val="002060"/>
                </a:solidFill>
              </a:rPr>
              <a:t>By prioritizing Education and Experience (as seen in the Feature Importance plot), </a:t>
            </a:r>
          </a:p>
          <a:p>
            <a:pPr marL="274320" lvl="1" indent="0">
              <a:lnSpc>
                <a:spcPct val="100000"/>
              </a:lnSpc>
              <a:spcBef>
                <a:spcPts val="300"/>
              </a:spcBef>
              <a:buClr>
                <a:srgbClr val="000000"/>
              </a:buClr>
              <a:buSzPts val="1400"/>
              <a:buNone/>
            </a:pPr>
            <a:r>
              <a:rPr lang="en-US" sz="1050">
                <a:solidFill>
                  <a:srgbClr val="002060"/>
                </a:solidFill>
              </a:rPr>
              <a:t>It achieves a high Recall of 84.5% on unseen data. This allows the OFLC to automate </a:t>
            </a:r>
          </a:p>
          <a:p>
            <a:pPr marL="274320" lvl="1" indent="0">
              <a:lnSpc>
                <a:spcPct val="100000"/>
              </a:lnSpc>
              <a:spcBef>
                <a:spcPts val="300"/>
              </a:spcBef>
              <a:buClr>
                <a:srgbClr val="000000"/>
              </a:buClr>
              <a:buSzPts val="1400"/>
              <a:buNone/>
            </a:pPr>
            <a:r>
              <a:rPr lang="en-US" sz="1050">
                <a:solidFill>
                  <a:srgbClr val="002060"/>
                </a:solidFill>
              </a:rPr>
              <a:t>the vast majority of 'clear-path' applications while maintaining an 80% precision rate, </a:t>
            </a:r>
          </a:p>
          <a:p>
            <a:pPr marL="274320" lvl="1" indent="0">
              <a:lnSpc>
                <a:spcPct val="100000"/>
              </a:lnSpc>
              <a:spcBef>
                <a:spcPts val="300"/>
              </a:spcBef>
              <a:buClr>
                <a:srgbClr val="000000"/>
              </a:buClr>
              <a:buSzPts val="1400"/>
              <a:buNone/>
            </a:pPr>
            <a:r>
              <a:rPr lang="en-US" sz="1050">
                <a:solidFill>
                  <a:srgbClr val="002060"/>
                </a:solidFill>
              </a:rPr>
              <a:t>effectively solving the scalability crisis</a:t>
            </a:r>
          </a:p>
          <a:p>
            <a:pPr marL="0" lvl="0" indent="0" algn="l" rtl="0">
              <a:lnSpc>
                <a:spcPct val="115000"/>
              </a:lnSpc>
              <a:spcBef>
                <a:spcPts val="1000"/>
              </a:spcBef>
              <a:spcAft>
                <a:spcPts val="1000"/>
              </a:spcAft>
              <a:buSzPts val="1500"/>
              <a:buNone/>
            </a:pPr>
            <a:endParaRPr sz="1400">
              <a:solidFill>
                <a:srgbClr val="000000"/>
              </a:solidFill>
            </a:endParaRPr>
          </a:p>
        </p:txBody>
      </p:sp>
      <p:sp>
        <p:nvSpPr>
          <p:cNvPr id="190" name="Google Shape;190;p41">
            <a:extLst>
              <a:ext uri="{FF2B5EF4-FFF2-40B4-BE49-F238E27FC236}">
                <a16:creationId xmlns:a16="http://schemas.microsoft.com/office/drawing/2014/main" id="{46A6762F-055C-0AE1-CC5B-809B23B2C4A0}"/>
              </a:ext>
            </a:extLst>
          </p:cNvPr>
          <p:cNvSpPr txBox="1"/>
          <p:nvPr/>
        </p:nvSpPr>
        <p:spPr>
          <a:xfrm>
            <a:off x="4077350" y="4568775"/>
            <a:ext cx="5010600" cy="3693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1200"/>
              <a:buFont typeface="Arial"/>
              <a:buNone/>
            </a:pPr>
            <a:endParaRPr sz="1200" b="0" i="1" u="none" strike="noStrike" cap="none">
              <a:solidFill>
                <a:srgbClr val="666666"/>
              </a:solidFill>
              <a:latin typeface="Nunito"/>
              <a:ea typeface="Nunito"/>
              <a:cs typeface="Nunito"/>
              <a:sym typeface="Nunito"/>
            </a:endParaRPr>
          </a:p>
        </p:txBody>
      </p:sp>
      <p:pic>
        <p:nvPicPr>
          <p:cNvPr id="6" name="Picture 5">
            <a:extLst>
              <a:ext uri="{FF2B5EF4-FFF2-40B4-BE49-F238E27FC236}">
                <a16:creationId xmlns:a16="http://schemas.microsoft.com/office/drawing/2014/main" id="{F77F468C-611B-64D4-2DA4-26BFAF90D647}"/>
              </a:ext>
            </a:extLst>
          </p:cNvPr>
          <p:cNvPicPr>
            <a:picLocks noChangeAspect="1"/>
          </p:cNvPicPr>
          <p:nvPr/>
        </p:nvPicPr>
        <p:blipFill>
          <a:blip r:embed="rId3">
            <a:alphaModFix/>
          </a:blip>
          <a:stretch>
            <a:fillRect/>
          </a:stretch>
        </p:blipFill>
        <p:spPr>
          <a:xfrm>
            <a:off x="5415240" y="1738859"/>
            <a:ext cx="3417110" cy="1771358"/>
          </a:xfrm>
          <a:prstGeom prst="roundRect">
            <a:avLst/>
          </a:prstGeom>
        </p:spPr>
      </p:pic>
    </p:spTree>
    <p:extLst>
      <p:ext uri="{BB962C8B-B14F-4D97-AF65-F5344CB8AC3E}">
        <p14:creationId xmlns:p14="http://schemas.microsoft.com/office/powerpoint/2010/main" val="27487654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7">
          <a:extLst>
            <a:ext uri="{FF2B5EF4-FFF2-40B4-BE49-F238E27FC236}">
              <a16:creationId xmlns:a16="http://schemas.microsoft.com/office/drawing/2014/main" id="{5106BF34-BA06-52FC-396A-E0FDE2B63770}"/>
            </a:ext>
          </a:extLst>
        </p:cNvPr>
        <p:cNvGrpSpPr/>
        <p:nvPr/>
      </p:nvGrpSpPr>
      <p:grpSpPr>
        <a:xfrm>
          <a:off x="0" y="0"/>
          <a:ext cx="0" cy="0"/>
          <a:chOff x="0" y="0"/>
          <a:chExt cx="0" cy="0"/>
        </a:xfrm>
      </p:grpSpPr>
      <p:sp>
        <p:nvSpPr>
          <p:cNvPr id="188" name="Google Shape;188;p41">
            <a:extLst>
              <a:ext uri="{FF2B5EF4-FFF2-40B4-BE49-F238E27FC236}">
                <a16:creationId xmlns:a16="http://schemas.microsoft.com/office/drawing/2014/main" id="{F6264A0D-5380-4557-55DE-5A1E5DBBC7D9}"/>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Model Performance Summary and Final Model Selection</a:t>
            </a:r>
            <a:endParaRPr>
              <a:solidFill>
                <a:srgbClr val="000000"/>
              </a:solidFill>
            </a:endParaRPr>
          </a:p>
        </p:txBody>
      </p:sp>
      <p:sp>
        <p:nvSpPr>
          <p:cNvPr id="189" name="Google Shape;189;p41">
            <a:extLst>
              <a:ext uri="{FF2B5EF4-FFF2-40B4-BE49-F238E27FC236}">
                <a16:creationId xmlns:a16="http://schemas.microsoft.com/office/drawing/2014/main" id="{1335CEA7-D599-5152-B15E-117B7E3ADB3A}"/>
              </a:ext>
            </a:extLst>
          </p:cNvPr>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139700" lvl="0" indent="0">
              <a:spcBef>
                <a:spcPts val="1000"/>
              </a:spcBef>
              <a:buClr>
                <a:srgbClr val="000000"/>
              </a:buClr>
              <a:buSzPts val="1400"/>
              <a:buNone/>
            </a:pPr>
            <a:r>
              <a:rPr lang="en-US" sz="1400" b="1">
                <a:solidFill>
                  <a:schemeClr val="dk1"/>
                </a:solidFill>
              </a:rPr>
              <a:t>Summary of the most important factors used by the ML model for prediction</a:t>
            </a:r>
          </a:p>
          <a:p>
            <a:pPr marL="0" lvl="0" indent="0" algn="l" rtl="0">
              <a:lnSpc>
                <a:spcPct val="100000"/>
              </a:lnSpc>
              <a:spcAft>
                <a:spcPts val="1000"/>
              </a:spcAft>
              <a:buSzPts val="1500"/>
              <a:buNone/>
            </a:pPr>
            <a:endParaRPr sz="1400">
              <a:solidFill>
                <a:srgbClr val="000000"/>
              </a:solidFill>
            </a:endParaRPr>
          </a:p>
        </p:txBody>
      </p:sp>
      <p:sp>
        <p:nvSpPr>
          <p:cNvPr id="190" name="Google Shape;190;p41">
            <a:extLst>
              <a:ext uri="{FF2B5EF4-FFF2-40B4-BE49-F238E27FC236}">
                <a16:creationId xmlns:a16="http://schemas.microsoft.com/office/drawing/2014/main" id="{7D21AFC1-C349-B4EB-DE7A-0E305DAEF749}"/>
              </a:ext>
            </a:extLst>
          </p:cNvPr>
          <p:cNvSpPr txBox="1"/>
          <p:nvPr/>
        </p:nvSpPr>
        <p:spPr>
          <a:xfrm>
            <a:off x="4077350" y="4568775"/>
            <a:ext cx="5010600" cy="3693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1200"/>
              <a:buFont typeface="Arial"/>
              <a:buNone/>
            </a:pPr>
            <a:endParaRPr sz="1200" b="0" i="1" u="none" strike="noStrike" cap="none">
              <a:solidFill>
                <a:srgbClr val="666666"/>
              </a:solidFill>
              <a:latin typeface="Nunito"/>
              <a:ea typeface="Nunito"/>
              <a:cs typeface="Nunito"/>
              <a:sym typeface="Nunito"/>
            </a:endParaRPr>
          </a:p>
        </p:txBody>
      </p:sp>
      <p:pic>
        <p:nvPicPr>
          <p:cNvPr id="6" name="Picture 5">
            <a:extLst>
              <a:ext uri="{FF2B5EF4-FFF2-40B4-BE49-F238E27FC236}">
                <a16:creationId xmlns:a16="http://schemas.microsoft.com/office/drawing/2014/main" id="{6671D1F9-27A3-BEFA-9C36-342C24371D98}"/>
              </a:ext>
            </a:extLst>
          </p:cNvPr>
          <p:cNvPicPr>
            <a:picLocks noChangeAspect="1"/>
          </p:cNvPicPr>
          <p:nvPr/>
        </p:nvPicPr>
        <p:blipFill>
          <a:blip r:embed="rId3">
            <a:alphaModFix/>
          </a:blip>
          <a:stretch>
            <a:fillRect/>
          </a:stretch>
        </p:blipFill>
        <p:spPr>
          <a:xfrm>
            <a:off x="4719132" y="1331555"/>
            <a:ext cx="4132238" cy="2971071"/>
          </a:xfrm>
          <a:prstGeom prst="roundRect">
            <a:avLst/>
          </a:prstGeom>
        </p:spPr>
      </p:pic>
      <p:sp>
        <p:nvSpPr>
          <p:cNvPr id="10" name="Rectangle 9">
            <a:extLst>
              <a:ext uri="{FF2B5EF4-FFF2-40B4-BE49-F238E27FC236}">
                <a16:creationId xmlns:a16="http://schemas.microsoft.com/office/drawing/2014/main" id="{970A2230-4291-A028-CFAE-B94DDA75DCF4}"/>
              </a:ext>
            </a:extLst>
          </p:cNvPr>
          <p:cNvSpPr/>
          <p:nvPr/>
        </p:nvSpPr>
        <p:spPr>
          <a:xfrm>
            <a:off x="183530" y="1547561"/>
            <a:ext cx="4516582" cy="273396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000" b="1">
                <a:solidFill>
                  <a:schemeClr val="accent6">
                    <a:lumMod val="50000"/>
                  </a:schemeClr>
                </a:solidFill>
              </a:rPr>
              <a:t>Education Level (The Primary Filter)</a:t>
            </a:r>
          </a:p>
          <a:p>
            <a:pPr marL="274320" lvl="2" algn="ctr">
              <a:spcBef>
                <a:spcPts val="200"/>
              </a:spcBef>
            </a:pPr>
            <a:r>
              <a:rPr lang="en-US" sz="900">
                <a:solidFill>
                  <a:schemeClr val="accent6">
                    <a:lumMod val="50000"/>
                  </a:schemeClr>
                </a:solidFill>
              </a:rPr>
              <a:t>Education emerged as the strongest predictor of success. </a:t>
            </a:r>
          </a:p>
          <a:p>
            <a:pPr marL="274320" lvl="2" algn="ctr">
              <a:spcBef>
                <a:spcPts val="200"/>
              </a:spcBef>
            </a:pPr>
            <a:r>
              <a:rPr lang="en-US" sz="900">
                <a:solidFill>
                  <a:schemeClr val="accent6">
                    <a:lumMod val="50000"/>
                  </a:schemeClr>
                </a:solidFill>
              </a:rPr>
              <a:t>Applicants with a </a:t>
            </a:r>
            <a:r>
              <a:rPr lang="en-US" sz="900" b="1">
                <a:solidFill>
                  <a:schemeClr val="accent6">
                    <a:lumMod val="50000"/>
                  </a:schemeClr>
                </a:solidFill>
              </a:rPr>
              <a:t>Doctorate</a:t>
            </a:r>
            <a:r>
              <a:rPr lang="en-US" sz="900">
                <a:solidFill>
                  <a:schemeClr val="accent6">
                    <a:lumMod val="50000"/>
                  </a:schemeClr>
                </a:solidFill>
              </a:rPr>
              <a:t> or </a:t>
            </a:r>
            <a:r>
              <a:rPr lang="en-US" sz="900" b="1">
                <a:solidFill>
                  <a:schemeClr val="accent6">
                    <a:lumMod val="50000"/>
                  </a:schemeClr>
                </a:solidFill>
              </a:rPr>
              <a:t>Master’s</a:t>
            </a:r>
            <a:r>
              <a:rPr lang="en-US" sz="900">
                <a:solidFill>
                  <a:schemeClr val="accent6">
                    <a:lumMod val="50000"/>
                  </a:schemeClr>
                </a:solidFill>
              </a:rPr>
              <a:t> degree are significantly more likely to be certified.</a:t>
            </a:r>
          </a:p>
          <a:p>
            <a:pPr algn="ctr"/>
            <a:r>
              <a:rPr lang="en-US" sz="1000" b="1">
                <a:solidFill>
                  <a:schemeClr val="accent6">
                    <a:lumMod val="50000"/>
                  </a:schemeClr>
                </a:solidFill>
              </a:rPr>
              <a:t>Prior Job Experience</a:t>
            </a:r>
          </a:p>
          <a:p>
            <a:pPr marL="274320" algn="ctr">
              <a:spcBef>
                <a:spcPts val="200"/>
              </a:spcBef>
            </a:pPr>
            <a:r>
              <a:rPr lang="en-US" sz="900">
                <a:solidFill>
                  <a:schemeClr val="accent6">
                    <a:lumMod val="50000"/>
                  </a:schemeClr>
                </a:solidFill>
              </a:rPr>
              <a:t>The model uses this as a "verification" of the applicant's readiness for the role. Having "Yes" for job experience is a major positive driver for the F1-score</a:t>
            </a:r>
          </a:p>
          <a:p>
            <a:pPr algn="ctr"/>
            <a:r>
              <a:rPr lang="en-US" sz="1000" b="1">
                <a:solidFill>
                  <a:schemeClr val="accent6">
                    <a:lumMod val="50000"/>
                  </a:schemeClr>
                </a:solidFill>
              </a:rPr>
              <a:t>Prevailing Wage</a:t>
            </a:r>
          </a:p>
          <a:p>
            <a:pPr marL="274320" algn="ctr">
              <a:spcBef>
                <a:spcPts val="200"/>
              </a:spcBef>
            </a:pPr>
            <a:r>
              <a:rPr lang="en-US" sz="900">
                <a:solidFill>
                  <a:schemeClr val="accent6">
                    <a:lumMod val="50000"/>
                  </a:schemeClr>
                </a:solidFill>
              </a:rPr>
              <a:t>The economic value of the position is a key quantitative driver. Applications with wages above $72,500 are prioritized by the model for certification.</a:t>
            </a:r>
          </a:p>
          <a:p>
            <a:pPr algn="ctr"/>
            <a:r>
              <a:rPr lang="en-US" sz="1000" b="1">
                <a:solidFill>
                  <a:schemeClr val="accent6">
                    <a:lumMod val="50000"/>
                  </a:schemeClr>
                </a:solidFill>
              </a:rPr>
              <a:t>Region of Employment</a:t>
            </a:r>
          </a:p>
          <a:p>
            <a:pPr marL="274320" algn="ctr">
              <a:spcBef>
                <a:spcPts val="200"/>
              </a:spcBef>
            </a:pPr>
            <a:r>
              <a:rPr lang="en-US" sz="900">
                <a:solidFill>
                  <a:schemeClr val="accent6">
                    <a:lumMod val="50000"/>
                  </a:schemeClr>
                </a:solidFill>
              </a:rPr>
              <a:t>Geography plays a surprising role in the model's decision-making process.</a:t>
            </a:r>
          </a:p>
          <a:p>
            <a:pPr marL="274320" lvl="1" algn="ctr">
              <a:spcBef>
                <a:spcPts val="300"/>
              </a:spcBef>
              <a:buSzPts val="1400"/>
            </a:pPr>
            <a:endParaRPr lang="en-US" sz="800">
              <a:solidFill>
                <a:schemeClr val="accent6">
                  <a:lumMod val="50000"/>
                </a:schemeClr>
              </a:solidFill>
            </a:endParaRPr>
          </a:p>
        </p:txBody>
      </p:sp>
    </p:spTree>
    <p:extLst>
      <p:ext uri="{BB962C8B-B14F-4D97-AF65-F5344CB8AC3E}">
        <p14:creationId xmlns:p14="http://schemas.microsoft.com/office/powerpoint/2010/main" val="14003011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42"/>
          <p:cNvSpPr txBox="1">
            <a:spLocks noGrp="1"/>
          </p:cNvSpPr>
          <p:nvPr>
            <p:ph type="ctrTitle"/>
          </p:nvPr>
        </p:nvSpPr>
        <p:spPr>
          <a:xfrm>
            <a:off x="0" y="2820425"/>
            <a:ext cx="9144000" cy="581700"/>
          </a:xfrm>
          <a:prstGeom prst="rect">
            <a:avLst/>
          </a:prstGeom>
          <a:solidFill>
            <a:srgbClr val="0000FF"/>
          </a:solid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800"/>
              <a:buNone/>
            </a:pPr>
            <a:r>
              <a:rPr lang="en" sz="3300">
                <a:solidFill>
                  <a:schemeClr val="lt1"/>
                </a:solidFill>
              </a:rPr>
              <a:t>APPENDIX</a:t>
            </a:r>
            <a:endParaRPr sz="3300">
              <a:solidFill>
                <a:schemeClr val="lt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43"/>
          <p:cNvSpPr txBox="1">
            <a:spLocks noGrp="1"/>
          </p:cNvSpPr>
          <p:nvPr>
            <p:ph type="title"/>
          </p:nvPr>
        </p:nvSpPr>
        <p:spPr>
          <a:xfrm>
            <a:off x="311700" y="123376"/>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Data Background and Contents</a:t>
            </a:r>
            <a:endParaRPr>
              <a:solidFill>
                <a:srgbClr val="000000"/>
              </a:solidFill>
            </a:endParaRPr>
          </a:p>
        </p:txBody>
      </p:sp>
      <p:sp>
        <p:nvSpPr>
          <p:cNvPr id="201" name="Google Shape;201;p43"/>
          <p:cNvSpPr txBox="1">
            <a:spLocks noGrp="1"/>
          </p:cNvSpPr>
          <p:nvPr>
            <p:ph type="body" idx="1"/>
          </p:nvPr>
        </p:nvSpPr>
        <p:spPr>
          <a:xfrm>
            <a:off x="311700" y="987920"/>
            <a:ext cx="3999900" cy="3970058"/>
          </a:xfrm>
          <a:prstGeom prst="rect">
            <a:avLst/>
          </a:prstGeom>
          <a:noFill/>
          <a:ln>
            <a:solidFill>
              <a:schemeClr val="accent1">
                <a:lumMod val="40000"/>
                <a:lumOff val="60000"/>
              </a:schemeClr>
            </a:solidFill>
          </a:ln>
        </p:spPr>
        <p:txBody>
          <a:bodyPr spcFirstLastPara="1" wrap="square" lIns="91425" tIns="91425" rIns="91425" bIns="91425" anchor="t" anchorCtr="0">
            <a:noAutofit/>
          </a:bodyPr>
          <a:lstStyle/>
          <a:p>
            <a:pPr marL="91440" lvl="0" indent="0">
              <a:lnSpc>
                <a:spcPct val="100000"/>
              </a:lnSpc>
              <a:spcAft>
                <a:spcPts val="200"/>
              </a:spcAft>
              <a:buClr>
                <a:srgbClr val="000000"/>
              </a:buClr>
              <a:buNone/>
            </a:pPr>
            <a:r>
              <a:rPr lang="en-US" sz="800">
                <a:solidFill>
                  <a:srgbClr val="002060"/>
                </a:solidFill>
              </a:rPr>
              <a:t>--------------------------------------------------</a:t>
            </a:r>
          </a:p>
          <a:p>
            <a:pPr marL="91440" lvl="0" indent="0">
              <a:spcAft>
                <a:spcPts val="200"/>
              </a:spcAft>
              <a:buClr>
                <a:srgbClr val="000000"/>
              </a:buClr>
              <a:buNone/>
            </a:pPr>
            <a:r>
              <a:rPr lang="en-US" sz="800">
                <a:solidFill>
                  <a:srgbClr val="002060"/>
                </a:solidFill>
              </a:rPr>
              <a:t>Asia             16861</a:t>
            </a:r>
          </a:p>
          <a:p>
            <a:pPr marL="91440" lvl="0" indent="0">
              <a:spcAft>
                <a:spcPts val="200"/>
              </a:spcAft>
              <a:buClr>
                <a:srgbClr val="000000"/>
              </a:buClr>
              <a:buNone/>
            </a:pPr>
            <a:r>
              <a:rPr lang="en-US" sz="800">
                <a:solidFill>
                  <a:srgbClr val="002060"/>
                </a:solidFill>
              </a:rPr>
              <a:t>Europe            3732</a:t>
            </a:r>
          </a:p>
          <a:p>
            <a:pPr marL="91440" lvl="0" indent="0">
              <a:spcAft>
                <a:spcPts val="200"/>
              </a:spcAft>
              <a:buClr>
                <a:srgbClr val="000000"/>
              </a:buClr>
              <a:buNone/>
            </a:pPr>
            <a:r>
              <a:rPr lang="en-US" sz="800">
                <a:solidFill>
                  <a:srgbClr val="002060"/>
                </a:solidFill>
              </a:rPr>
              <a:t>North America     3292</a:t>
            </a:r>
          </a:p>
          <a:p>
            <a:pPr marL="91440" lvl="0" indent="0">
              <a:spcAft>
                <a:spcPts val="200"/>
              </a:spcAft>
              <a:buClr>
                <a:srgbClr val="000000"/>
              </a:buClr>
              <a:buNone/>
            </a:pPr>
            <a:r>
              <a:rPr lang="en-US" sz="800">
                <a:solidFill>
                  <a:srgbClr val="002060"/>
                </a:solidFill>
              </a:rPr>
              <a:t>South America      852</a:t>
            </a:r>
          </a:p>
          <a:p>
            <a:pPr marL="91440" lvl="0" indent="0">
              <a:spcAft>
                <a:spcPts val="200"/>
              </a:spcAft>
              <a:buClr>
                <a:srgbClr val="000000"/>
              </a:buClr>
              <a:buNone/>
            </a:pPr>
            <a:r>
              <a:rPr lang="en-US" sz="800">
                <a:solidFill>
                  <a:srgbClr val="002060"/>
                </a:solidFill>
              </a:rPr>
              <a:t>Africa             551</a:t>
            </a:r>
          </a:p>
          <a:p>
            <a:pPr marL="91440" lvl="0" indent="0">
              <a:spcAft>
                <a:spcPts val="200"/>
              </a:spcAft>
              <a:buClr>
                <a:srgbClr val="000000"/>
              </a:buClr>
              <a:buNone/>
            </a:pPr>
            <a:r>
              <a:rPr lang="en-US" sz="800">
                <a:solidFill>
                  <a:srgbClr val="002060"/>
                </a:solidFill>
              </a:rPr>
              <a:t>Oceania            192</a:t>
            </a:r>
          </a:p>
          <a:p>
            <a:pPr marL="91440" lvl="0" indent="0">
              <a:spcAft>
                <a:spcPts val="200"/>
              </a:spcAft>
              <a:buClr>
                <a:srgbClr val="000000"/>
              </a:buClr>
              <a:buNone/>
            </a:pPr>
            <a:r>
              <a:rPr lang="en-US" sz="800">
                <a:solidFill>
                  <a:srgbClr val="002060"/>
                </a:solidFill>
              </a:rPr>
              <a:t>Name: continent, dtype: int64</a:t>
            </a:r>
          </a:p>
          <a:p>
            <a:pPr marL="91440" lvl="0" indent="0">
              <a:spcAft>
                <a:spcPts val="200"/>
              </a:spcAft>
              <a:buClr>
                <a:srgbClr val="000000"/>
              </a:buClr>
              <a:buNone/>
            </a:pPr>
            <a:r>
              <a:rPr lang="en-US" sz="800">
                <a:solidFill>
                  <a:srgbClr val="002060"/>
                </a:solidFill>
              </a:rPr>
              <a:t>--------------------------------------------------</a:t>
            </a:r>
          </a:p>
          <a:p>
            <a:pPr marL="91440" lvl="0" indent="0">
              <a:spcAft>
                <a:spcPts val="200"/>
              </a:spcAft>
              <a:buClr>
                <a:srgbClr val="000000"/>
              </a:buClr>
              <a:buNone/>
            </a:pPr>
            <a:r>
              <a:rPr lang="en-US" sz="800">
                <a:solidFill>
                  <a:srgbClr val="002060"/>
                </a:solidFill>
              </a:rPr>
              <a:t>Bachelor's     10234</a:t>
            </a:r>
          </a:p>
          <a:p>
            <a:pPr marL="91440" lvl="0" indent="0">
              <a:spcAft>
                <a:spcPts val="200"/>
              </a:spcAft>
              <a:buClr>
                <a:srgbClr val="000000"/>
              </a:buClr>
              <a:buNone/>
            </a:pPr>
            <a:r>
              <a:rPr lang="en-US" sz="800">
                <a:solidFill>
                  <a:srgbClr val="002060"/>
                </a:solidFill>
              </a:rPr>
              <a:t>Master's        9634</a:t>
            </a:r>
          </a:p>
          <a:p>
            <a:pPr marL="91440" lvl="0" indent="0">
              <a:spcAft>
                <a:spcPts val="200"/>
              </a:spcAft>
              <a:buClr>
                <a:srgbClr val="000000"/>
              </a:buClr>
              <a:buNone/>
            </a:pPr>
            <a:r>
              <a:rPr lang="en-US" sz="800">
                <a:solidFill>
                  <a:srgbClr val="002060"/>
                </a:solidFill>
              </a:rPr>
              <a:t>High School     3420</a:t>
            </a:r>
          </a:p>
          <a:p>
            <a:pPr marL="91440" lvl="0" indent="0">
              <a:spcAft>
                <a:spcPts val="200"/>
              </a:spcAft>
              <a:buClr>
                <a:srgbClr val="000000"/>
              </a:buClr>
              <a:buNone/>
            </a:pPr>
            <a:r>
              <a:rPr lang="en-US" sz="800">
                <a:solidFill>
                  <a:srgbClr val="002060"/>
                </a:solidFill>
              </a:rPr>
              <a:t>Doctorate       2192</a:t>
            </a:r>
          </a:p>
          <a:p>
            <a:pPr marL="91440" lvl="0" indent="0">
              <a:spcAft>
                <a:spcPts val="200"/>
              </a:spcAft>
              <a:buClr>
                <a:srgbClr val="000000"/>
              </a:buClr>
              <a:buNone/>
            </a:pPr>
            <a:r>
              <a:rPr lang="en-US" sz="800">
                <a:solidFill>
                  <a:srgbClr val="002060"/>
                </a:solidFill>
              </a:rPr>
              <a:t>Name: education_of_employee, dtype: int64</a:t>
            </a:r>
          </a:p>
          <a:p>
            <a:pPr marL="91440" lvl="0" indent="0">
              <a:spcAft>
                <a:spcPts val="200"/>
              </a:spcAft>
              <a:buClr>
                <a:srgbClr val="000000"/>
              </a:buClr>
              <a:buNone/>
            </a:pPr>
            <a:r>
              <a:rPr lang="en-US" sz="800">
                <a:solidFill>
                  <a:srgbClr val="002060"/>
                </a:solidFill>
              </a:rPr>
              <a:t>--------------------------------------------------</a:t>
            </a:r>
          </a:p>
          <a:p>
            <a:pPr marL="91440" lvl="0" indent="0">
              <a:spcAft>
                <a:spcPts val="200"/>
              </a:spcAft>
              <a:buClr>
                <a:srgbClr val="000000"/>
              </a:buClr>
              <a:buNone/>
            </a:pPr>
            <a:r>
              <a:rPr lang="en-US" sz="800">
                <a:solidFill>
                  <a:srgbClr val="002060"/>
                </a:solidFill>
              </a:rPr>
              <a:t>Y    14802</a:t>
            </a:r>
          </a:p>
          <a:p>
            <a:pPr marL="91440" lvl="0" indent="0">
              <a:spcAft>
                <a:spcPts val="200"/>
              </a:spcAft>
              <a:buClr>
                <a:srgbClr val="000000"/>
              </a:buClr>
              <a:buNone/>
            </a:pPr>
            <a:r>
              <a:rPr lang="en-US" sz="800">
                <a:solidFill>
                  <a:srgbClr val="002060"/>
                </a:solidFill>
              </a:rPr>
              <a:t>N    10678</a:t>
            </a:r>
          </a:p>
          <a:p>
            <a:pPr marL="91440" lvl="0" indent="0">
              <a:spcAft>
                <a:spcPts val="200"/>
              </a:spcAft>
              <a:buClr>
                <a:srgbClr val="000000"/>
              </a:buClr>
              <a:buNone/>
            </a:pPr>
            <a:r>
              <a:rPr lang="en-US" sz="800">
                <a:solidFill>
                  <a:srgbClr val="002060"/>
                </a:solidFill>
              </a:rPr>
              <a:t>Name: has_job_experience, dtype: int64</a:t>
            </a:r>
          </a:p>
          <a:p>
            <a:pPr marL="91440" lvl="0" indent="0" algn="l" rtl="0">
              <a:lnSpc>
                <a:spcPct val="100000"/>
              </a:lnSpc>
              <a:spcBef>
                <a:spcPts val="200"/>
              </a:spcBef>
              <a:spcAft>
                <a:spcPts val="200"/>
              </a:spcAft>
              <a:buClr>
                <a:srgbClr val="000000"/>
              </a:buClr>
              <a:buSzPts val="1400"/>
              <a:buNone/>
            </a:pPr>
            <a:endParaRPr sz="800">
              <a:solidFill>
                <a:srgbClr val="002060"/>
              </a:solidFill>
            </a:endParaRPr>
          </a:p>
        </p:txBody>
      </p:sp>
      <p:sp>
        <p:nvSpPr>
          <p:cNvPr id="2" name="Text Placeholder 1">
            <a:extLst>
              <a:ext uri="{FF2B5EF4-FFF2-40B4-BE49-F238E27FC236}">
                <a16:creationId xmlns:a16="http://schemas.microsoft.com/office/drawing/2014/main" id="{8807800B-741F-4387-66FE-6B316A3DEF61}"/>
              </a:ext>
            </a:extLst>
          </p:cNvPr>
          <p:cNvSpPr>
            <a:spLocks noGrp="1"/>
          </p:cNvSpPr>
          <p:nvPr>
            <p:ph type="body" idx="2"/>
          </p:nvPr>
        </p:nvSpPr>
        <p:spPr>
          <a:xfrm>
            <a:off x="4832400" y="987920"/>
            <a:ext cx="3999900" cy="4032203"/>
          </a:xfrm>
          <a:ln>
            <a:solidFill>
              <a:schemeClr val="accent1">
                <a:lumMod val="40000"/>
                <a:lumOff val="60000"/>
              </a:schemeClr>
            </a:solidFill>
          </a:ln>
        </p:spPr>
        <p:txBody>
          <a:bodyPr>
            <a:noAutofit/>
          </a:bodyPr>
          <a:lstStyle/>
          <a:p>
            <a:pPr marL="91440" lvl="0" indent="0">
              <a:spcAft>
                <a:spcPts val="100"/>
              </a:spcAft>
              <a:buClr>
                <a:srgbClr val="000000"/>
              </a:buClr>
              <a:buNone/>
            </a:pPr>
            <a:r>
              <a:rPr lang="en-US" sz="800">
                <a:solidFill>
                  <a:srgbClr val="002060"/>
                </a:solidFill>
              </a:rPr>
              <a:t>--------------------------------------------------</a:t>
            </a:r>
          </a:p>
          <a:p>
            <a:pPr marL="91440" lvl="0" indent="0">
              <a:spcAft>
                <a:spcPts val="100"/>
              </a:spcAft>
              <a:buClr>
                <a:srgbClr val="000000"/>
              </a:buClr>
              <a:buNone/>
            </a:pPr>
            <a:r>
              <a:rPr lang="en-US" sz="800">
                <a:solidFill>
                  <a:srgbClr val="002060"/>
                </a:solidFill>
              </a:rPr>
              <a:t>N    22525</a:t>
            </a:r>
          </a:p>
          <a:p>
            <a:pPr marL="91440" lvl="0" indent="0">
              <a:spcAft>
                <a:spcPts val="100"/>
              </a:spcAft>
              <a:buClr>
                <a:srgbClr val="000000"/>
              </a:buClr>
              <a:buNone/>
            </a:pPr>
            <a:r>
              <a:rPr lang="en-US" sz="800">
                <a:solidFill>
                  <a:srgbClr val="002060"/>
                </a:solidFill>
              </a:rPr>
              <a:t>Y     2955</a:t>
            </a:r>
          </a:p>
          <a:p>
            <a:pPr marL="91440" lvl="0" indent="0">
              <a:spcAft>
                <a:spcPts val="100"/>
              </a:spcAft>
              <a:buClr>
                <a:srgbClr val="000000"/>
              </a:buClr>
              <a:buNone/>
            </a:pPr>
            <a:r>
              <a:rPr lang="en-US" sz="800">
                <a:solidFill>
                  <a:srgbClr val="002060"/>
                </a:solidFill>
              </a:rPr>
              <a:t>Name: requires_job_training, dtype: int64</a:t>
            </a:r>
          </a:p>
          <a:p>
            <a:pPr marL="91440" lvl="0" indent="0">
              <a:spcAft>
                <a:spcPts val="100"/>
              </a:spcAft>
              <a:buClr>
                <a:srgbClr val="000000"/>
              </a:buClr>
              <a:buNone/>
            </a:pPr>
            <a:r>
              <a:rPr lang="en-US" sz="800">
                <a:solidFill>
                  <a:srgbClr val="002060"/>
                </a:solidFill>
              </a:rPr>
              <a:t>--------------------------------------------------</a:t>
            </a:r>
          </a:p>
          <a:p>
            <a:pPr marL="91440" lvl="0" indent="0">
              <a:spcAft>
                <a:spcPts val="100"/>
              </a:spcAft>
              <a:buClr>
                <a:srgbClr val="000000"/>
              </a:buClr>
              <a:buNone/>
            </a:pPr>
            <a:r>
              <a:rPr lang="en-US" sz="800">
                <a:solidFill>
                  <a:srgbClr val="002060"/>
                </a:solidFill>
              </a:rPr>
              <a:t>Northeast    7195</a:t>
            </a:r>
          </a:p>
          <a:p>
            <a:pPr marL="91440" lvl="0" indent="0">
              <a:spcAft>
                <a:spcPts val="100"/>
              </a:spcAft>
              <a:buClr>
                <a:srgbClr val="000000"/>
              </a:buClr>
              <a:buNone/>
            </a:pPr>
            <a:r>
              <a:rPr lang="en-US" sz="800">
                <a:solidFill>
                  <a:srgbClr val="002060"/>
                </a:solidFill>
              </a:rPr>
              <a:t>South        7017</a:t>
            </a:r>
          </a:p>
          <a:p>
            <a:pPr marL="91440" lvl="0" indent="0">
              <a:spcAft>
                <a:spcPts val="100"/>
              </a:spcAft>
              <a:buClr>
                <a:srgbClr val="000000"/>
              </a:buClr>
              <a:buNone/>
            </a:pPr>
            <a:r>
              <a:rPr lang="en-US" sz="800">
                <a:solidFill>
                  <a:srgbClr val="002060"/>
                </a:solidFill>
              </a:rPr>
              <a:t>West         6586</a:t>
            </a:r>
          </a:p>
          <a:p>
            <a:pPr marL="91440" lvl="0" indent="0">
              <a:spcAft>
                <a:spcPts val="100"/>
              </a:spcAft>
              <a:buClr>
                <a:srgbClr val="000000"/>
              </a:buClr>
              <a:buNone/>
            </a:pPr>
            <a:r>
              <a:rPr lang="en-US" sz="800">
                <a:solidFill>
                  <a:srgbClr val="002060"/>
                </a:solidFill>
              </a:rPr>
              <a:t>Midwest      4307</a:t>
            </a:r>
          </a:p>
          <a:p>
            <a:pPr marL="91440" lvl="0" indent="0">
              <a:spcAft>
                <a:spcPts val="100"/>
              </a:spcAft>
              <a:buClr>
                <a:srgbClr val="000000"/>
              </a:buClr>
              <a:buNone/>
            </a:pPr>
            <a:r>
              <a:rPr lang="en-US" sz="800">
                <a:solidFill>
                  <a:srgbClr val="002060"/>
                </a:solidFill>
              </a:rPr>
              <a:t>Island        375</a:t>
            </a:r>
          </a:p>
          <a:p>
            <a:pPr marL="91440" lvl="0" indent="0">
              <a:spcAft>
                <a:spcPts val="100"/>
              </a:spcAft>
              <a:buClr>
                <a:srgbClr val="000000"/>
              </a:buClr>
              <a:buNone/>
            </a:pPr>
            <a:r>
              <a:rPr lang="en-US" sz="800">
                <a:solidFill>
                  <a:srgbClr val="002060"/>
                </a:solidFill>
              </a:rPr>
              <a:t>Name: region_of_employment, dtype: int64</a:t>
            </a:r>
          </a:p>
          <a:p>
            <a:pPr marL="91440" lvl="0" indent="0">
              <a:spcAft>
                <a:spcPts val="100"/>
              </a:spcAft>
              <a:buClr>
                <a:srgbClr val="000000"/>
              </a:buClr>
              <a:buNone/>
            </a:pPr>
            <a:r>
              <a:rPr lang="en-US" sz="800">
                <a:solidFill>
                  <a:srgbClr val="002060"/>
                </a:solidFill>
              </a:rPr>
              <a:t>--------------------------------------------------</a:t>
            </a:r>
          </a:p>
          <a:p>
            <a:pPr marL="91440" lvl="0" indent="0">
              <a:spcAft>
                <a:spcPts val="100"/>
              </a:spcAft>
              <a:buClr>
                <a:srgbClr val="000000"/>
              </a:buClr>
              <a:buNone/>
            </a:pPr>
            <a:r>
              <a:rPr lang="en-US" sz="800">
                <a:solidFill>
                  <a:srgbClr val="002060"/>
                </a:solidFill>
              </a:rPr>
              <a:t>Year     22962</a:t>
            </a:r>
          </a:p>
          <a:p>
            <a:pPr marL="91440" lvl="0" indent="0">
              <a:spcAft>
                <a:spcPts val="100"/>
              </a:spcAft>
              <a:buClr>
                <a:srgbClr val="000000"/>
              </a:buClr>
              <a:buNone/>
            </a:pPr>
            <a:r>
              <a:rPr lang="en-US" sz="800">
                <a:solidFill>
                  <a:srgbClr val="002060"/>
                </a:solidFill>
              </a:rPr>
              <a:t>Hour      2157</a:t>
            </a:r>
          </a:p>
          <a:p>
            <a:pPr marL="91440" lvl="0" indent="0">
              <a:spcAft>
                <a:spcPts val="100"/>
              </a:spcAft>
              <a:buClr>
                <a:srgbClr val="000000"/>
              </a:buClr>
              <a:buNone/>
            </a:pPr>
            <a:r>
              <a:rPr lang="en-US" sz="800">
                <a:solidFill>
                  <a:srgbClr val="002060"/>
                </a:solidFill>
              </a:rPr>
              <a:t>Week       272</a:t>
            </a:r>
          </a:p>
          <a:p>
            <a:pPr marL="91440" lvl="0" indent="0">
              <a:spcAft>
                <a:spcPts val="100"/>
              </a:spcAft>
              <a:buClr>
                <a:srgbClr val="000000"/>
              </a:buClr>
              <a:buNone/>
            </a:pPr>
            <a:r>
              <a:rPr lang="en-US" sz="800">
                <a:solidFill>
                  <a:srgbClr val="002060"/>
                </a:solidFill>
              </a:rPr>
              <a:t>Month       89</a:t>
            </a:r>
          </a:p>
          <a:p>
            <a:pPr marL="91440" lvl="0" indent="0">
              <a:spcAft>
                <a:spcPts val="100"/>
              </a:spcAft>
              <a:buClr>
                <a:srgbClr val="000000"/>
              </a:buClr>
              <a:buNone/>
            </a:pPr>
            <a:r>
              <a:rPr lang="en-US" sz="800">
                <a:solidFill>
                  <a:srgbClr val="002060"/>
                </a:solidFill>
              </a:rPr>
              <a:t>Name: unit_of_wage, dtype: int64</a:t>
            </a:r>
          </a:p>
          <a:p>
            <a:pPr marL="91440" lvl="0" indent="0">
              <a:spcAft>
                <a:spcPts val="100"/>
              </a:spcAft>
              <a:buClr>
                <a:srgbClr val="000000"/>
              </a:buClr>
              <a:buNone/>
            </a:pPr>
            <a:r>
              <a:rPr lang="en-US" sz="800">
                <a:solidFill>
                  <a:srgbClr val="002060"/>
                </a:solidFill>
              </a:rPr>
              <a:t>--------------------------------------------------</a:t>
            </a:r>
          </a:p>
          <a:p>
            <a:pPr marL="91440" lvl="0" indent="0">
              <a:spcAft>
                <a:spcPts val="100"/>
              </a:spcAft>
              <a:buClr>
                <a:srgbClr val="000000"/>
              </a:buClr>
              <a:buNone/>
            </a:pPr>
            <a:r>
              <a:rPr lang="en-US" sz="800">
                <a:solidFill>
                  <a:srgbClr val="002060"/>
                </a:solidFill>
              </a:rPr>
              <a:t>Y    22773</a:t>
            </a:r>
          </a:p>
          <a:p>
            <a:pPr marL="91440" lvl="0" indent="0">
              <a:spcAft>
                <a:spcPts val="100"/>
              </a:spcAft>
              <a:buClr>
                <a:srgbClr val="000000"/>
              </a:buClr>
              <a:buNone/>
            </a:pPr>
            <a:r>
              <a:rPr lang="en-US" sz="800">
                <a:solidFill>
                  <a:srgbClr val="002060"/>
                </a:solidFill>
              </a:rPr>
              <a:t>N     2707</a:t>
            </a:r>
          </a:p>
          <a:p>
            <a:pPr marL="91440" lvl="0" indent="0">
              <a:spcAft>
                <a:spcPts val="100"/>
              </a:spcAft>
              <a:buClr>
                <a:srgbClr val="000000"/>
              </a:buClr>
              <a:buNone/>
            </a:pPr>
            <a:r>
              <a:rPr lang="en-US" sz="800">
                <a:solidFill>
                  <a:srgbClr val="002060"/>
                </a:solidFill>
              </a:rPr>
              <a:t>Name: full_time_position, dtype: int64</a:t>
            </a:r>
          </a:p>
          <a:p>
            <a:pPr marL="91440" lvl="0" indent="0">
              <a:spcAft>
                <a:spcPts val="100"/>
              </a:spcAft>
              <a:buClr>
                <a:srgbClr val="000000"/>
              </a:buClr>
              <a:buNone/>
            </a:pPr>
            <a:r>
              <a:rPr lang="en-US" sz="800">
                <a:solidFill>
                  <a:srgbClr val="002060"/>
                </a:solidFill>
              </a:rPr>
              <a:t>--------------------------------------------------</a:t>
            </a:r>
          </a:p>
          <a:p>
            <a:pPr marL="91440" lvl="0" indent="0">
              <a:spcAft>
                <a:spcPts val="100"/>
              </a:spcAft>
              <a:buClr>
                <a:srgbClr val="000000"/>
              </a:buClr>
              <a:buNone/>
            </a:pPr>
            <a:r>
              <a:rPr lang="en-US" sz="800">
                <a:solidFill>
                  <a:srgbClr val="002060"/>
                </a:solidFill>
              </a:rPr>
              <a:t>Certified    17018  66.8%</a:t>
            </a:r>
          </a:p>
          <a:p>
            <a:pPr marL="91440" lvl="0" indent="0">
              <a:spcAft>
                <a:spcPts val="100"/>
              </a:spcAft>
              <a:buClr>
                <a:srgbClr val="000000"/>
              </a:buClr>
              <a:buNone/>
            </a:pPr>
            <a:r>
              <a:rPr lang="en-US" sz="800">
                <a:solidFill>
                  <a:srgbClr val="002060"/>
                </a:solidFill>
              </a:rPr>
              <a:t>Denied        8462  33.2%</a:t>
            </a:r>
          </a:p>
          <a:p>
            <a:pPr marL="91440" lvl="0" indent="0">
              <a:spcAft>
                <a:spcPts val="100"/>
              </a:spcAft>
              <a:buClr>
                <a:srgbClr val="000000"/>
              </a:buClr>
              <a:buNone/>
            </a:pPr>
            <a:r>
              <a:rPr lang="en-US" sz="800">
                <a:solidFill>
                  <a:srgbClr val="002060"/>
                </a:solidFill>
              </a:rPr>
              <a:t>Name: case_status, dtype: int64</a:t>
            </a:r>
          </a:p>
          <a:p>
            <a:pPr marL="91440" lvl="0" indent="0">
              <a:spcAft>
                <a:spcPts val="100"/>
              </a:spcAft>
              <a:buClr>
                <a:srgbClr val="000000"/>
              </a:buClr>
              <a:buNone/>
            </a:pPr>
            <a:r>
              <a:rPr lang="en-US" sz="800">
                <a:solidFill>
                  <a:srgbClr val="002060"/>
                </a:solidFill>
              </a:rPr>
              <a:t>--------------------------------------------------</a:t>
            </a:r>
          </a:p>
          <a:p>
            <a:pPr marL="139700" indent="0">
              <a:buNone/>
            </a:pPr>
            <a:endParaRPr lang="en-US" sz="800">
              <a:solidFill>
                <a:srgbClr val="002060"/>
              </a:solidFill>
            </a:endParaRPr>
          </a:p>
        </p:txBody>
      </p:sp>
      <p:sp>
        <p:nvSpPr>
          <p:cNvPr id="3" name="TextBox 2">
            <a:extLst>
              <a:ext uri="{FF2B5EF4-FFF2-40B4-BE49-F238E27FC236}">
                <a16:creationId xmlns:a16="http://schemas.microsoft.com/office/drawing/2014/main" id="{D4D7E67C-2FF3-40E7-343D-49F4094AFD32}"/>
              </a:ext>
            </a:extLst>
          </p:cNvPr>
          <p:cNvSpPr txBox="1"/>
          <p:nvPr/>
        </p:nvSpPr>
        <p:spPr>
          <a:xfrm>
            <a:off x="311700" y="728240"/>
            <a:ext cx="8520600" cy="307777"/>
          </a:xfrm>
          <a:prstGeom prst="rect">
            <a:avLst/>
          </a:prstGeom>
          <a:noFill/>
        </p:spPr>
        <p:txBody>
          <a:bodyPr wrap="square" rtlCol="0">
            <a:spAutoFit/>
          </a:bodyPr>
          <a:lstStyle/>
          <a:p>
            <a:r>
              <a:rPr lang="en-US">
                <a:solidFill>
                  <a:schemeClr val="dk1"/>
                </a:solidFill>
              </a:rPr>
              <a:t>Count of unique Categories which feeds the EDA data </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9">
          <a:extLst>
            <a:ext uri="{FF2B5EF4-FFF2-40B4-BE49-F238E27FC236}">
              <a16:creationId xmlns:a16="http://schemas.microsoft.com/office/drawing/2014/main" id="{D7EBF331-3F4A-A8ED-26E2-A58939073E49}"/>
            </a:ext>
          </a:extLst>
        </p:cNvPr>
        <p:cNvGrpSpPr/>
        <p:nvPr/>
      </p:nvGrpSpPr>
      <p:grpSpPr>
        <a:xfrm>
          <a:off x="0" y="0"/>
          <a:ext cx="0" cy="0"/>
          <a:chOff x="0" y="0"/>
          <a:chExt cx="0" cy="0"/>
        </a:xfrm>
      </p:grpSpPr>
      <p:sp>
        <p:nvSpPr>
          <p:cNvPr id="200" name="Google Shape;200;p43">
            <a:extLst>
              <a:ext uri="{FF2B5EF4-FFF2-40B4-BE49-F238E27FC236}">
                <a16:creationId xmlns:a16="http://schemas.microsoft.com/office/drawing/2014/main" id="{0AE6FAFE-4EAE-306B-EBC8-F58123BC55D6}"/>
              </a:ext>
            </a:extLst>
          </p:cNvPr>
          <p:cNvSpPr txBox="1">
            <a:spLocks noGrp="1"/>
          </p:cNvSpPr>
          <p:nvPr>
            <p:ph type="title"/>
          </p:nvPr>
        </p:nvSpPr>
        <p:spPr>
          <a:xfrm>
            <a:off x="311700" y="123376"/>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Data Background and Contents</a:t>
            </a:r>
            <a:endParaRPr>
              <a:solidFill>
                <a:srgbClr val="000000"/>
              </a:solidFill>
            </a:endParaRPr>
          </a:p>
        </p:txBody>
      </p:sp>
      <p:sp>
        <p:nvSpPr>
          <p:cNvPr id="3" name="TextBox 2">
            <a:extLst>
              <a:ext uri="{FF2B5EF4-FFF2-40B4-BE49-F238E27FC236}">
                <a16:creationId xmlns:a16="http://schemas.microsoft.com/office/drawing/2014/main" id="{4118DFBE-01CF-54B6-C25E-0FE398B88E8E}"/>
              </a:ext>
            </a:extLst>
          </p:cNvPr>
          <p:cNvSpPr txBox="1"/>
          <p:nvPr/>
        </p:nvSpPr>
        <p:spPr>
          <a:xfrm>
            <a:off x="311700" y="728240"/>
            <a:ext cx="8520600" cy="307777"/>
          </a:xfrm>
          <a:prstGeom prst="rect">
            <a:avLst/>
          </a:prstGeom>
          <a:noFill/>
        </p:spPr>
        <p:txBody>
          <a:bodyPr wrap="square" rtlCol="0">
            <a:spAutoFit/>
          </a:bodyPr>
          <a:lstStyle/>
          <a:p>
            <a:r>
              <a:rPr lang="en-US">
                <a:solidFill>
                  <a:schemeClr val="dk1"/>
                </a:solidFill>
              </a:rPr>
              <a:t>Education to case_status ratio</a:t>
            </a:r>
            <a:endParaRPr lang="en-US"/>
          </a:p>
        </p:txBody>
      </p:sp>
      <p:graphicFrame>
        <p:nvGraphicFramePr>
          <p:cNvPr id="10" name="Table 9">
            <a:extLst>
              <a:ext uri="{FF2B5EF4-FFF2-40B4-BE49-F238E27FC236}">
                <a16:creationId xmlns:a16="http://schemas.microsoft.com/office/drawing/2014/main" id="{7E47011D-D348-18CB-B1DC-4A5572A84536}"/>
              </a:ext>
            </a:extLst>
          </p:cNvPr>
          <p:cNvGraphicFramePr>
            <a:graphicFrameLocks noGrp="1"/>
          </p:cNvGraphicFramePr>
          <p:nvPr>
            <p:extLst>
              <p:ext uri="{D42A27DB-BD31-4B8C-83A1-F6EECF244321}">
                <p14:modId xmlns:p14="http://schemas.microsoft.com/office/powerpoint/2010/main" val="4030680361"/>
              </p:ext>
            </p:extLst>
          </p:nvPr>
        </p:nvGraphicFramePr>
        <p:xfrm>
          <a:off x="379647" y="1068181"/>
          <a:ext cx="4127500" cy="914400"/>
        </p:xfrm>
        <a:graphic>
          <a:graphicData uri="http://schemas.openxmlformats.org/drawingml/2006/table">
            <a:tbl>
              <a:tblPr/>
              <a:tblGrid>
                <a:gridCol w="1892300">
                  <a:extLst>
                    <a:ext uri="{9D8B030D-6E8A-4147-A177-3AD203B41FA5}">
                      <a16:colId xmlns:a16="http://schemas.microsoft.com/office/drawing/2014/main" val="1815085346"/>
                    </a:ext>
                  </a:extLst>
                </a:gridCol>
                <a:gridCol w="1155700">
                  <a:extLst>
                    <a:ext uri="{9D8B030D-6E8A-4147-A177-3AD203B41FA5}">
                      <a16:colId xmlns:a16="http://schemas.microsoft.com/office/drawing/2014/main" val="859936340"/>
                    </a:ext>
                  </a:extLst>
                </a:gridCol>
                <a:gridCol w="1079500">
                  <a:extLst>
                    <a:ext uri="{9D8B030D-6E8A-4147-A177-3AD203B41FA5}">
                      <a16:colId xmlns:a16="http://schemas.microsoft.com/office/drawing/2014/main" val="2851307621"/>
                    </a:ext>
                  </a:extLst>
                </a:gridCol>
              </a:tblGrid>
              <a:tr h="182880">
                <a:tc>
                  <a:txBody>
                    <a:bodyPr/>
                    <a:lstStyle/>
                    <a:p>
                      <a:pPr algn="l" fontAlgn="b">
                        <a:buNone/>
                      </a:pPr>
                      <a:r>
                        <a:rPr lang="en-US" sz="1100" b="1" i="0" u="none" strike="noStrike">
                          <a:solidFill>
                            <a:srgbClr val="FFFFFF"/>
                          </a:solidFill>
                          <a:effectLst/>
                          <a:latin typeface="Aptos Narrow" panose="020B0004020202020204" pitchFamily="34" charset="0"/>
                        </a:rPr>
                        <a:t>Education</a:t>
                      </a:r>
                    </a:p>
                  </a:txBody>
                  <a:tcPr marL="3810" marR="3810" marT="3810" marB="0" anchor="b">
                    <a:lnL w="6350" cap="flat" cmpd="sng" algn="ctr">
                      <a:solidFill>
                        <a:srgbClr val="156082"/>
                      </a:solidFill>
                      <a:prstDash val="solid"/>
                      <a:round/>
                      <a:headEnd type="none" w="med" len="med"/>
                      <a:tailEnd type="none" w="med" len="med"/>
                    </a:lnL>
                    <a:lnR>
                      <a:noFill/>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solidFill>
                      <a:srgbClr val="156082"/>
                    </a:solidFill>
                  </a:tcPr>
                </a:tc>
                <a:tc>
                  <a:txBody>
                    <a:bodyPr/>
                    <a:lstStyle/>
                    <a:p>
                      <a:pPr algn="l" fontAlgn="b">
                        <a:buNone/>
                      </a:pPr>
                      <a:r>
                        <a:rPr lang="en-US" sz="1100" b="1" i="0" u="none" strike="noStrike">
                          <a:solidFill>
                            <a:srgbClr val="FFFFFF"/>
                          </a:solidFill>
                          <a:effectLst/>
                          <a:latin typeface="Aptos Narrow" panose="020B0004020202020204" pitchFamily="34" charset="0"/>
                        </a:rPr>
                        <a:t>Certified %</a:t>
                      </a:r>
                    </a:p>
                  </a:txBody>
                  <a:tcPr marL="3810" marR="3810" marT="3810" marB="0" anchor="b">
                    <a:lnL>
                      <a:noFill/>
                    </a:lnL>
                    <a:lnR>
                      <a:noFill/>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solidFill>
                      <a:srgbClr val="156082"/>
                    </a:solidFill>
                  </a:tcPr>
                </a:tc>
                <a:tc>
                  <a:txBody>
                    <a:bodyPr/>
                    <a:lstStyle/>
                    <a:p>
                      <a:pPr algn="l" fontAlgn="b">
                        <a:buNone/>
                      </a:pPr>
                      <a:r>
                        <a:rPr lang="en-US" sz="1100" b="1" i="0" u="none" strike="noStrike">
                          <a:solidFill>
                            <a:srgbClr val="FFFFFF"/>
                          </a:solidFill>
                          <a:effectLst/>
                          <a:latin typeface="Aptos Narrow" panose="020B0004020202020204" pitchFamily="34" charset="0"/>
                        </a:rPr>
                        <a:t>Denied %</a:t>
                      </a:r>
                    </a:p>
                  </a:txBody>
                  <a:tcPr marL="3810" marR="3810" marT="3810" marB="0" anchor="b">
                    <a:lnL>
                      <a:noFill/>
                    </a:lnL>
                    <a:lnR w="6350" cap="flat" cmpd="sng" algn="ctr">
                      <a:solidFill>
                        <a:srgbClr val="156082"/>
                      </a:solidFill>
                      <a:prstDash val="solid"/>
                      <a:round/>
                      <a:headEnd type="none" w="med" len="med"/>
                      <a:tailEnd type="none" w="med" len="med"/>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solidFill>
                      <a:srgbClr val="156082"/>
                    </a:solidFill>
                  </a:tcPr>
                </a:tc>
                <a:extLst>
                  <a:ext uri="{0D108BD9-81ED-4DB2-BD59-A6C34878D82A}">
                    <a16:rowId xmlns:a16="http://schemas.microsoft.com/office/drawing/2014/main" val="2274999601"/>
                  </a:ext>
                </a:extLst>
              </a:tr>
              <a:tr h="182880">
                <a:tc>
                  <a:txBody>
                    <a:bodyPr/>
                    <a:lstStyle/>
                    <a:p>
                      <a:pPr algn="l" fontAlgn="b">
                        <a:buNone/>
                      </a:pPr>
                      <a:r>
                        <a:rPr lang="en-US" sz="1100" b="0" i="0" u="none" strike="noStrike">
                          <a:solidFill>
                            <a:srgbClr val="000000"/>
                          </a:solidFill>
                          <a:effectLst/>
                          <a:latin typeface="Aptos Narrow" panose="020B0004020202020204" pitchFamily="34" charset="0"/>
                        </a:rPr>
                        <a:t>Bachelor's</a:t>
                      </a:r>
                    </a:p>
                  </a:txBody>
                  <a:tcPr marL="3810" marR="3810" marT="3810" marB="0" anchor="b">
                    <a:lnL w="6350" cap="flat" cmpd="sng" algn="ctr">
                      <a:solidFill>
                        <a:srgbClr val="156082"/>
                      </a:solidFill>
                      <a:prstDash val="solid"/>
                      <a:round/>
                      <a:headEnd type="none" w="med" len="med"/>
                      <a:tailEnd type="none" w="med" len="med"/>
                    </a:lnL>
                    <a:lnR>
                      <a:noFill/>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noFill/>
                  </a:tcPr>
                </a:tc>
                <a:tc>
                  <a:txBody>
                    <a:bodyPr/>
                    <a:lstStyle/>
                    <a:p>
                      <a:pPr algn="r" fontAlgn="b">
                        <a:buNone/>
                      </a:pPr>
                      <a:r>
                        <a:rPr lang="en-US" sz="1100" b="0" i="0" u="none" strike="noStrike">
                          <a:solidFill>
                            <a:srgbClr val="000000"/>
                          </a:solidFill>
                          <a:effectLst/>
                          <a:latin typeface="Aptos Narrow" panose="020B0004020202020204" pitchFamily="34" charset="0"/>
                        </a:rPr>
                        <a:t>62.21</a:t>
                      </a:r>
                    </a:p>
                  </a:txBody>
                  <a:tcPr marL="3810" marR="3810" marT="3810" marB="0" anchor="b">
                    <a:lnL>
                      <a:noFill/>
                    </a:lnL>
                    <a:lnR>
                      <a:noFill/>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noFill/>
                  </a:tcPr>
                </a:tc>
                <a:tc>
                  <a:txBody>
                    <a:bodyPr/>
                    <a:lstStyle/>
                    <a:p>
                      <a:pPr algn="r" fontAlgn="b">
                        <a:buNone/>
                      </a:pPr>
                      <a:r>
                        <a:rPr lang="en-US" sz="1100" b="0" i="0" u="none" strike="noStrike">
                          <a:solidFill>
                            <a:srgbClr val="000000"/>
                          </a:solidFill>
                          <a:effectLst/>
                          <a:latin typeface="Aptos Narrow" panose="020B0004020202020204" pitchFamily="34" charset="0"/>
                        </a:rPr>
                        <a:t>37.79</a:t>
                      </a:r>
                    </a:p>
                  </a:txBody>
                  <a:tcPr marL="3810" marR="3810" marT="3810" marB="0" anchor="b">
                    <a:lnL>
                      <a:noFill/>
                    </a:lnL>
                    <a:lnR w="6350" cap="flat" cmpd="sng" algn="ctr">
                      <a:solidFill>
                        <a:srgbClr val="156082"/>
                      </a:solidFill>
                      <a:prstDash val="solid"/>
                      <a:round/>
                      <a:headEnd type="none" w="med" len="med"/>
                      <a:tailEnd type="none" w="med" len="med"/>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noFill/>
                  </a:tcPr>
                </a:tc>
                <a:extLst>
                  <a:ext uri="{0D108BD9-81ED-4DB2-BD59-A6C34878D82A}">
                    <a16:rowId xmlns:a16="http://schemas.microsoft.com/office/drawing/2014/main" val="734729060"/>
                  </a:ext>
                </a:extLst>
              </a:tr>
              <a:tr h="182880">
                <a:tc>
                  <a:txBody>
                    <a:bodyPr/>
                    <a:lstStyle/>
                    <a:p>
                      <a:pPr algn="l" fontAlgn="b">
                        <a:buNone/>
                      </a:pPr>
                      <a:r>
                        <a:rPr lang="en-US" sz="1100" b="0" i="0" u="none" strike="noStrike">
                          <a:solidFill>
                            <a:srgbClr val="000000"/>
                          </a:solidFill>
                          <a:effectLst/>
                          <a:latin typeface="Aptos Narrow" panose="020B0004020202020204" pitchFamily="34" charset="0"/>
                        </a:rPr>
                        <a:t>Doctorate</a:t>
                      </a:r>
                    </a:p>
                  </a:txBody>
                  <a:tcPr marL="3810" marR="3810" marT="3810" marB="0" anchor="b">
                    <a:lnL w="6350" cap="flat" cmpd="sng" algn="ctr">
                      <a:solidFill>
                        <a:srgbClr val="156082"/>
                      </a:solidFill>
                      <a:prstDash val="solid"/>
                      <a:round/>
                      <a:headEnd type="none" w="med" len="med"/>
                      <a:tailEnd type="none" w="med" len="med"/>
                    </a:lnL>
                    <a:lnR>
                      <a:noFill/>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noFill/>
                  </a:tcPr>
                </a:tc>
                <a:tc>
                  <a:txBody>
                    <a:bodyPr/>
                    <a:lstStyle/>
                    <a:p>
                      <a:pPr algn="r" fontAlgn="b">
                        <a:buNone/>
                      </a:pPr>
                      <a:r>
                        <a:rPr lang="en-US" sz="1100" b="0" i="0" u="none" strike="noStrike">
                          <a:solidFill>
                            <a:srgbClr val="000000"/>
                          </a:solidFill>
                          <a:effectLst/>
                          <a:latin typeface="Aptos Narrow" panose="020B0004020202020204" pitchFamily="34" charset="0"/>
                        </a:rPr>
                        <a:t>87.23</a:t>
                      </a:r>
                    </a:p>
                  </a:txBody>
                  <a:tcPr marL="3810" marR="3810" marT="3810" marB="0" anchor="b">
                    <a:lnL>
                      <a:noFill/>
                    </a:lnL>
                    <a:lnR>
                      <a:noFill/>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noFill/>
                  </a:tcPr>
                </a:tc>
                <a:tc>
                  <a:txBody>
                    <a:bodyPr/>
                    <a:lstStyle/>
                    <a:p>
                      <a:pPr algn="r" fontAlgn="b">
                        <a:buNone/>
                      </a:pPr>
                      <a:r>
                        <a:rPr lang="en-US" sz="1100" b="0" i="0" u="none" strike="noStrike">
                          <a:solidFill>
                            <a:srgbClr val="000000"/>
                          </a:solidFill>
                          <a:effectLst/>
                          <a:latin typeface="Aptos Narrow" panose="020B0004020202020204" pitchFamily="34" charset="0"/>
                        </a:rPr>
                        <a:t>12.77</a:t>
                      </a:r>
                    </a:p>
                  </a:txBody>
                  <a:tcPr marL="3810" marR="3810" marT="3810" marB="0" anchor="b">
                    <a:lnL>
                      <a:noFill/>
                    </a:lnL>
                    <a:lnR w="6350" cap="flat" cmpd="sng" algn="ctr">
                      <a:solidFill>
                        <a:srgbClr val="156082"/>
                      </a:solidFill>
                      <a:prstDash val="solid"/>
                      <a:round/>
                      <a:headEnd type="none" w="med" len="med"/>
                      <a:tailEnd type="none" w="med" len="med"/>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noFill/>
                  </a:tcPr>
                </a:tc>
                <a:extLst>
                  <a:ext uri="{0D108BD9-81ED-4DB2-BD59-A6C34878D82A}">
                    <a16:rowId xmlns:a16="http://schemas.microsoft.com/office/drawing/2014/main" val="3600736205"/>
                  </a:ext>
                </a:extLst>
              </a:tr>
              <a:tr h="182880">
                <a:tc>
                  <a:txBody>
                    <a:bodyPr/>
                    <a:lstStyle/>
                    <a:p>
                      <a:pPr algn="l" fontAlgn="b">
                        <a:buNone/>
                      </a:pPr>
                      <a:r>
                        <a:rPr lang="en-US" sz="1100" b="0" i="0" u="none" strike="noStrike">
                          <a:solidFill>
                            <a:srgbClr val="000000"/>
                          </a:solidFill>
                          <a:effectLst/>
                          <a:latin typeface="Aptos Narrow" panose="020B0004020202020204" pitchFamily="34" charset="0"/>
                        </a:rPr>
                        <a:t>High School</a:t>
                      </a:r>
                    </a:p>
                  </a:txBody>
                  <a:tcPr marL="3810" marR="3810" marT="3810" marB="0" anchor="b">
                    <a:lnL w="6350" cap="flat" cmpd="sng" algn="ctr">
                      <a:solidFill>
                        <a:srgbClr val="156082"/>
                      </a:solidFill>
                      <a:prstDash val="solid"/>
                      <a:round/>
                      <a:headEnd type="none" w="med" len="med"/>
                      <a:tailEnd type="none" w="med" len="med"/>
                    </a:lnL>
                    <a:lnR>
                      <a:noFill/>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noFill/>
                  </a:tcPr>
                </a:tc>
                <a:tc>
                  <a:txBody>
                    <a:bodyPr/>
                    <a:lstStyle/>
                    <a:p>
                      <a:pPr algn="r" fontAlgn="b">
                        <a:buNone/>
                      </a:pPr>
                      <a:r>
                        <a:rPr lang="en-US" sz="1100" b="0" i="0" u="none" strike="noStrike">
                          <a:solidFill>
                            <a:srgbClr val="000000"/>
                          </a:solidFill>
                          <a:effectLst/>
                          <a:latin typeface="Aptos Narrow" panose="020B0004020202020204" pitchFamily="34" charset="0"/>
                        </a:rPr>
                        <a:t>34.04</a:t>
                      </a:r>
                    </a:p>
                  </a:txBody>
                  <a:tcPr marL="3810" marR="3810" marT="3810" marB="0" anchor="b">
                    <a:lnL>
                      <a:noFill/>
                    </a:lnL>
                    <a:lnR>
                      <a:noFill/>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noFill/>
                  </a:tcPr>
                </a:tc>
                <a:tc>
                  <a:txBody>
                    <a:bodyPr/>
                    <a:lstStyle/>
                    <a:p>
                      <a:pPr algn="r" fontAlgn="b">
                        <a:buNone/>
                      </a:pPr>
                      <a:r>
                        <a:rPr lang="en-US" sz="1100" b="0" i="0" u="none" strike="noStrike">
                          <a:solidFill>
                            <a:srgbClr val="000000"/>
                          </a:solidFill>
                          <a:effectLst/>
                          <a:latin typeface="Aptos Narrow" panose="020B0004020202020204" pitchFamily="34" charset="0"/>
                        </a:rPr>
                        <a:t>65.96</a:t>
                      </a:r>
                    </a:p>
                  </a:txBody>
                  <a:tcPr marL="3810" marR="3810" marT="3810" marB="0" anchor="b">
                    <a:lnL>
                      <a:noFill/>
                    </a:lnL>
                    <a:lnR w="6350" cap="flat" cmpd="sng" algn="ctr">
                      <a:solidFill>
                        <a:srgbClr val="156082"/>
                      </a:solidFill>
                      <a:prstDash val="solid"/>
                      <a:round/>
                      <a:headEnd type="none" w="med" len="med"/>
                      <a:tailEnd type="none" w="med" len="med"/>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noFill/>
                  </a:tcPr>
                </a:tc>
                <a:extLst>
                  <a:ext uri="{0D108BD9-81ED-4DB2-BD59-A6C34878D82A}">
                    <a16:rowId xmlns:a16="http://schemas.microsoft.com/office/drawing/2014/main" val="2557298928"/>
                  </a:ext>
                </a:extLst>
              </a:tr>
              <a:tr h="182880">
                <a:tc>
                  <a:txBody>
                    <a:bodyPr/>
                    <a:lstStyle/>
                    <a:p>
                      <a:pPr algn="l" fontAlgn="b">
                        <a:buNone/>
                      </a:pPr>
                      <a:r>
                        <a:rPr lang="en-US" sz="1100" b="0" i="0" u="none" strike="noStrike">
                          <a:solidFill>
                            <a:srgbClr val="000000"/>
                          </a:solidFill>
                          <a:effectLst/>
                          <a:latin typeface="Aptos Narrow" panose="020B0004020202020204" pitchFamily="34" charset="0"/>
                        </a:rPr>
                        <a:t>Master's</a:t>
                      </a:r>
                    </a:p>
                  </a:txBody>
                  <a:tcPr marL="3810" marR="3810" marT="3810" marB="0" anchor="b">
                    <a:lnL w="6350" cap="flat" cmpd="sng" algn="ctr">
                      <a:solidFill>
                        <a:srgbClr val="156082"/>
                      </a:solidFill>
                      <a:prstDash val="solid"/>
                      <a:round/>
                      <a:headEnd type="none" w="med" len="med"/>
                      <a:tailEnd type="none" w="med" len="med"/>
                    </a:lnL>
                    <a:lnR>
                      <a:noFill/>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noFill/>
                  </a:tcPr>
                </a:tc>
                <a:tc>
                  <a:txBody>
                    <a:bodyPr/>
                    <a:lstStyle/>
                    <a:p>
                      <a:pPr algn="r" fontAlgn="b">
                        <a:buNone/>
                      </a:pPr>
                      <a:r>
                        <a:rPr lang="en-US" sz="1100" b="0" i="0" u="none" strike="noStrike">
                          <a:solidFill>
                            <a:srgbClr val="000000"/>
                          </a:solidFill>
                          <a:effectLst/>
                          <a:latin typeface="Aptos Narrow" panose="020B0004020202020204" pitchFamily="34" charset="0"/>
                        </a:rPr>
                        <a:t>78.63</a:t>
                      </a:r>
                    </a:p>
                  </a:txBody>
                  <a:tcPr marL="3810" marR="3810" marT="3810" marB="0" anchor="b">
                    <a:lnL>
                      <a:noFill/>
                    </a:lnL>
                    <a:lnR>
                      <a:noFill/>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noFill/>
                  </a:tcPr>
                </a:tc>
                <a:tc>
                  <a:txBody>
                    <a:bodyPr/>
                    <a:lstStyle/>
                    <a:p>
                      <a:pPr algn="r" fontAlgn="b">
                        <a:buNone/>
                      </a:pPr>
                      <a:r>
                        <a:rPr lang="en-US" sz="1100" b="0" i="0" u="none" strike="noStrike">
                          <a:solidFill>
                            <a:srgbClr val="000000"/>
                          </a:solidFill>
                          <a:effectLst/>
                          <a:latin typeface="Aptos Narrow" panose="020B0004020202020204" pitchFamily="34" charset="0"/>
                        </a:rPr>
                        <a:t>21.37</a:t>
                      </a:r>
                    </a:p>
                  </a:txBody>
                  <a:tcPr marL="3810" marR="3810" marT="3810" marB="0" anchor="b">
                    <a:lnL>
                      <a:noFill/>
                    </a:lnL>
                    <a:lnR w="6350" cap="flat" cmpd="sng" algn="ctr">
                      <a:solidFill>
                        <a:srgbClr val="156082"/>
                      </a:solidFill>
                      <a:prstDash val="solid"/>
                      <a:round/>
                      <a:headEnd type="none" w="med" len="med"/>
                      <a:tailEnd type="none" w="med" len="med"/>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noFill/>
                  </a:tcPr>
                </a:tc>
                <a:extLst>
                  <a:ext uri="{0D108BD9-81ED-4DB2-BD59-A6C34878D82A}">
                    <a16:rowId xmlns:a16="http://schemas.microsoft.com/office/drawing/2014/main" val="3175576353"/>
                  </a:ext>
                </a:extLst>
              </a:tr>
            </a:tbl>
          </a:graphicData>
        </a:graphic>
      </p:graphicFrame>
      <p:graphicFrame>
        <p:nvGraphicFramePr>
          <p:cNvPr id="11" name="Table 10">
            <a:extLst>
              <a:ext uri="{FF2B5EF4-FFF2-40B4-BE49-F238E27FC236}">
                <a16:creationId xmlns:a16="http://schemas.microsoft.com/office/drawing/2014/main" id="{7C759749-BE60-7975-0D7B-A3EA0CBFA02F}"/>
              </a:ext>
            </a:extLst>
          </p:cNvPr>
          <p:cNvGraphicFramePr>
            <a:graphicFrameLocks noGrp="1"/>
          </p:cNvGraphicFramePr>
          <p:nvPr>
            <p:extLst>
              <p:ext uri="{D42A27DB-BD31-4B8C-83A1-F6EECF244321}">
                <p14:modId xmlns:p14="http://schemas.microsoft.com/office/powerpoint/2010/main" val="122778461"/>
              </p:ext>
            </p:extLst>
          </p:nvPr>
        </p:nvGraphicFramePr>
        <p:xfrm>
          <a:off x="379647" y="2443949"/>
          <a:ext cx="2895600" cy="548640"/>
        </p:xfrm>
        <a:graphic>
          <a:graphicData uri="http://schemas.openxmlformats.org/drawingml/2006/table">
            <a:tbl>
              <a:tblPr/>
              <a:tblGrid>
                <a:gridCol w="1346200">
                  <a:extLst>
                    <a:ext uri="{9D8B030D-6E8A-4147-A177-3AD203B41FA5}">
                      <a16:colId xmlns:a16="http://schemas.microsoft.com/office/drawing/2014/main" val="2381816436"/>
                    </a:ext>
                  </a:extLst>
                </a:gridCol>
                <a:gridCol w="812800">
                  <a:extLst>
                    <a:ext uri="{9D8B030D-6E8A-4147-A177-3AD203B41FA5}">
                      <a16:colId xmlns:a16="http://schemas.microsoft.com/office/drawing/2014/main" val="238163822"/>
                    </a:ext>
                  </a:extLst>
                </a:gridCol>
                <a:gridCol w="736600">
                  <a:extLst>
                    <a:ext uri="{9D8B030D-6E8A-4147-A177-3AD203B41FA5}">
                      <a16:colId xmlns:a16="http://schemas.microsoft.com/office/drawing/2014/main" val="1537472379"/>
                    </a:ext>
                  </a:extLst>
                </a:gridCol>
              </a:tblGrid>
              <a:tr h="182880">
                <a:tc>
                  <a:txBody>
                    <a:bodyPr/>
                    <a:lstStyle/>
                    <a:p>
                      <a:pPr algn="l" fontAlgn="b">
                        <a:buNone/>
                      </a:pPr>
                      <a:r>
                        <a:rPr lang="en-US" sz="1100" b="1" i="0" u="none" strike="noStrike">
                          <a:solidFill>
                            <a:srgbClr val="FFFFFF"/>
                          </a:solidFill>
                          <a:effectLst/>
                          <a:latin typeface="Aptos Narrow" panose="020B0004020202020204" pitchFamily="34" charset="0"/>
                        </a:rPr>
                        <a:t>has_job_experience</a:t>
                      </a:r>
                    </a:p>
                  </a:txBody>
                  <a:tcPr marL="3810" marR="3810" marT="3810" marB="0" anchor="b">
                    <a:lnL w="6350" cap="flat" cmpd="sng" algn="ctr">
                      <a:solidFill>
                        <a:srgbClr val="156082"/>
                      </a:solidFill>
                      <a:prstDash val="solid"/>
                      <a:round/>
                      <a:headEnd type="none" w="med" len="med"/>
                      <a:tailEnd type="none" w="med" len="med"/>
                    </a:lnL>
                    <a:lnR>
                      <a:noFill/>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solidFill>
                      <a:srgbClr val="156082"/>
                    </a:solidFill>
                  </a:tcPr>
                </a:tc>
                <a:tc>
                  <a:txBody>
                    <a:bodyPr/>
                    <a:lstStyle/>
                    <a:p>
                      <a:pPr algn="l" fontAlgn="b">
                        <a:buNone/>
                      </a:pPr>
                      <a:r>
                        <a:rPr lang="en-US" sz="1100" b="1" i="0" u="none" strike="noStrike">
                          <a:solidFill>
                            <a:srgbClr val="FFFFFF"/>
                          </a:solidFill>
                          <a:effectLst/>
                          <a:latin typeface="Aptos Narrow" panose="020B0004020202020204" pitchFamily="34" charset="0"/>
                        </a:rPr>
                        <a:t>Certified %</a:t>
                      </a:r>
                    </a:p>
                  </a:txBody>
                  <a:tcPr marL="3810" marR="3810" marT="3810" marB="0" anchor="b">
                    <a:lnL>
                      <a:noFill/>
                    </a:lnL>
                    <a:lnR>
                      <a:noFill/>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solidFill>
                      <a:srgbClr val="156082"/>
                    </a:solidFill>
                  </a:tcPr>
                </a:tc>
                <a:tc>
                  <a:txBody>
                    <a:bodyPr/>
                    <a:lstStyle/>
                    <a:p>
                      <a:pPr algn="l" fontAlgn="b">
                        <a:buNone/>
                      </a:pPr>
                      <a:r>
                        <a:rPr lang="en-US" sz="1100" b="1" i="0" u="none" strike="noStrike">
                          <a:solidFill>
                            <a:srgbClr val="FFFFFF"/>
                          </a:solidFill>
                          <a:effectLst/>
                          <a:latin typeface="Aptos Narrow" panose="020B0004020202020204" pitchFamily="34" charset="0"/>
                        </a:rPr>
                        <a:t>Denied %</a:t>
                      </a:r>
                    </a:p>
                  </a:txBody>
                  <a:tcPr marL="3810" marR="3810" marT="3810" marB="0" anchor="b">
                    <a:lnL>
                      <a:noFill/>
                    </a:lnL>
                    <a:lnR w="6350" cap="flat" cmpd="sng" algn="ctr">
                      <a:solidFill>
                        <a:srgbClr val="156082"/>
                      </a:solidFill>
                      <a:prstDash val="solid"/>
                      <a:round/>
                      <a:headEnd type="none" w="med" len="med"/>
                      <a:tailEnd type="none" w="med" len="med"/>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solidFill>
                      <a:srgbClr val="156082"/>
                    </a:solidFill>
                  </a:tcPr>
                </a:tc>
                <a:extLst>
                  <a:ext uri="{0D108BD9-81ED-4DB2-BD59-A6C34878D82A}">
                    <a16:rowId xmlns:a16="http://schemas.microsoft.com/office/drawing/2014/main" val="2828936505"/>
                  </a:ext>
                </a:extLst>
              </a:tr>
              <a:tr h="182880">
                <a:tc>
                  <a:txBody>
                    <a:bodyPr/>
                    <a:lstStyle/>
                    <a:p>
                      <a:pPr algn="l" fontAlgn="b">
                        <a:buNone/>
                      </a:pPr>
                      <a:r>
                        <a:rPr lang="en-US" sz="1100" b="0" i="0" u="none" strike="noStrike">
                          <a:solidFill>
                            <a:srgbClr val="000000"/>
                          </a:solidFill>
                          <a:effectLst/>
                          <a:latin typeface="Aptos Narrow" panose="020B0004020202020204" pitchFamily="34" charset="0"/>
                        </a:rPr>
                        <a:t>N</a:t>
                      </a:r>
                    </a:p>
                  </a:txBody>
                  <a:tcPr marL="3810" marR="3810" marT="3810" marB="0" anchor="b">
                    <a:lnL w="6350" cap="flat" cmpd="sng" algn="ctr">
                      <a:solidFill>
                        <a:srgbClr val="156082"/>
                      </a:solidFill>
                      <a:prstDash val="solid"/>
                      <a:round/>
                      <a:headEnd type="none" w="med" len="med"/>
                      <a:tailEnd type="none" w="med" len="med"/>
                    </a:lnL>
                    <a:lnR>
                      <a:noFill/>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noFill/>
                  </a:tcPr>
                </a:tc>
                <a:tc>
                  <a:txBody>
                    <a:bodyPr/>
                    <a:lstStyle/>
                    <a:p>
                      <a:pPr algn="r" fontAlgn="b">
                        <a:buNone/>
                      </a:pPr>
                      <a:r>
                        <a:rPr lang="en-US" sz="1100" b="0" i="0" u="none" strike="noStrike">
                          <a:solidFill>
                            <a:srgbClr val="000000"/>
                          </a:solidFill>
                          <a:effectLst/>
                          <a:latin typeface="Aptos Narrow" panose="020B0004020202020204" pitchFamily="34" charset="0"/>
                        </a:rPr>
                        <a:t>56.13</a:t>
                      </a:r>
                    </a:p>
                  </a:txBody>
                  <a:tcPr marL="3810" marR="3810" marT="3810" marB="0" anchor="b">
                    <a:lnL>
                      <a:noFill/>
                    </a:lnL>
                    <a:lnR>
                      <a:noFill/>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noFill/>
                  </a:tcPr>
                </a:tc>
                <a:tc>
                  <a:txBody>
                    <a:bodyPr/>
                    <a:lstStyle/>
                    <a:p>
                      <a:pPr algn="r" fontAlgn="b">
                        <a:buNone/>
                      </a:pPr>
                      <a:r>
                        <a:rPr lang="en-US" sz="1100" b="0" i="0" u="none" strike="noStrike">
                          <a:solidFill>
                            <a:srgbClr val="000000"/>
                          </a:solidFill>
                          <a:effectLst/>
                          <a:latin typeface="Aptos Narrow" panose="020B0004020202020204" pitchFamily="34" charset="0"/>
                        </a:rPr>
                        <a:t>43.87</a:t>
                      </a:r>
                    </a:p>
                  </a:txBody>
                  <a:tcPr marL="3810" marR="3810" marT="3810" marB="0" anchor="b">
                    <a:lnL>
                      <a:noFill/>
                    </a:lnL>
                    <a:lnR w="6350" cap="flat" cmpd="sng" algn="ctr">
                      <a:solidFill>
                        <a:srgbClr val="156082"/>
                      </a:solidFill>
                      <a:prstDash val="solid"/>
                      <a:round/>
                      <a:headEnd type="none" w="med" len="med"/>
                      <a:tailEnd type="none" w="med" len="med"/>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noFill/>
                  </a:tcPr>
                </a:tc>
                <a:extLst>
                  <a:ext uri="{0D108BD9-81ED-4DB2-BD59-A6C34878D82A}">
                    <a16:rowId xmlns:a16="http://schemas.microsoft.com/office/drawing/2014/main" val="401952089"/>
                  </a:ext>
                </a:extLst>
              </a:tr>
              <a:tr h="182880">
                <a:tc>
                  <a:txBody>
                    <a:bodyPr/>
                    <a:lstStyle/>
                    <a:p>
                      <a:pPr algn="l" fontAlgn="b">
                        <a:buNone/>
                      </a:pPr>
                      <a:r>
                        <a:rPr lang="en-US" sz="1100" b="0" i="0" u="none" strike="noStrike">
                          <a:solidFill>
                            <a:srgbClr val="000000"/>
                          </a:solidFill>
                          <a:effectLst/>
                          <a:latin typeface="Aptos Narrow" panose="020B0004020202020204" pitchFamily="34" charset="0"/>
                        </a:rPr>
                        <a:t>Y</a:t>
                      </a:r>
                    </a:p>
                  </a:txBody>
                  <a:tcPr marL="3810" marR="3810" marT="3810" marB="0" anchor="b">
                    <a:lnL w="6350" cap="flat" cmpd="sng" algn="ctr">
                      <a:solidFill>
                        <a:srgbClr val="156082"/>
                      </a:solidFill>
                      <a:prstDash val="solid"/>
                      <a:round/>
                      <a:headEnd type="none" w="med" len="med"/>
                      <a:tailEnd type="none" w="med" len="med"/>
                    </a:lnL>
                    <a:lnR>
                      <a:noFill/>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noFill/>
                  </a:tcPr>
                </a:tc>
                <a:tc>
                  <a:txBody>
                    <a:bodyPr/>
                    <a:lstStyle/>
                    <a:p>
                      <a:pPr algn="r" fontAlgn="b">
                        <a:buNone/>
                      </a:pPr>
                      <a:r>
                        <a:rPr lang="en-US" sz="1100" b="0" i="0" u="none" strike="noStrike">
                          <a:solidFill>
                            <a:srgbClr val="000000"/>
                          </a:solidFill>
                          <a:effectLst/>
                          <a:latin typeface="Aptos Narrow" panose="020B0004020202020204" pitchFamily="34" charset="0"/>
                        </a:rPr>
                        <a:t>74.48</a:t>
                      </a:r>
                    </a:p>
                  </a:txBody>
                  <a:tcPr marL="3810" marR="3810" marT="3810" marB="0" anchor="b">
                    <a:lnL>
                      <a:noFill/>
                    </a:lnL>
                    <a:lnR>
                      <a:noFill/>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noFill/>
                  </a:tcPr>
                </a:tc>
                <a:tc>
                  <a:txBody>
                    <a:bodyPr/>
                    <a:lstStyle/>
                    <a:p>
                      <a:pPr algn="r" fontAlgn="b">
                        <a:buNone/>
                      </a:pPr>
                      <a:r>
                        <a:rPr lang="en-US" sz="1100" b="0" i="0" u="none" strike="noStrike">
                          <a:solidFill>
                            <a:srgbClr val="000000"/>
                          </a:solidFill>
                          <a:effectLst/>
                          <a:latin typeface="Aptos Narrow" panose="020B0004020202020204" pitchFamily="34" charset="0"/>
                        </a:rPr>
                        <a:t>25.52</a:t>
                      </a:r>
                    </a:p>
                  </a:txBody>
                  <a:tcPr marL="3810" marR="3810" marT="3810" marB="0" anchor="b">
                    <a:lnL>
                      <a:noFill/>
                    </a:lnL>
                    <a:lnR w="6350" cap="flat" cmpd="sng" algn="ctr">
                      <a:solidFill>
                        <a:srgbClr val="156082"/>
                      </a:solidFill>
                      <a:prstDash val="solid"/>
                      <a:round/>
                      <a:headEnd type="none" w="med" len="med"/>
                      <a:tailEnd type="none" w="med" len="med"/>
                    </a:lnR>
                    <a:lnT w="6350" cap="flat" cmpd="sng" algn="ctr">
                      <a:solidFill>
                        <a:srgbClr val="156082"/>
                      </a:solidFill>
                      <a:prstDash val="solid"/>
                      <a:round/>
                      <a:headEnd type="none" w="med" len="med"/>
                      <a:tailEnd type="none" w="med" len="med"/>
                    </a:lnT>
                    <a:lnB w="6350" cap="flat" cmpd="sng" algn="ctr">
                      <a:solidFill>
                        <a:srgbClr val="156082"/>
                      </a:solidFill>
                      <a:prstDash val="solid"/>
                      <a:round/>
                      <a:headEnd type="none" w="med" len="med"/>
                      <a:tailEnd type="none" w="med" len="med"/>
                    </a:lnB>
                    <a:noFill/>
                  </a:tcPr>
                </a:tc>
                <a:extLst>
                  <a:ext uri="{0D108BD9-81ED-4DB2-BD59-A6C34878D82A}">
                    <a16:rowId xmlns:a16="http://schemas.microsoft.com/office/drawing/2014/main" val="33871701"/>
                  </a:ext>
                </a:extLst>
              </a:tr>
            </a:tbl>
          </a:graphicData>
        </a:graphic>
      </p:graphicFrame>
      <p:sp>
        <p:nvSpPr>
          <p:cNvPr id="13" name="TextBox 12">
            <a:extLst>
              <a:ext uri="{FF2B5EF4-FFF2-40B4-BE49-F238E27FC236}">
                <a16:creationId xmlns:a16="http://schemas.microsoft.com/office/drawing/2014/main" id="{8BF6E3EE-7CF7-ECD1-0DDE-7A59E65BF9A3}"/>
              </a:ext>
            </a:extLst>
          </p:cNvPr>
          <p:cNvSpPr txBox="1"/>
          <p:nvPr/>
        </p:nvSpPr>
        <p:spPr>
          <a:xfrm>
            <a:off x="247338" y="2136172"/>
            <a:ext cx="4572000" cy="307777"/>
          </a:xfrm>
          <a:prstGeom prst="rect">
            <a:avLst/>
          </a:prstGeom>
          <a:noFill/>
        </p:spPr>
        <p:txBody>
          <a:bodyPr wrap="square">
            <a:spAutoFit/>
          </a:bodyPr>
          <a:lstStyle/>
          <a:p>
            <a:r>
              <a:rPr lang="en-US">
                <a:solidFill>
                  <a:schemeClr val="dk1"/>
                </a:solidFill>
              </a:rPr>
              <a:t>Experience to case status ratio</a:t>
            </a:r>
            <a:endParaRPr lang="en-US"/>
          </a:p>
        </p:txBody>
      </p:sp>
    </p:spTree>
    <p:extLst>
      <p:ext uri="{BB962C8B-B14F-4D97-AF65-F5344CB8AC3E}">
        <p14:creationId xmlns:p14="http://schemas.microsoft.com/office/powerpoint/2010/main" val="6105804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44"/>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Model Building - Original Data</a:t>
            </a:r>
            <a:endParaRPr>
              <a:solidFill>
                <a:srgbClr val="000000"/>
              </a:solidFill>
            </a:endParaRPr>
          </a:p>
        </p:txBody>
      </p:sp>
      <p:sp>
        <p:nvSpPr>
          <p:cNvPr id="207" name="Google Shape;207;p44"/>
          <p:cNvSpPr txBox="1">
            <a:spLocks noGrp="1"/>
          </p:cNvSpPr>
          <p:nvPr>
            <p:ph type="body" idx="1"/>
          </p:nvPr>
        </p:nvSpPr>
        <p:spPr>
          <a:xfrm>
            <a:off x="147950" y="719568"/>
            <a:ext cx="8629800" cy="4197206"/>
          </a:xfrm>
          <a:prstGeom prst="rect">
            <a:avLst/>
          </a:prstGeom>
          <a:noFill/>
          <a:ln>
            <a:noFill/>
          </a:ln>
        </p:spPr>
        <p:txBody>
          <a:bodyPr spcFirstLastPara="1" wrap="square" lIns="91425" tIns="91425" rIns="91425" bIns="91425" anchor="t" anchorCtr="0">
            <a:noAutofit/>
          </a:bodyPr>
          <a:lstStyle/>
          <a:p>
            <a:pPr marL="139700" lvl="0" indent="0" algn="l" rtl="0">
              <a:lnSpc>
                <a:spcPct val="115000"/>
              </a:lnSpc>
              <a:spcBef>
                <a:spcPts val="1000"/>
              </a:spcBef>
              <a:spcAft>
                <a:spcPts val="0"/>
              </a:spcAft>
              <a:buClr>
                <a:srgbClr val="000000"/>
              </a:buClr>
              <a:buSzPts val="1400"/>
              <a:buNone/>
            </a:pPr>
            <a:r>
              <a:rPr lang="en" sz="1400" b="1">
                <a:solidFill>
                  <a:schemeClr val="dk1"/>
                </a:solidFill>
              </a:rPr>
              <a:t>List the models built along with the scores on different evaluation metrics</a:t>
            </a:r>
          </a:p>
          <a:p>
            <a:pPr marL="139700" lvl="0" indent="0" algn="l" rtl="0">
              <a:lnSpc>
                <a:spcPct val="115000"/>
              </a:lnSpc>
              <a:spcBef>
                <a:spcPts val="1000"/>
              </a:spcBef>
              <a:spcAft>
                <a:spcPts val="0"/>
              </a:spcAft>
              <a:buClr>
                <a:schemeClr val="dk1"/>
              </a:buClr>
              <a:buSzPts val="1400"/>
              <a:buNone/>
            </a:pPr>
            <a:endParaRPr lang="en" sz="1400" b="1">
              <a:solidFill>
                <a:schemeClr val="dk1"/>
              </a:solidFill>
            </a:endParaRPr>
          </a:p>
          <a:p>
            <a:pPr marL="139700" lvl="0" indent="0" algn="l" rtl="0">
              <a:lnSpc>
                <a:spcPct val="115000"/>
              </a:lnSpc>
              <a:spcBef>
                <a:spcPts val="1000"/>
              </a:spcBef>
              <a:spcAft>
                <a:spcPts val="0"/>
              </a:spcAft>
              <a:buClr>
                <a:schemeClr val="dk1"/>
              </a:buClr>
              <a:buSzPts val="1400"/>
              <a:buNone/>
            </a:pPr>
            <a:endParaRPr lang="en" sz="1400" b="1">
              <a:solidFill>
                <a:schemeClr val="dk1"/>
              </a:solidFill>
            </a:endParaRPr>
          </a:p>
          <a:p>
            <a:pPr marL="139700" lvl="0" indent="0" algn="l" rtl="0">
              <a:lnSpc>
                <a:spcPct val="115000"/>
              </a:lnSpc>
              <a:spcBef>
                <a:spcPts val="1000"/>
              </a:spcBef>
              <a:spcAft>
                <a:spcPts val="0"/>
              </a:spcAft>
              <a:buClr>
                <a:schemeClr val="dk1"/>
              </a:buClr>
              <a:buSzPts val="1400"/>
              <a:buNone/>
            </a:pPr>
            <a:endParaRPr lang="en" sz="1400" b="1">
              <a:solidFill>
                <a:schemeClr val="dk1"/>
              </a:solidFill>
            </a:endParaRPr>
          </a:p>
          <a:p>
            <a:pPr marL="139700" lvl="0" indent="0" algn="l" rtl="0">
              <a:lnSpc>
                <a:spcPct val="115000"/>
              </a:lnSpc>
              <a:spcBef>
                <a:spcPts val="1000"/>
              </a:spcBef>
              <a:spcAft>
                <a:spcPts val="0"/>
              </a:spcAft>
              <a:buClr>
                <a:schemeClr val="dk1"/>
              </a:buClr>
              <a:buSzPts val="1400"/>
              <a:buNone/>
            </a:pPr>
            <a:endParaRPr lang="en" sz="1400" b="1">
              <a:solidFill>
                <a:schemeClr val="dk1"/>
              </a:solidFill>
            </a:endParaRPr>
          </a:p>
          <a:p>
            <a:pPr marL="139700" lvl="0" indent="0" algn="l" rtl="0">
              <a:lnSpc>
                <a:spcPct val="115000"/>
              </a:lnSpc>
              <a:spcBef>
                <a:spcPts val="1000"/>
              </a:spcBef>
              <a:spcAft>
                <a:spcPts val="0"/>
              </a:spcAft>
              <a:buClr>
                <a:schemeClr val="dk1"/>
              </a:buClr>
              <a:buSzPts val="1400"/>
              <a:buNone/>
            </a:pPr>
            <a:r>
              <a:rPr lang="en" sz="1400" b="1">
                <a:solidFill>
                  <a:schemeClr val="dk1"/>
                </a:solidFill>
              </a:rPr>
              <a:t>Comment on the model performance</a:t>
            </a:r>
            <a:endParaRPr sz="1400" b="1">
              <a:solidFill>
                <a:schemeClr val="dk1"/>
              </a:solidFill>
            </a:endParaRPr>
          </a:p>
          <a:p>
            <a:pPr marL="640080" lvl="1" indent="0">
              <a:lnSpc>
                <a:spcPct val="100000"/>
              </a:lnSpc>
              <a:spcBef>
                <a:spcPts val="100"/>
              </a:spcBef>
              <a:buNone/>
            </a:pPr>
            <a:r>
              <a:rPr lang="en-US" sz="800" b="1">
                <a:solidFill>
                  <a:schemeClr val="accent6">
                    <a:lumMod val="50000"/>
                  </a:schemeClr>
                </a:solidFill>
              </a:rPr>
              <a:t>Model Ranking (Based on F1-Score)</a:t>
            </a:r>
          </a:p>
          <a:p>
            <a:pPr lvl="1" indent="-274320">
              <a:lnSpc>
                <a:spcPct val="100000"/>
              </a:lnSpc>
              <a:spcBef>
                <a:spcPts val="100"/>
              </a:spcBef>
            </a:pPr>
            <a:r>
              <a:rPr lang="en-US" sz="800">
                <a:solidFill>
                  <a:schemeClr val="accent6">
                    <a:lumMod val="50000"/>
                  </a:schemeClr>
                </a:solidFill>
              </a:rPr>
              <a:t>The models are ranked as follows based on their validation performance:</a:t>
            </a:r>
          </a:p>
          <a:p>
            <a:pPr lvl="1" indent="-274320">
              <a:lnSpc>
                <a:spcPct val="100000"/>
              </a:lnSpc>
              <a:spcBef>
                <a:spcPts val="100"/>
              </a:spcBef>
            </a:pPr>
            <a:r>
              <a:rPr lang="en-US" sz="800" b="1">
                <a:solidFill>
                  <a:schemeClr val="accent6">
                    <a:lumMod val="50000"/>
                  </a:schemeClr>
                </a:solidFill>
              </a:rPr>
              <a:t>GBM (Gradient Boosting Machine): 0.8196</a:t>
            </a:r>
            <a:r>
              <a:rPr lang="en-US" sz="800">
                <a:solidFill>
                  <a:schemeClr val="accent6">
                    <a:lumMod val="50000"/>
                  </a:schemeClr>
                </a:solidFill>
              </a:rPr>
              <a:t> — </a:t>
            </a:r>
            <a:r>
              <a:rPr lang="en-US" sz="800" b="1">
                <a:solidFill>
                  <a:schemeClr val="accent6">
                    <a:lumMod val="50000"/>
                  </a:schemeClr>
                </a:solidFill>
              </a:rPr>
              <a:t>Winner</a:t>
            </a:r>
            <a:endParaRPr lang="en-US" sz="800">
              <a:solidFill>
                <a:schemeClr val="accent6">
                  <a:lumMod val="50000"/>
                </a:schemeClr>
              </a:solidFill>
            </a:endParaRPr>
          </a:p>
          <a:p>
            <a:pPr lvl="1" indent="-274320">
              <a:lnSpc>
                <a:spcPct val="100000"/>
              </a:lnSpc>
              <a:spcBef>
                <a:spcPts val="100"/>
              </a:spcBef>
            </a:pPr>
            <a:r>
              <a:rPr lang="en-US" sz="800" b="1">
                <a:solidFill>
                  <a:schemeClr val="accent6">
                    <a:lumMod val="50000"/>
                  </a:schemeClr>
                </a:solidFill>
              </a:rPr>
              <a:t>AdaBoost: 0.8152</a:t>
            </a:r>
            <a:endParaRPr lang="en-US" sz="800">
              <a:solidFill>
                <a:schemeClr val="accent6">
                  <a:lumMod val="50000"/>
                </a:schemeClr>
              </a:solidFill>
            </a:endParaRPr>
          </a:p>
          <a:p>
            <a:pPr lvl="1" indent="-274320">
              <a:lnSpc>
                <a:spcPct val="100000"/>
              </a:lnSpc>
              <a:spcBef>
                <a:spcPts val="100"/>
              </a:spcBef>
            </a:pPr>
            <a:r>
              <a:rPr lang="en-US" sz="800" b="1">
                <a:solidFill>
                  <a:schemeClr val="accent6">
                    <a:lumMod val="50000"/>
                  </a:schemeClr>
                </a:solidFill>
              </a:rPr>
              <a:t>XGBoost: 0.8070</a:t>
            </a:r>
            <a:endParaRPr lang="en-US" sz="800">
              <a:solidFill>
                <a:schemeClr val="accent6">
                  <a:lumMod val="50000"/>
                </a:schemeClr>
              </a:solidFill>
            </a:endParaRPr>
          </a:p>
          <a:p>
            <a:pPr lvl="1" indent="-274320">
              <a:lnSpc>
                <a:spcPct val="100000"/>
              </a:lnSpc>
              <a:spcBef>
                <a:spcPts val="100"/>
              </a:spcBef>
            </a:pPr>
            <a:r>
              <a:rPr lang="en-US" sz="800" b="1">
                <a:solidFill>
                  <a:schemeClr val="accent6">
                    <a:lumMod val="50000"/>
                  </a:schemeClr>
                </a:solidFill>
              </a:rPr>
              <a:t>Random Forest: 0.7972</a:t>
            </a:r>
            <a:endParaRPr lang="en-US" sz="800">
              <a:solidFill>
                <a:schemeClr val="accent6">
                  <a:lumMod val="50000"/>
                </a:schemeClr>
              </a:solidFill>
            </a:endParaRPr>
          </a:p>
          <a:p>
            <a:pPr lvl="1" indent="-274320">
              <a:lnSpc>
                <a:spcPct val="100000"/>
              </a:lnSpc>
              <a:spcBef>
                <a:spcPts val="100"/>
              </a:spcBef>
            </a:pPr>
            <a:r>
              <a:rPr lang="en-US" sz="800" b="1">
                <a:solidFill>
                  <a:schemeClr val="accent6">
                    <a:lumMod val="50000"/>
                  </a:schemeClr>
                </a:solidFill>
              </a:rPr>
              <a:t>Bagging: 0.7676</a:t>
            </a:r>
            <a:endParaRPr lang="en-US" sz="800">
              <a:solidFill>
                <a:schemeClr val="accent6">
                  <a:lumMod val="50000"/>
                </a:schemeClr>
              </a:solidFill>
            </a:endParaRPr>
          </a:p>
          <a:p>
            <a:pPr lvl="1" indent="-274320">
              <a:lnSpc>
                <a:spcPct val="100000"/>
              </a:lnSpc>
              <a:spcBef>
                <a:spcPts val="100"/>
              </a:spcBef>
            </a:pPr>
            <a:r>
              <a:rPr lang="en-US" sz="800" b="1">
                <a:solidFill>
                  <a:schemeClr val="accent6">
                    <a:lumMod val="50000"/>
                  </a:schemeClr>
                </a:solidFill>
              </a:rPr>
              <a:t>dtree (Decision Tree): 0.7477</a:t>
            </a:r>
            <a:endParaRPr lang="en-US" sz="800">
              <a:solidFill>
                <a:schemeClr val="accent6">
                  <a:lumMod val="50000"/>
                </a:schemeClr>
              </a:solidFill>
            </a:endParaRPr>
          </a:p>
          <a:p>
            <a:pPr marL="457200" lvl="1" indent="0">
              <a:spcBef>
                <a:spcPts val="1000"/>
              </a:spcBef>
              <a:buSzPts val="1500"/>
              <a:buNone/>
            </a:pPr>
            <a:r>
              <a:rPr lang="en-US" sz="1200">
                <a:solidFill>
                  <a:schemeClr val="accent6">
                    <a:lumMod val="50000"/>
                  </a:schemeClr>
                </a:solidFill>
              </a:rPr>
              <a:t>The boosting methods are powerful and top performers. The sequential learning approach is highly effective for this dataset. The extremely small gap between the cross-validation and validation scores indicates the models are not overfitting.</a:t>
            </a:r>
            <a:endParaRPr sz="1200">
              <a:solidFill>
                <a:schemeClr val="accent6">
                  <a:lumMod val="50000"/>
                </a:schemeClr>
              </a:solidFill>
            </a:endParaRPr>
          </a:p>
        </p:txBody>
      </p:sp>
      <p:graphicFrame>
        <p:nvGraphicFramePr>
          <p:cNvPr id="3" name="Table 2">
            <a:extLst>
              <a:ext uri="{FF2B5EF4-FFF2-40B4-BE49-F238E27FC236}">
                <a16:creationId xmlns:a16="http://schemas.microsoft.com/office/drawing/2014/main" id="{69B259D9-8893-BD1C-592B-23D86BF9A367}"/>
              </a:ext>
            </a:extLst>
          </p:cNvPr>
          <p:cNvGraphicFramePr>
            <a:graphicFrameLocks noGrp="1"/>
          </p:cNvGraphicFramePr>
          <p:nvPr>
            <p:extLst>
              <p:ext uri="{D42A27DB-BD31-4B8C-83A1-F6EECF244321}">
                <p14:modId xmlns:p14="http://schemas.microsoft.com/office/powerpoint/2010/main" val="2000584585"/>
              </p:ext>
            </p:extLst>
          </p:nvPr>
        </p:nvGraphicFramePr>
        <p:xfrm>
          <a:off x="986019" y="1367761"/>
          <a:ext cx="6197600" cy="1280160"/>
        </p:xfrm>
        <a:graphic>
          <a:graphicData uri="http://schemas.openxmlformats.org/drawingml/2006/table">
            <a:tbl>
              <a:tblPr firstRow="1">
                <a:tableStyleId>{912C8C85-51F0-491E-9774-3900AFEF0FD7}</a:tableStyleId>
              </a:tblPr>
              <a:tblGrid>
                <a:gridCol w="3441700">
                  <a:extLst>
                    <a:ext uri="{9D8B030D-6E8A-4147-A177-3AD203B41FA5}">
                      <a16:colId xmlns:a16="http://schemas.microsoft.com/office/drawing/2014/main" val="4164559144"/>
                    </a:ext>
                  </a:extLst>
                </a:gridCol>
                <a:gridCol w="2755900">
                  <a:extLst>
                    <a:ext uri="{9D8B030D-6E8A-4147-A177-3AD203B41FA5}">
                      <a16:colId xmlns:a16="http://schemas.microsoft.com/office/drawing/2014/main" val="3022749755"/>
                    </a:ext>
                  </a:extLst>
                </a:gridCol>
              </a:tblGrid>
              <a:tr h="182880">
                <a:tc>
                  <a:txBody>
                    <a:bodyPr/>
                    <a:lstStyle/>
                    <a:p>
                      <a:pPr lvl="2" algn="l" fontAlgn="b">
                        <a:buNone/>
                      </a:pPr>
                      <a:r>
                        <a:rPr lang="en-US" sz="1100" b="0" u="none" strike="noStrike">
                          <a:solidFill>
                            <a:schemeClr val="bg1"/>
                          </a:solidFill>
                          <a:effectLst/>
                        </a:rPr>
                        <a:t>Cross-Validation performance on training dataset:</a:t>
                      </a:r>
                      <a:endParaRPr lang="en-US" sz="1100" b="0" i="0" u="none" strike="noStrike">
                        <a:solidFill>
                          <a:schemeClr val="bg1"/>
                        </a:solidFill>
                        <a:effectLst/>
                        <a:latin typeface="Aptos Narrow" panose="020B0004020202020204" pitchFamily="34" charset="0"/>
                      </a:endParaRPr>
                    </a:p>
                  </a:txBody>
                  <a:tcPr marL="3810" marR="3810" marT="3810" marB="0" anchor="b"/>
                </a:tc>
                <a:tc>
                  <a:txBody>
                    <a:bodyPr/>
                    <a:lstStyle/>
                    <a:p>
                      <a:pPr algn="l" fontAlgn="b">
                        <a:buNone/>
                      </a:pPr>
                      <a:r>
                        <a:rPr lang="en-US" sz="1100" b="0" u="none" strike="noStrike">
                          <a:solidFill>
                            <a:schemeClr val="bg1"/>
                          </a:solidFill>
                          <a:effectLst/>
                        </a:rPr>
                        <a:t>Validation Performance:</a:t>
                      </a:r>
                      <a:endParaRPr lang="en-US" sz="1100" b="0" i="0" u="none" strike="noStrike">
                        <a:solidFill>
                          <a:schemeClr val="bg1"/>
                        </a:solidFill>
                        <a:effectLst/>
                        <a:latin typeface="Aptos Narrow" panose="020B0004020202020204" pitchFamily="34" charset="0"/>
                      </a:endParaRPr>
                    </a:p>
                  </a:txBody>
                  <a:tcPr marL="3810" marR="3810" marT="3810" marB="0" anchor="b"/>
                </a:tc>
                <a:extLst>
                  <a:ext uri="{0D108BD9-81ED-4DB2-BD59-A6C34878D82A}">
                    <a16:rowId xmlns:a16="http://schemas.microsoft.com/office/drawing/2014/main" val="396965529"/>
                  </a:ext>
                </a:extLst>
              </a:tr>
              <a:tr h="182880">
                <a:tc>
                  <a:txBody>
                    <a:bodyPr/>
                    <a:lstStyle/>
                    <a:p>
                      <a:pPr algn="l" fontAlgn="b">
                        <a:buNone/>
                      </a:pPr>
                      <a:r>
                        <a:rPr lang="en-US" sz="1100" b="0" u="none" strike="noStrike">
                          <a:solidFill>
                            <a:schemeClr val="accent6">
                              <a:lumMod val="50000"/>
                            </a:schemeClr>
                          </a:solidFill>
                          <a:effectLst/>
                        </a:rPr>
                        <a:t>Bagging: 0.7756586246579394</a:t>
                      </a:r>
                      <a:endParaRPr lang="en-US" sz="1100" b="0" i="0" u="none" strike="noStrike">
                        <a:solidFill>
                          <a:schemeClr val="accent6">
                            <a:lumMod val="50000"/>
                          </a:schemeClr>
                        </a:solidFill>
                        <a:effectLst/>
                        <a:latin typeface="Aptos Narrow" panose="020B0004020202020204" pitchFamily="34" charset="0"/>
                      </a:endParaRPr>
                    </a:p>
                  </a:txBody>
                  <a:tcPr marL="3810" marR="3810" marT="3810" marB="0" anchor="b"/>
                </a:tc>
                <a:tc>
                  <a:txBody>
                    <a:bodyPr/>
                    <a:lstStyle/>
                    <a:p>
                      <a:pPr algn="l" fontAlgn="b">
                        <a:buNone/>
                      </a:pPr>
                      <a:r>
                        <a:rPr lang="en-US" sz="1100" b="0" u="none" strike="noStrike">
                          <a:solidFill>
                            <a:schemeClr val="accent6">
                              <a:lumMod val="50000"/>
                            </a:schemeClr>
                          </a:solidFill>
                          <a:effectLst/>
                        </a:rPr>
                        <a:t>Bagging: 0.7675817565350541</a:t>
                      </a:r>
                      <a:endParaRPr lang="en-US" sz="1100" b="0" i="0" u="none" strike="noStrike">
                        <a:solidFill>
                          <a:schemeClr val="accent6">
                            <a:lumMod val="50000"/>
                          </a:schemeClr>
                        </a:solidFill>
                        <a:effectLst/>
                        <a:latin typeface="Aptos Narrow" panose="020B0004020202020204" pitchFamily="34" charset="0"/>
                      </a:endParaRPr>
                    </a:p>
                  </a:txBody>
                  <a:tcPr marL="3810" marR="3810" marT="3810" marB="0" anchor="b"/>
                </a:tc>
                <a:extLst>
                  <a:ext uri="{0D108BD9-81ED-4DB2-BD59-A6C34878D82A}">
                    <a16:rowId xmlns:a16="http://schemas.microsoft.com/office/drawing/2014/main" val="3126991441"/>
                  </a:ext>
                </a:extLst>
              </a:tr>
              <a:tr h="182880">
                <a:tc>
                  <a:txBody>
                    <a:bodyPr/>
                    <a:lstStyle/>
                    <a:p>
                      <a:pPr algn="l" fontAlgn="b">
                        <a:buNone/>
                      </a:pPr>
                      <a:r>
                        <a:rPr lang="en-US" sz="1100" b="0" u="none" strike="noStrike">
                          <a:solidFill>
                            <a:schemeClr val="accent6">
                              <a:lumMod val="50000"/>
                            </a:schemeClr>
                          </a:solidFill>
                          <a:effectLst/>
                        </a:rPr>
                        <a:t>Random forest: 0.8037837241749051</a:t>
                      </a:r>
                      <a:endParaRPr lang="en-US" sz="1100" b="0" i="0" u="none" strike="noStrike">
                        <a:solidFill>
                          <a:schemeClr val="accent6">
                            <a:lumMod val="50000"/>
                          </a:schemeClr>
                        </a:solidFill>
                        <a:effectLst/>
                        <a:latin typeface="Aptos Narrow" panose="020B0004020202020204" pitchFamily="34" charset="0"/>
                      </a:endParaRPr>
                    </a:p>
                  </a:txBody>
                  <a:tcPr marL="3810" marR="3810" marT="3810" marB="0" anchor="b"/>
                </a:tc>
                <a:tc>
                  <a:txBody>
                    <a:bodyPr/>
                    <a:lstStyle/>
                    <a:p>
                      <a:pPr algn="l" fontAlgn="b">
                        <a:buNone/>
                      </a:pPr>
                      <a:r>
                        <a:rPr lang="en-US" sz="1100" b="0" u="none" strike="noStrike">
                          <a:solidFill>
                            <a:schemeClr val="accent6">
                              <a:lumMod val="50000"/>
                            </a:schemeClr>
                          </a:solidFill>
                          <a:effectLst/>
                        </a:rPr>
                        <a:t>Random forest: 0.7972364702187794</a:t>
                      </a:r>
                      <a:endParaRPr lang="en-US" sz="1100" b="0" i="0" u="none" strike="noStrike">
                        <a:solidFill>
                          <a:schemeClr val="accent6">
                            <a:lumMod val="50000"/>
                          </a:schemeClr>
                        </a:solidFill>
                        <a:effectLst/>
                        <a:latin typeface="Aptos Narrow" panose="020B0004020202020204" pitchFamily="34" charset="0"/>
                      </a:endParaRPr>
                    </a:p>
                  </a:txBody>
                  <a:tcPr marL="3810" marR="3810" marT="3810" marB="0" anchor="b"/>
                </a:tc>
                <a:extLst>
                  <a:ext uri="{0D108BD9-81ED-4DB2-BD59-A6C34878D82A}">
                    <a16:rowId xmlns:a16="http://schemas.microsoft.com/office/drawing/2014/main" val="1099391554"/>
                  </a:ext>
                </a:extLst>
              </a:tr>
              <a:tr h="182880">
                <a:tc>
                  <a:txBody>
                    <a:bodyPr/>
                    <a:lstStyle/>
                    <a:p>
                      <a:pPr algn="l" fontAlgn="b">
                        <a:buNone/>
                      </a:pPr>
                      <a:r>
                        <a:rPr lang="en-US" sz="1100" b="0" u="none" strike="noStrike">
                          <a:solidFill>
                            <a:schemeClr val="accent6">
                              <a:lumMod val="50000"/>
                            </a:schemeClr>
                          </a:solidFill>
                          <a:effectLst/>
                        </a:rPr>
                        <a:t>GBM: 0.823039791269532</a:t>
                      </a:r>
                      <a:endParaRPr lang="en-US" sz="1100" b="0" i="0" u="none" strike="noStrike">
                        <a:solidFill>
                          <a:schemeClr val="accent6">
                            <a:lumMod val="50000"/>
                          </a:schemeClr>
                        </a:solidFill>
                        <a:effectLst/>
                        <a:latin typeface="Aptos Narrow" panose="020B0004020202020204" pitchFamily="34" charset="0"/>
                      </a:endParaRPr>
                    </a:p>
                  </a:txBody>
                  <a:tcPr marL="3810" marR="3810" marT="3810" marB="0" anchor="b"/>
                </a:tc>
                <a:tc>
                  <a:txBody>
                    <a:bodyPr/>
                    <a:lstStyle/>
                    <a:p>
                      <a:pPr algn="l" fontAlgn="b">
                        <a:buNone/>
                      </a:pPr>
                      <a:r>
                        <a:rPr lang="en-US" sz="1100" b="0" u="none" strike="noStrike">
                          <a:solidFill>
                            <a:schemeClr val="accent6">
                              <a:lumMod val="50000"/>
                            </a:schemeClr>
                          </a:solidFill>
                          <a:effectLst/>
                        </a:rPr>
                        <a:t>GBM: 0.8195818459969403</a:t>
                      </a:r>
                      <a:endParaRPr lang="en-US" sz="1100" b="0" i="0" u="none" strike="noStrike">
                        <a:solidFill>
                          <a:schemeClr val="accent6">
                            <a:lumMod val="50000"/>
                          </a:schemeClr>
                        </a:solidFill>
                        <a:effectLst/>
                        <a:latin typeface="Aptos Narrow" panose="020B0004020202020204" pitchFamily="34" charset="0"/>
                      </a:endParaRPr>
                    </a:p>
                  </a:txBody>
                  <a:tcPr marL="3810" marR="3810" marT="3810" marB="0" anchor="b"/>
                </a:tc>
                <a:extLst>
                  <a:ext uri="{0D108BD9-81ED-4DB2-BD59-A6C34878D82A}">
                    <a16:rowId xmlns:a16="http://schemas.microsoft.com/office/drawing/2014/main" val="1924786505"/>
                  </a:ext>
                </a:extLst>
              </a:tr>
              <a:tr h="182880">
                <a:tc>
                  <a:txBody>
                    <a:bodyPr/>
                    <a:lstStyle/>
                    <a:p>
                      <a:pPr algn="l" fontAlgn="b">
                        <a:buNone/>
                      </a:pPr>
                      <a:r>
                        <a:rPr lang="en-US" sz="1100" b="0" u="none" strike="noStrike">
                          <a:solidFill>
                            <a:schemeClr val="accent6">
                              <a:lumMod val="50000"/>
                            </a:schemeClr>
                          </a:solidFill>
                          <a:effectLst/>
                        </a:rPr>
                        <a:t>Adaboost: 0.8177228312991336</a:t>
                      </a:r>
                      <a:endParaRPr lang="en-US" sz="1100" b="0" i="0" u="none" strike="noStrike">
                        <a:solidFill>
                          <a:schemeClr val="accent6">
                            <a:lumMod val="50000"/>
                          </a:schemeClr>
                        </a:solidFill>
                        <a:effectLst/>
                        <a:latin typeface="Aptos Narrow" panose="020B0004020202020204" pitchFamily="34" charset="0"/>
                      </a:endParaRPr>
                    </a:p>
                  </a:txBody>
                  <a:tcPr marL="3810" marR="3810" marT="3810" marB="0" anchor="b"/>
                </a:tc>
                <a:tc>
                  <a:txBody>
                    <a:bodyPr/>
                    <a:lstStyle/>
                    <a:p>
                      <a:pPr algn="l" fontAlgn="b">
                        <a:buNone/>
                      </a:pPr>
                      <a:r>
                        <a:rPr lang="en-US" sz="1100" b="0" u="none" strike="noStrike">
                          <a:solidFill>
                            <a:schemeClr val="accent6">
                              <a:lumMod val="50000"/>
                            </a:schemeClr>
                          </a:solidFill>
                          <a:effectLst/>
                        </a:rPr>
                        <a:t>Adaboost: 0.8151868220168742</a:t>
                      </a:r>
                      <a:endParaRPr lang="en-US" sz="1100" b="0" i="0" u="none" strike="noStrike">
                        <a:solidFill>
                          <a:schemeClr val="accent6">
                            <a:lumMod val="50000"/>
                          </a:schemeClr>
                        </a:solidFill>
                        <a:effectLst/>
                        <a:latin typeface="Aptos Narrow" panose="020B0004020202020204" pitchFamily="34" charset="0"/>
                      </a:endParaRPr>
                    </a:p>
                  </a:txBody>
                  <a:tcPr marL="3810" marR="3810" marT="3810" marB="0" anchor="b"/>
                </a:tc>
                <a:extLst>
                  <a:ext uri="{0D108BD9-81ED-4DB2-BD59-A6C34878D82A}">
                    <a16:rowId xmlns:a16="http://schemas.microsoft.com/office/drawing/2014/main" val="4098165096"/>
                  </a:ext>
                </a:extLst>
              </a:tr>
              <a:tr h="182880">
                <a:tc>
                  <a:txBody>
                    <a:bodyPr/>
                    <a:lstStyle/>
                    <a:p>
                      <a:pPr algn="l" fontAlgn="b">
                        <a:buNone/>
                      </a:pPr>
                      <a:r>
                        <a:rPr lang="en-US" sz="1100" b="0" u="none" strike="noStrike">
                          <a:solidFill>
                            <a:schemeClr val="accent6">
                              <a:lumMod val="50000"/>
                            </a:schemeClr>
                          </a:solidFill>
                          <a:effectLst/>
                        </a:rPr>
                        <a:t>Xgboost: 0.8073583989766158</a:t>
                      </a:r>
                      <a:endParaRPr lang="en-US" sz="1100" b="0" i="0" u="none" strike="noStrike">
                        <a:solidFill>
                          <a:schemeClr val="accent6">
                            <a:lumMod val="50000"/>
                          </a:schemeClr>
                        </a:solidFill>
                        <a:effectLst/>
                        <a:latin typeface="Aptos Narrow" panose="020B0004020202020204" pitchFamily="34" charset="0"/>
                      </a:endParaRPr>
                    </a:p>
                  </a:txBody>
                  <a:tcPr marL="3810" marR="3810" marT="3810" marB="0" anchor="b"/>
                </a:tc>
                <a:tc>
                  <a:txBody>
                    <a:bodyPr/>
                    <a:lstStyle/>
                    <a:p>
                      <a:pPr algn="l" fontAlgn="b">
                        <a:buNone/>
                      </a:pPr>
                      <a:r>
                        <a:rPr lang="en-US" sz="1100" b="0" u="none" strike="noStrike">
                          <a:solidFill>
                            <a:schemeClr val="accent6">
                              <a:lumMod val="50000"/>
                            </a:schemeClr>
                          </a:solidFill>
                          <a:effectLst/>
                        </a:rPr>
                        <a:t>Xgboost: 0.8070320579110651</a:t>
                      </a:r>
                      <a:endParaRPr lang="en-US" sz="1100" b="0" i="0" u="none" strike="noStrike">
                        <a:solidFill>
                          <a:schemeClr val="accent6">
                            <a:lumMod val="50000"/>
                          </a:schemeClr>
                        </a:solidFill>
                        <a:effectLst/>
                        <a:latin typeface="Aptos Narrow" panose="020B0004020202020204" pitchFamily="34" charset="0"/>
                      </a:endParaRPr>
                    </a:p>
                  </a:txBody>
                  <a:tcPr marL="3810" marR="3810" marT="3810" marB="0" anchor="b"/>
                </a:tc>
                <a:extLst>
                  <a:ext uri="{0D108BD9-81ED-4DB2-BD59-A6C34878D82A}">
                    <a16:rowId xmlns:a16="http://schemas.microsoft.com/office/drawing/2014/main" val="4283940326"/>
                  </a:ext>
                </a:extLst>
              </a:tr>
              <a:tr h="182880">
                <a:tc>
                  <a:txBody>
                    <a:bodyPr/>
                    <a:lstStyle/>
                    <a:p>
                      <a:pPr algn="l" fontAlgn="b">
                        <a:buNone/>
                      </a:pPr>
                      <a:r>
                        <a:rPr lang="en-US" sz="1100" b="0" u="none" strike="noStrike">
                          <a:solidFill>
                            <a:schemeClr val="accent6">
                              <a:lumMod val="50000"/>
                            </a:schemeClr>
                          </a:solidFill>
                          <a:effectLst/>
                        </a:rPr>
                        <a:t>dtree: 0.7410652876513099</a:t>
                      </a:r>
                      <a:endParaRPr lang="en-US" sz="1100" b="0" i="0" u="none" strike="noStrike">
                        <a:solidFill>
                          <a:schemeClr val="accent6">
                            <a:lumMod val="50000"/>
                          </a:schemeClr>
                        </a:solidFill>
                        <a:effectLst/>
                        <a:latin typeface="Aptos Narrow" panose="020B0004020202020204" pitchFamily="34" charset="0"/>
                      </a:endParaRPr>
                    </a:p>
                  </a:txBody>
                  <a:tcPr marL="3810" marR="3810" marT="3810" marB="0" anchor="b"/>
                </a:tc>
                <a:tc>
                  <a:txBody>
                    <a:bodyPr/>
                    <a:lstStyle/>
                    <a:p>
                      <a:pPr algn="l" fontAlgn="b">
                        <a:buNone/>
                      </a:pPr>
                      <a:r>
                        <a:rPr lang="en-US" sz="1100" b="0" u="none" strike="noStrike">
                          <a:solidFill>
                            <a:schemeClr val="accent6">
                              <a:lumMod val="50000"/>
                            </a:schemeClr>
                          </a:solidFill>
                          <a:effectLst/>
                        </a:rPr>
                        <a:t>dtree: 0.7477497255762898</a:t>
                      </a:r>
                      <a:endParaRPr lang="en-US" sz="1100" b="0" i="0" u="none" strike="noStrike">
                        <a:solidFill>
                          <a:schemeClr val="accent6">
                            <a:lumMod val="50000"/>
                          </a:schemeClr>
                        </a:solidFill>
                        <a:effectLst/>
                        <a:latin typeface="Aptos Narrow" panose="020B0004020202020204" pitchFamily="34" charset="0"/>
                      </a:endParaRPr>
                    </a:p>
                  </a:txBody>
                  <a:tcPr marL="3810" marR="3810" marT="3810" marB="0" anchor="b"/>
                </a:tc>
                <a:extLst>
                  <a:ext uri="{0D108BD9-81ED-4DB2-BD59-A6C34878D82A}">
                    <a16:rowId xmlns:a16="http://schemas.microsoft.com/office/drawing/2014/main" val="3277815095"/>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45"/>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Model Building - Oversampled Data</a:t>
            </a:r>
            <a:endParaRPr>
              <a:solidFill>
                <a:srgbClr val="000000"/>
              </a:solidFill>
            </a:endParaRPr>
          </a:p>
        </p:txBody>
      </p:sp>
      <p:sp>
        <p:nvSpPr>
          <p:cNvPr id="213" name="Google Shape;213;p45"/>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139700" lvl="0" indent="0" algn="l" rtl="0">
              <a:lnSpc>
                <a:spcPct val="115000"/>
              </a:lnSpc>
              <a:spcBef>
                <a:spcPts val="1000"/>
              </a:spcBef>
              <a:spcAft>
                <a:spcPts val="0"/>
              </a:spcAft>
              <a:buClr>
                <a:schemeClr val="dk1"/>
              </a:buClr>
              <a:buSzPts val="1400"/>
              <a:buNone/>
            </a:pPr>
            <a:r>
              <a:rPr lang="en" sz="1400" b="1">
                <a:solidFill>
                  <a:schemeClr val="dk1"/>
                </a:solidFill>
              </a:rPr>
              <a:t>Describe the oversampling method used</a:t>
            </a:r>
          </a:p>
          <a:p>
            <a:pPr marL="139700" lvl="0" indent="0" algn="l" rtl="0">
              <a:lnSpc>
                <a:spcPct val="115000"/>
              </a:lnSpc>
              <a:spcBef>
                <a:spcPts val="1000"/>
              </a:spcBef>
              <a:spcAft>
                <a:spcPts val="0"/>
              </a:spcAft>
              <a:buClr>
                <a:schemeClr val="dk1"/>
              </a:buClr>
              <a:buSzPts val="1400"/>
              <a:buNone/>
            </a:pPr>
            <a:r>
              <a:rPr lang="en-US" sz="1400">
                <a:solidFill>
                  <a:schemeClr val="dk1"/>
                </a:solidFill>
              </a:rPr>
              <a:t>W</a:t>
            </a:r>
            <a:r>
              <a:rPr lang="en" sz="1400">
                <a:solidFill>
                  <a:schemeClr val="dk1"/>
                </a:solidFill>
              </a:rPr>
              <a:t>e used the SMOTE method, which is really good at handling class imbalance. </a:t>
            </a:r>
            <a:br>
              <a:rPr lang="en" sz="1400">
                <a:solidFill>
                  <a:schemeClr val="dk1"/>
                </a:solidFill>
              </a:rPr>
            </a:br>
            <a:r>
              <a:rPr lang="en" sz="1400">
                <a:solidFill>
                  <a:schemeClr val="dk1"/>
                </a:solidFill>
              </a:rPr>
              <a:t>It generates synthetic examples of the minority class instead of simply duplicating existing ones.</a:t>
            </a:r>
            <a:endParaRPr sz="1400">
              <a:solidFill>
                <a:schemeClr val="dk1"/>
              </a:solidFill>
            </a:endParaRPr>
          </a:p>
          <a:p>
            <a:pPr marL="139700" lvl="0" indent="0" algn="l" rtl="0">
              <a:lnSpc>
                <a:spcPct val="115000"/>
              </a:lnSpc>
              <a:spcBef>
                <a:spcPts val="1000"/>
              </a:spcBef>
              <a:spcAft>
                <a:spcPts val="0"/>
              </a:spcAft>
              <a:buClr>
                <a:schemeClr val="dk1"/>
              </a:buClr>
              <a:buSzPts val="1400"/>
              <a:buNone/>
            </a:pPr>
            <a:r>
              <a:rPr lang="en" sz="1400" b="1">
                <a:solidFill>
                  <a:schemeClr val="dk1"/>
                </a:solidFill>
              </a:rPr>
              <a:t>List the models built along with the scores on different evaluation metrics</a:t>
            </a:r>
            <a:endParaRPr sz="1400" b="1">
              <a:solidFill>
                <a:schemeClr val="dk1"/>
              </a:solidFill>
            </a:endParaRPr>
          </a:p>
          <a:p>
            <a:pPr marL="0" lvl="0" indent="0" algn="l" rtl="0">
              <a:lnSpc>
                <a:spcPct val="115000"/>
              </a:lnSpc>
              <a:spcBef>
                <a:spcPts val="1000"/>
              </a:spcBef>
              <a:spcAft>
                <a:spcPts val="0"/>
              </a:spcAft>
              <a:buSzPts val="1500"/>
              <a:buNone/>
            </a:pPr>
            <a:endParaRPr sz="1400">
              <a:solidFill>
                <a:schemeClr val="dk1"/>
              </a:solidFill>
            </a:endParaRPr>
          </a:p>
        </p:txBody>
      </p:sp>
      <p:graphicFrame>
        <p:nvGraphicFramePr>
          <p:cNvPr id="2" name="Table 1">
            <a:extLst>
              <a:ext uri="{FF2B5EF4-FFF2-40B4-BE49-F238E27FC236}">
                <a16:creationId xmlns:a16="http://schemas.microsoft.com/office/drawing/2014/main" id="{936A0CBA-C9AB-0AE5-07AB-29D35A1F4835}"/>
              </a:ext>
            </a:extLst>
          </p:cNvPr>
          <p:cNvGraphicFramePr>
            <a:graphicFrameLocks noGrp="1"/>
          </p:cNvGraphicFramePr>
          <p:nvPr>
            <p:extLst>
              <p:ext uri="{D42A27DB-BD31-4B8C-83A1-F6EECF244321}">
                <p14:modId xmlns:p14="http://schemas.microsoft.com/office/powerpoint/2010/main" val="2956949625"/>
              </p:ext>
            </p:extLst>
          </p:nvPr>
        </p:nvGraphicFramePr>
        <p:xfrm>
          <a:off x="1090951" y="2468141"/>
          <a:ext cx="6197600" cy="1280160"/>
        </p:xfrm>
        <a:graphic>
          <a:graphicData uri="http://schemas.openxmlformats.org/drawingml/2006/table">
            <a:tbl>
              <a:tblPr firstRow="1">
                <a:tableStyleId>{10A1B5D5-9B99-4C35-A422-299274C87663}</a:tableStyleId>
              </a:tblPr>
              <a:tblGrid>
                <a:gridCol w="3441700">
                  <a:extLst>
                    <a:ext uri="{9D8B030D-6E8A-4147-A177-3AD203B41FA5}">
                      <a16:colId xmlns:a16="http://schemas.microsoft.com/office/drawing/2014/main" val="2087000610"/>
                    </a:ext>
                  </a:extLst>
                </a:gridCol>
                <a:gridCol w="2755900">
                  <a:extLst>
                    <a:ext uri="{9D8B030D-6E8A-4147-A177-3AD203B41FA5}">
                      <a16:colId xmlns:a16="http://schemas.microsoft.com/office/drawing/2014/main" val="1100137437"/>
                    </a:ext>
                  </a:extLst>
                </a:gridCol>
              </a:tblGrid>
              <a:tr h="182880">
                <a:tc>
                  <a:txBody>
                    <a:bodyPr/>
                    <a:lstStyle/>
                    <a:p>
                      <a:pPr algn="l" fontAlgn="b">
                        <a:buNone/>
                      </a:pPr>
                      <a:r>
                        <a:rPr lang="en-US" sz="1100" b="0" u="none" strike="noStrike">
                          <a:solidFill>
                            <a:srgbClr val="000000"/>
                          </a:solidFill>
                          <a:effectLst/>
                        </a:rPr>
                        <a:t>Cross-Validation performance on training dataset:</a:t>
                      </a:r>
                      <a:endParaRPr lang="en-US" sz="1100" b="0" i="0" u="none" strike="noStrike">
                        <a:solidFill>
                          <a:srgbClr val="000000"/>
                        </a:solidFill>
                        <a:effectLst/>
                        <a:latin typeface="Aptos Narrow" panose="020B0004020202020204" pitchFamily="34" charset="0"/>
                      </a:endParaRPr>
                    </a:p>
                  </a:txBody>
                  <a:tcPr marL="3810" marR="3810" marT="3810" marB="0" anchor="b"/>
                </a:tc>
                <a:tc>
                  <a:txBody>
                    <a:bodyPr/>
                    <a:lstStyle/>
                    <a:p>
                      <a:pPr algn="l" fontAlgn="b">
                        <a:buNone/>
                      </a:pPr>
                      <a:r>
                        <a:rPr lang="en-US" sz="1100" b="0" u="none" strike="noStrike">
                          <a:solidFill>
                            <a:srgbClr val="000000"/>
                          </a:solidFill>
                          <a:effectLst/>
                        </a:rPr>
                        <a:t>Validation Performance:</a:t>
                      </a:r>
                      <a:endParaRPr lang="en-US" sz="1100" b="0" i="0" u="none" strike="noStrike">
                        <a:solidFill>
                          <a:srgbClr val="000000"/>
                        </a:solidFill>
                        <a:effectLst/>
                        <a:latin typeface="Aptos Narrow" panose="020B0004020202020204" pitchFamily="34" charset="0"/>
                      </a:endParaRPr>
                    </a:p>
                  </a:txBody>
                  <a:tcPr marL="3810" marR="3810" marT="3810" marB="0" anchor="b"/>
                </a:tc>
                <a:extLst>
                  <a:ext uri="{0D108BD9-81ED-4DB2-BD59-A6C34878D82A}">
                    <a16:rowId xmlns:a16="http://schemas.microsoft.com/office/drawing/2014/main" val="2957202507"/>
                  </a:ext>
                </a:extLst>
              </a:tr>
              <a:tr h="182880">
                <a:tc>
                  <a:txBody>
                    <a:bodyPr/>
                    <a:lstStyle/>
                    <a:p>
                      <a:pPr algn="l" fontAlgn="b">
                        <a:buNone/>
                      </a:pPr>
                      <a:r>
                        <a:rPr lang="en-US" sz="1100" b="0" u="none" strike="noStrike">
                          <a:solidFill>
                            <a:srgbClr val="000000"/>
                          </a:solidFill>
                          <a:effectLst/>
                        </a:rPr>
                        <a:t>Bagging: 0.7630248470329939</a:t>
                      </a:r>
                      <a:endParaRPr lang="en-US" sz="1100" b="0" i="0" u="none" strike="noStrike">
                        <a:solidFill>
                          <a:srgbClr val="000000"/>
                        </a:solidFill>
                        <a:effectLst/>
                        <a:latin typeface="Aptos Narrow" panose="020B0004020202020204" pitchFamily="34" charset="0"/>
                      </a:endParaRPr>
                    </a:p>
                  </a:txBody>
                  <a:tcPr marL="3810" marR="3810" marT="3810" marB="0" anchor="b"/>
                </a:tc>
                <a:tc>
                  <a:txBody>
                    <a:bodyPr/>
                    <a:lstStyle/>
                    <a:p>
                      <a:pPr algn="l" fontAlgn="b">
                        <a:buNone/>
                      </a:pPr>
                      <a:r>
                        <a:rPr lang="en-US" sz="1100" b="0" u="none" strike="noStrike">
                          <a:solidFill>
                            <a:srgbClr val="000000"/>
                          </a:solidFill>
                          <a:effectLst/>
                        </a:rPr>
                        <a:t>Bagging: 0.7615769017212659</a:t>
                      </a:r>
                      <a:endParaRPr lang="en-US" sz="1100" b="0" i="0" u="none" strike="noStrike">
                        <a:solidFill>
                          <a:srgbClr val="000000"/>
                        </a:solidFill>
                        <a:effectLst/>
                        <a:latin typeface="Aptos Narrow" panose="020B0004020202020204" pitchFamily="34" charset="0"/>
                      </a:endParaRPr>
                    </a:p>
                  </a:txBody>
                  <a:tcPr marL="3810" marR="3810" marT="3810" marB="0" anchor="b"/>
                </a:tc>
                <a:extLst>
                  <a:ext uri="{0D108BD9-81ED-4DB2-BD59-A6C34878D82A}">
                    <a16:rowId xmlns:a16="http://schemas.microsoft.com/office/drawing/2014/main" val="509705453"/>
                  </a:ext>
                </a:extLst>
              </a:tr>
              <a:tr h="182880">
                <a:tc>
                  <a:txBody>
                    <a:bodyPr/>
                    <a:lstStyle/>
                    <a:p>
                      <a:pPr algn="l" fontAlgn="b">
                        <a:buNone/>
                      </a:pPr>
                      <a:r>
                        <a:rPr lang="en-US" sz="1100" b="0" u="none" strike="noStrike">
                          <a:solidFill>
                            <a:srgbClr val="000000"/>
                          </a:solidFill>
                          <a:effectLst/>
                        </a:rPr>
                        <a:t>Random forest: 0.789527508885066</a:t>
                      </a:r>
                      <a:endParaRPr lang="en-US" sz="1100" b="0" i="0" u="none" strike="noStrike">
                        <a:solidFill>
                          <a:srgbClr val="000000"/>
                        </a:solidFill>
                        <a:effectLst/>
                        <a:latin typeface="Aptos Narrow" panose="020B0004020202020204" pitchFamily="34" charset="0"/>
                      </a:endParaRPr>
                    </a:p>
                  </a:txBody>
                  <a:tcPr marL="3810" marR="3810" marT="3810" marB="0" anchor="b"/>
                </a:tc>
                <a:tc>
                  <a:txBody>
                    <a:bodyPr/>
                    <a:lstStyle/>
                    <a:p>
                      <a:pPr algn="l" fontAlgn="b">
                        <a:buNone/>
                      </a:pPr>
                      <a:r>
                        <a:rPr lang="en-US" sz="1100" b="0" u="none" strike="noStrike">
                          <a:solidFill>
                            <a:srgbClr val="000000"/>
                          </a:solidFill>
                          <a:effectLst/>
                        </a:rPr>
                        <a:t>Random forest: 0.7873070325900514</a:t>
                      </a:r>
                      <a:endParaRPr lang="en-US" sz="1100" b="0" i="0" u="none" strike="noStrike">
                        <a:solidFill>
                          <a:srgbClr val="000000"/>
                        </a:solidFill>
                        <a:effectLst/>
                        <a:latin typeface="Aptos Narrow" panose="020B0004020202020204" pitchFamily="34" charset="0"/>
                      </a:endParaRPr>
                    </a:p>
                  </a:txBody>
                  <a:tcPr marL="3810" marR="3810" marT="3810" marB="0" anchor="b"/>
                </a:tc>
                <a:extLst>
                  <a:ext uri="{0D108BD9-81ED-4DB2-BD59-A6C34878D82A}">
                    <a16:rowId xmlns:a16="http://schemas.microsoft.com/office/drawing/2014/main" val="3612057358"/>
                  </a:ext>
                </a:extLst>
              </a:tr>
              <a:tr h="182880">
                <a:tc>
                  <a:txBody>
                    <a:bodyPr/>
                    <a:lstStyle/>
                    <a:p>
                      <a:pPr algn="l" fontAlgn="b">
                        <a:buNone/>
                      </a:pPr>
                      <a:r>
                        <a:rPr lang="en-US" sz="1100" b="0" u="none" strike="noStrike">
                          <a:solidFill>
                            <a:srgbClr val="000000"/>
                          </a:solidFill>
                          <a:effectLst/>
                        </a:rPr>
                        <a:t>GBM: 0.7995200290888033</a:t>
                      </a:r>
                      <a:endParaRPr lang="en-US" sz="1100" b="0" i="0" u="none" strike="noStrike">
                        <a:solidFill>
                          <a:srgbClr val="000000"/>
                        </a:solidFill>
                        <a:effectLst/>
                        <a:latin typeface="Aptos Narrow" panose="020B0004020202020204" pitchFamily="34" charset="0"/>
                      </a:endParaRPr>
                    </a:p>
                  </a:txBody>
                  <a:tcPr marL="3810" marR="3810" marT="3810" marB="0" anchor="b"/>
                </a:tc>
                <a:tc>
                  <a:txBody>
                    <a:bodyPr/>
                    <a:lstStyle/>
                    <a:p>
                      <a:pPr algn="l" fontAlgn="b">
                        <a:buNone/>
                      </a:pPr>
                      <a:r>
                        <a:rPr lang="en-US" sz="1100" b="0" u="none" strike="noStrike">
                          <a:solidFill>
                            <a:srgbClr val="000000"/>
                          </a:solidFill>
                          <a:effectLst/>
                        </a:rPr>
                        <a:t>GBM: 0.8013683985460766</a:t>
                      </a:r>
                      <a:endParaRPr lang="en-US" sz="1100" b="0" i="0" u="none" strike="noStrike">
                        <a:solidFill>
                          <a:srgbClr val="000000"/>
                        </a:solidFill>
                        <a:effectLst/>
                        <a:latin typeface="Aptos Narrow" panose="020B0004020202020204" pitchFamily="34" charset="0"/>
                      </a:endParaRPr>
                    </a:p>
                  </a:txBody>
                  <a:tcPr marL="3810" marR="3810" marT="3810" marB="0" anchor="b"/>
                </a:tc>
                <a:extLst>
                  <a:ext uri="{0D108BD9-81ED-4DB2-BD59-A6C34878D82A}">
                    <a16:rowId xmlns:a16="http://schemas.microsoft.com/office/drawing/2014/main" val="1034722710"/>
                  </a:ext>
                </a:extLst>
              </a:tr>
              <a:tr h="182880">
                <a:tc>
                  <a:txBody>
                    <a:bodyPr/>
                    <a:lstStyle/>
                    <a:p>
                      <a:pPr algn="l" fontAlgn="b">
                        <a:buNone/>
                      </a:pPr>
                      <a:r>
                        <a:rPr lang="en-US" sz="1100" b="0" u="none" strike="noStrike">
                          <a:solidFill>
                            <a:srgbClr val="000000"/>
                          </a:solidFill>
                          <a:effectLst/>
                        </a:rPr>
                        <a:t>Adaboost: 0.7853502765579534</a:t>
                      </a:r>
                      <a:endParaRPr lang="en-US" sz="1100" b="0" i="0" u="none" strike="noStrike">
                        <a:solidFill>
                          <a:srgbClr val="000000"/>
                        </a:solidFill>
                        <a:effectLst/>
                        <a:latin typeface="Aptos Narrow" panose="020B0004020202020204" pitchFamily="34" charset="0"/>
                      </a:endParaRPr>
                    </a:p>
                  </a:txBody>
                  <a:tcPr marL="3810" marR="3810" marT="3810" marB="0" anchor="b"/>
                </a:tc>
                <a:tc>
                  <a:txBody>
                    <a:bodyPr/>
                    <a:lstStyle/>
                    <a:p>
                      <a:pPr algn="l" fontAlgn="b">
                        <a:buNone/>
                      </a:pPr>
                      <a:r>
                        <a:rPr lang="en-US" sz="1100" b="0" u="none" strike="noStrike">
                          <a:solidFill>
                            <a:srgbClr val="000000"/>
                          </a:solidFill>
                          <a:effectLst/>
                        </a:rPr>
                        <a:t>Adaboost: 0.7846414216204781</a:t>
                      </a:r>
                      <a:endParaRPr lang="en-US" sz="1100" b="0" i="0" u="none" strike="noStrike">
                        <a:solidFill>
                          <a:srgbClr val="000000"/>
                        </a:solidFill>
                        <a:effectLst/>
                        <a:latin typeface="Aptos Narrow" panose="020B0004020202020204" pitchFamily="34" charset="0"/>
                      </a:endParaRPr>
                    </a:p>
                  </a:txBody>
                  <a:tcPr marL="3810" marR="3810" marT="3810" marB="0" anchor="b"/>
                </a:tc>
                <a:extLst>
                  <a:ext uri="{0D108BD9-81ED-4DB2-BD59-A6C34878D82A}">
                    <a16:rowId xmlns:a16="http://schemas.microsoft.com/office/drawing/2014/main" val="199383619"/>
                  </a:ext>
                </a:extLst>
              </a:tr>
              <a:tr h="182880">
                <a:tc>
                  <a:txBody>
                    <a:bodyPr/>
                    <a:lstStyle/>
                    <a:p>
                      <a:pPr algn="l" fontAlgn="b">
                        <a:buNone/>
                      </a:pPr>
                      <a:r>
                        <a:rPr lang="en-US" sz="1100" b="0" u="none" strike="noStrike">
                          <a:solidFill>
                            <a:srgbClr val="000000"/>
                          </a:solidFill>
                          <a:effectLst/>
                        </a:rPr>
                        <a:t>Xgboost: 0.7947610182951765</a:t>
                      </a:r>
                      <a:endParaRPr lang="en-US" sz="1100" b="0" i="0" u="none" strike="noStrike">
                        <a:solidFill>
                          <a:srgbClr val="000000"/>
                        </a:solidFill>
                        <a:effectLst/>
                        <a:latin typeface="Aptos Narrow" panose="020B0004020202020204" pitchFamily="34" charset="0"/>
                      </a:endParaRPr>
                    </a:p>
                  </a:txBody>
                  <a:tcPr marL="3810" marR="3810" marT="3810" marB="0" anchor="b"/>
                </a:tc>
                <a:tc>
                  <a:txBody>
                    <a:bodyPr/>
                    <a:lstStyle/>
                    <a:p>
                      <a:pPr algn="l" fontAlgn="b">
                        <a:buNone/>
                      </a:pPr>
                      <a:r>
                        <a:rPr lang="en-US" sz="1100" b="0" u="none" strike="noStrike">
                          <a:solidFill>
                            <a:srgbClr val="000000"/>
                          </a:solidFill>
                          <a:effectLst/>
                        </a:rPr>
                        <a:t>Xgboost: 0.7933446375582874</a:t>
                      </a:r>
                      <a:endParaRPr lang="en-US" sz="1100" b="0" i="0" u="none" strike="noStrike">
                        <a:solidFill>
                          <a:srgbClr val="000000"/>
                        </a:solidFill>
                        <a:effectLst/>
                        <a:latin typeface="Aptos Narrow" panose="020B0004020202020204" pitchFamily="34" charset="0"/>
                      </a:endParaRPr>
                    </a:p>
                  </a:txBody>
                  <a:tcPr marL="3810" marR="3810" marT="3810" marB="0" anchor="b"/>
                </a:tc>
                <a:extLst>
                  <a:ext uri="{0D108BD9-81ED-4DB2-BD59-A6C34878D82A}">
                    <a16:rowId xmlns:a16="http://schemas.microsoft.com/office/drawing/2014/main" val="1991994424"/>
                  </a:ext>
                </a:extLst>
              </a:tr>
              <a:tr h="182880">
                <a:tc>
                  <a:txBody>
                    <a:bodyPr/>
                    <a:lstStyle/>
                    <a:p>
                      <a:pPr algn="l" fontAlgn="b">
                        <a:buNone/>
                      </a:pPr>
                      <a:r>
                        <a:rPr lang="en-US" sz="1100" b="0" u="none" strike="noStrike">
                          <a:solidFill>
                            <a:srgbClr val="000000"/>
                          </a:solidFill>
                          <a:effectLst/>
                        </a:rPr>
                        <a:t>dtree: 0.7302748433737385</a:t>
                      </a:r>
                      <a:endParaRPr lang="en-US" sz="1100" b="0" i="0" u="none" strike="noStrike">
                        <a:solidFill>
                          <a:srgbClr val="000000"/>
                        </a:solidFill>
                        <a:effectLst/>
                        <a:latin typeface="Aptos Narrow" panose="020B0004020202020204" pitchFamily="34" charset="0"/>
                      </a:endParaRPr>
                    </a:p>
                  </a:txBody>
                  <a:tcPr marL="3810" marR="3810" marT="3810" marB="0" anchor="b"/>
                </a:tc>
                <a:tc>
                  <a:txBody>
                    <a:bodyPr/>
                    <a:lstStyle/>
                    <a:p>
                      <a:pPr algn="l" fontAlgn="b">
                        <a:buNone/>
                      </a:pPr>
                      <a:r>
                        <a:rPr lang="en-US" sz="1100" b="0" u="none" strike="noStrike">
                          <a:solidFill>
                            <a:srgbClr val="000000"/>
                          </a:solidFill>
                          <a:effectLst/>
                        </a:rPr>
                        <a:t>dtree: 0.7402482269503546</a:t>
                      </a:r>
                      <a:endParaRPr lang="en-US" sz="1100" b="0" i="0" u="none" strike="noStrike">
                        <a:solidFill>
                          <a:srgbClr val="000000"/>
                        </a:solidFill>
                        <a:effectLst/>
                        <a:latin typeface="Aptos Narrow" panose="020B0004020202020204" pitchFamily="34" charset="0"/>
                      </a:endParaRPr>
                    </a:p>
                  </a:txBody>
                  <a:tcPr marL="3810" marR="3810" marT="3810" marB="0" anchor="b"/>
                </a:tc>
                <a:extLst>
                  <a:ext uri="{0D108BD9-81ED-4DB2-BD59-A6C34878D82A}">
                    <a16:rowId xmlns:a16="http://schemas.microsoft.com/office/drawing/2014/main" val="3856251074"/>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1">
          <a:extLst>
            <a:ext uri="{FF2B5EF4-FFF2-40B4-BE49-F238E27FC236}">
              <a16:creationId xmlns:a16="http://schemas.microsoft.com/office/drawing/2014/main" id="{657F6F7A-267E-E48B-F686-618DCFB7CD22}"/>
            </a:ext>
          </a:extLst>
        </p:cNvPr>
        <p:cNvGrpSpPr/>
        <p:nvPr/>
      </p:nvGrpSpPr>
      <p:grpSpPr>
        <a:xfrm>
          <a:off x="0" y="0"/>
          <a:ext cx="0" cy="0"/>
          <a:chOff x="0" y="0"/>
          <a:chExt cx="0" cy="0"/>
        </a:xfrm>
      </p:grpSpPr>
      <p:sp>
        <p:nvSpPr>
          <p:cNvPr id="212" name="Google Shape;212;p45">
            <a:extLst>
              <a:ext uri="{FF2B5EF4-FFF2-40B4-BE49-F238E27FC236}">
                <a16:creationId xmlns:a16="http://schemas.microsoft.com/office/drawing/2014/main" id="{F5D6002A-FC50-BD91-E3DB-EEBACD057D94}"/>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Model Building - Oversampled Data</a:t>
            </a:r>
            <a:endParaRPr>
              <a:solidFill>
                <a:srgbClr val="000000"/>
              </a:solidFill>
            </a:endParaRPr>
          </a:p>
        </p:txBody>
      </p:sp>
      <p:sp>
        <p:nvSpPr>
          <p:cNvPr id="213" name="Google Shape;213;p45">
            <a:extLst>
              <a:ext uri="{FF2B5EF4-FFF2-40B4-BE49-F238E27FC236}">
                <a16:creationId xmlns:a16="http://schemas.microsoft.com/office/drawing/2014/main" id="{52543567-4494-778F-62AD-3847D8F33B68}"/>
              </a:ext>
            </a:extLst>
          </p:cNvPr>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139700" lvl="0" indent="0" algn="l" rtl="0">
              <a:lnSpc>
                <a:spcPct val="115000"/>
              </a:lnSpc>
              <a:spcBef>
                <a:spcPts val="1000"/>
              </a:spcBef>
              <a:spcAft>
                <a:spcPts val="0"/>
              </a:spcAft>
              <a:buClr>
                <a:schemeClr val="dk1"/>
              </a:buClr>
              <a:buSzPts val="1400"/>
              <a:buNone/>
            </a:pPr>
            <a:r>
              <a:rPr lang="en" sz="1400" b="1">
                <a:solidFill>
                  <a:schemeClr val="dk1"/>
                </a:solidFill>
              </a:rPr>
              <a:t>Comment on the model performance</a:t>
            </a:r>
            <a:endParaRPr sz="1400" b="1">
              <a:solidFill>
                <a:schemeClr val="dk1"/>
              </a:solidFill>
            </a:endParaRPr>
          </a:p>
          <a:p>
            <a:pPr marL="133350" indent="0">
              <a:buNone/>
            </a:pPr>
            <a:r>
              <a:rPr lang="en-US" sz="1400" b="1"/>
              <a:t>After oversampling, there is evidence of  “Overfitting."</a:t>
            </a:r>
          </a:p>
          <a:p>
            <a:pPr marL="365760" lvl="1" indent="0">
              <a:lnSpc>
                <a:spcPct val="100000"/>
              </a:lnSpc>
              <a:spcBef>
                <a:spcPts val="0"/>
              </a:spcBef>
              <a:buNone/>
            </a:pPr>
            <a:r>
              <a:rPr lang="en-US" sz="800"/>
              <a:t>The change in the gap between Training and Validation:</a:t>
            </a:r>
          </a:p>
          <a:p>
            <a:pPr marL="365760" lvl="1" indent="0">
              <a:lnSpc>
                <a:spcPct val="100000"/>
              </a:lnSpc>
              <a:spcBef>
                <a:spcPts val="0"/>
              </a:spcBef>
              <a:buNone/>
            </a:pPr>
            <a:r>
              <a:rPr lang="en-US" sz="800" b="1"/>
              <a:t>Before SMOTE:</a:t>
            </a:r>
            <a:r>
              <a:rPr lang="en-US" sz="800"/>
              <a:t> GBM scores were ~0.823 (Train) and ~0.819 (Val). The gap was tiny (</a:t>
            </a:r>
            <a:r>
              <a:rPr lang="en-US" sz="800" b="1"/>
              <a:t>0.004</a:t>
            </a:r>
            <a:r>
              <a:rPr lang="en-US" sz="800"/>
              <a:t>).</a:t>
            </a:r>
          </a:p>
          <a:p>
            <a:pPr marL="365760" lvl="1" indent="0">
              <a:lnSpc>
                <a:spcPct val="100000"/>
              </a:lnSpc>
              <a:spcBef>
                <a:spcPts val="0"/>
              </a:spcBef>
              <a:buNone/>
            </a:pPr>
            <a:r>
              <a:rPr lang="en-US" sz="800" b="1"/>
              <a:t>After SMOTE:</a:t>
            </a:r>
            <a:r>
              <a:rPr lang="en-US" sz="800"/>
              <a:t> GBM scores are ~0.865 (Train) and ~0.801 (Val). The gap has grown significantly (</a:t>
            </a:r>
            <a:r>
              <a:rPr lang="en-US" sz="800" b="1"/>
              <a:t>0.064</a:t>
            </a:r>
            <a:r>
              <a:rPr lang="en-US" sz="800"/>
              <a:t>).</a:t>
            </a:r>
          </a:p>
          <a:p>
            <a:pPr marL="0" lvl="0" indent="0" algn="l" rtl="0">
              <a:lnSpc>
                <a:spcPct val="115000"/>
              </a:lnSpc>
              <a:spcBef>
                <a:spcPts val="1000"/>
              </a:spcBef>
              <a:spcAft>
                <a:spcPts val="0"/>
              </a:spcAft>
              <a:buSzPts val="1500"/>
              <a:buNone/>
            </a:pPr>
            <a:endParaRPr sz="1400">
              <a:solidFill>
                <a:schemeClr val="dk1"/>
              </a:solidFill>
            </a:endParaRPr>
          </a:p>
        </p:txBody>
      </p:sp>
    </p:spTree>
    <p:extLst>
      <p:ext uri="{BB962C8B-B14F-4D97-AF65-F5344CB8AC3E}">
        <p14:creationId xmlns:p14="http://schemas.microsoft.com/office/powerpoint/2010/main" val="42353560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46"/>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Model Building - Undersampled Data</a:t>
            </a:r>
            <a:endParaRPr>
              <a:solidFill>
                <a:srgbClr val="000000"/>
              </a:solidFill>
            </a:endParaRPr>
          </a:p>
        </p:txBody>
      </p:sp>
      <p:sp>
        <p:nvSpPr>
          <p:cNvPr id="219" name="Google Shape;219;p46"/>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139700" lvl="0" indent="0" algn="l" rtl="0">
              <a:spcBef>
                <a:spcPts val="1000"/>
              </a:spcBef>
              <a:spcAft>
                <a:spcPts val="0"/>
              </a:spcAft>
              <a:buClr>
                <a:schemeClr val="dk1"/>
              </a:buClr>
              <a:buSzPts val="1400"/>
              <a:buNone/>
            </a:pPr>
            <a:r>
              <a:rPr lang="en" sz="1400" b="1">
                <a:solidFill>
                  <a:schemeClr val="dk1"/>
                </a:solidFill>
              </a:rPr>
              <a:t>Describe the undersampling method used</a:t>
            </a:r>
          </a:p>
          <a:p>
            <a:pPr marL="139700" lvl="0" indent="0">
              <a:spcBef>
                <a:spcPts val="1000"/>
              </a:spcBef>
              <a:buClr>
                <a:schemeClr val="dk1"/>
              </a:buClr>
              <a:buSzPts val="1400"/>
              <a:buNone/>
            </a:pPr>
            <a:r>
              <a:rPr lang="en-US" sz="1000"/>
              <a:t>A Random UnderSampler, which is good for imbalanced datasets to reduce the number of samples. It randomly deletes majority class samples  until the dataset becomes balanced</a:t>
            </a:r>
            <a:endParaRPr sz="1000">
              <a:solidFill>
                <a:schemeClr val="dk1"/>
              </a:solidFill>
            </a:endParaRPr>
          </a:p>
          <a:p>
            <a:pPr marL="139700" lvl="0" indent="0" algn="l" rtl="0">
              <a:spcBef>
                <a:spcPts val="1000"/>
              </a:spcBef>
              <a:spcAft>
                <a:spcPts val="0"/>
              </a:spcAft>
              <a:buClr>
                <a:schemeClr val="dk1"/>
              </a:buClr>
              <a:buSzPts val="1400"/>
              <a:buNone/>
            </a:pPr>
            <a:r>
              <a:rPr lang="en" sz="1400" b="1">
                <a:solidFill>
                  <a:schemeClr val="dk1"/>
                </a:solidFill>
              </a:rPr>
              <a:t>List the models built along with the scores on different evaluation metrics</a:t>
            </a:r>
          </a:p>
          <a:p>
            <a:pPr marL="139700" lvl="0" indent="0" algn="l" rtl="0">
              <a:spcBef>
                <a:spcPts val="1000"/>
              </a:spcBef>
              <a:spcAft>
                <a:spcPts val="0"/>
              </a:spcAft>
              <a:buClr>
                <a:schemeClr val="dk1"/>
              </a:buClr>
              <a:buSzPts val="1400"/>
              <a:buNone/>
            </a:pPr>
            <a:endParaRPr sz="1400" b="1">
              <a:solidFill>
                <a:schemeClr val="dk1"/>
              </a:solidFill>
            </a:endParaRPr>
          </a:p>
          <a:p>
            <a:pPr marL="0" lvl="0" indent="0" algn="l" rtl="0">
              <a:lnSpc>
                <a:spcPct val="115000"/>
              </a:lnSpc>
              <a:spcBef>
                <a:spcPts val="1000"/>
              </a:spcBef>
              <a:spcAft>
                <a:spcPts val="1000"/>
              </a:spcAft>
              <a:buSzPts val="1500"/>
              <a:buNone/>
            </a:pPr>
            <a:endParaRPr sz="1400">
              <a:solidFill>
                <a:schemeClr val="dk1"/>
              </a:solidFill>
            </a:endParaRPr>
          </a:p>
        </p:txBody>
      </p:sp>
      <p:graphicFrame>
        <p:nvGraphicFramePr>
          <p:cNvPr id="3" name="Table 2">
            <a:extLst>
              <a:ext uri="{FF2B5EF4-FFF2-40B4-BE49-F238E27FC236}">
                <a16:creationId xmlns:a16="http://schemas.microsoft.com/office/drawing/2014/main" id="{197D1038-95FD-DAF5-52ED-773AA0F0BB68}"/>
              </a:ext>
            </a:extLst>
          </p:cNvPr>
          <p:cNvGraphicFramePr>
            <a:graphicFrameLocks noGrp="1"/>
          </p:cNvGraphicFramePr>
          <p:nvPr>
            <p:extLst>
              <p:ext uri="{D42A27DB-BD31-4B8C-83A1-F6EECF244321}">
                <p14:modId xmlns:p14="http://schemas.microsoft.com/office/powerpoint/2010/main" val="1345989333"/>
              </p:ext>
            </p:extLst>
          </p:nvPr>
        </p:nvGraphicFramePr>
        <p:xfrm>
          <a:off x="761166" y="2175833"/>
          <a:ext cx="6197600" cy="1280160"/>
        </p:xfrm>
        <a:graphic>
          <a:graphicData uri="http://schemas.openxmlformats.org/drawingml/2006/table">
            <a:tbl>
              <a:tblPr firstRow="1">
                <a:tableStyleId>{912C8C85-51F0-491E-9774-3900AFEF0FD7}</a:tableStyleId>
              </a:tblPr>
              <a:tblGrid>
                <a:gridCol w="3441700">
                  <a:extLst>
                    <a:ext uri="{9D8B030D-6E8A-4147-A177-3AD203B41FA5}">
                      <a16:colId xmlns:a16="http://schemas.microsoft.com/office/drawing/2014/main" val="2855194759"/>
                    </a:ext>
                  </a:extLst>
                </a:gridCol>
                <a:gridCol w="2755900">
                  <a:extLst>
                    <a:ext uri="{9D8B030D-6E8A-4147-A177-3AD203B41FA5}">
                      <a16:colId xmlns:a16="http://schemas.microsoft.com/office/drawing/2014/main" val="834758957"/>
                    </a:ext>
                  </a:extLst>
                </a:gridCol>
              </a:tblGrid>
              <a:tr h="182880">
                <a:tc>
                  <a:txBody>
                    <a:bodyPr/>
                    <a:lstStyle/>
                    <a:p>
                      <a:pPr algn="l" fontAlgn="b">
                        <a:buNone/>
                      </a:pPr>
                      <a:r>
                        <a:rPr lang="en-US" sz="1100" b="0" u="none" strike="noStrike">
                          <a:solidFill>
                            <a:srgbClr val="000000"/>
                          </a:solidFill>
                          <a:effectLst/>
                        </a:rPr>
                        <a:t>Cross-Validation performance on training dataset:</a:t>
                      </a:r>
                      <a:endParaRPr lang="en-US" sz="1100" b="0" i="0" u="none" strike="noStrike">
                        <a:solidFill>
                          <a:srgbClr val="000000"/>
                        </a:solidFill>
                        <a:effectLst/>
                        <a:latin typeface="Aptos Narrow" panose="020B0004020202020204" pitchFamily="34" charset="0"/>
                      </a:endParaRPr>
                    </a:p>
                  </a:txBody>
                  <a:tcPr marL="3810" marR="3810" marT="3810" marB="0" anchor="b"/>
                </a:tc>
                <a:tc>
                  <a:txBody>
                    <a:bodyPr/>
                    <a:lstStyle/>
                    <a:p>
                      <a:pPr algn="l" fontAlgn="b">
                        <a:buNone/>
                      </a:pPr>
                      <a:r>
                        <a:rPr lang="en-US" sz="1100" b="0" u="none" strike="noStrike">
                          <a:solidFill>
                            <a:srgbClr val="000000"/>
                          </a:solidFill>
                          <a:effectLst/>
                        </a:rPr>
                        <a:t>Validation Performance:</a:t>
                      </a:r>
                      <a:endParaRPr lang="en-US" sz="1100" b="0" i="0" u="none" strike="noStrike">
                        <a:solidFill>
                          <a:srgbClr val="000000"/>
                        </a:solidFill>
                        <a:effectLst/>
                        <a:latin typeface="Aptos Narrow" panose="020B0004020202020204" pitchFamily="34" charset="0"/>
                      </a:endParaRPr>
                    </a:p>
                  </a:txBody>
                  <a:tcPr marL="3810" marR="3810" marT="3810" marB="0" anchor="b"/>
                </a:tc>
                <a:extLst>
                  <a:ext uri="{0D108BD9-81ED-4DB2-BD59-A6C34878D82A}">
                    <a16:rowId xmlns:a16="http://schemas.microsoft.com/office/drawing/2014/main" val="1717901603"/>
                  </a:ext>
                </a:extLst>
              </a:tr>
              <a:tr h="182880">
                <a:tc>
                  <a:txBody>
                    <a:bodyPr/>
                    <a:lstStyle/>
                    <a:p>
                      <a:pPr algn="l" fontAlgn="b">
                        <a:buNone/>
                      </a:pPr>
                      <a:r>
                        <a:rPr lang="en-US" sz="1100" b="0" u="none" strike="noStrike">
                          <a:solidFill>
                            <a:srgbClr val="000000"/>
                          </a:solidFill>
                          <a:effectLst/>
                        </a:rPr>
                        <a:t>Bagging: 0.6411413525524321</a:t>
                      </a:r>
                      <a:endParaRPr lang="en-US" sz="1100" b="0" i="0" u="none" strike="noStrike">
                        <a:solidFill>
                          <a:srgbClr val="000000"/>
                        </a:solidFill>
                        <a:effectLst/>
                        <a:latin typeface="Aptos Narrow" panose="020B0004020202020204" pitchFamily="34" charset="0"/>
                      </a:endParaRPr>
                    </a:p>
                  </a:txBody>
                  <a:tcPr marL="3810" marR="3810" marT="3810" marB="0" anchor="b"/>
                </a:tc>
                <a:tc>
                  <a:txBody>
                    <a:bodyPr/>
                    <a:lstStyle/>
                    <a:p>
                      <a:pPr algn="l" fontAlgn="b">
                        <a:buNone/>
                      </a:pPr>
                      <a:r>
                        <a:rPr lang="en-US" sz="1100" b="0" u="none" strike="noStrike">
                          <a:solidFill>
                            <a:srgbClr val="000000"/>
                          </a:solidFill>
                          <a:effectLst/>
                        </a:rPr>
                        <a:t>Bagging: 0.6916956737941323</a:t>
                      </a:r>
                      <a:endParaRPr lang="en-US" sz="1100" b="0" i="0" u="none" strike="noStrike">
                        <a:solidFill>
                          <a:srgbClr val="000000"/>
                        </a:solidFill>
                        <a:effectLst/>
                        <a:latin typeface="Aptos Narrow" panose="020B0004020202020204" pitchFamily="34" charset="0"/>
                      </a:endParaRPr>
                    </a:p>
                  </a:txBody>
                  <a:tcPr marL="3810" marR="3810" marT="3810" marB="0" anchor="b"/>
                </a:tc>
                <a:extLst>
                  <a:ext uri="{0D108BD9-81ED-4DB2-BD59-A6C34878D82A}">
                    <a16:rowId xmlns:a16="http://schemas.microsoft.com/office/drawing/2014/main" val="4049215475"/>
                  </a:ext>
                </a:extLst>
              </a:tr>
              <a:tr h="182880">
                <a:tc>
                  <a:txBody>
                    <a:bodyPr/>
                    <a:lstStyle/>
                    <a:p>
                      <a:pPr algn="l" fontAlgn="b">
                        <a:buNone/>
                      </a:pPr>
                      <a:r>
                        <a:rPr lang="en-US" sz="1100" b="0" u="none" strike="noStrike">
                          <a:solidFill>
                            <a:srgbClr val="000000"/>
                          </a:solidFill>
                          <a:effectLst/>
                        </a:rPr>
                        <a:t>Random forest: 0.6875011408129813</a:t>
                      </a:r>
                      <a:endParaRPr lang="en-US" sz="1100" b="0" i="0" u="none" strike="noStrike">
                        <a:solidFill>
                          <a:srgbClr val="000000"/>
                        </a:solidFill>
                        <a:effectLst/>
                        <a:latin typeface="Aptos Narrow" panose="020B0004020202020204" pitchFamily="34" charset="0"/>
                      </a:endParaRPr>
                    </a:p>
                  </a:txBody>
                  <a:tcPr marL="3810" marR="3810" marT="3810" marB="0" anchor="b"/>
                </a:tc>
                <a:tc>
                  <a:txBody>
                    <a:bodyPr/>
                    <a:lstStyle/>
                    <a:p>
                      <a:pPr algn="l" fontAlgn="b">
                        <a:buNone/>
                      </a:pPr>
                      <a:r>
                        <a:rPr lang="en-US" sz="1100" b="0" u="none" strike="noStrike">
                          <a:solidFill>
                            <a:srgbClr val="000000"/>
                          </a:solidFill>
                          <a:effectLst/>
                        </a:rPr>
                        <a:t>Random forest: 0.734144015259895</a:t>
                      </a:r>
                      <a:endParaRPr lang="en-US" sz="1100" b="0" i="0" u="none" strike="noStrike">
                        <a:solidFill>
                          <a:srgbClr val="000000"/>
                        </a:solidFill>
                        <a:effectLst/>
                        <a:latin typeface="Aptos Narrow" panose="020B0004020202020204" pitchFamily="34" charset="0"/>
                      </a:endParaRPr>
                    </a:p>
                  </a:txBody>
                  <a:tcPr marL="3810" marR="3810" marT="3810" marB="0" anchor="b"/>
                </a:tc>
                <a:extLst>
                  <a:ext uri="{0D108BD9-81ED-4DB2-BD59-A6C34878D82A}">
                    <a16:rowId xmlns:a16="http://schemas.microsoft.com/office/drawing/2014/main" val="631182226"/>
                  </a:ext>
                </a:extLst>
              </a:tr>
              <a:tr h="182880">
                <a:tc>
                  <a:txBody>
                    <a:bodyPr/>
                    <a:lstStyle/>
                    <a:p>
                      <a:pPr algn="l" fontAlgn="b">
                        <a:buNone/>
                      </a:pPr>
                      <a:r>
                        <a:rPr lang="en-US" sz="1100" b="0" u="none" strike="noStrike">
                          <a:solidFill>
                            <a:srgbClr val="000000"/>
                          </a:solidFill>
                          <a:effectLst/>
                        </a:rPr>
                        <a:t>GBM: 0.7131358906535971</a:t>
                      </a:r>
                      <a:endParaRPr lang="en-US" sz="1100" b="0" i="0" u="none" strike="noStrike">
                        <a:solidFill>
                          <a:srgbClr val="000000"/>
                        </a:solidFill>
                        <a:effectLst/>
                        <a:latin typeface="Aptos Narrow" panose="020B0004020202020204" pitchFamily="34" charset="0"/>
                      </a:endParaRPr>
                    </a:p>
                  </a:txBody>
                  <a:tcPr marL="3810" marR="3810" marT="3810" marB="0" anchor="b"/>
                </a:tc>
                <a:tc>
                  <a:txBody>
                    <a:bodyPr/>
                    <a:lstStyle/>
                    <a:p>
                      <a:pPr algn="l" fontAlgn="b">
                        <a:buNone/>
                      </a:pPr>
                      <a:r>
                        <a:rPr lang="en-US" sz="1100" b="0" u="none" strike="noStrike">
                          <a:solidFill>
                            <a:srgbClr val="000000"/>
                          </a:solidFill>
                          <a:effectLst/>
                        </a:rPr>
                        <a:t>GBM: 0.7608695652173914</a:t>
                      </a:r>
                      <a:endParaRPr lang="en-US" sz="1100" b="0" i="0" u="none" strike="noStrike">
                        <a:solidFill>
                          <a:srgbClr val="000000"/>
                        </a:solidFill>
                        <a:effectLst/>
                        <a:latin typeface="Aptos Narrow" panose="020B0004020202020204" pitchFamily="34" charset="0"/>
                      </a:endParaRPr>
                    </a:p>
                  </a:txBody>
                  <a:tcPr marL="3810" marR="3810" marT="3810" marB="0" anchor="b"/>
                </a:tc>
                <a:extLst>
                  <a:ext uri="{0D108BD9-81ED-4DB2-BD59-A6C34878D82A}">
                    <a16:rowId xmlns:a16="http://schemas.microsoft.com/office/drawing/2014/main" val="3605967238"/>
                  </a:ext>
                </a:extLst>
              </a:tr>
              <a:tr h="182880">
                <a:tc>
                  <a:txBody>
                    <a:bodyPr/>
                    <a:lstStyle/>
                    <a:p>
                      <a:pPr algn="l" fontAlgn="b">
                        <a:buNone/>
                      </a:pPr>
                      <a:r>
                        <a:rPr lang="en-US" sz="1100" b="0" u="none" strike="noStrike">
                          <a:solidFill>
                            <a:srgbClr val="000000"/>
                          </a:solidFill>
                          <a:effectLst/>
                        </a:rPr>
                        <a:t>Adaboost: 0.7002423692713601</a:t>
                      </a:r>
                      <a:endParaRPr lang="en-US" sz="1100" b="0" i="0" u="none" strike="noStrike">
                        <a:solidFill>
                          <a:srgbClr val="000000"/>
                        </a:solidFill>
                        <a:effectLst/>
                        <a:latin typeface="Aptos Narrow" panose="020B0004020202020204" pitchFamily="34" charset="0"/>
                      </a:endParaRPr>
                    </a:p>
                  </a:txBody>
                  <a:tcPr marL="3810" marR="3810" marT="3810" marB="0" anchor="b"/>
                </a:tc>
                <a:tc>
                  <a:txBody>
                    <a:bodyPr/>
                    <a:lstStyle/>
                    <a:p>
                      <a:pPr algn="l" fontAlgn="b">
                        <a:buNone/>
                      </a:pPr>
                      <a:r>
                        <a:rPr lang="en-US" sz="1100" b="0" u="none" strike="noStrike">
                          <a:solidFill>
                            <a:srgbClr val="000000"/>
                          </a:solidFill>
                          <a:effectLst/>
                        </a:rPr>
                        <a:t>Adaboost: 0.7559219693450998</a:t>
                      </a:r>
                      <a:endParaRPr lang="en-US" sz="1100" b="0" i="0" u="none" strike="noStrike">
                        <a:solidFill>
                          <a:srgbClr val="000000"/>
                        </a:solidFill>
                        <a:effectLst/>
                        <a:latin typeface="Aptos Narrow" panose="020B0004020202020204" pitchFamily="34" charset="0"/>
                      </a:endParaRPr>
                    </a:p>
                  </a:txBody>
                  <a:tcPr marL="3810" marR="3810" marT="3810" marB="0" anchor="b"/>
                </a:tc>
                <a:extLst>
                  <a:ext uri="{0D108BD9-81ED-4DB2-BD59-A6C34878D82A}">
                    <a16:rowId xmlns:a16="http://schemas.microsoft.com/office/drawing/2014/main" val="1417338603"/>
                  </a:ext>
                </a:extLst>
              </a:tr>
              <a:tr h="182880">
                <a:tc>
                  <a:txBody>
                    <a:bodyPr/>
                    <a:lstStyle/>
                    <a:p>
                      <a:pPr algn="l" fontAlgn="b">
                        <a:buNone/>
                      </a:pPr>
                      <a:r>
                        <a:rPr lang="en-US" sz="1100" b="0" u="none" strike="noStrike">
                          <a:solidFill>
                            <a:srgbClr val="000000"/>
                          </a:solidFill>
                          <a:effectLst/>
                        </a:rPr>
                        <a:t>Xgboost: 0.6944693136408734</a:t>
                      </a:r>
                      <a:endParaRPr lang="en-US" sz="1100" b="0" i="0" u="none" strike="noStrike">
                        <a:solidFill>
                          <a:srgbClr val="000000"/>
                        </a:solidFill>
                        <a:effectLst/>
                        <a:latin typeface="Aptos Narrow" panose="020B0004020202020204" pitchFamily="34" charset="0"/>
                      </a:endParaRPr>
                    </a:p>
                  </a:txBody>
                  <a:tcPr marL="3810" marR="3810" marT="3810" marB="0" anchor="b"/>
                </a:tc>
                <a:tc>
                  <a:txBody>
                    <a:bodyPr/>
                    <a:lstStyle/>
                    <a:p>
                      <a:pPr algn="l" fontAlgn="b">
                        <a:buNone/>
                      </a:pPr>
                      <a:r>
                        <a:rPr lang="en-US" sz="1100" b="0" u="none" strike="noStrike">
                          <a:solidFill>
                            <a:srgbClr val="000000"/>
                          </a:solidFill>
                          <a:effectLst/>
                        </a:rPr>
                        <a:t>Xgboost: 0.7423652871123688</a:t>
                      </a:r>
                      <a:endParaRPr lang="en-US" sz="1100" b="0" i="0" u="none" strike="noStrike">
                        <a:solidFill>
                          <a:srgbClr val="000000"/>
                        </a:solidFill>
                        <a:effectLst/>
                        <a:latin typeface="Aptos Narrow" panose="020B0004020202020204" pitchFamily="34" charset="0"/>
                      </a:endParaRPr>
                    </a:p>
                  </a:txBody>
                  <a:tcPr marL="3810" marR="3810" marT="3810" marB="0" anchor="b"/>
                </a:tc>
                <a:extLst>
                  <a:ext uri="{0D108BD9-81ED-4DB2-BD59-A6C34878D82A}">
                    <a16:rowId xmlns:a16="http://schemas.microsoft.com/office/drawing/2014/main" val="3908722478"/>
                  </a:ext>
                </a:extLst>
              </a:tr>
              <a:tr h="182880">
                <a:tc>
                  <a:txBody>
                    <a:bodyPr/>
                    <a:lstStyle/>
                    <a:p>
                      <a:pPr algn="l" fontAlgn="b">
                        <a:buNone/>
                      </a:pPr>
                      <a:r>
                        <a:rPr lang="en-US" sz="1100" b="0" u="none" strike="noStrike">
                          <a:solidFill>
                            <a:srgbClr val="000000"/>
                          </a:solidFill>
                          <a:effectLst/>
                        </a:rPr>
                        <a:t>dtree: 0.617022679979161</a:t>
                      </a:r>
                      <a:endParaRPr lang="en-US" sz="1100" b="0" i="0" u="none" strike="noStrike">
                        <a:solidFill>
                          <a:srgbClr val="000000"/>
                        </a:solidFill>
                        <a:effectLst/>
                        <a:latin typeface="Aptos Narrow" panose="020B0004020202020204" pitchFamily="34" charset="0"/>
                      </a:endParaRPr>
                    </a:p>
                  </a:txBody>
                  <a:tcPr marL="3810" marR="3810" marT="3810" marB="0" anchor="b"/>
                </a:tc>
                <a:tc>
                  <a:txBody>
                    <a:bodyPr/>
                    <a:lstStyle/>
                    <a:p>
                      <a:pPr algn="l" fontAlgn="b">
                        <a:buNone/>
                      </a:pPr>
                      <a:r>
                        <a:rPr lang="en-US" sz="1100" b="0" u="none" strike="noStrike">
                          <a:solidFill>
                            <a:srgbClr val="000000"/>
                          </a:solidFill>
                          <a:effectLst/>
                        </a:rPr>
                        <a:t>dtree: 0.6839080459770115</a:t>
                      </a:r>
                      <a:endParaRPr lang="en-US" sz="1100" b="0" i="0" u="none" strike="noStrike">
                        <a:solidFill>
                          <a:srgbClr val="000000"/>
                        </a:solidFill>
                        <a:effectLst/>
                        <a:latin typeface="Aptos Narrow" panose="020B0004020202020204" pitchFamily="34" charset="0"/>
                      </a:endParaRPr>
                    </a:p>
                  </a:txBody>
                  <a:tcPr marL="3810" marR="3810" marT="3810" marB="0" anchor="b"/>
                </a:tc>
                <a:extLst>
                  <a:ext uri="{0D108BD9-81ED-4DB2-BD59-A6C34878D82A}">
                    <a16:rowId xmlns:a16="http://schemas.microsoft.com/office/drawing/2014/main" val="381068388"/>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7">
          <a:extLst>
            <a:ext uri="{FF2B5EF4-FFF2-40B4-BE49-F238E27FC236}">
              <a16:creationId xmlns:a16="http://schemas.microsoft.com/office/drawing/2014/main" id="{2D9DDD40-9C05-63FE-3AA4-57B9ABFC3D61}"/>
            </a:ext>
          </a:extLst>
        </p:cNvPr>
        <p:cNvGrpSpPr/>
        <p:nvPr/>
      </p:nvGrpSpPr>
      <p:grpSpPr>
        <a:xfrm>
          <a:off x="0" y="0"/>
          <a:ext cx="0" cy="0"/>
          <a:chOff x="0" y="0"/>
          <a:chExt cx="0" cy="0"/>
        </a:xfrm>
      </p:grpSpPr>
      <p:sp>
        <p:nvSpPr>
          <p:cNvPr id="218" name="Google Shape;218;p46">
            <a:extLst>
              <a:ext uri="{FF2B5EF4-FFF2-40B4-BE49-F238E27FC236}">
                <a16:creationId xmlns:a16="http://schemas.microsoft.com/office/drawing/2014/main" id="{A999ADAA-1B09-E92C-E1E5-E643BA4063EB}"/>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Model Building - Undersampled Data</a:t>
            </a:r>
            <a:endParaRPr>
              <a:solidFill>
                <a:srgbClr val="000000"/>
              </a:solidFill>
            </a:endParaRPr>
          </a:p>
        </p:txBody>
      </p:sp>
      <p:sp>
        <p:nvSpPr>
          <p:cNvPr id="219" name="Google Shape;219;p46">
            <a:extLst>
              <a:ext uri="{FF2B5EF4-FFF2-40B4-BE49-F238E27FC236}">
                <a16:creationId xmlns:a16="http://schemas.microsoft.com/office/drawing/2014/main" id="{6D3EBFF0-F2C0-D07C-4A0D-455D37101876}"/>
              </a:ext>
            </a:extLst>
          </p:cNvPr>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139700" lvl="0" indent="0" algn="l" rtl="0">
              <a:spcBef>
                <a:spcPts val="1000"/>
              </a:spcBef>
              <a:spcAft>
                <a:spcPts val="0"/>
              </a:spcAft>
              <a:buClr>
                <a:schemeClr val="dk1"/>
              </a:buClr>
              <a:buSzPts val="1400"/>
              <a:buNone/>
            </a:pPr>
            <a:r>
              <a:rPr lang="en" sz="1400" b="1">
                <a:solidFill>
                  <a:schemeClr val="dk1"/>
                </a:solidFill>
              </a:rPr>
              <a:t>Comment on the model performance</a:t>
            </a:r>
            <a:endParaRPr sz="1400" b="1">
              <a:solidFill>
                <a:schemeClr val="dk1"/>
              </a:solidFill>
            </a:endParaRPr>
          </a:p>
          <a:p>
            <a:pPr marL="457200" lvl="1" indent="0">
              <a:spcBef>
                <a:spcPts val="1000"/>
              </a:spcBef>
              <a:buClr>
                <a:srgbClr val="000000"/>
              </a:buClr>
              <a:buNone/>
            </a:pPr>
            <a:r>
              <a:rPr lang="en-US" sz="1200">
                <a:solidFill>
                  <a:schemeClr val="accent6">
                    <a:lumMod val="50000"/>
                  </a:schemeClr>
                </a:solidFill>
              </a:rPr>
              <a:t>These results show a significant drop in performance compared to previous models. </a:t>
            </a:r>
            <a:r>
              <a:rPr lang="en-US" sz="1200" b="1">
                <a:solidFill>
                  <a:schemeClr val="accent6">
                    <a:lumMod val="50000"/>
                  </a:schemeClr>
                </a:solidFill>
              </a:rPr>
              <a:t>Undersampling</a:t>
            </a:r>
            <a:r>
              <a:rPr lang="en-US" sz="1200">
                <a:solidFill>
                  <a:schemeClr val="accent6">
                    <a:lumMod val="50000"/>
                  </a:schemeClr>
                </a:solidFill>
              </a:rPr>
              <a:t> (where you remove examples from the majority "Certified" class to match the minority "Denied" class) has had the most drastic impact on your F1-scores</a:t>
            </a:r>
            <a:endParaRPr sz="1200">
              <a:solidFill>
                <a:schemeClr val="accent6">
                  <a:lumMod val="50000"/>
                </a:schemeClr>
              </a:solidFill>
            </a:endParaRPr>
          </a:p>
          <a:p>
            <a:pPr marL="0" lvl="0" indent="0" algn="l" rtl="0">
              <a:lnSpc>
                <a:spcPct val="115000"/>
              </a:lnSpc>
              <a:spcBef>
                <a:spcPts val="1000"/>
              </a:spcBef>
              <a:spcAft>
                <a:spcPts val="1000"/>
              </a:spcAft>
              <a:buSzPts val="1500"/>
              <a:buNone/>
            </a:pPr>
            <a:endParaRPr sz="1400">
              <a:solidFill>
                <a:schemeClr val="dk1"/>
              </a:solidFill>
            </a:endParaRPr>
          </a:p>
        </p:txBody>
      </p:sp>
    </p:spTree>
    <p:extLst>
      <p:ext uri="{BB962C8B-B14F-4D97-AF65-F5344CB8AC3E}">
        <p14:creationId xmlns:p14="http://schemas.microsoft.com/office/powerpoint/2010/main" val="5514242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47"/>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Model Improvement - Hyperparameter Tuning</a:t>
            </a:r>
            <a:endParaRPr>
              <a:solidFill>
                <a:srgbClr val="000000"/>
              </a:solidFill>
            </a:endParaRPr>
          </a:p>
        </p:txBody>
      </p:sp>
      <p:sp>
        <p:nvSpPr>
          <p:cNvPr id="225" name="Google Shape;225;p47"/>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139700" lvl="0" indent="0" algn="l" rtl="0">
              <a:lnSpc>
                <a:spcPct val="115000"/>
              </a:lnSpc>
              <a:spcBef>
                <a:spcPts val="1000"/>
              </a:spcBef>
              <a:spcAft>
                <a:spcPts val="0"/>
              </a:spcAft>
              <a:buClr>
                <a:srgbClr val="000000"/>
              </a:buClr>
              <a:buSzPts val="1400"/>
              <a:buNone/>
            </a:pPr>
            <a:r>
              <a:rPr lang="en" sz="1400" b="1">
                <a:solidFill>
                  <a:schemeClr val="dk1"/>
                </a:solidFill>
              </a:rPr>
              <a:t>List the best performing models (at least 3) among all the models built previously with rationale</a:t>
            </a:r>
          </a:p>
          <a:p>
            <a:pPr marL="274320" lvl="0" indent="0">
              <a:lnSpc>
                <a:spcPct val="100000"/>
              </a:lnSpc>
              <a:spcBef>
                <a:spcPts val="600"/>
              </a:spcBef>
              <a:buClr>
                <a:srgbClr val="000000"/>
              </a:buClr>
              <a:buSzPts val="1400"/>
              <a:buNone/>
            </a:pPr>
            <a:r>
              <a:rPr lang="en" sz="1400">
                <a:solidFill>
                  <a:srgbClr val="002060"/>
                </a:solidFill>
              </a:rPr>
              <a:t>We chose GBM, AdaBoost, and Random Forest because</a:t>
            </a:r>
            <a:r>
              <a:rPr lang="en-US" sz="1400">
                <a:solidFill>
                  <a:srgbClr val="002060"/>
                </a:solidFill>
              </a:rPr>
              <a:t> the visa process is not straightforward. We decided on F1 score and precision as a layered strategy; the complexity requires the models to consider education, wage, and experience simultaneously</a:t>
            </a:r>
            <a:r>
              <a:rPr lang="en" sz="1400">
                <a:solidFill>
                  <a:srgbClr val="002060"/>
                </a:solidFill>
              </a:rPr>
              <a:t>. Boosting(~.81) are better then Decision Tree(0.74) .So, they performed better than a single Decision Tree and </a:t>
            </a:r>
            <a:r>
              <a:rPr lang="en-US" sz="1400">
                <a:solidFill>
                  <a:srgbClr val="002060"/>
                </a:solidFill>
              </a:rPr>
              <a:t>handled the complexity of the EasyVisa dataset well</a:t>
            </a:r>
            <a:r>
              <a:rPr lang="en" sz="1400">
                <a:solidFill>
                  <a:srgbClr val="002060"/>
                </a:solidFill>
              </a:rPr>
              <a:t>.</a:t>
            </a:r>
          </a:p>
          <a:p>
            <a:pPr marL="139700" lvl="0" indent="0" algn="l" rtl="0">
              <a:lnSpc>
                <a:spcPct val="115000"/>
              </a:lnSpc>
              <a:spcBef>
                <a:spcPts val="1000"/>
              </a:spcBef>
              <a:spcAft>
                <a:spcPts val="0"/>
              </a:spcAft>
              <a:buClr>
                <a:srgbClr val="000000"/>
              </a:buClr>
              <a:buSzPts val="1400"/>
              <a:buNone/>
            </a:pPr>
            <a:endParaRPr sz="1400" b="1">
              <a:solidFill>
                <a:schemeClr val="dk1"/>
              </a:solidFill>
            </a:endParaRPr>
          </a:p>
          <a:p>
            <a:pPr marL="139700" lvl="0" indent="0" algn="l" rtl="0">
              <a:lnSpc>
                <a:spcPct val="115000"/>
              </a:lnSpc>
              <a:spcBef>
                <a:spcPts val="1000"/>
              </a:spcBef>
              <a:spcAft>
                <a:spcPts val="0"/>
              </a:spcAft>
              <a:buClr>
                <a:srgbClr val="000000"/>
              </a:buClr>
              <a:buSzPts val="1400"/>
              <a:buNone/>
            </a:pPr>
            <a:r>
              <a:rPr lang="en" sz="1400" b="1">
                <a:solidFill>
                  <a:schemeClr val="dk1"/>
                </a:solidFill>
              </a:rPr>
              <a:t>Describe the method used and parameters tuned</a:t>
            </a:r>
            <a:endParaRPr sz="1400" b="1">
              <a:solidFill>
                <a:schemeClr val="dk1"/>
              </a:solidFill>
            </a:endParaRPr>
          </a:p>
          <a:p>
            <a:pPr marL="274320" lvl="0" indent="0">
              <a:lnSpc>
                <a:spcPct val="100000"/>
              </a:lnSpc>
              <a:spcBef>
                <a:spcPts val="300"/>
              </a:spcBef>
              <a:buNone/>
            </a:pPr>
            <a:r>
              <a:rPr lang="en-US" sz="1400">
                <a:solidFill>
                  <a:schemeClr val="accent6">
                    <a:lumMod val="50000"/>
                  </a:schemeClr>
                </a:solidFill>
              </a:rPr>
              <a:t>We used RandomizedSearchCV because it performs well, is computationally efficient, and identifies important parameters. Computational efficience is super important when you select XGBoost for it is already computational heavy. It pulls from distribution, potentially landing on optimal values.</a:t>
            </a:r>
            <a:endParaRPr sz="1400">
              <a:solidFill>
                <a:schemeClr val="accent6">
                  <a:lumMod val="50000"/>
                </a:schemeClr>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49"/>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p>
            <a:pPr marL="0" lvl="0" indent="0" algn="l" rtl="0">
              <a:lnSpc>
                <a:spcPct val="100000"/>
              </a:lnSpc>
              <a:spcBef>
                <a:spcPts val="0"/>
              </a:spcBef>
              <a:spcAft>
                <a:spcPts val="0"/>
              </a:spcAft>
              <a:buSzPts val="2200"/>
              <a:buNone/>
            </a:pPr>
            <a:endParaRPr/>
          </a:p>
        </p:txBody>
      </p:sp>
      <p:sp>
        <p:nvSpPr>
          <p:cNvPr id="239" name="Google Shape;239;p49"/>
          <p:cNvSpPr txBox="1">
            <a:spLocks noGrp="1"/>
          </p:cNvSpPr>
          <p:nvPr>
            <p:ph type="sldNum" idx="4294967295"/>
          </p:nvPr>
        </p:nvSpPr>
        <p:spPr>
          <a:xfrm>
            <a:off x="8556784" y="4749851"/>
            <a:ext cx="548700" cy="393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800"/>
              <a:buNone/>
            </a:pPr>
            <a:fld id="{00000000-1234-1234-1234-123412341234}" type="slidenum">
              <a:rPr lang="en"/>
              <a:t>24</a:t>
            </a:fld>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Just Logo">
  <a:themeElements>
    <a:clrScheme name="Simple Light">
      <a:dk1>
        <a:srgbClr val="222222"/>
      </a:dk1>
      <a:lt1>
        <a:srgbClr val="FFFFFF"/>
      </a:lt1>
      <a:dk2>
        <a:srgbClr val="222222"/>
      </a:dk2>
      <a:lt2>
        <a:srgbClr val="0E39A9"/>
      </a:lt2>
      <a:accent1>
        <a:srgbClr val="FFAB40"/>
      </a:accent1>
      <a:accent2>
        <a:srgbClr val="6F4294"/>
      </a:accent2>
      <a:accent3>
        <a:srgbClr val="FFA000"/>
      </a:accent3>
      <a:accent4>
        <a:srgbClr val="FFAB40"/>
      </a:accent4>
      <a:accent5>
        <a:srgbClr val="FFDF00"/>
      </a:accent5>
      <a:accent6>
        <a:srgbClr val="1974D5"/>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Just Logo">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11200</TotalTime>
  <Words>2700</Words>
  <Application>Microsoft Office PowerPoint</Application>
  <PresentationFormat>On-screen Show (16:9)</PresentationFormat>
  <Paragraphs>343</Paragraphs>
  <Slides>24</Slides>
  <Notes>24</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24</vt:i4>
      </vt:variant>
    </vt:vector>
  </HeadingPairs>
  <TitlesOfParts>
    <vt:vector size="33" baseType="lpstr">
      <vt:lpstr>Calibri</vt:lpstr>
      <vt:lpstr>Nunito SemiBold</vt:lpstr>
      <vt:lpstr>Aptos Narrow</vt:lpstr>
      <vt:lpstr>Nunito</vt:lpstr>
      <vt:lpstr>Arial</vt:lpstr>
      <vt:lpstr>Nunito ExtraBold</vt:lpstr>
      <vt:lpstr>Simple Light</vt:lpstr>
      <vt:lpstr>Just Logo</vt:lpstr>
      <vt:lpstr>Just Logo</vt:lpstr>
      <vt:lpstr>Streamlining U.S. Workforce Immigration</vt:lpstr>
      <vt:lpstr>Contents / Agenda</vt:lpstr>
      <vt:lpstr>Executive Summary </vt:lpstr>
      <vt:lpstr>Business Problem Overview and Solution Approach</vt:lpstr>
      <vt:lpstr>Data Preprocessing - Basics</vt:lpstr>
      <vt:lpstr>Data Preprocessing - Basics</vt:lpstr>
      <vt:lpstr>EDA Results</vt:lpstr>
      <vt:lpstr>Data Preprocessing - Basics</vt:lpstr>
      <vt:lpstr>Model Performance Summary and Final Model Selection</vt:lpstr>
      <vt:lpstr>Model Performance Summary and Final Model Selection</vt:lpstr>
      <vt:lpstr>Model Performance Summary and Final Model Selection</vt:lpstr>
      <vt:lpstr>Model Performance Summary and Final Model Selection</vt:lpstr>
      <vt:lpstr>Model Performance Summary and Final Model Selection</vt:lpstr>
      <vt:lpstr>Model Performance Summary and Final Model Selection</vt:lpstr>
      <vt:lpstr>APPENDIX</vt:lpstr>
      <vt:lpstr>Data Background and Contents</vt:lpstr>
      <vt:lpstr>Data Background and Contents</vt:lpstr>
      <vt:lpstr>Model Building - Original Data</vt:lpstr>
      <vt:lpstr>Model Building - Oversampled Data</vt:lpstr>
      <vt:lpstr>Model Building - Oversampled Data</vt:lpstr>
      <vt:lpstr>Model Building - Undersampled Data</vt:lpstr>
      <vt:lpstr>Model Building - Undersampled Data</vt:lpstr>
      <vt:lpstr>Model Improvement - Hyperparameter Tuning</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John Araujo</cp:lastModifiedBy>
  <cp:revision>8</cp:revision>
  <dcterms:modified xsi:type="dcterms:W3CDTF">2026-03-01T23:34:11Z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1172fb5-86d0-42cb-ba27-645bef134c04_Enabled">
    <vt:lpwstr>true</vt:lpwstr>
  </property>
  <property fmtid="{D5CDD505-2E9C-101B-9397-08002B2CF9AE}" pid="3" name="MSIP_Label_81172fb5-86d0-42cb-ba27-645bef134c04_SetDate">
    <vt:lpwstr>2026-02-22T04:52:09Z</vt:lpwstr>
  </property>
  <property fmtid="{D5CDD505-2E9C-101B-9397-08002B2CF9AE}" pid="4" name="MSIP_Label_81172fb5-86d0-42cb-ba27-645bef134c04_Method">
    <vt:lpwstr>Standard</vt:lpwstr>
  </property>
  <property fmtid="{D5CDD505-2E9C-101B-9397-08002B2CF9AE}" pid="5" name="MSIP_Label_81172fb5-86d0-42cb-ba27-645bef134c04_Name">
    <vt:lpwstr>NATO Unclassified</vt:lpwstr>
  </property>
  <property fmtid="{D5CDD505-2E9C-101B-9397-08002B2CF9AE}" pid="6" name="MSIP_Label_81172fb5-86d0-42cb-ba27-645bef134c04_SiteId">
    <vt:lpwstr>4e058d4f-695c-4815-91b9-3bea0bf19c06</vt:lpwstr>
  </property>
  <property fmtid="{D5CDD505-2E9C-101B-9397-08002B2CF9AE}" pid="7" name="MSIP_Label_81172fb5-86d0-42cb-ba27-645bef134c04_ActionId">
    <vt:lpwstr>222c0031-4a77-4db3-82d8-1e2ce2184aa1</vt:lpwstr>
  </property>
  <property fmtid="{D5CDD505-2E9C-101B-9397-08002B2CF9AE}" pid="8" name="MSIP_Label_81172fb5-86d0-42cb-ba27-645bef134c04_ContentBits">
    <vt:lpwstr>1</vt:lpwstr>
  </property>
  <property fmtid="{D5CDD505-2E9C-101B-9397-08002B2CF9AE}" pid="9" name="MSIP_Label_81172fb5-86d0-42cb-ba27-645bef134c04_Tag">
    <vt:lpwstr>10, 3, 0, 1</vt:lpwstr>
  </property>
  <property fmtid="{D5CDD505-2E9C-101B-9397-08002B2CF9AE}" pid="10" name="ClassificationContentMarkingHeaderLocations">
    <vt:lpwstr>Simple Light:3\Just Logo:3\Just Logo:3</vt:lpwstr>
  </property>
  <property fmtid="{D5CDD505-2E9C-101B-9397-08002B2CF9AE}" pid="11" name="ClassificationContentMarkingHeaderText">
    <vt:lpwstr>NATO UNCLASSIFIED</vt:lpwstr>
  </property>
</Properties>
</file>