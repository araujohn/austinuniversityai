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5"/>
    <p:sldMasterId id="2147483693" r:id="rId6"/>
    <p:sldMasterId id="214748369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y="5143500" cx="9144000"/>
  <p:notesSz cx="6858000" cy="9144000"/>
  <p:embeddedFontLst>
    <p:embeddedFont>
      <p:font typeface="Nunito SemiBold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Nunito ExtraBold"/>
      <p:bold r:id="rId34"/>
      <p:boldItalic r:id="rId35"/>
    </p:embeddedFont>
    <p:embeddedFont>
      <p:font typeface="Century Gothic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B3D4AF-D05D-46CC-AD48-3D6A0D768892}">
  <a:tblStyle styleId="{11B3D4AF-D05D-46CC-AD48-3D6A0D76889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font" Target="fonts/NunitoSemiBold-regular.fntdata"/><Relationship Id="rId21" Type="http://schemas.openxmlformats.org/officeDocument/2006/relationships/slide" Target="slides/slide13.xml"/><Relationship Id="rId24" Type="http://schemas.openxmlformats.org/officeDocument/2006/relationships/font" Target="fonts/NunitoSemiBold-italic.fntdata"/><Relationship Id="rId23" Type="http://schemas.openxmlformats.org/officeDocument/2006/relationships/font" Target="fonts/NunitoSemiBold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Nunito-regular.fntdata"/><Relationship Id="rId25" Type="http://schemas.openxmlformats.org/officeDocument/2006/relationships/font" Target="fonts/NunitoSemiBold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-bold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3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2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5.xml"/><Relationship Id="rId35" Type="http://schemas.openxmlformats.org/officeDocument/2006/relationships/font" Target="fonts/NunitoExtraBold-boldItalic.fntdata"/><Relationship Id="rId12" Type="http://schemas.openxmlformats.org/officeDocument/2006/relationships/slide" Target="slides/slide4.xml"/><Relationship Id="rId34" Type="http://schemas.openxmlformats.org/officeDocument/2006/relationships/font" Target="fonts/NunitoExtraBold-bold.fntdata"/><Relationship Id="rId15" Type="http://schemas.openxmlformats.org/officeDocument/2006/relationships/slide" Target="slides/slide7.xml"/><Relationship Id="rId37" Type="http://schemas.openxmlformats.org/officeDocument/2006/relationships/font" Target="fonts/CenturyGothic-bold.fntdata"/><Relationship Id="rId14" Type="http://schemas.openxmlformats.org/officeDocument/2006/relationships/slide" Target="slides/slide6.xml"/><Relationship Id="rId36" Type="http://schemas.openxmlformats.org/officeDocument/2006/relationships/font" Target="fonts/CenturyGothic-regular.fntdata"/><Relationship Id="rId17" Type="http://schemas.openxmlformats.org/officeDocument/2006/relationships/slide" Target="slides/slide9.xml"/><Relationship Id="rId39" Type="http://schemas.openxmlformats.org/officeDocument/2006/relationships/font" Target="fonts/CenturyGothic-boldItalic.fntdata"/><Relationship Id="rId16" Type="http://schemas.openxmlformats.org/officeDocument/2006/relationships/slide" Target="slides/slide8.xml"/><Relationship Id="rId38" Type="http://schemas.openxmlformats.org/officeDocument/2006/relationships/font" Target="fonts/CenturyGothic-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c0d1679b4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6c0d1679b4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c0d1679b4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6c0d1679b4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d9b31713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6d9b31713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d9b31713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6d9b31713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c0d1679b4_2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6c0d1679b4_2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c0d1679b4_2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6c0d1679b4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c0d1679b4_2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6c0d1679b4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c0d1679b4_2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6c0d1679b4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c0d1679b4_2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6c0d1679b4_2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d9b3171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6d9b3171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c0d1679b4_2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6c0d1679b4_2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c0d1679b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6c0d1679b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c0d1679b4_2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6c0d1679b4_2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6c0d1679b4_2_1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6c0d1679b4_2_18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71" name="Google Shape;71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{11B3D4AF-D05D-46CC-AD48-3D6A0D768892}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94" name="Google Shape;94;p23"/>
          <p:cNvPicPr preferRelativeResize="0"/>
          <p:nvPr/>
        </p:nvPicPr>
        <p:blipFill rotWithShape="1">
          <a:blip r:embed="rId2">
            <a:alphaModFix/>
          </a:blip>
          <a:srcRect b="19150" l="42816" r="37295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97" name="Google Shape;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4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6" name="Google Shape;126;p29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32" name="Google Shape;132;p30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3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30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3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3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3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3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32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3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33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34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34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70" name="Google Shape;170;p38"/>
          <p:cNvPicPr preferRelativeResize="0"/>
          <p:nvPr/>
        </p:nvPicPr>
        <p:blipFill rotWithShape="1">
          <a:blip r:embed="rId2">
            <a:alphaModFix/>
          </a:blip>
          <a:srcRect b="19147" l="42816" r="37295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8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3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73" name="Google Shape;1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6" name="Google Shape;176;p39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79" name="Google Shape;179;p4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82" name="Google Shape;182;p4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83" name="Google Shape;183;p4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86" name="Google Shape;186;p4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{11B3D4AF-D05D-46CC-AD48-3D6A0D768892}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87" name="Google Shape;187;p4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1" name="Google Shape;191;p4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2" name="Google Shape;192;p4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5" name="Google Shape;195;p4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8" name="Google Shape;198;p4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2" name="Google Shape;202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3" name="Google Shape;203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204" name="Google Shape;204;p4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25" Type="http://schemas.openxmlformats.org/officeDocument/2006/relationships/theme" Target="../theme/theme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57" name="Google Shape;57;p13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61" name="Google Shape;161;p37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2" name="Google Shape;162;p37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" name="Google Shape;163;p3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37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66" name="Google Shape;166;p37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7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8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" name="Google Shape;212;p48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p48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 / Agenda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9" name="Google Shape;219;p49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691799" y="13279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Question Answering using LLM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49"/>
          <p:cNvSpPr/>
          <p:nvPr/>
        </p:nvSpPr>
        <p:spPr>
          <a:xfrm>
            <a:off x="403421" y="185203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2" name="Google Shape;222;p49"/>
          <p:cNvSpPr txBox="1"/>
          <p:nvPr/>
        </p:nvSpPr>
        <p:spPr>
          <a:xfrm>
            <a:off x="691799" y="1748513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Question Answering using LLM with Prompt Engineering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49"/>
          <p:cNvSpPr/>
          <p:nvPr/>
        </p:nvSpPr>
        <p:spPr>
          <a:xfrm>
            <a:off x="403421" y="2328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" name="Google Shape;224;p49"/>
          <p:cNvSpPr txBox="1"/>
          <p:nvPr/>
        </p:nvSpPr>
        <p:spPr>
          <a:xfrm>
            <a:off x="691799" y="22196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Preparation for RAG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49"/>
          <p:cNvSpPr/>
          <p:nvPr/>
        </p:nvSpPr>
        <p:spPr>
          <a:xfrm>
            <a:off x="403421" y="2785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49"/>
          <p:cNvSpPr txBox="1"/>
          <p:nvPr/>
        </p:nvSpPr>
        <p:spPr>
          <a:xfrm>
            <a:off x="691799" y="26768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Question Answering using RAG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49"/>
          <p:cNvSpPr/>
          <p:nvPr/>
        </p:nvSpPr>
        <p:spPr>
          <a:xfrm>
            <a:off x="403421" y="3242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8" name="Google Shape;228;p49"/>
          <p:cNvSpPr txBox="1"/>
          <p:nvPr/>
        </p:nvSpPr>
        <p:spPr>
          <a:xfrm>
            <a:off x="691799" y="31340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Output Evaluation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34" name="Google Shape;234;p50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p50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actionable insights and recommendations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41" name="Google Shape;241;p51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51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51"/>
          <p:cNvSpPr/>
          <p:nvPr/>
        </p:nvSpPr>
        <p:spPr>
          <a:xfrm>
            <a:off x="403421" y="1832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4" name="Google Shape;244;p51"/>
          <p:cNvSpPr txBox="1"/>
          <p:nvPr/>
        </p:nvSpPr>
        <p:spPr>
          <a:xfrm>
            <a:off x="691800" y="1708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2"/>
          <p:cNvSpPr txBox="1"/>
          <p:nvPr/>
        </p:nvSpPr>
        <p:spPr>
          <a:xfrm>
            <a:off x="401450" y="27896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0" name="Google Shape;250;p5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LLM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51" name="Google Shape;251;p52"/>
          <p:cNvSpPr/>
          <p:nvPr/>
        </p:nvSpPr>
        <p:spPr>
          <a:xfrm>
            <a:off x="4034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2" name="Google Shape;252;p52"/>
          <p:cNvSpPr txBox="1"/>
          <p:nvPr/>
        </p:nvSpPr>
        <p:spPr>
          <a:xfrm>
            <a:off x="691800" y="1686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answers to all the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52"/>
          <p:cNvSpPr/>
          <p:nvPr/>
        </p:nvSpPr>
        <p:spPr>
          <a:xfrm>
            <a:off x="403421" y="2252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" name="Google Shape;254;p52"/>
          <p:cNvSpPr txBox="1"/>
          <p:nvPr/>
        </p:nvSpPr>
        <p:spPr>
          <a:xfrm>
            <a:off x="691800" y="2143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for all the answers received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52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6" name="Google Shape;256;p52"/>
          <p:cNvSpPr txBox="1"/>
          <p:nvPr/>
        </p:nvSpPr>
        <p:spPr>
          <a:xfrm>
            <a:off x="6918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model name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3"/>
          <p:cNvSpPr txBox="1"/>
          <p:nvPr/>
        </p:nvSpPr>
        <p:spPr>
          <a:xfrm>
            <a:off x="325250" y="33992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2" name="Google Shape;262;p5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LLM with Prompt Engineering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63" name="Google Shape;263;p53"/>
          <p:cNvSpPr/>
          <p:nvPr/>
        </p:nvSpPr>
        <p:spPr>
          <a:xfrm>
            <a:off x="403421" y="2861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4" name="Google Shape;264;p53"/>
          <p:cNvSpPr txBox="1"/>
          <p:nvPr/>
        </p:nvSpPr>
        <p:spPr>
          <a:xfrm>
            <a:off x="691800" y="2753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for all the answers received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53"/>
          <p:cNvSpPr/>
          <p:nvPr/>
        </p:nvSpPr>
        <p:spPr>
          <a:xfrm>
            <a:off x="403421" y="1490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6" name="Google Shape;266;p53"/>
          <p:cNvSpPr txBox="1"/>
          <p:nvPr/>
        </p:nvSpPr>
        <p:spPr>
          <a:xfrm>
            <a:off x="691800" y="1381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system prompt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53"/>
          <p:cNvSpPr/>
          <p:nvPr/>
        </p:nvSpPr>
        <p:spPr>
          <a:xfrm>
            <a:off x="403421" y="2404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" name="Google Shape;268;p53"/>
          <p:cNvSpPr txBox="1"/>
          <p:nvPr/>
        </p:nvSpPr>
        <p:spPr>
          <a:xfrm>
            <a:off x="691800" y="22958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ention the answers to all the provided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53"/>
          <p:cNvSpPr/>
          <p:nvPr/>
        </p:nvSpPr>
        <p:spPr>
          <a:xfrm>
            <a:off x="403421" y="1947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0" name="Google Shape;270;p53"/>
          <p:cNvSpPr txBox="1"/>
          <p:nvPr/>
        </p:nvSpPr>
        <p:spPr>
          <a:xfrm>
            <a:off x="691800" y="1838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best parameters for all the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4"/>
          <p:cNvSpPr txBox="1"/>
          <p:nvPr/>
        </p:nvSpPr>
        <p:spPr>
          <a:xfrm>
            <a:off x="477650" y="4008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6" name="Google Shape;276;p5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Preparation for RAG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77" name="Google Shape;277;p54"/>
          <p:cNvSpPr/>
          <p:nvPr/>
        </p:nvSpPr>
        <p:spPr>
          <a:xfrm>
            <a:off x="4796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8" name="Google Shape;278;p54"/>
          <p:cNvSpPr txBox="1"/>
          <p:nvPr/>
        </p:nvSpPr>
        <p:spPr>
          <a:xfrm>
            <a:off x="768000" y="16862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parameters used to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split the data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i="1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chunk_overlap,chunk</a:t>
            </a:r>
            <a:r>
              <a:rPr b="1" i="1" lang="en">
                <a:latin typeface="Montserrat"/>
                <a:ea typeface="Montserrat"/>
                <a:cs typeface="Montserrat"/>
                <a:sym typeface="Montserrat"/>
              </a:rPr>
              <a:t>_size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54"/>
          <p:cNvSpPr/>
          <p:nvPr/>
        </p:nvSpPr>
        <p:spPr>
          <a:xfrm>
            <a:off x="4796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0" name="Google Shape;280;p54"/>
          <p:cNvSpPr txBox="1"/>
          <p:nvPr/>
        </p:nvSpPr>
        <p:spPr>
          <a:xfrm>
            <a:off x="7680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mention the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name of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dataset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54"/>
          <p:cNvSpPr/>
          <p:nvPr/>
        </p:nvSpPr>
        <p:spPr>
          <a:xfrm>
            <a:off x="479621" y="2556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2" name="Google Shape;282;p54"/>
          <p:cNvSpPr txBox="1"/>
          <p:nvPr/>
        </p:nvSpPr>
        <p:spPr>
          <a:xfrm>
            <a:off x="768000" y="2448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name of the embedding model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54"/>
          <p:cNvSpPr/>
          <p:nvPr/>
        </p:nvSpPr>
        <p:spPr>
          <a:xfrm>
            <a:off x="479621" y="2937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4" name="Google Shape;284;p54"/>
          <p:cNvSpPr txBox="1"/>
          <p:nvPr/>
        </p:nvSpPr>
        <p:spPr>
          <a:xfrm>
            <a:off x="768000" y="28292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parameters used to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define the RAG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i="1" lang="en">
                <a:latin typeface="Montserrat"/>
                <a:ea typeface="Montserrat"/>
                <a:cs typeface="Montserrat"/>
                <a:sym typeface="Montserrat"/>
              </a:rPr>
              <a:t>k, max_tokens, temperature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Question Answering using RAG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90" name="Google Shape;290;p55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1" name="Google Shape;291;p55"/>
          <p:cNvSpPr/>
          <p:nvPr/>
        </p:nvSpPr>
        <p:spPr>
          <a:xfrm>
            <a:off x="403421" y="3852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2" name="Google Shape;292;p55"/>
          <p:cNvSpPr txBox="1"/>
          <p:nvPr/>
        </p:nvSpPr>
        <p:spPr>
          <a:xfrm>
            <a:off x="691800" y="3743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for all the answers received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55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55"/>
          <p:cNvSpPr txBox="1"/>
          <p:nvPr/>
        </p:nvSpPr>
        <p:spPr>
          <a:xfrm>
            <a:off x="6918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system and user prompt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55"/>
          <p:cNvSpPr/>
          <p:nvPr/>
        </p:nvSpPr>
        <p:spPr>
          <a:xfrm>
            <a:off x="4034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55"/>
          <p:cNvSpPr txBox="1"/>
          <p:nvPr/>
        </p:nvSpPr>
        <p:spPr>
          <a:xfrm>
            <a:off x="691800" y="1762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answers to all the provided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55"/>
          <p:cNvSpPr/>
          <p:nvPr/>
        </p:nvSpPr>
        <p:spPr>
          <a:xfrm>
            <a:off x="403421" y="2328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55"/>
          <p:cNvSpPr txBox="1"/>
          <p:nvPr/>
        </p:nvSpPr>
        <p:spPr>
          <a:xfrm>
            <a:off x="691800" y="22196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best parameters for all the questions in the fine-tuning section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55"/>
          <p:cNvSpPr/>
          <p:nvPr/>
        </p:nvSpPr>
        <p:spPr>
          <a:xfrm>
            <a:off x="403421" y="3090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p55"/>
          <p:cNvSpPr txBox="1"/>
          <p:nvPr/>
        </p:nvSpPr>
        <p:spPr>
          <a:xfrm>
            <a:off x="691800" y="29816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mention the answers to all the provided questions in the fine-tuning section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Output Evaluation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06" name="Google Shape;306;p56"/>
          <p:cNvSpPr txBox="1"/>
          <p:nvPr/>
        </p:nvSpPr>
        <p:spPr>
          <a:xfrm>
            <a:off x="325250" y="44660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7" name="Google Shape;307;p56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56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evaluation prompt for groundedness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56"/>
          <p:cNvSpPr/>
          <p:nvPr/>
        </p:nvSpPr>
        <p:spPr>
          <a:xfrm>
            <a:off x="4034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56"/>
          <p:cNvSpPr txBox="1"/>
          <p:nvPr/>
        </p:nvSpPr>
        <p:spPr>
          <a:xfrm>
            <a:off x="691800" y="1686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evaluation prompt for relevance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56"/>
          <p:cNvSpPr/>
          <p:nvPr/>
        </p:nvSpPr>
        <p:spPr>
          <a:xfrm>
            <a:off x="403421" y="3776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56"/>
          <p:cNvSpPr txBox="1"/>
          <p:nvPr/>
        </p:nvSpPr>
        <p:spPr>
          <a:xfrm>
            <a:off x="691800" y="36674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along with the scores for all the questions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56"/>
          <p:cNvSpPr/>
          <p:nvPr/>
        </p:nvSpPr>
        <p:spPr>
          <a:xfrm>
            <a:off x="403421" y="2252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4" name="Google Shape;314;p56"/>
          <p:cNvSpPr txBox="1"/>
          <p:nvPr/>
        </p:nvSpPr>
        <p:spPr>
          <a:xfrm>
            <a:off x="691800" y="21434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provide responses to all the questions using the evaluation prompt for groundedness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56"/>
          <p:cNvSpPr/>
          <p:nvPr/>
        </p:nvSpPr>
        <p:spPr>
          <a:xfrm>
            <a:off x="403421" y="3014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56"/>
          <p:cNvSpPr txBox="1"/>
          <p:nvPr/>
        </p:nvSpPr>
        <p:spPr>
          <a:xfrm>
            <a:off x="691800" y="2905450"/>
            <a:ext cx="6033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Please provide responses to all the questions using the evaluation prompt for relevance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7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7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1" i="0" sz="28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Background and Contents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28" name="Google Shape;328;p58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9" name="Google Shape;329;p58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data background and contents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5" name="Google Shape;335;p59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6" name="Google Shape;336;p59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add any other pointers (if needed)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44" name="Google Shape;344;p6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