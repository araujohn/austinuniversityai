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 id="2147483693" r:id="rId2"/>
    <p:sldMasterId id="2147483694" r:id="rId3"/>
  </p:sldMasterIdLst>
  <p:notesMasterIdLst>
    <p:notesMasterId r:id="rId42"/>
  </p:notesMasterIdLst>
  <p:sldIdLst>
    <p:sldId id="256" r:id="rId4"/>
    <p:sldId id="257" r:id="rId5"/>
    <p:sldId id="258" r:id="rId6"/>
    <p:sldId id="259" r:id="rId7"/>
    <p:sldId id="269" r:id="rId8"/>
    <p:sldId id="271" r:id="rId9"/>
    <p:sldId id="275" r:id="rId10"/>
    <p:sldId id="287" r:id="rId11"/>
    <p:sldId id="274" r:id="rId12"/>
    <p:sldId id="288" r:id="rId13"/>
    <p:sldId id="291" r:id="rId14"/>
    <p:sldId id="277" r:id="rId15"/>
    <p:sldId id="292" r:id="rId16"/>
    <p:sldId id="278" r:id="rId17"/>
    <p:sldId id="290" r:id="rId18"/>
    <p:sldId id="276" r:id="rId19"/>
    <p:sldId id="289" r:id="rId20"/>
    <p:sldId id="293" r:id="rId21"/>
    <p:sldId id="262" r:id="rId22"/>
    <p:sldId id="263" r:id="rId23"/>
    <p:sldId id="280" r:id="rId24"/>
    <p:sldId id="281" r:id="rId25"/>
    <p:sldId id="295" r:id="rId26"/>
    <p:sldId id="300" r:id="rId27"/>
    <p:sldId id="282" r:id="rId28"/>
    <p:sldId id="296" r:id="rId29"/>
    <p:sldId id="279" r:id="rId30"/>
    <p:sldId id="283" r:id="rId31"/>
    <p:sldId id="284" r:id="rId32"/>
    <p:sldId id="285" r:id="rId33"/>
    <p:sldId id="297" r:id="rId34"/>
    <p:sldId id="286" r:id="rId35"/>
    <p:sldId id="298" r:id="rId36"/>
    <p:sldId id="264" r:id="rId37"/>
    <p:sldId id="265" r:id="rId38"/>
    <p:sldId id="266" r:id="rId39"/>
    <p:sldId id="267" r:id="rId40"/>
    <p:sldId id="268" r:id="rId41"/>
  </p:sldIdLst>
  <p:sldSz cx="9144000" cy="6400800"/>
  <p:notesSz cx="6858000" cy="9144000"/>
  <p:embeddedFontLst>
    <p:embeddedFont>
      <p:font typeface="Century Gothic" panose="020B0502020202020204" pitchFamily="34" charset="0"/>
      <p:regular r:id="rId43"/>
      <p:bold r:id="rId44"/>
      <p:italic r:id="rId45"/>
      <p:boldItalic r:id="rId46"/>
    </p:embeddedFont>
    <p:embeddedFont>
      <p:font typeface="Montserrat" panose="00000500000000000000" pitchFamily="2" charset="0"/>
      <p:regular r:id="rId47"/>
      <p:bold r:id="rId48"/>
      <p:italic r:id="rId49"/>
      <p:boldItalic r:id="rId50"/>
    </p:embeddedFont>
    <p:embeddedFont>
      <p:font typeface="Nunito" pitchFamily="2" charset="0"/>
      <p:regular r:id="rId51"/>
      <p:bold r:id="rId52"/>
      <p:italic r:id="rId53"/>
      <p:boldItalic r:id="rId54"/>
    </p:embeddedFont>
    <p:embeddedFont>
      <p:font typeface="Nunito ExtraBold" pitchFamily="2" charset="0"/>
      <p:bold r:id="rId55"/>
      <p:boldItalic r:id="rId56"/>
    </p:embeddedFont>
    <p:embeddedFont>
      <p:font typeface="Nunito SemiBold"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1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B3D4AF-D05D-46CC-AD48-3D6A0D768892}">
  <a:tblStyle styleId="{11B3D4AF-D05D-46CC-AD48-3D6A0D76889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84" autoAdjust="0"/>
    <p:restoredTop sz="94660"/>
  </p:normalViewPr>
  <p:slideViewPr>
    <p:cSldViewPr snapToGrid="0">
      <p:cViewPr varScale="1">
        <p:scale>
          <a:sx n="79" d="100"/>
          <a:sy n="79" d="100"/>
        </p:scale>
        <p:origin x="1250" y="34"/>
      </p:cViewPr>
      <p:guideLst>
        <p:guide orient="horz" pos="2016"/>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font" Target="fonts/font9.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4.fntdata"/><Relationship Id="rId59" Type="http://schemas.openxmlformats.org/officeDocument/2006/relationships/font" Target="fonts/font17.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2.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c0d1679b4_2_109: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6c0d1679b4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6c0d1679b4_2_116: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6c0d1679b4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6d9b317133_0_114: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6d9b317133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6d9b317133_0_128: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6d9b317133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41AF55C5-8150-0EDB-E47D-98151C39305F}"/>
            </a:ext>
          </a:extLst>
        </p:cNvPr>
        <p:cNvGrpSpPr/>
        <p:nvPr/>
      </p:nvGrpSpPr>
      <p:grpSpPr>
        <a:xfrm>
          <a:off x="0" y="0"/>
          <a:ext cx="0" cy="0"/>
          <a:chOff x="0" y="0"/>
          <a:chExt cx="0" cy="0"/>
        </a:xfrm>
      </p:grpSpPr>
      <p:sp>
        <p:nvSpPr>
          <p:cNvPr id="237" name="Google Shape;237;g36d9b317133_0_128:notes">
            <a:extLst>
              <a:ext uri="{FF2B5EF4-FFF2-40B4-BE49-F238E27FC236}">
                <a16:creationId xmlns:a16="http://schemas.microsoft.com/office/drawing/2014/main" id="{1AC2D0EB-D78E-BFC6-CBC8-3E216E919251}"/>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6d9b317133_0_128:notes">
            <a:extLst>
              <a:ext uri="{FF2B5EF4-FFF2-40B4-BE49-F238E27FC236}">
                <a16:creationId xmlns:a16="http://schemas.microsoft.com/office/drawing/2014/main" id="{74F78E72-3867-483B-BB95-50C59170F5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75030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FBB8B595-0239-2FC0-C296-A7BEAE7B7298}"/>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E9B062F3-1A4F-CFE8-1224-EA320F16F573}"/>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5326DD5F-FA84-5737-E514-16ECDA1863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19298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79E8AFA-AAF1-F91C-1074-45E9DB997B07}"/>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E7D3E135-B48A-5FDD-3DD0-BD2165349B10}"/>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7FA1D020-37C6-2B7D-0934-74AE2C5E10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42423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F8BD785E-41D6-79AE-AF52-E598EEBE4E45}"/>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16230C6C-567D-E78B-BA8B-CA2644E1CB48}"/>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234DFB43-9956-64C2-CB94-05879A8520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34569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01686E2B-29A6-F499-20FB-A3B5AE209B6D}"/>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48F1855B-29D5-5301-D7F8-79EFAA4B6312}"/>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1A0B4084-1E3F-FC35-C430-135D69AEF3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54623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CA602CD8-FF6C-6F2A-56FF-3DCDD674ABC4}"/>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F034D49F-41BB-7FB1-4E57-7CA12BC14AB0}"/>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40F80E21-F7BC-8864-31D7-BCAD76EA6E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7996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617CA746-0616-E007-CCF4-C36700746F34}"/>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430F290A-17B3-3C24-3CCF-A33C52C9D34D}"/>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C024108C-B911-F990-1B95-9B5F80F3695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02000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476A3F3F-7121-CAFE-3E8B-C521FC4186E6}"/>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B487BB7E-941A-340E-DF00-B5171E5431F2}"/>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E4D8AE4D-0F54-F95D-AE54-DE73AAB264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9308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4B67FBF-F0E1-93D0-4157-3505710DBC4E}"/>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CBAC4DD-23CD-BCA8-1BE0-C9FB99001C32}"/>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1BEF8380-6032-299C-420A-2D207278BC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8610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6293829D-1801-35C3-9C7B-B996FFD75B07}"/>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427AD3AE-AB7E-B3A2-6928-5C80D1A251C0}"/>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9E6EF0B1-D44C-DA1B-AB4D-1C0760A2D1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497583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D426115E-6C1E-193C-F13C-E1A6FA3EEAF6}"/>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A91E80BD-3A71-A8F5-09AF-CA889722BF87}"/>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8E0CCE78-1D02-601C-D6F4-8E3CD4B2FF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127758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975BA859-B8AC-F11A-14E0-5049A2BE6360}"/>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6A72174C-F17E-7A70-CAAC-56B1D1E6D7D0}"/>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4A5A187E-0B5B-7F7F-B3AF-1E42BDDA94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163693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8E1D5D7E-C85B-0405-DDA7-CA899A75EB63}"/>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0E88592-02F3-ED3B-7542-0711F419C4A4}"/>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8180508B-7D66-FACB-A77C-8656CC150F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35067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C01D5FC6-BAA8-D1BC-F9E6-752C791EFA92}"/>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72D84D91-A951-BE78-B8B0-1F435F976CC6}"/>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A7FB6DCF-D33D-99AB-A9CA-7D8C85C9AB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4732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6c0d1679b4_2_223: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6c0d1679b4_2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6c0d1679b4_2_230: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FC9FE891-77DD-B691-05C9-605CDD7D74F4}"/>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10E24BBD-773D-1EAD-753C-B259D19F751A}"/>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5610BABD-D972-CBCB-7051-FF79A043FF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731499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26D4BEF-0FAA-0E37-5615-1466D253B893}"/>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FB90FDFC-C29E-E588-10F5-1A9C1F4C31C7}"/>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A705D059-AE4B-3ACE-EFC0-4671A40453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62029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BA05F5B7-8577-D3DA-A165-0DC56E4D4EA3}"/>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819487CA-7FB3-4B57-1C11-9BF50908E1B2}"/>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CCEAD4B3-4392-4128-24F4-E62B604236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433090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9B411733-0330-BE36-3CF8-47527C2FCE28}"/>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1AB3DCCA-E680-A90B-FD1E-F87645512BE0}"/>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45CE9180-0661-23F0-BEF3-95BD53DD0C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63532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88D79573-566A-9967-C6C0-C8EF268166D6}"/>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B4BAD119-0D05-9C4D-B6F5-7C3C4FE776A1}"/>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36CB31D8-B8D3-4D24-1893-0A452500449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2003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144EF5B1-DC2B-45AA-D199-77F3741ADF93}"/>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86812CAE-DC33-300C-3094-D14E3622D615}"/>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C566AA8C-16CD-3743-3BE2-A8A3E7BB50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25138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17CED33B-649E-5692-4792-DB8FAC4E029E}"/>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C86DA530-7824-1F8D-8686-AAEA0ED5F995}"/>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F8EFD0CB-50DA-D83B-FB81-E27F5E3C0A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08949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A6DC1AE9-0AA4-E6A4-73BA-76D792A373B4}"/>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7F2452A2-AD67-5B8C-FE0C-852D3A94F86B}"/>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46B22DC2-36B5-91E0-07A3-3B291AA452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73170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35810EF1-0FD3-8D4B-78CC-2CEFD82400FD}"/>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3560EBDA-7920-5DCD-A496-4F38D4FDC3B0}"/>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D9393F30-320D-A514-A0A9-7D61B0E998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18384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E1DB46C9-EC79-1870-98FA-A3D9269410B2}"/>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54D5E8BA-C741-2FFD-C895-AC782BB19B75}"/>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342C4D7C-D2CF-FE9F-ED8B-2A80DA4C05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998708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62D3C94B-C6D8-1E97-64E0-FD942224D28D}"/>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7EAF29CF-83E7-37D7-1DF9-D79606F26DA1}"/>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35432D6F-D943-9FF8-0027-56482AA772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948685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1D54424-0D8A-044A-D613-5359F11976A6}"/>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A1AEAB12-9D4C-D48D-180C-79A342BE4DA6}"/>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D57C04D1-7620-09A7-5562-6B3BC2B4F5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61473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AFC2CC9-CC31-5231-7323-821C8B5E0FC0}"/>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69CFFC2-BDB2-C13E-33AB-7590D935583C}"/>
              </a:ext>
            </a:extLst>
          </p:cNvPr>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7BF4EE14-9043-4733-D4B5-A1BC8A8FC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597842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6c0d1679b4_2_241: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c0d1679b4_2_2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6d9b317133_0_0: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g36d9b31713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6c0d1679b4_2_252: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36c0d1679b4_2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6c0d1679b4_0_34:notes"/>
          <p:cNvSpPr>
            <a:spLocks noGrp="1" noRot="1" noChangeAspect="1"/>
          </p:cNvSpPr>
          <p:nvPr>
            <p:ph type="sldImg" idx="2"/>
          </p:nvPr>
        </p:nvSpPr>
        <p:spPr>
          <a:xfrm>
            <a:off x="979488" y="685800"/>
            <a:ext cx="48990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6c0d1679b4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6c0d1679b4_2_1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36c0d1679b4_2_184:notes"/>
          <p:cNvSpPr>
            <a:spLocks noGrp="1" noRot="1" noChangeAspect="1"/>
          </p:cNvSpPr>
          <p:nvPr>
            <p:ph type="sldImg" idx="2"/>
          </p:nvPr>
        </p:nvSpPr>
        <p:spPr>
          <a:xfrm>
            <a:off x="1223963" y="1143000"/>
            <a:ext cx="44100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g36c0d1679b4_2_1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38</a:t>
            </a:fld>
            <a:endParaRPr sz="1200" b="0" i="0" u="none" strike="noStrike" cap="none">
              <a:solidFill>
                <a:schemeClr val="dk1"/>
              </a:solidFill>
              <a:latin typeface="Calibri"/>
              <a:ea typeface="Calibri"/>
              <a:cs typeface="Calibri"/>
              <a:sym typeface="Calibri"/>
            </a:endParaRPr>
          </a:p>
        </p:txBody>
      </p:sp>
      <p:sp>
        <p:nvSpPr>
          <p:cNvPr id="341" name="Google Shape;341;g36c0d1679b4_2_184: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26582"/>
            <a:ext cx="8520600" cy="2554347"/>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3526911"/>
            <a:ext cx="8520600" cy="986347"/>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676614"/>
            <a:ext cx="8520600" cy="1047573"/>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53809"/>
            <a:ext cx="8520600" cy="71269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434191"/>
            <a:ext cx="8520600" cy="425152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553809"/>
            <a:ext cx="8520600" cy="71269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434191"/>
            <a:ext cx="3999900" cy="425152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434191"/>
            <a:ext cx="3999900" cy="425152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553809"/>
            <a:ext cx="8520600" cy="712693"/>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691413"/>
            <a:ext cx="2808000" cy="940427"/>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729280"/>
            <a:ext cx="2808000" cy="3956587"/>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560187"/>
            <a:ext cx="6367800" cy="5090773"/>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56"/>
            <a:ext cx="4572000" cy="6400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265500" y="1534618"/>
            <a:ext cx="4045200" cy="184464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3488271"/>
            <a:ext cx="4045200" cy="1537013"/>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901071"/>
            <a:ext cx="3837000" cy="4598347"/>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5264716"/>
            <a:ext cx="5998800" cy="753013"/>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376511"/>
            <a:ext cx="8520600" cy="2443467"/>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922769"/>
            <a:ext cx="8520600" cy="1618773"/>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5803115"/>
            <a:ext cx="548700" cy="489813"/>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202550" y="359992"/>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1" name="Google Shape;61;p14"/>
          <p:cNvSpPr txBox="1">
            <a:spLocks noGrp="1"/>
          </p:cNvSpPr>
          <p:nvPr>
            <p:ph type="body" idx="1"/>
          </p:nvPr>
        </p:nvSpPr>
        <p:spPr>
          <a:xfrm>
            <a:off x="202550" y="1072680"/>
            <a:ext cx="8629800" cy="4612907"/>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2" name="Google Shape;62;p14"/>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676614"/>
            <a:ext cx="8520600" cy="1047573"/>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1037446"/>
          <a:ext cx="3000000" cy="3733333"/>
        </p:xfrm>
        <a:graphic>
          <a:graphicData uri="http://schemas.openxmlformats.org/drawingml/2006/table">
            <a:tbl>
              <a:tblPr firstRow="1" bandRow="1">
                <a:noFill/>
                <a:tableStyleId>{11B3D4AF-D05D-46CC-AD48-3D6A0D768892}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838227">
                <a:tc>
                  <a:txBody>
                    <a:bodyPr/>
                    <a:lstStyle/>
                    <a:p>
                      <a:pPr marL="0" marR="0" lvl="0" indent="0" algn="l" rtl="0">
                        <a:lnSpc>
                          <a:spcPct val="100000"/>
                        </a:lnSpc>
                        <a:spcBef>
                          <a:spcPts val="0"/>
                        </a:spcBef>
                        <a:spcAft>
                          <a:spcPts val="0"/>
                        </a:spcAft>
                        <a:buClr>
                          <a:srgbClr val="000000"/>
                        </a:buClr>
                        <a:buSzPts val="1400"/>
                        <a:buFont typeface="Arial"/>
                        <a:buNone/>
                      </a:pPr>
                      <a:r>
                        <a:rPr lang="en" sz="1700" u="none" strike="noStrike" cap="none">
                          <a:latin typeface="Nunito"/>
                          <a:ea typeface="Nunito"/>
                          <a:cs typeface="Nunito"/>
                          <a:sym typeface="Nunito"/>
                        </a:rPr>
                        <a:t>Cluster</a:t>
                      </a:r>
                      <a:endParaRPr sz="17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700" u="none" strike="noStrike" cap="none">
                          <a:latin typeface="Nunito"/>
                          <a:ea typeface="Nunito"/>
                          <a:cs typeface="Nunito"/>
                          <a:sym typeface="Nunito"/>
                        </a:rPr>
                        <a:t>Cluster Profile </a:t>
                      </a:r>
                      <a:endParaRPr sz="17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700" u="none" strike="noStrike" cap="none">
                          <a:latin typeface="Nunito"/>
                          <a:ea typeface="Nunito"/>
                          <a:cs typeface="Nunito"/>
                          <a:sym typeface="Nunito"/>
                        </a:rPr>
                        <a:t>Business Insights for Marketing Team</a:t>
                      </a:r>
                      <a:endParaRPr sz="17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937471">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1</a:t>
                      </a: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High value customers who have many credit cards and prefer to engage online</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Engage Online – Set up priority calling in lines – Upsell and Cross sell premium products</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833187">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2</a:t>
                      </a: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baseline="30000">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833187">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3</a:t>
                      </a: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833187">
                <a:tc>
                  <a:txBody>
                    <a:bodyPr/>
                    <a:lstStyle/>
                    <a:p>
                      <a:pPr marL="0" marR="0" lvl="0" indent="0" algn="l" rtl="0">
                        <a:lnSpc>
                          <a:spcPct val="100000"/>
                        </a:lnSpc>
                        <a:spcBef>
                          <a:spcPts val="0"/>
                        </a:spcBef>
                        <a:spcAft>
                          <a:spcPts val="0"/>
                        </a:spcAft>
                        <a:buClr>
                          <a:srgbClr val="000000"/>
                        </a:buClr>
                        <a:buSzPts val="1200"/>
                        <a:buFont typeface="Arial"/>
                        <a:buNone/>
                      </a:pP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434191"/>
            <a:ext cx="3999900" cy="425152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434191"/>
            <a:ext cx="3999900" cy="425152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560187"/>
            <a:ext cx="6367800" cy="5090773"/>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56"/>
            <a:ext cx="4572000" cy="6400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534618"/>
            <a:ext cx="4045200" cy="184464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3488271"/>
            <a:ext cx="4045200" cy="1537013"/>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901071"/>
            <a:ext cx="3837000" cy="4598347"/>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417"/>
            <a:ext cx="9144600" cy="6401173"/>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5" b="19150"/>
          <a:stretch/>
        </p:blipFill>
        <p:spPr>
          <a:xfrm>
            <a:off x="6052536" y="640196"/>
            <a:ext cx="2095112" cy="4608576"/>
          </a:xfrm>
          <a:prstGeom prst="rect">
            <a:avLst/>
          </a:prstGeom>
          <a:noFill/>
          <a:ln>
            <a:noFill/>
          </a:ln>
        </p:spPr>
      </p:pic>
      <p:sp>
        <p:nvSpPr>
          <p:cNvPr id="95" name="Google Shape;95;p23"/>
          <p:cNvSpPr txBox="1">
            <a:spLocks noGrp="1"/>
          </p:cNvSpPr>
          <p:nvPr>
            <p:ph type="title"/>
          </p:nvPr>
        </p:nvSpPr>
        <p:spPr>
          <a:xfrm>
            <a:off x="70129" y="8341784"/>
            <a:ext cx="15008700" cy="868373"/>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2085977"/>
            <a:ext cx="4372800" cy="2228427"/>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5" y="850298"/>
            <a:ext cx="3757725" cy="1027756"/>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0" y="0"/>
            <a:ext cx="3000000" cy="280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100" name="Google Shape;100;p24"/>
          <p:cNvSpPr txBox="1">
            <a:spLocks noGrp="1"/>
          </p:cNvSpPr>
          <p:nvPr>
            <p:ph type="body" idx="1"/>
          </p:nvPr>
        </p:nvSpPr>
        <p:spPr>
          <a:xfrm>
            <a:off x="457200" y="1271625"/>
            <a:ext cx="8229600" cy="4224267"/>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101" name="Google Shape;101;p24"/>
          <p:cNvSpPr txBox="1">
            <a:spLocks noGrp="1"/>
          </p:cNvSpPr>
          <p:nvPr>
            <p:ph type="dt" idx="10"/>
          </p:nvPr>
        </p:nvSpPr>
        <p:spPr>
          <a:xfrm>
            <a:off x="0" y="0"/>
            <a:ext cx="3000000" cy="28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2" name="Google Shape;102;p24"/>
          <p:cNvSpPr txBox="1">
            <a:spLocks noGrp="1"/>
          </p:cNvSpPr>
          <p:nvPr>
            <p:ph type="ftr" idx="11"/>
          </p:nvPr>
        </p:nvSpPr>
        <p:spPr>
          <a:xfrm>
            <a:off x="0" y="0"/>
            <a:ext cx="3000000" cy="28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3" name="Google Shape;103;p24"/>
          <p:cNvSpPr txBox="1">
            <a:spLocks noGrp="1"/>
          </p:cNvSpPr>
          <p:nvPr>
            <p:ph type="sldNum" idx="12"/>
          </p:nvPr>
        </p:nvSpPr>
        <p:spPr>
          <a:xfrm>
            <a:off x="0" y="0"/>
            <a:ext cx="3000000" cy="280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4"/>
        <p:cNvGrpSpPr/>
        <p:nvPr/>
      </p:nvGrpSpPr>
      <p:grpSpPr>
        <a:xfrm>
          <a:off x="0" y="0"/>
          <a:ext cx="0" cy="0"/>
          <a:chOff x="0" y="0"/>
          <a:chExt cx="0" cy="0"/>
        </a:xfrm>
      </p:grpSpPr>
      <p:sp>
        <p:nvSpPr>
          <p:cNvPr id="105" name="Google Shape;105;p25"/>
          <p:cNvSpPr txBox="1">
            <a:spLocks noGrp="1"/>
          </p:cNvSpPr>
          <p:nvPr>
            <p:ph type="dt" idx="10"/>
          </p:nvPr>
        </p:nvSpPr>
        <p:spPr>
          <a:xfrm>
            <a:off x="457200" y="6045199"/>
            <a:ext cx="2133600" cy="25610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6" name="Google Shape;106;p25"/>
          <p:cNvSpPr txBox="1">
            <a:spLocks noGrp="1"/>
          </p:cNvSpPr>
          <p:nvPr>
            <p:ph type="ftr" idx="11"/>
          </p:nvPr>
        </p:nvSpPr>
        <p:spPr>
          <a:xfrm>
            <a:off x="2640596" y="6045199"/>
            <a:ext cx="5507700" cy="25610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7" name="Google Shape;107;p25"/>
          <p:cNvSpPr txBox="1">
            <a:spLocks noGrp="1"/>
          </p:cNvSpPr>
          <p:nvPr>
            <p:ph type="sldNum" idx="12"/>
          </p:nvPr>
        </p:nvSpPr>
        <p:spPr>
          <a:xfrm>
            <a:off x="8204396" y="6045199"/>
            <a:ext cx="733800" cy="256107"/>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transition spd="med">
    <p:fade thruBlk="1"/>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569519" y="177633"/>
            <a:ext cx="8004900" cy="46166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0" name="Google Shape;110;p26"/>
          <p:cNvSpPr txBox="1">
            <a:spLocks noGrp="1"/>
          </p:cNvSpPr>
          <p:nvPr>
            <p:ph type="body" idx="1"/>
          </p:nvPr>
        </p:nvSpPr>
        <p:spPr>
          <a:xfrm>
            <a:off x="1412081" y="1157668"/>
            <a:ext cx="6319800" cy="336246"/>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11" name="Google Shape;111;p26"/>
          <p:cNvSpPr txBox="1">
            <a:spLocks noGrp="1"/>
          </p:cNvSpPr>
          <p:nvPr>
            <p:ph type="ftr" idx="11"/>
          </p:nvPr>
        </p:nvSpPr>
        <p:spPr>
          <a:xfrm>
            <a:off x="1574006" y="6208373"/>
            <a:ext cx="5565000" cy="16927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26"/>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3" name="Google Shape;113;p26"/>
          <p:cNvSpPr txBox="1">
            <a:spLocks noGrp="1"/>
          </p:cNvSpPr>
          <p:nvPr>
            <p:ph type="sldNum" idx="12"/>
          </p:nvPr>
        </p:nvSpPr>
        <p:spPr>
          <a:xfrm>
            <a:off x="6583680" y="5952744"/>
            <a:ext cx="2103000" cy="12311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fld id="{00000000-1234-1234-1234-123412341234}" type="slidenum">
              <a:rPr lang="en" smtClean="0"/>
              <a:pPr/>
              <a:t>‹#›</a:t>
            </a:fld>
            <a:endParaRPr lang="en">
              <a:solidFill>
                <a:srgbClr val="434343"/>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114"/>
        <p:cNvGrpSpPr/>
        <p:nvPr/>
      </p:nvGrpSpPr>
      <p:grpSpPr>
        <a:xfrm>
          <a:off x="0" y="0"/>
          <a:ext cx="0" cy="0"/>
          <a:chOff x="0" y="0"/>
          <a:chExt cx="0" cy="0"/>
        </a:xfrm>
      </p:grpSpPr>
      <p:sp>
        <p:nvSpPr>
          <p:cNvPr id="115" name="Google Shape;115;p27"/>
          <p:cNvSpPr txBox="1">
            <a:spLocks noGrp="1"/>
          </p:cNvSpPr>
          <p:nvPr>
            <p:ph type="title"/>
          </p:nvPr>
        </p:nvSpPr>
        <p:spPr>
          <a:xfrm>
            <a:off x="3932967" y="434187"/>
            <a:ext cx="1278000" cy="50783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6" name="Google Shape;116;p27"/>
          <p:cNvSpPr txBox="1">
            <a:spLocks noGrp="1"/>
          </p:cNvSpPr>
          <p:nvPr>
            <p:ph type="ftr" idx="11"/>
          </p:nvPr>
        </p:nvSpPr>
        <p:spPr>
          <a:xfrm>
            <a:off x="1712499" y="6234757"/>
            <a:ext cx="5564400" cy="16927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27"/>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8" name="Google Shape;118;p27"/>
          <p:cNvSpPr txBox="1">
            <a:spLocks noGrp="1"/>
          </p:cNvSpPr>
          <p:nvPr>
            <p:ph type="sldNum" idx="12"/>
          </p:nvPr>
        </p:nvSpPr>
        <p:spPr>
          <a:xfrm>
            <a:off x="6583680" y="5952744"/>
            <a:ext cx="2103000" cy="12311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fld id="{00000000-1234-1234-1234-123412341234}" type="slidenum">
              <a:rPr lang="en" smtClean="0"/>
              <a:pPr/>
              <a:t>‹#›</a:t>
            </a:fld>
            <a:endParaRPr lang="en">
              <a:solidFill>
                <a:srgbClr val="434343"/>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3932967" y="434187"/>
            <a:ext cx="1278000" cy="507831"/>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ftr" idx="11"/>
          </p:nvPr>
        </p:nvSpPr>
        <p:spPr>
          <a:xfrm>
            <a:off x="1712499" y="6234757"/>
            <a:ext cx="5564400" cy="16927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2" name="Google Shape;122;p28"/>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3" name="Google Shape;123;p28"/>
          <p:cNvSpPr txBox="1">
            <a:spLocks noGrp="1"/>
          </p:cNvSpPr>
          <p:nvPr>
            <p:ph type="sldNum" idx="12"/>
          </p:nvPr>
        </p:nvSpPr>
        <p:spPr>
          <a:xfrm>
            <a:off x="6583680" y="5952744"/>
            <a:ext cx="2103000" cy="12311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fld id="{00000000-1234-1234-1234-123412341234}" type="slidenum">
              <a:rPr lang="en" smtClean="0"/>
              <a:pPr/>
              <a:t>‹#›</a:t>
            </a:fld>
            <a:endParaRPr lang="en">
              <a:solidFill>
                <a:srgbClr val="434343"/>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124"/>
        <p:cNvGrpSpPr/>
        <p:nvPr/>
      </p:nvGrpSpPr>
      <p:grpSpPr>
        <a:xfrm>
          <a:off x="0" y="0"/>
          <a:ext cx="0" cy="0"/>
          <a:chOff x="0" y="0"/>
          <a:chExt cx="0" cy="0"/>
        </a:xfrm>
      </p:grpSpPr>
      <p:sp>
        <p:nvSpPr>
          <p:cNvPr id="125" name="Google Shape;125;p29"/>
          <p:cNvSpPr txBox="1">
            <a:spLocks noGrp="1"/>
          </p:cNvSpPr>
          <p:nvPr>
            <p:ph type="title"/>
          </p:nvPr>
        </p:nvSpPr>
        <p:spPr>
          <a:xfrm>
            <a:off x="390424" y="618586"/>
            <a:ext cx="8363100"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6" name="Google Shape;126;p29"/>
          <p:cNvSpPr txBox="1">
            <a:spLocks noGrp="1"/>
          </p:cNvSpPr>
          <p:nvPr>
            <p:ph type="ftr" idx="11"/>
          </p:nvPr>
        </p:nvSpPr>
        <p:spPr>
          <a:xfrm>
            <a:off x="2879178" y="6158020"/>
            <a:ext cx="3503400" cy="92333"/>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7" name="Google Shape;127;p29"/>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8" name="Google Shape;128;p29"/>
          <p:cNvSpPr txBox="1">
            <a:spLocks noGrp="1"/>
          </p:cNvSpPr>
          <p:nvPr>
            <p:ph type="sldNum" idx="12"/>
          </p:nvPr>
        </p:nvSpPr>
        <p:spPr>
          <a:xfrm>
            <a:off x="6583680" y="5952744"/>
            <a:ext cx="2103000" cy="12311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fld id="{00000000-1234-1234-1234-123412341234}" type="slidenum">
              <a:rPr lang="en" smtClean="0"/>
              <a:pPr/>
              <a:t>‹#›</a:t>
            </a:fld>
            <a:endParaRPr lang="en">
              <a:solidFill>
                <a:srgbClr val="434343"/>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129"/>
        <p:cNvGrpSpPr/>
        <p:nvPr/>
      </p:nvGrpSpPr>
      <p:grpSpPr>
        <a:xfrm>
          <a:off x="0" y="0"/>
          <a:ext cx="0" cy="0"/>
          <a:chOff x="0" y="0"/>
          <a:chExt cx="0" cy="0"/>
        </a:xfrm>
      </p:grpSpPr>
      <p:sp>
        <p:nvSpPr>
          <p:cNvPr id="130" name="Google Shape;130;p30"/>
          <p:cNvSpPr txBox="1">
            <a:spLocks noGrp="1"/>
          </p:cNvSpPr>
          <p:nvPr>
            <p:ph type="ctrTitle"/>
          </p:nvPr>
        </p:nvSpPr>
        <p:spPr>
          <a:xfrm>
            <a:off x="2938259" y="2304461"/>
            <a:ext cx="3267600" cy="80021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1" name="Google Shape;131;p30"/>
          <p:cNvSpPr txBox="1">
            <a:spLocks noGrp="1"/>
          </p:cNvSpPr>
          <p:nvPr>
            <p:ph type="subTitle" idx="1"/>
          </p:nvPr>
        </p:nvSpPr>
        <p:spPr>
          <a:xfrm>
            <a:off x="1371600" y="3584448"/>
            <a:ext cx="6400800" cy="265457"/>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132" name="Google Shape;132;p30"/>
          <p:cNvSpPr txBox="1">
            <a:spLocks noGrp="1"/>
          </p:cNvSpPr>
          <p:nvPr>
            <p:ph type="ftr" idx="11"/>
          </p:nvPr>
        </p:nvSpPr>
        <p:spPr>
          <a:xfrm>
            <a:off x="2879178" y="6158020"/>
            <a:ext cx="3503400" cy="92333"/>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p30"/>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4" name="Google Shape;134;p30"/>
          <p:cNvSpPr txBox="1">
            <a:spLocks noGrp="1"/>
          </p:cNvSpPr>
          <p:nvPr>
            <p:ph type="sldNum" idx="12"/>
          </p:nvPr>
        </p:nvSpPr>
        <p:spPr>
          <a:xfrm>
            <a:off x="6583680" y="5952744"/>
            <a:ext cx="2103000" cy="123111"/>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fld id="{00000000-1234-1234-1234-123412341234}" type="slidenum">
              <a:rPr lang="en" smtClean="0"/>
              <a:pPr/>
              <a:t>‹#›</a:t>
            </a:fld>
            <a:endParaRPr lang="en">
              <a:solidFill>
                <a:srgbClr val="434343"/>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135"/>
        <p:cNvGrpSpPr/>
        <p:nvPr/>
      </p:nvGrpSpPr>
      <p:grpSpPr>
        <a:xfrm>
          <a:off x="0" y="0"/>
          <a:ext cx="0" cy="0"/>
          <a:chOff x="0" y="0"/>
          <a:chExt cx="0" cy="0"/>
        </a:xfrm>
      </p:grpSpPr>
      <p:sp>
        <p:nvSpPr>
          <p:cNvPr id="136" name="Google Shape;136;p31"/>
          <p:cNvSpPr txBox="1">
            <a:spLocks noGrp="1"/>
          </p:cNvSpPr>
          <p:nvPr>
            <p:ph type="title"/>
          </p:nvPr>
        </p:nvSpPr>
        <p:spPr>
          <a:xfrm>
            <a:off x="3368992" y="3053170"/>
            <a:ext cx="240600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31"/>
          <p:cNvSpPr txBox="1">
            <a:spLocks noGrp="1"/>
          </p:cNvSpPr>
          <p:nvPr>
            <p:ph type="ftr" idx="11"/>
          </p:nvPr>
        </p:nvSpPr>
        <p:spPr>
          <a:xfrm>
            <a:off x="3108960" y="5952744"/>
            <a:ext cx="2926200" cy="215444"/>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8" name="Google Shape;138;p31"/>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9" name="Google Shape;139;p31"/>
          <p:cNvSpPr txBox="1">
            <a:spLocks noGrp="1"/>
          </p:cNvSpPr>
          <p:nvPr>
            <p:ph type="sldNum" idx="12"/>
          </p:nvPr>
        </p:nvSpPr>
        <p:spPr>
          <a:xfrm>
            <a:off x="50889" y="6198432"/>
            <a:ext cx="216600" cy="123111"/>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fld id="{00000000-1234-1234-1234-123412341234}" type="slidenum">
              <a:rPr lang="en" smtClean="0"/>
              <a:pPr/>
              <a:t>‹#›</a:t>
            </a:fld>
            <a:endParaRPr lang="en" b="1">
              <a:solidFill>
                <a:srgbClr val="434343"/>
              </a:solidFill>
              <a:latin typeface="Nunito"/>
              <a:ea typeface="Nunito"/>
              <a:cs typeface="Nunito"/>
              <a:sym typeface="Nunit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140"/>
        <p:cNvGrpSpPr/>
        <p:nvPr/>
      </p:nvGrpSpPr>
      <p:grpSpPr>
        <a:xfrm>
          <a:off x="0" y="0"/>
          <a:ext cx="0" cy="0"/>
          <a:chOff x="0" y="0"/>
          <a:chExt cx="0" cy="0"/>
        </a:xfrm>
      </p:grpSpPr>
      <p:sp>
        <p:nvSpPr>
          <p:cNvPr id="141" name="Google Shape;141;p32"/>
          <p:cNvSpPr txBox="1">
            <a:spLocks noGrp="1"/>
          </p:cNvSpPr>
          <p:nvPr>
            <p:ph type="ftr" idx="11"/>
          </p:nvPr>
        </p:nvSpPr>
        <p:spPr>
          <a:xfrm>
            <a:off x="3108960" y="5952744"/>
            <a:ext cx="2926200" cy="215444"/>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2" name="Google Shape;142;p32"/>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3" name="Google Shape;143;p32"/>
          <p:cNvSpPr txBox="1">
            <a:spLocks noGrp="1"/>
          </p:cNvSpPr>
          <p:nvPr>
            <p:ph type="sldNum" idx="12"/>
          </p:nvPr>
        </p:nvSpPr>
        <p:spPr>
          <a:xfrm>
            <a:off x="50889" y="6198432"/>
            <a:ext cx="216600" cy="123111"/>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fld id="{00000000-1234-1234-1234-123412341234}" type="slidenum">
              <a:rPr lang="en" smtClean="0"/>
              <a:pPr/>
              <a:t>‹#›</a:t>
            </a:fld>
            <a:endParaRPr lang="en" b="1">
              <a:solidFill>
                <a:srgbClr val="434343"/>
              </a:solidFill>
              <a:latin typeface="Nunito"/>
              <a:ea typeface="Nunito"/>
              <a:cs typeface="Nunito"/>
              <a:sym typeface="Nunit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3368992" y="3053170"/>
            <a:ext cx="240600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6" name="Google Shape;146;p33"/>
          <p:cNvSpPr txBox="1">
            <a:spLocks noGrp="1"/>
          </p:cNvSpPr>
          <p:nvPr>
            <p:ph type="body" idx="1"/>
          </p:nvPr>
        </p:nvSpPr>
        <p:spPr>
          <a:xfrm>
            <a:off x="457200" y="1472184"/>
            <a:ext cx="3977700" cy="265457"/>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47" name="Google Shape;147;p33"/>
          <p:cNvSpPr txBox="1">
            <a:spLocks noGrp="1"/>
          </p:cNvSpPr>
          <p:nvPr>
            <p:ph type="body" idx="2"/>
          </p:nvPr>
        </p:nvSpPr>
        <p:spPr>
          <a:xfrm>
            <a:off x="4709160" y="1472184"/>
            <a:ext cx="3977700" cy="265457"/>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48" name="Google Shape;148;p33"/>
          <p:cNvSpPr txBox="1">
            <a:spLocks noGrp="1"/>
          </p:cNvSpPr>
          <p:nvPr>
            <p:ph type="ftr" idx="11"/>
          </p:nvPr>
        </p:nvSpPr>
        <p:spPr>
          <a:xfrm>
            <a:off x="3108960" y="5952744"/>
            <a:ext cx="2926200" cy="215444"/>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33"/>
          <p:cNvSpPr txBox="1">
            <a:spLocks noGrp="1"/>
          </p:cNvSpPr>
          <p:nvPr>
            <p:ph type="dt" idx="10"/>
          </p:nvPr>
        </p:nvSpPr>
        <p:spPr>
          <a:xfrm>
            <a:off x="457200" y="5952744"/>
            <a:ext cx="21030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33"/>
          <p:cNvSpPr txBox="1">
            <a:spLocks noGrp="1"/>
          </p:cNvSpPr>
          <p:nvPr>
            <p:ph type="sldNum" idx="12"/>
          </p:nvPr>
        </p:nvSpPr>
        <p:spPr>
          <a:xfrm>
            <a:off x="50889" y="6198432"/>
            <a:ext cx="216600" cy="123111"/>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fld id="{00000000-1234-1234-1234-123412341234}" type="slidenum">
              <a:rPr lang="en" smtClean="0"/>
              <a:pPr/>
              <a:t>‹#›</a:t>
            </a:fld>
            <a:endParaRPr lang="en" b="1">
              <a:solidFill>
                <a:srgbClr val="434343"/>
              </a:solidFill>
              <a:latin typeface="Nunito"/>
              <a:ea typeface="Nunito"/>
              <a:cs typeface="Nunito"/>
              <a:sym typeface="Nunit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51"/>
        <p:cNvGrpSpPr/>
        <p:nvPr/>
      </p:nvGrpSpPr>
      <p:grpSpPr>
        <a:xfrm>
          <a:off x="0" y="0"/>
          <a:ext cx="0" cy="0"/>
          <a:chOff x="0" y="0"/>
          <a:chExt cx="0" cy="0"/>
        </a:xfrm>
      </p:grpSpPr>
      <p:sp>
        <p:nvSpPr>
          <p:cNvPr id="152" name="Google Shape;152;p34"/>
          <p:cNvSpPr txBox="1">
            <a:spLocks noGrp="1"/>
          </p:cNvSpPr>
          <p:nvPr>
            <p:ph type="title"/>
          </p:nvPr>
        </p:nvSpPr>
        <p:spPr>
          <a:xfrm>
            <a:off x="2936867" y="2736934"/>
            <a:ext cx="3275400" cy="66172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3" name="Google Shape;153;p34"/>
          <p:cNvSpPr txBox="1">
            <a:spLocks noGrp="1"/>
          </p:cNvSpPr>
          <p:nvPr>
            <p:ph type="ftr" idx="11"/>
          </p:nvPr>
        </p:nvSpPr>
        <p:spPr>
          <a:xfrm>
            <a:off x="708292" y="6123054"/>
            <a:ext cx="6447300" cy="16927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4" name="Google Shape;154;p34"/>
          <p:cNvSpPr txBox="1">
            <a:spLocks noGrp="1"/>
          </p:cNvSpPr>
          <p:nvPr>
            <p:ph type="dt" idx="10"/>
          </p:nvPr>
        </p:nvSpPr>
        <p:spPr>
          <a:xfrm>
            <a:off x="457452" y="5952743"/>
            <a:ext cx="210420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5" name="Google Shape;155;p34"/>
          <p:cNvSpPr txBox="1">
            <a:spLocks noGrp="1"/>
          </p:cNvSpPr>
          <p:nvPr>
            <p:ph type="sldNum" idx="12"/>
          </p:nvPr>
        </p:nvSpPr>
        <p:spPr>
          <a:xfrm>
            <a:off x="7529030" y="6021304"/>
            <a:ext cx="188400" cy="338554"/>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fld id="{00000000-1234-1234-1234-123412341234}" type="slidenum">
              <a:rPr lang="en" smtClean="0"/>
              <a:pPr/>
              <a:t>‹#›</a:t>
            </a:fld>
            <a:endParaRPr lang="en" sz="800" b="1">
              <a:solidFill>
                <a:srgbClr val="434343"/>
              </a:solidFill>
              <a:latin typeface="Nunito"/>
              <a:ea typeface="Nunito"/>
              <a:cs typeface="Nunito"/>
              <a:sym typeface="Nunit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56"/>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57"/>
        <p:cNvGrpSpPr/>
        <p:nvPr/>
      </p:nvGrpSpPr>
      <p:grpSpPr>
        <a:xfrm>
          <a:off x="0" y="0"/>
          <a:ext cx="0" cy="0"/>
          <a:chOff x="0" y="0"/>
          <a:chExt cx="0" cy="0"/>
        </a:xfrm>
      </p:grpSpPr>
      <p:sp>
        <p:nvSpPr>
          <p:cNvPr id="158" name="Google Shape;158;p36"/>
          <p:cNvSpPr/>
          <p:nvPr/>
        </p:nvSpPr>
        <p:spPr>
          <a:xfrm>
            <a:off x="0" y="0"/>
            <a:ext cx="9144000" cy="64008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68"/>
        <p:cNvGrpSpPr/>
        <p:nvPr/>
      </p:nvGrpSpPr>
      <p:grpSpPr>
        <a:xfrm>
          <a:off x="0" y="0"/>
          <a:ext cx="0" cy="0"/>
          <a:chOff x="0" y="0"/>
          <a:chExt cx="0" cy="0"/>
        </a:xfrm>
      </p:grpSpPr>
      <p:sp>
        <p:nvSpPr>
          <p:cNvPr id="169" name="Google Shape;169;p38"/>
          <p:cNvSpPr/>
          <p:nvPr/>
        </p:nvSpPr>
        <p:spPr>
          <a:xfrm>
            <a:off x="1" y="-417"/>
            <a:ext cx="9144600" cy="6401173"/>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70" name="Google Shape;170;p38" descr="A close up of a logo&#10;&#10;Description automatically generated"/>
          <p:cNvPicPr preferRelativeResize="0"/>
          <p:nvPr/>
        </p:nvPicPr>
        <p:blipFill rotWithShape="1">
          <a:blip r:embed="rId2">
            <a:alphaModFix/>
          </a:blip>
          <a:srcRect l="42816" t="18360" r="37295" b="19147"/>
          <a:stretch/>
        </p:blipFill>
        <p:spPr>
          <a:xfrm>
            <a:off x="6052536" y="640196"/>
            <a:ext cx="2095112" cy="4608576"/>
          </a:xfrm>
          <a:prstGeom prst="rect">
            <a:avLst/>
          </a:prstGeom>
          <a:noFill/>
          <a:ln>
            <a:noFill/>
          </a:ln>
        </p:spPr>
      </p:pic>
      <p:sp>
        <p:nvSpPr>
          <p:cNvPr id="171" name="Google Shape;171;p38"/>
          <p:cNvSpPr txBox="1">
            <a:spLocks noGrp="1"/>
          </p:cNvSpPr>
          <p:nvPr>
            <p:ph type="title"/>
          </p:nvPr>
        </p:nvSpPr>
        <p:spPr>
          <a:xfrm>
            <a:off x="70129" y="8341784"/>
            <a:ext cx="15008700" cy="868373"/>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72" name="Google Shape;172;p38"/>
          <p:cNvSpPr txBox="1"/>
          <p:nvPr/>
        </p:nvSpPr>
        <p:spPr>
          <a:xfrm>
            <a:off x="334565" y="2085977"/>
            <a:ext cx="4372800" cy="2228427"/>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Power Ahead!</a:t>
            </a:r>
            <a:endParaRPr sz="3300" b="0" i="0" u="none" strike="noStrike" cap="none">
              <a:solidFill>
                <a:schemeClr val="lt1"/>
              </a:solidFill>
              <a:latin typeface="Nunito ExtraBold"/>
              <a:ea typeface="Nunito ExtraBold"/>
              <a:cs typeface="Nunito ExtraBold"/>
              <a:sym typeface="Nunito ExtraBold"/>
            </a:endParaRPr>
          </a:p>
        </p:txBody>
      </p:sp>
      <p:pic>
        <p:nvPicPr>
          <p:cNvPr id="173" name="Google Shape;173;p38"/>
          <p:cNvPicPr preferRelativeResize="0"/>
          <p:nvPr/>
        </p:nvPicPr>
        <p:blipFill rotWithShape="1">
          <a:blip r:embed="rId3">
            <a:alphaModFix/>
          </a:blip>
          <a:srcRect/>
          <a:stretch/>
        </p:blipFill>
        <p:spPr>
          <a:xfrm>
            <a:off x="421875" y="958159"/>
            <a:ext cx="3071452" cy="1569587"/>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4"/>
        <p:cNvGrpSpPr/>
        <p:nvPr/>
      </p:nvGrpSpPr>
      <p:grpSpPr>
        <a:xfrm>
          <a:off x="0" y="0"/>
          <a:ext cx="0" cy="0"/>
          <a:chOff x="0" y="0"/>
          <a:chExt cx="0" cy="0"/>
        </a:xfrm>
      </p:grpSpPr>
      <p:sp>
        <p:nvSpPr>
          <p:cNvPr id="175" name="Google Shape;175;p39"/>
          <p:cNvSpPr txBox="1">
            <a:spLocks noGrp="1"/>
          </p:cNvSpPr>
          <p:nvPr>
            <p:ph type="ctrTitle"/>
          </p:nvPr>
        </p:nvSpPr>
        <p:spPr>
          <a:xfrm>
            <a:off x="1260908" y="893200"/>
            <a:ext cx="6622200" cy="2554347"/>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76" name="Google Shape;176;p39"/>
          <p:cNvSpPr txBox="1">
            <a:spLocks noGrp="1"/>
          </p:cNvSpPr>
          <p:nvPr>
            <p:ph type="subTitle" idx="1"/>
          </p:nvPr>
        </p:nvSpPr>
        <p:spPr>
          <a:xfrm>
            <a:off x="1260902" y="3447546"/>
            <a:ext cx="6622200" cy="986347"/>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p40"/>
          <p:cNvSpPr txBox="1">
            <a:spLocks noGrp="1"/>
          </p:cNvSpPr>
          <p:nvPr>
            <p:ph type="title"/>
          </p:nvPr>
        </p:nvSpPr>
        <p:spPr>
          <a:xfrm>
            <a:off x="311700" y="2676614"/>
            <a:ext cx="8520600" cy="1047573"/>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79" name="Google Shape;179;p40"/>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0"/>
        <p:cNvGrpSpPr/>
        <p:nvPr/>
      </p:nvGrpSpPr>
      <p:grpSpPr>
        <a:xfrm>
          <a:off x="0" y="0"/>
          <a:ext cx="0" cy="0"/>
          <a:chOff x="0" y="0"/>
          <a:chExt cx="0" cy="0"/>
        </a:xfrm>
      </p:grpSpPr>
      <p:sp>
        <p:nvSpPr>
          <p:cNvPr id="181" name="Google Shape;181;p41"/>
          <p:cNvSpPr txBox="1">
            <a:spLocks noGrp="1"/>
          </p:cNvSpPr>
          <p:nvPr>
            <p:ph type="title"/>
          </p:nvPr>
        </p:nvSpPr>
        <p:spPr>
          <a:xfrm>
            <a:off x="202550" y="359992"/>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2" name="Google Shape;182;p41"/>
          <p:cNvSpPr txBox="1">
            <a:spLocks noGrp="1"/>
          </p:cNvSpPr>
          <p:nvPr>
            <p:ph type="body" idx="1"/>
          </p:nvPr>
        </p:nvSpPr>
        <p:spPr>
          <a:xfrm>
            <a:off x="202550" y="1072680"/>
            <a:ext cx="8629800" cy="4612907"/>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83" name="Google Shape;183;p41"/>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84"/>
        <p:cNvGrpSpPr/>
        <p:nvPr/>
      </p:nvGrpSpPr>
      <p:grpSpPr>
        <a:xfrm>
          <a:off x="0" y="0"/>
          <a:ext cx="0" cy="0"/>
          <a:chOff x="0" y="0"/>
          <a:chExt cx="0" cy="0"/>
        </a:xfrm>
      </p:grpSpPr>
      <p:sp>
        <p:nvSpPr>
          <p:cNvPr id="185" name="Google Shape;185;p42"/>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86" name="Google Shape;186;p42"/>
          <p:cNvGraphicFramePr/>
          <p:nvPr/>
        </p:nvGraphicFramePr>
        <p:xfrm>
          <a:off x="201942" y="1037446"/>
          <a:ext cx="3000000" cy="3733333"/>
        </p:xfrm>
        <a:graphic>
          <a:graphicData uri="http://schemas.openxmlformats.org/drawingml/2006/table">
            <a:tbl>
              <a:tblPr firstRow="1" bandRow="1">
                <a:noFill/>
                <a:tableStyleId>{11B3D4AF-D05D-46CC-AD48-3D6A0D768892}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838227">
                <a:tc>
                  <a:txBody>
                    <a:bodyPr/>
                    <a:lstStyle/>
                    <a:p>
                      <a:pPr marL="0" marR="0" lvl="0" indent="0" algn="l" rtl="0">
                        <a:lnSpc>
                          <a:spcPct val="100000"/>
                        </a:lnSpc>
                        <a:spcBef>
                          <a:spcPts val="0"/>
                        </a:spcBef>
                        <a:spcAft>
                          <a:spcPts val="0"/>
                        </a:spcAft>
                        <a:buClr>
                          <a:srgbClr val="000000"/>
                        </a:buClr>
                        <a:buSzPts val="1400"/>
                        <a:buFont typeface="Arial"/>
                        <a:buNone/>
                      </a:pPr>
                      <a:r>
                        <a:rPr lang="en" sz="1700" u="none" strike="noStrike" cap="none">
                          <a:latin typeface="Nunito"/>
                          <a:ea typeface="Nunito"/>
                          <a:cs typeface="Nunito"/>
                          <a:sym typeface="Nunito"/>
                        </a:rPr>
                        <a:t>Cluster</a:t>
                      </a:r>
                      <a:endParaRPr sz="17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700" u="none" strike="noStrike" cap="none">
                          <a:latin typeface="Nunito"/>
                          <a:ea typeface="Nunito"/>
                          <a:cs typeface="Nunito"/>
                          <a:sym typeface="Nunito"/>
                        </a:rPr>
                        <a:t>Cluster Profile </a:t>
                      </a:r>
                      <a:endParaRPr sz="17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700" u="none" strike="noStrike" cap="none">
                          <a:latin typeface="Nunito"/>
                          <a:ea typeface="Nunito"/>
                          <a:cs typeface="Nunito"/>
                          <a:sym typeface="Nunito"/>
                        </a:rPr>
                        <a:t>Business Insights for Marketing Team</a:t>
                      </a:r>
                      <a:endParaRPr sz="17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937471">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1</a:t>
                      </a: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High value customers who have many credit cards and prefer to engage online</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Engage Online – Set up priority calling in lines – Upsell and Cross sell premium products</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833187">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2</a:t>
                      </a: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baseline="30000">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833187">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3</a:t>
                      </a: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500" u="none" strike="noStrike" cap="none">
                          <a:latin typeface="Nunito"/>
                          <a:ea typeface="Nunito"/>
                          <a:cs typeface="Nunito"/>
                          <a:sym typeface="Nunito"/>
                        </a:rPr>
                        <a:t>…</a:t>
                      </a: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833187">
                <a:tc>
                  <a:txBody>
                    <a:bodyPr/>
                    <a:lstStyle/>
                    <a:p>
                      <a:pPr marL="0" marR="0" lvl="0" indent="0" algn="l" rtl="0">
                        <a:lnSpc>
                          <a:spcPct val="100000"/>
                        </a:lnSpc>
                        <a:spcBef>
                          <a:spcPts val="0"/>
                        </a:spcBef>
                        <a:spcAft>
                          <a:spcPts val="0"/>
                        </a:spcAft>
                        <a:buClr>
                          <a:srgbClr val="000000"/>
                        </a:buClr>
                        <a:buSzPts val="1200"/>
                        <a:buFont typeface="Arial"/>
                        <a:buNone/>
                      </a:pPr>
                      <a:endParaRPr sz="1500" u="none" strike="noStrike" cap="none">
                        <a:latin typeface="Nunito"/>
                        <a:ea typeface="Nunito"/>
                        <a:cs typeface="Nunito"/>
                        <a:sym typeface="Nunito"/>
                      </a:endParaRPr>
                    </a:p>
                  </a:txBody>
                  <a:tcPr marL="91450" marR="91450" marT="56902" marB="56902"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500" u="none" strike="noStrike" cap="none">
                        <a:latin typeface="Nunito"/>
                        <a:ea typeface="Nunito"/>
                        <a:cs typeface="Nunito"/>
                        <a:sym typeface="Nunito"/>
                      </a:endParaRPr>
                    </a:p>
                  </a:txBody>
                  <a:tcPr marL="91450" marR="91450" marT="56902" marB="56902"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87" name="Google Shape;187;p42"/>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8"/>
        <p:cNvGrpSpPr/>
        <p:nvPr/>
      </p:nvGrpSpPr>
      <p:grpSpPr>
        <a:xfrm>
          <a:off x="0" y="0"/>
          <a:ext cx="0" cy="0"/>
          <a:chOff x="0" y="0"/>
          <a:chExt cx="0" cy="0"/>
        </a:xfrm>
      </p:grpSpPr>
      <p:sp>
        <p:nvSpPr>
          <p:cNvPr id="189" name="Google Shape;189;p43"/>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0" name="Google Shape;190;p43"/>
          <p:cNvSpPr txBox="1">
            <a:spLocks noGrp="1"/>
          </p:cNvSpPr>
          <p:nvPr>
            <p:ph type="body" idx="1"/>
          </p:nvPr>
        </p:nvSpPr>
        <p:spPr>
          <a:xfrm>
            <a:off x="311700" y="1434191"/>
            <a:ext cx="3999900" cy="425152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1" name="Google Shape;191;p43"/>
          <p:cNvSpPr txBox="1">
            <a:spLocks noGrp="1"/>
          </p:cNvSpPr>
          <p:nvPr>
            <p:ph type="body" idx="2"/>
          </p:nvPr>
        </p:nvSpPr>
        <p:spPr>
          <a:xfrm>
            <a:off x="4832400" y="1434191"/>
            <a:ext cx="3999900" cy="425152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2" name="Google Shape;192;p43"/>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3"/>
        <p:cNvGrpSpPr/>
        <p:nvPr/>
      </p:nvGrpSpPr>
      <p:grpSpPr>
        <a:xfrm>
          <a:off x="0" y="0"/>
          <a:ext cx="0" cy="0"/>
          <a:chOff x="0" y="0"/>
          <a:chExt cx="0" cy="0"/>
        </a:xfrm>
      </p:grpSpPr>
      <p:sp>
        <p:nvSpPr>
          <p:cNvPr id="194" name="Google Shape;194;p44"/>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5" name="Google Shape;195;p44"/>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6"/>
        <p:cNvGrpSpPr/>
        <p:nvPr/>
      </p:nvGrpSpPr>
      <p:grpSpPr>
        <a:xfrm>
          <a:off x="0" y="0"/>
          <a:ext cx="0" cy="0"/>
          <a:chOff x="0" y="0"/>
          <a:chExt cx="0" cy="0"/>
        </a:xfrm>
      </p:grpSpPr>
      <p:sp>
        <p:nvSpPr>
          <p:cNvPr id="197" name="Google Shape;197;p45"/>
          <p:cNvSpPr txBox="1">
            <a:spLocks noGrp="1"/>
          </p:cNvSpPr>
          <p:nvPr>
            <p:ph type="title"/>
          </p:nvPr>
        </p:nvSpPr>
        <p:spPr>
          <a:xfrm>
            <a:off x="490250" y="560187"/>
            <a:ext cx="6367800" cy="5090773"/>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98" name="Google Shape;198;p45"/>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46"/>
          <p:cNvSpPr/>
          <p:nvPr/>
        </p:nvSpPr>
        <p:spPr>
          <a:xfrm>
            <a:off x="4572000" y="-156"/>
            <a:ext cx="4572000" cy="6400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46"/>
          <p:cNvSpPr txBox="1">
            <a:spLocks noGrp="1"/>
          </p:cNvSpPr>
          <p:nvPr>
            <p:ph type="title"/>
          </p:nvPr>
        </p:nvSpPr>
        <p:spPr>
          <a:xfrm>
            <a:off x="265500" y="1534618"/>
            <a:ext cx="4045200" cy="184464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02" name="Google Shape;202;p46"/>
          <p:cNvSpPr txBox="1">
            <a:spLocks noGrp="1"/>
          </p:cNvSpPr>
          <p:nvPr>
            <p:ph type="subTitle" idx="1"/>
          </p:nvPr>
        </p:nvSpPr>
        <p:spPr>
          <a:xfrm>
            <a:off x="265500" y="3488271"/>
            <a:ext cx="4045200" cy="1537013"/>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03" name="Google Shape;203;p46"/>
          <p:cNvSpPr txBox="1">
            <a:spLocks noGrp="1"/>
          </p:cNvSpPr>
          <p:nvPr>
            <p:ph type="body" idx="2"/>
          </p:nvPr>
        </p:nvSpPr>
        <p:spPr>
          <a:xfrm>
            <a:off x="4939500" y="901071"/>
            <a:ext cx="3837000" cy="4598347"/>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204" name="Google Shape;204;p46"/>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47"/>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image" Target="../media/image1.pn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image" Target="../media/image1.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heme" Target="../theme/theme3.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53809"/>
            <a:ext cx="8520600" cy="712693"/>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434191"/>
            <a:ext cx="8520600" cy="425152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5803115"/>
            <a:ext cx="548700" cy="489813"/>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1071560"/>
            <a:ext cx="8520600" cy="425152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6119751"/>
            <a:ext cx="4675200" cy="343093"/>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pic>
        <p:nvPicPr>
          <p:cNvPr id="55" name="Google Shape;55;p13"/>
          <p:cNvPicPr preferRelativeResize="0"/>
          <p:nvPr/>
        </p:nvPicPr>
        <p:blipFill rotWithShape="1">
          <a:blip r:embed="rId24">
            <a:alphaModFix/>
          </a:blip>
          <a:srcRect/>
          <a:stretch/>
        </p:blipFill>
        <p:spPr>
          <a:xfrm>
            <a:off x="7669500" y="84951"/>
            <a:ext cx="1395476" cy="712695"/>
          </a:xfrm>
          <a:prstGeom prst="rect">
            <a:avLst/>
          </a:prstGeom>
          <a:noFill/>
          <a:ln>
            <a:noFill/>
          </a:ln>
        </p:spPr>
      </p:pic>
      <p:grpSp>
        <p:nvGrpSpPr>
          <p:cNvPr id="56" name="Google Shape;56;p13"/>
          <p:cNvGrpSpPr/>
          <p:nvPr/>
        </p:nvGrpSpPr>
        <p:grpSpPr>
          <a:xfrm>
            <a:off x="6593" y="13"/>
            <a:ext cx="175500" cy="882586"/>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9"/>
        <p:cNvGrpSpPr/>
        <p:nvPr/>
      </p:nvGrpSpPr>
      <p:grpSpPr>
        <a:xfrm>
          <a:off x="0" y="0"/>
          <a:ext cx="0" cy="0"/>
          <a:chOff x="0" y="0"/>
          <a:chExt cx="0" cy="0"/>
        </a:xfrm>
      </p:grpSpPr>
      <p:sp>
        <p:nvSpPr>
          <p:cNvPr id="160" name="Google Shape;160;p37"/>
          <p:cNvSpPr txBox="1">
            <a:spLocks noGrp="1"/>
          </p:cNvSpPr>
          <p:nvPr>
            <p:ph type="title"/>
          </p:nvPr>
        </p:nvSpPr>
        <p:spPr>
          <a:xfrm>
            <a:off x="201972" y="358858"/>
            <a:ext cx="8520600" cy="712693"/>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61" name="Google Shape;161;p37"/>
          <p:cNvSpPr txBox="1">
            <a:spLocks noGrp="1"/>
          </p:cNvSpPr>
          <p:nvPr>
            <p:ph type="body" idx="1"/>
          </p:nvPr>
        </p:nvSpPr>
        <p:spPr>
          <a:xfrm>
            <a:off x="311700" y="1071560"/>
            <a:ext cx="8520600" cy="4251520"/>
          </a:xfrm>
          <a:prstGeom prst="rect">
            <a:avLst/>
          </a:prstGeom>
          <a:noFill/>
          <a:ln>
            <a:noFill/>
          </a:ln>
        </p:spPr>
        <p:txBody>
          <a:bodyPr spcFirstLastPara="1" wrap="square" lIns="91425" tIns="91425" rIns="91425" bIns="91425" anchor="t" anchorCtr="0">
            <a:noAutofit/>
          </a:bodyPr>
          <a:lstStyle>
            <a:lvl1pPr marL="457200" marR="0" lvl="0" indent="-323850" algn="l">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62" name="Google Shape;162;p37"/>
          <p:cNvSpPr txBox="1"/>
          <p:nvPr/>
        </p:nvSpPr>
        <p:spPr>
          <a:xfrm>
            <a:off x="2234400" y="6119751"/>
            <a:ext cx="4675200" cy="343093"/>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63" name="Google Shape;163;p37"/>
          <p:cNvSpPr txBox="1">
            <a:spLocks noGrp="1"/>
          </p:cNvSpPr>
          <p:nvPr>
            <p:ph type="sldNum" idx="12"/>
          </p:nvPr>
        </p:nvSpPr>
        <p:spPr>
          <a:xfrm>
            <a:off x="8832299" y="6156151"/>
            <a:ext cx="365400" cy="270293"/>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fld id="{00000000-1234-1234-1234-123412341234}" type="slidenum">
              <a:rPr lang="en" smtClean="0"/>
              <a:pPr/>
              <a:t>‹#›</a:t>
            </a:fld>
            <a:endParaRPr lang="en"/>
          </a:p>
        </p:txBody>
      </p:sp>
      <p:pic>
        <p:nvPicPr>
          <p:cNvPr id="164" name="Google Shape;164;p37"/>
          <p:cNvPicPr preferRelativeResize="0"/>
          <p:nvPr/>
        </p:nvPicPr>
        <p:blipFill rotWithShape="1">
          <a:blip r:embed="rId12">
            <a:alphaModFix/>
          </a:blip>
          <a:srcRect/>
          <a:stretch/>
        </p:blipFill>
        <p:spPr>
          <a:xfrm>
            <a:off x="7669501" y="84951"/>
            <a:ext cx="1395475" cy="712693"/>
          </a:xfrm>
          <a:prstGeom prst="rect">
            <a:avLst/>
          </a:prstGeom>
          <a:noFill/>
          <a:ln>
            <a:noFill/>
          </a:ln>
        </p:spPr>
      </p:pic>
      <p:grpSp>
        <p:nvGrpSpPr>
          <p:cNvPr id="165" name="Google Shape;165;p37"/>
          <p:cNvGrpSpPr/>
          <p:nvPr/>
        </p:nvGrpSpPr>
        <p:grpSpPr>
          <a:xfrm>
            <a:off x="6593" y="13"/>
            <a:ext cx="175500" cy="882586"/>
            <a:chOff x="6593" y="10"/>
            <a:chExt cx="175500" cy="709221"/>
          </a:xfrm>
        </p:grpSpPr>
        <p:sp>
          <p:nvSpPr>
            <p:cNvPr id="166" name="Google Shape;166;p37"/>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7"/>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 name="TextBox 2">
            <a:extLst>
              <a:ext uri="{FF2B5EF4-FFF2-40B4-BE49-F238E27FC236}">
                <a16:creationId xmlns:a16="http://schemas.microsoft.com/office/drawing/2014/main" id="{7BF259CB-27D7-6238-BB29-DA737AE8DFF7}"/>
              </a:ext>
            </a:extLst>
          </p:cNvPr>
          <p:cNvSpPr txBox="1"/>
          <p:nvPr userDrawn="1">
            <p:extLst>
              <p:ext uri="{1162E1C5-73C7-4A58-AE30-91384D911F3F}">
                <p184:classification xmlns:p184="http://schemas.microsoft.com/office/powerpoint/2018/4/main" val="hdr"/>
              </p:ext>
            </p:extLst>
          </p:nvPr>
        </p:nvSpPr>
        <p:spPr>
          <a:xfrm>
            <a:off x="3983801" y="79022"/>
            <a:ext cx="1201737" cy="153888"/>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NATO UNCLASSIFIED</a:t>
            </a:r>
          </a:p>
        </p:txBody>
      </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8"/>
          <p:cNvSpPr txBox="1"/>
          <p:nvPr/>
        </p:nvSpPr>
        <p:spPr>
          <a:xfrm>
            <a:off x="1632725" y="1856201"/>
            <a:ext cx="6923725" cy="80018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SzPts val="2900"/>
              <a:buNone/>
              <a:defRPr sz="2900">
                <a:solidFill>
                  <a:srgbClr val="0E39A9"/>
                </a:solidFill>
                <a:latin typeface="Nunito"/>
                <a:ea typeface="Nunito"/>
                <a:cs typeface="Nunito"/>
              </a:defRPr>
            </a:lvl1pPr>
          </a:lstStyle>
          <a:p>
            <a:pPr algn="ctr"/>
            <a:r>
              <a:rPr lang="en-US" sz="2000" b="1"/>
              <a:t>Empowering the Frontline </a:t>
            </a:r>
          </a:p>
          <a:p>
            <a:pPr algn="ctr"/>
            <a:r>
              <a:rPr lang="en-US" sz="2000" b="1"/>
              <a:t>Reducing Information Overload in Modern Healthcare</a:t>
            </a:r>
            <a:endParaRPr sz="2000" b="1">
              <a:sym typeface="Nunito"/>
            </a:endParaRPr>
          </a:p>
        </p:txBody>
      </p:sp>
      <p:sp>
        <p:nvSpPr>
          <p:cNvPr id="212" name="Google Shape;212;p48"/>
          <p:cNvSpPr txBox="1"/>
          <p:nvPr/>
        </p:nvSpPr>
        <p:spPr>
          <a:xfrm>
            <a:off x="1618343" y="2557527"/>
            <a:ext cx="6673514" cy="1015632"/>
          </a:xfrm>
          <a:prstGeom prst="rect">
            <a:avLst/>
          </a:prstGeom>
          <a:noFill/>
          <a:ln>
            <a:noFill/>
          </a:ln>
        </p:spPr>
        <p:txBody>
          <a:bodyPr spcFirstLastPara="1" wrap="square" lIns="91425" tIns="91425" rIns="91425" bIns="91425" anchor="t" anchorCtr="0">
            <a:spAutoFit/>
          </a:bodyPr>
          <a:lstStyle/>
          <a:p>
            <a:pPr lvl="0" algn="ctr"/>
            <a:r>
              <a:rPr lang="en-US" sz="2800">
                <a:solidFill>
                  <a:srgbClr val="0E39A9"/>
                </a:solidFill>
                <a:latin typeface="Nunito"/>
                <a:ea typeface="Nunito"/>
                <a:cs typeface="Nunito"/>
                <a:sym typeface="Nunito"/>
              </a:rPr>
              <a:t>Medical Assistant Project</a:t>
            </a:r>
            <a:br>
              <a:rPr lang="en-US" sz="2800">
                <a:solidFill>
                  <a:srgbClr val="0E39A9"/>
                </a:solidFill>
                <a:latin typeface="Nunito"/>
                <a:ea typeface="Nunito"/>
                <a:cs typeface="Nunito"/>
                <a:sym typeface="Nunito"/>
              </a:rPr>
            </a:br>
            <a:r>
              <a:rPr lang="en-US" sz="1200">
                <a:solidFill>
                  <a:srgbClr val="0E39A9"/>
                </a:solidFill>
                <a:latin typeface="Nunito"/>
                <a:ea typeface="Nunito"/>
                <a:cs typeface="Nunito"/>
                <a:sym typeface="Nunito"/>
              </a:rPr>
              <a:t>Austin University – Post Graduate Program in Artificial Intelligence</a:t>
            </a:r>
            <a:endParaRPr lang="en-US" sz="2800">
              <a:solidFill>
                <a:srgbClr val="0E39A9"/>
              </a:solidFill>
              <a:latin typeface="Nunito"/>
              <a:ea typeface="Nunito"/>
              <a:cs typeface="Nunito"/>
              <a:sym typeface="Nunito"/>
            </a:endParaRPr>
          </a:p>
          <a:p>
            <a:pPr>
              <a:buSzPts val="2900"/>
            </a:pPr>
            <a:endParaRPr sz="1200">
              <a:solidFill>
                <a:srgbClr val="0E39A9"/>
              </a:solidFill>
              <a:latin typeface="Nunito"/>
              <a:ea typeface="Nunito"/>
              <a:cs typeface="Nunito"/>
              <a:sym typeface="Nunito"/>
            </a:endParaRPr>
          </a:p>
        </p:txBody>
      </p:sp>
      <p:sp>
        <p:nvSpPr>
          <p:cNvPr id="213" name="Google Shape;213;p48"/>
          <p:cNvSpPr txBox="1"/>
          <p:nvPr/>
        </p:nvSpPr>
        <p:spPr>
          <a:xfrm>
            <a:off x="4247520" y="3751287"/>
            <a:ext cx="1487909" cy="400079"/>
          </a:xfrm>
          <a:prstGeom prst="rect">
            <a:avLst/>
          </a:prstGeom>
          <a:noFill/>
          <a:ln>
            <a:noFill/>
          </a:ln>
        </p:spPr>
        <p:txBody>
          <a:bodyPr spcFirstLastPara="1" wrap="square" lIns="91425" tIns="91425" rIns="91425" bIns="91425" anchor="t" anchorCtr="0">
            <a:spAutoFit/>
          </a:bodyPr>
          <a:lstStyle/>
          <a:p>
            <a:pPr algn="ctr">
              <a:buSzPts val="2200"/>
            </a:pPr>
            <a:r>
              <a:rPr lang="en">
                <a:solidFill>
                  <a:srgbClr val="0E39A9"/>
                </a:solidFill>
                <a:latin typeface="Nunito"/>
                <a:ea typeface="Nunito"/>
                <a:cs typeface="Nunito"/>
                <a:sym typeface="Nunito"/>
              </a:rPr>
              <a:t>2026-04-25</a:t>
            </a:r>
            <a:endParaRPr>
              <a:solidFill>
                <a:srgbClr val="0E39A9"/>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9"/>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Contents / Agenda</a:t>
            </a:r>
            <a:endParaRPr sz="2400">
              <a:solidFill>
                <a:srgbClr val="0E39A9"/>
              </a:solidFill>
            </a:endParaRPr>
          </a:p>
        </p:txBody>
      </p:sp>
      <p:sp>
        <p:nvSpPr>
          <p:cNvPr id="219" name="Google Shape;219;p49"/>
          <p:cNvSpPr/>
          <p:nvPr/>
        </p:nvSpPr>
        <p:spPr>
          <a:xfrm>
            <a:off x="403421" y="20806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220" name="Google Shape;220;p49"/>
          <p:cNvSpPr txBox="1"/>
          <p:nvPr/>
        </p:nvSpPr>
        <p:spPr>
          <a:xfrm>
            <a:off x="691799" y="1956626"/>
            <a:ext cx="56328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Question Answering using LLM</a:t>
            </a:r>
            <a:endParaRPr>
              <a:latin typeface="Montserrat"/>
              <a:ea typeface="Montserrat"/>
              <a:cs typeface="Montserrat"/>
              <a:sym typeface="Montserrat"/>
            </a:endParaRPr>
          </a:p>
        </p:txBody>
      </p:sp>
      <p:sp>
        <p:nvSpPr>
          <p:cNvPr id="221" name="Google Shape;221;p49"/>
          <p:cNvSpPr/>
          <p:nvPr/>
        </p:nvSpPr>
        <p:spPr>
          <a:xfrm>
            <a:off x="403421" y="24806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222" name="Google Shape;222;p49"/>
          <p:cNvSpPr txBox="1"/>
          <p:nvPr/>
        </p:nvSpPr>
        <p:spPr>
          <a:xfrm>
            <a:off x="691799" y="2377164"/>
            <a:ext cx="56328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Question Answering using LLM with Prompt Engineering</a:t>
            </a:r>
            <a:endParaRPr>
              <a:latin typeface="Montserrat"/>
              <a:ea typeface="Montserrat"/>
              <a:cs typeface="Montserrat"/>
              <a:sym typeface="Montserrat"/>
            </a:endParaRPr>
          </a:p>
        </p:txBody>
      </p:sp>
      <p:sp>
        <p:nvSpPr>
          <p:cNvPr id="223" name="Google Shape;223;p49"/>
          <p:cNvSpPr/>
          <p:nvPr/>
        </p:nvSpPr>
        <p:spPr>
          <a:xfrm>
            <a:off x="403421" y="29569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224" name="Google Shape;224;p49"/>
          <p:cNvSpPr txBox="1"/>
          <p:nvPr/>
        </p:nvSpPr>
        <p:spPr>
          <a:xfrm>
            <a:off x="691799" y="2848301"/>
            <a:ext cx="56328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Data Preparation for RAG</a:t>
            </a:r>
            <a:endParaRPr>
              <a:latin typeface="Montserrat"/>
              <a:ea typeface="Montserrat"/>
              <a:cs typeface="Montserrat"/>
              <a:sym typeface="Montserrat"/>
            </a:endParaRPr>
          </a:p>
        </p:txBody>
      </p:sp>
      <p:sp>
        <p:nvSpPr>
          <p:cNvPr id="225" name="Google Shape;225;p49"/>
          <p:cNvSpPr/>
          <p:nvPr/>
        </p:nvSpPr>
        <p:spPr>
          <a:xfrm>
            <a:off x="403421" y="34141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226" name="Google Shape;226;p49"/>
          <p:cNvSpPr txBox="1"/>
          <p:nvPr/>
        </p:nvSpPr>
        <p:spPr>
          <a:xfrm>
            <a:off x="691799" y="3305501"/>
            <a:ext cx="56328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Question Answering using RAG</a:t>
            </a:r>
            <a:endParaRPr>
              <a:latin typeface="Montserrat"/>
              <a:ea typeface="Montserrat"/>
              <a:cs typeface="Montserrat"/>
              <a:sym typeface="Montserrat"/>
            </a:endParaRPr>
          </a:p>
        </p:txBody>
      </p:sp>
      <p:sp>
        <p:nvSpPr>
          <p:cNvPr id="227" name="Google Shape;227;p49"/>
          <p:cNvSpPr/>
          <p:nvPr/>
        </p:nvSpPr>
        <p:spPr>
          <a:xfrm>
            <a:off x="403421" y="38713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228" name="Google Shape;228;p49"/>
          <p:cNvSpPr txBox="1"/>
          <p:nvPr/>
        </p:nvSpPr>
        <p:spPr>
          <a:xfrm>
            <a:off x="691799" y="3762701"/>
            <a:ext cx="56328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Output Evaluation</a:t>
            </a:r>
            <a:endParaRPr>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50"/>
          <p:cNvSpPr txBox="1">
            <a:spLocks noGrp="1"/>
          </p:cNvSpPr>
          <p:nvPr>
            <p:ph type="title"/>
          </p:nvPr>
        </p:nvSpPr>
        <p:spPr>
          <a:xfrm>
            <a:off x="212226" y="318005"/>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Executive Summary</a:t>
            </a:r>
            <a:endParaRPr sz="2400">
              <a:solidFill>
                <a:srgbClr val="0E39A9"/>
              </a:solidFill>
            </a:endParaRPr>
          </a:p>
        </p:txBody>
      </p:sp>
      <p:sp>
        <p:nvSpPr>
          <p:cNvPr id="2" name="TextBox 1">
            <a:extLst>
              <a:ext uri="{FF2B5EF4-FFF2-40B4-BE49-F238E27FC236}">
                <a16:creationId xmlns:a16="http://schemas.microsoft.com/office/drawing/2014/main" id="{57468486-4D36-11F9-CEAD-E60C6BF252A6}"/>
              </a:ext>
            </a:extLst>
          </p:cNvPr>
          <p:cNvSpPr txBox="1"/>
          <p:nvPr/>
        </p:nvSpPr>
        <p:spPr>
          <a:xfrm>
            <a:off x="285447" y="811101"/>
            <a:ext cx="8287657" cy="4940975"/>
          </a:xfrm>
          <a:prstGeom prst="roundRect">
            <a:avLst>
              <a:gd name="adj" fmla="val 2650"/>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200"/>
              <a:t>This project demonstrates a structured progression from basic LLM querying to a clinically grounded Medical Assistant,  powered by the Mistral-7B-Instruct-v0.2-GGUF model and The Merck Manual as the authoritative knowledge source.</a:t>
            </a:r>
          </a:p>
          <a:p>
            <a:endParaRPr lang="en-US" sz="1200"/>
          </a:p>
          <a:p>
            <a:r>
              <a:rPr lang="en-US" sz="1200"/>
              <a:t>Three architectures were evaluated:</a:t>
            </a:r>
          </a:p>
          <a:p>
            <a:endParaRPr lang="en-US" sz="1200"/>
          </a:p>
          <a:p>
            <a:r>
              <a:rPr lang="en-US" sz="1200"/>
              <a:t>  1. Simple LLM — responses lacked clinical precision and frequently introduced information beyond the source documents, a  critical risk in healthcare settings.</a:t>
            </a:r>
          </a:p>
          <a:p>
            <a:endParaRPr lang="en-US" sz="1200"/>
          </a:p>
          <a:p>
            <a:r>
              <a:rPr lang="en-US" sz="1200"/>
              <a:t>  2. LLM with Prompt Engineering — improved response structure and focus, but did not prevent the model from reasoning outside the verified corpus.</a:t>
            </a:r>
          </a:p>
          <a:p>
            <a:endParaRPr lang="en-US" sz="1200"/>
          </a:p>
          <a:p>
            <a:r>
              <a:rPr lang="en-US" sz="1200"/>
              <a:t>  3. RAG (Retrieval-Augmented Generation) — constrained answers to retrieved Merck Manual passages, achieving perfect scores</a:t>
            </a:r>
          </a:p>
          <a:p>
            <a:r>
              <a:rPr lang="en-US" sz="1200"/>
              <a:t>  (5/5 Groundedness, 5/5 Relevance) across all five clinical test queries covering sepsis, appendicitis, alopecia areata,</a:t>
            </a:r>
          </a:p>
          <a:p>
            <a:r>
              <a:rPr lang="en-US" sz="1200"/>
              <a:t>  traumatic brain injury, and leg fractures.</a:t>
            </a:r>
          </a:p>
          <a:p>
            <a:endParaRPr lang="en-US" sz="1200"/>
          </a:p>
          <a:p>
            <a:r>
              <a:rPr lang="en-US" sz="1200"/>
              <a:t>  Fine-tuning parameter analysis revealed that increasing temperature from 0.1 to 0.5 produces more creative and verbose responses, but also introduces content not traceable to the source documents — a safety concern in clinical decision support. Lower temperature settings are recommended for factual medical use cases.</a:t>
            </a:r>
          </a:p>
          <a:p>
            <a:endParaRPr lang="en-US" sz="1200"/>
          </a:p>
          <a:p>
            <a:r>
              <a:rPr lang="en-US" sz="1200"/>
              <a:t>  </a:t>
            </a:r>
            <a:r>
              <a:rPr lang="en-US" sz="1200" b="1"/>
              <a:t>Key Recommendation</a:t>
            </a:r>
            <a:r>
              <a:rPr lang="en-US" sz="1200"/>
              <a:t>: Deploy RAG with temperature ≤ 0.1 for clinical decision support scenarios where factual accuracy and  traceability are non-negotiable. Higher temperature settings may be acceptable for patient-facing educational content where readability is prioritized over strict sourcing. Any production deployment should add a human-in-the-loop review step, as groundedness relative to the knowledge base does not guarantee absolute clinical correctness.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1"/>
          <p:cNvSpPr txBox="1">
            <a:spLocks noGrp="1"/>
          </p:cNvSpPr>
          <p:nvPr>
            <p:ph type="title"/>
          </p:nvPr>
        </p:nvSpPr>
        <p:spPr>
          <a:xfrm>
            <a:off x="175312" y="906256"/>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Business Problem Overview and Solution Approach</a:t>
            </a:r>
            <a:endParaRPr sz="2400">
              <a:solidFill>
                <a:srgbClr val="0E39A9"/>
              </a:solidFill>
            </a:endParaRPr>
          </a:p>
        </p:txBody>
      </p:sp>
      <p:sp>
        <p:nvSpPr>
          <p:cNvPr id="3" name="TextBox 2">
            <a:extLst>
              <a:ext uri="{FF2B5EF4-FFF2-40B4-BE49-F238E27FC236}">
                <a16:creationId xmlns:a16="http://schemas.microsoft.com/office/drawing/2014/main" id="{C363678C-70BF-E74B-BD81-B21450F5C30D}"/>
              </a:ext>
            </a:extLst>
          </p:cNvPr>
          <p:cNvSpPr txBox="1"/>
          <p:nvPr/>
        </p:nvSpPr>
        <p:spPr>
          <a:xfrm>
            <a:off x="237355" y="1410134"/>
            <a:ext cx="8023374" cy="3831818"/>
          </a:xfrm>
          <a:prstGeom prst="rect">
            <a:avLst/>
          </a:prstGeom>
          <a:noFill/>
        </p:spPr>
        <p:txBody>
          <a:bodyPr wrap="square">
            <a:spAutoFit/>
          </a:bodyPr>
          <a:lstStyle/>
          <a:p>
            <a:r>
              <a:rPr lang="en-US" b="1">
                <a:solidFill>
                  <a:schemeClr val="accent6">
                    <a:lumMod val="50000"/>
                  </a:schemeClr>
                </a:solidFill>
              </a:rPr>
              <a:t>Overview</a:t>
            </a:r>
          </a:p>
          <a:p>
            <a:endParaRPr lang="en-US" b="1">
              <a:solidFill>
                <a:schemeClr val="accent6">
                  <a:lumMod val="50000"/>
                </a:schemeClr>
              </a:solidFill>
            </a:endParaRPr>
          </a:p>
          <a:p>
            <a:pPr marL="182880"/>
            <a:r>
              <a:rPr lang="en-US"/>
              <a:t>Healthcare professionals and users often need fast, reliable answers to common medical questions, but navigating lengthy medical manuals can be time-consuming and inefficient. Traditional keyword search methods may miss context, leading to incomplete or inaccurate results.</a:t>
            </a:r>
          </a:p>
          <a:p>
            <a:pPr marL="182880"/>
            <a:endParaRPr lang="en-US"/>
          </a:p>
          <a:p>
            <a:pPr marL="182880"/>
            <a:r>
              <a:rPr lang="en-US"/>
              <a:t>The objective of this project is to build an </a:t>
            </a:r>
            <a:r>
              <a:rPr lang="en-US" sz="1200" b="1"/>
              <a:t>AI-powered Medical Assistant</a:t>
            </a:r>
            <a:r>
              <a:rPr lang="en-US"/>
              <a:t> that retrieves trusted information from a medical diagnosis manual and provides clear, context-aware responses to targeted healthcare questions.</a:t>
            </a:r>
          </a:p>
          <a:p>
            <a:pPr marL="365760"/>
            <a:endParaRPr lang="en-US" b="1"/>
          </a:p>
          <a:p>
            <a:r>
              <a:rPr lang="en-US" b="1">
                <a:solidFill>
                  <a:schemeClr val="accent6">
                    <a:lumMod val="50000"/>
                  </a:schemeClr>
                </a:solidFill>
              </a:rPr>
              <a:t>Approach</a:t>
            </a:r>
          </a:p>
          <a:p>
            <a:pPr marL="365760">
              <a:spcBef>
                <a:spcPts val="600"/>
              </a:spcBef>
            </a:pPr>
            <a:r>
              <a:rPr lang="en-US" sz="1200"/>
              <a:t>We shifted from </a:t>
            </a:r>
            <a:r>
              <a:rPr lang="en-US" sz="1200" b="1"/>
              <a:t>Manual Document Search</a:t>
            </a:r>
            <a:r>
              <a:rPr lang="en-US" sz="1200"/>
              <a:t> to </a:t>
            </a:r>
            <a:r>
              <a:rPr lang="en-US" sz="1200" b="1"/>
              <a:t>Intelligent Retrieval-Augmented Question Answering</a:t>
            </a:r>
            <a:r>
              <a:rPr lang="en-US" sz="1200"/>
              <a:t> by:</a:t>
            </a:r>
          </a:p>
          <a:p>
            <a:pPr marL="365760" indent="-171450">
              <a:spcBef>
                <a:spcPts val="300"/>
              </a:spcBef>
              <a:buFont typeface="Arial" panose="020B0604020202020204" pitchFamily="34" charset="0"/>
              <a:buChar char="•"/>
            </a:pPr>
            <a:r>
              <a:rPr lang="en-US" sz="1200"/>
              <a:t>Converting the medical manual into searchable text embeddings. </a:t>
            </a:r>
          </a:p>
          <a:p>
            <a:pPr marL="365760" indent="-171450">
              <a:spcBef>
                <a:spcPts val="300"/>
              </a:spcBef>
              <a:buFont typeface="Arial" panose="020B0604020202020204" pitchFamily="34" charset="0"/>
              <a:buChar char="•"/>
            </a:pPr>
            <a:r>
              <a:rPr lang="en-US" sz="1200"/>
              <a:t>Identifying the most relevant content sections for each user query. </a:t>
            </a:r>
          </a:p>
          <a:p>
            <a:pPr marL="365760" indent="-171450">
              <a:spcBef>
                <a:spcPts val="300"/>
              </a:spcBef>
              <a:buFont typeface="Arial" panose="020B0604020202020204" pitchFamily="34" charset="0"/>
              <a:buChar char="•"/>
            </a:pPr>
            <a:r>
              <a:rPr lang="en-US" sz="1200"/>
              <a:t>Using a Large Language Model (LLM) to generate grounded answers based only on retrieved evidence. </a:t>
            </a:r>
          </a:p>
          <a:p>
            <a:pPr marL="365760" indent="-171450">
              <a:spcBef>
                <a:spcPts val="300"/>
              </a:spcBef>
              <a:buFont typeface="Arial" panose="020B0604020202020204" pitchFamily="34" charset="0"/>
              <a:buChar char="•"/>
            </a:pPr>
            <a:r>
              <a:rPr lang="en-US" sz="1200"/>
              <a:t>Improving response speed, relevance, and usability for medical information access.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239">
          <a:extLst>
            <a:ext uri="{FF2B5EF4-FFF2-40B4-BE49-F238E27FC236}">
              <a16:creationId xmlns:a16="http://schemas.microsoft.com/office/drawing/2014/main" id="{5A219F37-BD27-4146-BF12-8E14A89FB03E}"/>
            </a:ext>
          </a:extLst>
        </p:cNvPr>
        <p:cNvGrpSpPr/>
        <p:nvPr/>
      </p:nvGrpSpPr>
      <p:grpSpPr>
        <a:xfrm>
          <a:off x="0" y="0"/>
          <a:ext cx="0" cy="0"/>
          <a:chOff x="0" y="0"/>
          <a:chExt cx="0" cy="0"/>
        </a:xfrm>
      </p:grpSpPr>
      <p:sp>
        <p:nvSpPr>
          <p:cNvPr id="240" name="Google Shape;240;p51">
            <a:extLst>
              <a:ext uri="{FF2B5EF4-FFF2-40B4-BE49-F238E27FC236}">
                <a16:creationId xmlns:a16="http://schemas.microsoft.com/office/drawing/2014/main" id="{84D9BF59-E03D-94FA-6F83-E0E25F566B4D}"/>
              </a:ext>
            </a:extLst>
          </p:cNvPr>
          <p:cNvSpPr txBox="1">
            <a:spLocks noGrp="1"/>
          </p:cNvSpPr>
          <p:nvPr>
            <p:ph type="title"/>
          </p:nvPr>
        </p:nvSpPr>
        <p:spPr>
          <a:xfrm>
            <a:off x="175312" y="906256"/>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Business Problem Overview and Solution Approach</a:t>
            </a:r>
            <a:endParaRPr sz="2400">
              <a:solidFill>
                <a:srgbClr val="0E39A9"/>
              </a:solidFill>
            </a:endParaRPr>
          </a:p>
        </p:txBody>
      </p:sp>
      <p:sp>
        <p:nvSpPr>
          <p:cNvPr id="3" name="TextBox 2">
            <a:extLst>
              <a:ext uri="{FF2B5EF4-FFF2-40B4-BE49-F238E27FC236}">
                <a16:creationId xmlns:a16="http://schemas.microsoft.com/office/drawing/2014/main" id="{55604671-FEA9-8380-7EA0-644E137BA047}"/>
              </a:ext>
            </a:extLst>
          </p:cNvPr>
          <p:cNvSpPr txBox="1"/>
          <p:nvPr/>
        </p:nvSpPr>
        <p:spPr>
          <a:xfrm>
            <a:off x="175312" y="1604689"/>
            <a:ext cx="8023374" cy="3354765"/>
          </a:xfrm>
          <a:prstGeom prst="rect">
            <a:avLst/>
          </a:prstGeom>
          <a:noFill/>
        </p:spPr>
        <p:txBody>
          <a:bodyPr wrap="square">
            <a:spAutoFit/>
          </a:bodyPr>
          <a:lstStyle/>
          <a:p>
            <a:r>
              <a:rPr lang="en-US" b="1">
                <a:solidFill>
                  <a:schemeClr val="accent6">
                    <a:lumMod val="50000"/>
                  </a:schemeClr>
                </a:solidFill>
              </a:rPr>
              <a:t>Methodology</a:t>
            </a:r>
          </a:p>
          <a:p>
            <a:endParaRPr lang="en-US" b="1">
              <a:solidFill>
                <a:schemeClr val="accent6">
                  <a:lumMod val="50000"/>
                </a:schemeClr>
              </a:solidFill>
            </a:endParaRPr>
          </a:p>
          <a:p>
            <a:pPr marL="365760" lvl="8" indent="-171450">
              <a:buFont typeface="Arial" panose="020B0604020202020204" pitchFamily="34" charset="0"/>
              <a:buChar char="•"/>
            </a:pPr>
            <a:r>
              <a:rPr lang="en-US" sz="1200"/>
              <a:t>Applied </a:t>
            </a:r>
            <a:r>
              <a:rPr lang="en-US" sz="1200" b="1"/>
              <a:t>Document Preprocessing</a:t>
            </a:r>
            <a:r>
              <a:rPr lang="en-US" sz="1200"/>
              <a:t> to clean and structure the medical manual. </a:t>
            </a:r>
          </a:p>
          <a:p>
            <a:pPr marL="365760" lvl="8" indent="-171450">
              <a:buFont typeface="Arial" panose="020B0604020202020204" pitchFamily="34" charset="0"/>
              <a:buChar char="•"/>
            </a:pPr>
            <a:r>
              <a:rPr lang="en-US" sz="1200"/>
              <a:t>Applied </a:t>
            </a:r>
            <a:r>
              <a:rPr lang="en-US" sz="1200" b="1"/>
              <a:t>Text Chunking</a:t>
            </a:r>
            <a:r>
              <a:rPr lang="en-US" sz="1200"/>
              <a:t> with overlap to preserve context across sections. </a:t>
            </a:r>
          </a:p>
          <a:p>
            <a:pPr marL="365760" lvl="8" indent="-171450">
              <a:buFont typeface="Arial" panose="020B0604020202020204" pitchFamily="34" charset="0"/>
              <a:buChar char="•"/>
            </a:pPr>
            <a:r>
              <a:rPr lang="en-US" sz="1200"/>
              <a:t>Applied </a:t>
            </a:r>
            <a:r>
              <a:rPr lang="en-US" sz="1200" b="1"/>
              <a:t>Embedding Models</a:t>
            </a:r>
            <a:r>
              <a:rPr lang="en-US" sz="1200"/>
              <a:t> to transform text into semantic vectors. </a:t>
            </a:r>
          </a:p>
          <a:p>
            <a:pPr marL="365760" lvl="8" indent="-171450">
              <a:buFont typeface="Arial" panose="020B0604020202020204" pitchFamily="34" charset="0"/>
              <a:buChar char="•"/>
            </a:pPr>
            <a:r>
              <a:rPr lang="en-US" sz="1200"/>
              <a:t>Applied </a:t>
            </a:r>
            <a:r>
              <a:rPr lang="en-US" sz="1200" b="1"/>
              <a:t>Vector Search Retrieval</a:t>
            </a:r>
            <a:r>
              <a:rPr lang="en-US" sz="1200"/>
              <a:t> to find the most relevant chunks. </a:t>
            </a:r>
          </a:p>
          <a:p>
            <a:pPr marL="365760" lvl="8" indent="-171450">
              <a:buFont typeface="Arial" panose="020B0604020202020204" pitchFamily="34" charset="0"/>
              <a:buChar char="•"/>
            </a:pPr>
            <a:r>
              <a:rPr lang="en-US" sz="1200"/>
              <a:t>Applied </a:t>
            </a:r>
            <a:r>
              <a:rPr lang="en-US" sz="1200" b="1"/>
              <a:t>Prompt Engineering</a:t>
            </a:r>
            <a:r>
              <a:rPr lang="en-US" sz="1200"/>
              <a:t> to produce accurate, concise answers. </a:t>
            </a:r>
          </a:p>
          <a:p>
            <a:pPr marL="365760" lvl="8" indent="-171450">
              <a:buFont typeface="Arial" panose="020B0604020202020204" pitchFamily="34" charset="0"/>
              <a:buChar char="•"/>
            </a:pPr>
            <a:r>
              <a:rPr lang="en-US" sz="1200"/>
              <a:t>Evaluated responses against 5 predefined medical questions. </a:t>
            </a:r>
          </a:p>
          <a:p>
            <a:endParaRPr lang="en-US" sz="1200"/>
          </a:p>
          <a:p>
            <a:r>
              <a:rPr lang="en-US" b="1"/>
              <a:t>Techniques</a:t>
            </a:r>
          </a:p>
          <a:p>
            <a:endParaRPr lang="en-US" b="1"/>
          </a:p>
          <a:p>
            <a:pPr marL="365760" indent="-171450">
              <a:buFont typeface="Arial" panose="020B0604020202020204" pitchFamily="34" charset="0"/>
              <a:buChar char="•"/>
            </a:pPr>
            <a:r>
              <a:rPr lang="en-US" sz="1200"/>
              <a:t>Retrieval-Augmented Generation (RAG) </a:t>
            </a:r>
          </a:p>
          <a:p>
            <a:pPr marL="365760" indent="-171450">
              <a:buFont typeface="Arial" panose="020B0604020202020204" pitchFamily="34" charset="0"/>
              <a:buChar char="•"/>
            </a:pPr>
            <a:r>
              <a:rPr lang="en-US" sz="1200"/>
              <a:t>Natural Language Processing (NLP) </a:t>
            </a:r>
          </a:p>
          <a:p>
            <a:pPr marL="365760" indent="-171450">
              <a:buFont typeface="Arial" panose="020B0604020202020204" pitchFamily="34" charset="0"/>
              <a:buChar char="•"/>
            </a:pPr>
            <a:r>
              <a:rPr lang="en-US" sz="1200"/>
              <a:t>Sentence Embeddings (BAAI/bge-m3) </a:t>
            </a:r>
          </a:p>
          <a:p>
            <a:pPr marL="365760" indent="-171450">
              <a:buFont typeface="Arial" panose="020B0604020202020204" pitchFamily="34" charset="0"/>
              <a:buChar char="•"/>
            </a:pPr>
            <a:r>
              <a:rPr lang="en-US" sz="1200"/>
              <a:t>Vector Similarity Search (FAISS / ChromaDB) </a:t>
            </a:r>
          </a:p>
          <a:p>
            <a:pPr marL="365760" indent="-171450">
              <a:buFont typeface="Arial" panose="020B0604020202020204" pitchFamily="34" charset="0"/>
              <a:buChar char="•"/>
            </a:pPr>
            <a:r>
              <a:rPr lang="en-US" sz="1200"/>
              <a:t>Large Language Models (LLM) </a:t>
            </a:r>
          </a:p>
          <a:p>
            <a:pPr marL="365760" indent="-171450">
              <a:buFont typeface="Arial" panose="020B0604020202020204" pitchFamily="34" charset="0"/>
              <a:buChar char="•"/>
            </a:pPr>
            <a:r>
              <a:rPr lang="en-US" sz="1200"/>
              <a:t>Low-Code Notebook Deployment</a:t>
            </a:r>
            <a:endParaRPr lang="en-US"/>
          </a:p>
        </p:txBody>
      </p:sp>
    </p:spTree>
    <p:extLst>
      <p:ext uri="{BB962C8B-B14F-4D97-AF65-F5344CB8AC3E}">
        <p14:creationId xmlns:p14="http://schemas.microsoft.com/office/powerpoint/2010/main" val="828856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CC38B400-2DED-1E6C-7714-29D0BC94ABF4}"/>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CA4739C-7DD1-EBF9-DBB2-6E199C7FA659}"/>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LLM</a:t>
            </a:r>
            <a:endParaRPr sz="2400">
              <a:solidFill>
                <a:srgbClr val="0E39A9"/>
              </a:solidFill>
            </a:endParaRPr>
          </a:p>
        </p:txBody>
      </p:sp>
      <p:sp>
        <p:nvSpPr>
          <p:cNvPr id="252" name="Google Shape;252;p52">
            <a:extLst>
              <a:ext uri="{FF2B5EF4-FFF2-40B4-BE49-F238E27FC236}">
                <a16:creationId xmlns:a16="http://schemas.microsoft.com/office/drawing/2014/main" id="{2B45F971-EBF2-7108-8B87-B2342115A1F0}"/>
              </a:ext>
            </a:extLst>
          </p:cNvPr>
          <p:cNvSpPr txBox="1"/>
          <p:nvPr/>
        </p:nvSpPr>
        <p:spPr>
          <a:xfrm>
            <a:off x="396080" y="2702163"/>
            <a:ext cx="7701225" cy="2796748"/>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b="1">
                <a:solidFill>
                  <a:schemeClr val="accent6">
                    <a:lumMod val="50000"/>
                  </a:schemeClr>
                </a:solidFill>
                <a:latin typeface="Montserrat"/>
                <a:ea typeface="Montserrat"/>
                <a:cs typeface="Montserrat"/>
                <a:sym typeface="Montserrat"/>
              </a:rPr>
              <a:t>Questions/Answer</a:t>
            </a:r>
          </a:p>
          <a:p>
            <a:pPr marL="342900" indent="-342900">
              <a:buFont typeface="Arial" panose="020B0604020202020204" pitchFamily="34" charset="0"/>
              <a:buChar char="•"/>
            </a:pPr>
            <a:r>
              <a:rPr lang="en-US" b="1"/>
              <a:t>What is the protocol for managing sepsis in a critical care unit?</a:t>
            </a:r>
            <a:endParaRPr lang="en-US"/>
          </a:p>
          <a:p>
            <a:pPr fontAlgn="auto"/>
            <a:r>
              <a:rPr lang="en-US" sz="700">
                <a:solidFill>
                  <a:schemeClr val="accent6">
                    <a:lumMod val="50000"/>
                  </a:schemeClr>
                </a:solidFill>
              </a:rPr>
              <a:t>Sepsis is a life-threatening condition that can arise from an infection, and it requires prompt recognition and aggressive management in a critical care unit. The following are general steps for managing sepsis in a critical care unit:</a:t>
            </a:r>
          </a:p>
          <a:p>
            <a:pPr fontAlgn="auto"/>
            <a:endParaRPr lang="en-US" sz="700">
              <a:solidFill>
                <a:schemeClr val="accent6">
                  <a:lumMod val="50000"/>
                </a:schemeClr>
              </a:solidFill>
            </a:endParaRPr>
          </a:p>
          <a:p>
            <a:pPr fontAlgn="auto"/>
            <a:r>
              <a:rPr lang="en-US" sz="700">
                <a:solidFill>
                  <a:schemeClr val="accent6">
                    <a:lumMod val="50000"/>
                  </a:schemeClr>
                </a:solidFill>
              </a:rPr>
              <a:t>1. Early recognition and suspicion: Septic patients may present with non-specific symptoms such as fever, chills, tachycardia, tachypnea, altered mental status, or lactic acidosis. It is essential to have a high index of suspicion for sepsis in patients with suspected or confirmed infection.</a:t>
            </a:r>
          </a:p>
          <a:p>
            <a:pPr fontAlgn="auto"/>
            <a:r>
              <a:rPr lang="en-US" sz="700">
                <a:solidFill>
                  <a:schemeClr val="accent6">
                    <a:lumMod val="50000"/>
                  </a:schemeClr>
                </a:solidFill>
              </a:rPr>
              <a:t>2. Early goal-directed therapy (EGDT): EGDT is a protocolized approach to managing sepsis that aims to optimize hemodynamic parameters and improve organ perfusion. The components of EGDT include:</a:t>
            </a:r>
          </a:p>
          <a:p>
            <a:pPr fontAlgn="auto"/>
            <a:r>
              <a:rPr lang="en-US" sz="700">
                <a:solidFill>
                  <a:schemeClr val="accent6">
                    <a:lumMod val="50000"/>
                  </a:schemeClr>
                </a:solidFill>
              </a:rPr>
              <a:t>   - Maintaining mean arterial pressure (MAP) ≥65 mmHg</a:t>
            </a:r>
          </a:p>
          <a:p>
            <a:pPr fontAlgn="auto"/>
            <a:r>
              <a:rPr lang="en-US" sz="700">
                <a:solidFill>
                  <a:schemeClr val="accent6">
                    <a:lumMod val="50000"/>
                  </a:schemeClr>
                </a:solidFill>
              </a:rPr>
              <a:t>   - Central venous oxygen saturation (ScvO2) ≥70%</a:t>
            </a:r>
          </a:p>
          <a:p>
            <a:pPr fontAlgn="auto"/>
            <a:r>
              <a:rPr lang="en-US" sz="700">
                <a:solidFill>
                  <a:schemeClr val="accent6">
                    <a:lumMod val="50000"/>
                  </a:schemeClr>
                </a:solidFill>
              </a:rPr>
              <a:t>   - Urine output ≥0.5 mL/kg/h</a:t>
            </a:r>
          </a:p>
          <a:p>
            <a:pPr fontAlgn="auto"/>
            <a:r>
              <a:rPr lang="en-US" sz="700">
                <a:solidFill>
                  <a:schemeClr val="accent6">
                    <a:lumMod val="50000"/>
                  </a:schemeClr>
                </a:solidFill>
              </a:rPr>
              <a:t>3. Source control: Identify and address the source of infection as soon as possible. This may involve surgical intervention, drainage, or debridement.</a:t>
            </a:r>
          </a:p>
          <a:p>
            <a:pPr fontAlgn="auto"/>
            <a:r>
              <a:rPr lang="en-US" sz="700">
                <a:solidFill>
                  <a:schemeClr val="accent6">
                    <a:lumMod val="50000"/>
                  </a:schemeClr>
                </a:solidFill>
              </a:rPr>
              <a:t>4. Antimicrobial therapy: Administer broad-spectrum antimicrobials based on the suspected infectious organism(s) and local antibiogram data.</a:t>
            </a:r>
          </a:p>
          <a:p>
            <a:pPr fontAlgn="auto"/>
            <a:r>
              <a:rPr lang="en-US" sz="700">
                <a:solidFill>
                  <a:schemeClr val="accent6">
                    <a:lumMod val="50000"/>
                  </a:schemeClr>
                </a:solidFill>
              </a:rPr>
              <a:t>5. Fluid resuscitation: Aggressively replace fluids to maintain adequate tissue perfusion. Crystalloids, colloids, or blood products may be used depending on the patient's hemodynamic status.</a:t>
            </a:r>
          </a:p>
          <a:p>
            <a:pPr fontAlgn="auto"/>
            <a:r>
              <a:rPr lang="en-US" sz="700">
                <a:solidFill>
                  <a:schemeClr val="accent6">
                    <a:lumMod val="50000"/>
                  </a:schemeClr>
                </a:solidFill>
              </a:rPr>
              <a:t>6. Vasopressor support: If the patient requires vasopressors to maintain MAP ≥65 mmHg, consider adding a vasopressin infusion to optimize cardiac output and reduce the need for high doses of catecholamines.</a:t>
            </a:r>
          </a:p>
          <a:p>
            <a:pPr fontAlgn="auto"/>
            <a:r>
              <a:rPr lang="en-US" sz="700">
                <a:solidFill>
                  <a:schemeClr val="accent6">
                    <a:lumMod val="50000"/>
                  </a:schemeClr>
                </a:solidFill>
              </a:rPr>
              <a:t>7. Corticosteroids: Consider using corticosteroids in patients with septic shock who do not respond to initial fluid resuscitation and vasopressor therapy.</a:t>
            </a:r>
          </a:p>
          <a:p>
            <a:pPr fontAlgn="auto"/>
            <a:r>
              <a:rPr lang="en-US" sz="700">
                <a:solidFill>
                  <a:schemeClr val="accent6">
                    <a:lumMod val="50000"/>
                  </a:schemeClr>
                </a:solidFill>
              </a:rPr>
              <a:t>8. Inotropic support: If the patient has low cardiac output despite adequate fluid resuscitation, consider adding an inotrope or vasoactive agent to improve contractility and/or peripheral vascular tone.</a:t>
            </a:r>
          </a:p>
          <a:p>
            <a:pPr fontAlgn="auto"/>
            <a:r>
              <a:rPr lang="en-US" sz="700">
                <a:solidFill>
                  <a:schemeClr val="accent6">
                    <a:lumMod val="50000"/>
                  </a:schemeClr>
                </a:solidFill>
              </a:rPr>
              <a:t>9. Renal</a:t>
            </a:r>
          </a:p>
        </p:txBody>
      </p:sp>
      <p:sp>
        <p:nvSpPr>
          <p:cNvPr id="256" name="Google Shape;256;p52">
            <a:extLst>
              <a:ext uri="{FF2B5EF4-FFF2-40B4-BE49-F238E27FC236}">
                <a16:creationId xmlns:a16="http://schemas.microsoft.com/office/drawing/2014/main" id="{F17ABF61-3BF7-B560-688D-D9CFFA657745}"/>
              </a:ext>
            </a:extLst>
          </p:cNvPr>
          <p:cNvSpPr txBox="1"/>
          <p:nvPr/>
        </p:nvSpPr>
        <p:spPr>
          <a:xfrm>
            <a:off x="396079" y="1415988"/>
            <a:ext cx="6033000" cy="1345970"/>
          </a:xfrm>
          <a:prstGeom prst="roundRect">
            <a:avLst>
              <a:gd name="adj" fmla="val 5663"/>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Model Name </a:t>
            </a:r>
            <a:r>
              <a:rPr lang="en">
                <a:latin typeface="Montserrat"/>
                <a:ea typeface="Montserrat"/>
                <a:cs typeface="Montserrat"/>
                <a:sym typeface="Montserrat"/>
              </a:rPr>
              <a:t>: </a:t>
            </a:r>
          </a:p>
          <a:p>
            <a:pPr marL="182880">
              <a:buSzPts val="1400"/>
            </a:pPr>
            <a:r>
              <a:rPr lang="en-US">
                <a:solidFill>
                  <a:schemeClr val="accent6">
                    <a:lumMod val="50000"/>
                  </a:schemeClr>
                </a:solidFill>
              </a:rPr>
              <a:t>Mistral-7B-Instruct-v0.2-GGUF</a:t>
            </a:r>
          </a:p>
          <a:p>
            <a:pPr marL="182880" lvl="5">
              <a:buSzPts val="1400"/>
            </a:pPr>
            <a:r>
              <a:rPr lang="en-US" sz="900" b="1">
                <a:solidFill>
                  <a:schemeClr val="accent6">
                    <a:lumMod val="50000"/>
                  </a:schemeClr>
                </a:solidFill>
                <a:latin typeface="Montserrat"/>
                <a:ea typeface="Montserrat"/>
                <a:cs typeface="Montserrat"/>
                <a:sym typeface="Montserrat"/>
              </a:rPr>
              <a:t>Model Name: </a:t>
            </a:r>
            <a:r>
              <a:rPr lang="en-US" sz="900">
                <a:latin typeface="Montserrat"/>
                <a:ea typeface="Montserrat"/>
                <a:cs typeface="Montserrat"/>
                <a:sym typeface="Montserrat"/>
              </a:rPr>
              <a:t>Mistral 7B Instruct</a:t>
            </a:r>
          </a:p>
          <a:p>
            <a:pPr marL="182880" lvl="5">
              <a:buSzPts val="1400"/>
            </a:pPr>
            <a:r>
              <a:rPr lang="en-US" sz="900" b="1">
                <a:solidFill>
                  <a:schemeClr val="accent6">
                    <a:lumMod val="50000"/>
                  </a:schemeClr>
                </a:solidFill>
                <a:latin typeface="Montserrat"/>
                <a:ea typeface="Montserrat"/>
                <a:cs typeface="Montserrat"/>
                <a:sym typeface="Montserrat"/>
              </a:rPr>
              <a:t>Version: </a:t>
            </a:r>
            <a:r>
              <a:rPr lang="en-US" sz="900">
                <a:latin typeface="Montserrat"/>
                <a:ea typeface="Montserrat"/>
                <a:cs typeface="Montserrat"/>
                <a:sym typeface="Montserrat"/>
              </a:rPr>
              <a:t>v0.2</a:t>
            </a:r>
          </a:p>
          <a:p>
            <a:pPr marL="182880" lvl="5">
              <a:buSzPts val="1400"/>
            </a:pPr>
            <a:r>
              <a:rPr lang="en-US" sz="900" b="1">
                <a:solidFill>
                  <a:schemeClr val="accent6">
                    <a:lumMod val="50000"/>
                  </a:schemeClr>
                </a:solidFill>
                <a:latin typeface="Montserrat"/>
                <a:ea typeface="Montserrat"/>
                <a:cs typeface="Montserrat"/>
                <a:sym typeface="Montserrat"/>
              </a:rPr>
              <a:t>Creator: </a:t>
            </a:r>
            <a:r>
              <a:rPr lang="en-US" sz="900">
                <a:latin typeface="Montserrat"/>
                <a:ea typeface="Montserrat"/>
                <a:cs typeface="Montserrat"/>
                <a:sym typeface="Montserrat"/>
              </a:rPr>
              <a:t>Mistral AI</a:t>
            </a:r>
          </a:p>
          <a:p>
            <a:pPr marL="182880" lvl="5">
              <a:buSzPts val="1400"/>
            </a:pPr>
            <a:r>
              <a:rPr lang="en-US" sz="900" b="1">
                <a:solidFill>
                  <a:schemeClr val="accent6">
                    <a:lumMod val="50000"/>
                  </a:schemeClr>
                </a:solidFill>
                <a:latin typeface="Montserrat"/>
                <a:ea typeface="Montserrat"/>
                <a:cs typeface="Montserrat"/>
                <a:sym typeface="Montserrat"/>
              </a:rPr>
              <a:t>7B: </a:t>
            </a:r>
            <a:r>
              <a:rPr lang="en-US" sz="900">
                <a:latin typeface="Montserrat"/>
                <a:ea typeface="Montserrat"/>
                <a:cs typeface="Montserrat"/>
                <a:sym typeface="Montserrat"/>
              </a:rPr>
              <a:t>7 Billion Parameters</a:t>
            </a:r>
          </a:p>
          <a:p>
            <a:pPr marL="182880" lvl="5">
              <a:buSzPts val="1400"/>
            </a:pPr>
            <a:r>
              <a:rPr lang="en-US" sz="900" b="1">
                <a:latin typeface="Montserrat"/>
                <a:ea typeface="Montserrat"/>
                <a:cs typeface="Montserrat"/>
                <a:sym typeface="Montserrat"/>
              </a:rPr>
              <a:t>GGUF: </a:t>
            </a:r>
            <a:r>
              <a:rPr lang="en-US" sz="900">
                <a:latin typeface="Montserrat"/>
                <a:ea typeface="Montserrat"/>
                <a:cs typeface="Montserrat"/>
                <a:sym typeface="Montserrat"/>
              </a:rPr>
              <a:t>Format</a:t>
            </a:r>
            <a:endParaRPr sz="1800">
              <a:latin typeface="Montserrat"/>
              <a:ea typeface="Montserrat"/>
              <a:cs typeface="Montserrat"/>
              <a:sym typeface="Montserrat"/>
            </a:endParaRPr>
          </a:p>
        </p:txBody>
      </p:sp>
    </p:spTree>
    <p:extLst>
      <p:ext uri="{BB962C8B-B14F-4D97-AF65-F5344CB8AC3E}">
        <p14:creationId xmlns:p14="http://schemas.microsoft.com/office/powerpoint/2010/main" val="975695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DF4E8362-7BC2-20A1-C403-657BF1B31DE2}"/>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58A615DB-BD4C-5750-3354-7F8E66584D8B}"/>
              </a:ext>
            </a:extLst>
          </p:cNvPr>
          <p:cNvSpPr txBox="1">
            <a:spLocks noGrp="1"/>
          </p:cNvSpPr>
          <p:nvPr>
            <p:ph type="title"/>
          </p:nvPr>
        </p:nvSpPr>
        <p:spPr>
          <a:xfrm>
            <a:off x="202550" y="356710"/>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LLM</a:t>
            </a:r>
            <a:endParaRPr sz="2400">
              <a:solidFill>
                <a:srgbClr val="0E39A9"/>
              </a:solidFill>
            </a:endParaRPr>
          </a:p>
        </p:txBody>
      </p:sp>
      <p:sp>
        <p:nvSpPr>
          <p:cNvPr id="252" name="Google Shape;252;p52">
            <a:extLst>
              <a:ext uri="{FF2B5EF4-FFF2-40B4-BE49-F238E27FC236}">
                <a16:creationId xmlns:a16="http://schemas.microsoft.com/office/drawing/2014/main" id="{FDA3634F-25B0-9F2B-18D2-72A9396CCE0C}"/>
              </a:ext>
            </a:extLst>
          </p:cNvPr>
          <p:cNvSpPr txBox="1"/>
          <p:nvPr/>
        </p:nvSpPr>
        <p:spPr>
          <a:xfrm>
            <a:off x="264421" y="1555554"/>
            <a:ext cx="8588387" cy="3954899"/>
          </a:xfrm>
          <a:prstGeom prst="roundRect">
            <a:avLst>
              <a:gd name="adj" fmla="val 730"/>
            </a:avLst>
          </a:prstGeom>
          <a:noFill/>
          <a:ln>
            <a:solidFill>
              <a:schemeClr val="accent1">
                <a:lumMod val="60000"/>
                <a:lumOff val="40000"/>
              </a:schemeClr>
            </a:solidFill>
          </a:ln>
        </p:spPr>
        <p:txBody>
          <a:bodyPr spcFirstLastPara="1" wrap="square" lIns="91425" tIns="91425" rIns="91425" bIns="91425" anchor="t" anchorCtr="0">
            <a:spAutoFit/>
          </a:bodyPr>
          <a:lstStyle/>
          <a:p>
            <a:pPr fontAlgn="auto"/>
            <a:r>
              <a:rPr lang="en-US" sz="900">
                <a:solidFill>
                  <a:schemeClr val="accent6">
                    <a:lumMod val="50000"/>
                  </a:schemeClr>
                </a:solidFill>
              </a:rPr>
              <a:t>Appendicitis is a medical condition characterized by inflammation of the appendix, a small tube-shaped organ located in the lower right side of the abdomen. The symptoms of appendicitis can vary from person to person, but some common signs include:</a:t>
            </a:r>
          </a:p>
          <a:p>
            <a:pPr fontAlgn="auto"/>
            <a:endParaRPr lang="en-US" sz="900">
              <a:solidFill>
                <a:schemeClr val="accent6">
                  <a:lumMod val="50000"/>
                </a:schemeClr>
              </a:solidFill>
            </a:endParaRPr>
          </a:p>
          <a:p>
            <a:pPr fontAlgn="auto"/>
            <a:r>
              <a:rPr lang="en-US" sz="900">
                <a:solidFill>
                  <a:schemeClr val="accent6">
                    <a:lumMod val="50000"/>
                  </a:schemeClr>
                </a:solidFill>
              </a:rPr>
              <a:t>1. Abdominal pain: The pain typically starts as a mild discomfort around the navel or in the lower right abdomen and may progress to a sharp, localized pain in the right lower quadrant of the abdomen.</a:t>
            </a:r>
          </a:p>
          <a:p>
            <a:pPr fontAlgn="auto"/>
            <a:r>
              <a:rPr lang="en-US" sz="900">
                <a:solidFill>
                  <a:schemeClr val="accent6">
                    <a:lumMod val="50000"/>
                  </a:schemeClr>
                </a:solidFill>
              </a:rPr>
              <a:t>2. Loss of appetite: People with appendicitis often lose their appetite due to abdominal pain and discomfort.</a:t>
            </a:r>
          </a:p>
          <a:p>
            <a:pPr fontAlgn="auto"/>
            <a:r>
              <a:rPr lang="en-US" sz="900">
                <a:solidFill>
                  <a:schemeClr val="accent6">
                    <a:lumMod val="50000"/>
                  </a:schemeClr>
                </a:solidFill>
              </a:rPr>
              <a:t>3. Nausea and vomiting: Vomiting is a common symptom of appendicitis, especially as the condition progresses.</a:t>
            </a:r>
          </a:p>
          <a:p>
            <a:pPr fontAlgn="auto"/>
            <a:r>
              <a:rPr lang="en-US" sz="900">
                <a:solidFill>
                  <a:schemeClr val="accent6">
                    <a:lumMod val="50000"/>
                  </a:schemeClr>
                </a:solidFill>
              </a:rPr>
              <a:t>4. Fever: A fever may be present in some cases of appendicitis.</a:t>
            </a:r>
          </a:p>
          <a:p>
            <a:pPr fontAlgn="auto"/>
            <a:r>
              <a:rPr lang="en-US" sz="900">
                <a:solidFill>
                  <a:schemeClr val="accent6">
                    <a:lumMod val="50000"/>
                  </a:schemeClr>
                </a:solidFill>
              </a:rPr>
              <a:t>5. Constipation or diarrhea: Both constipation and diarrhea can occur with appendicitis.</a:t>
            </a:r>
          </a:p>
          <a:p>
            <a:pPr fontAlgn="auto"/>
            <a:r>
              <a:rPr lang="en-US" sz="900">
                <a:solidFill>
                  <a:schemeClr val="accent6">
                    <a:lumMod val="50000"/>
                  </a:schemeClr>
                </a:solidFill>
              </a:rPr>
              <a:t>6. Rebound tenderness: When pressure is applied to the abdomen, there may be pain or tenderness that disappears when the pressure is released (rebound tenderness).</a:t>
            </a:r>
          </a:p>
          <a:p>
            <a:pPr fontAlgn="auto"/>
            <a:r>
              <a:rPr lang="en-US" sz="900">
                <a:solidFill>
                  <a:schemeClr val="accent6">
                    <a:lumMod val="50000"/>
                  </a:schemeClr>
                </a:solidFill>
              </a:rPr>
              <a:t>7. Guarding: People with appendicitis may involuntarily contract their abdominal muscles to protect the area from further discomfort.</a:t>
            </a:r>
          </a:p>
          <a:p>
            <a:pPr fontAlgn="auto"/>
            <a:r>
              <a:rPr lang="en-US" sz="900">
                <a:solidFill>
                  <a:schemeClr val="accent6">
                    <a:lumMod val="50000"/>
                  </a:schemeClr>
                </a:solidFill>
              </a:rPr>
              <a:t>8. Rigidity: The abdominal muscles may become rigid and difficult to move, especially in the lower right quadrant of the abdomen.</a:t>
            </a:r>
          </a:p>
          <a:p>
            <a:pPr fontAlgn="auto"/>
            <a:endParaRPr lang="en-US" sz="900">
              <a:solidFill>
                <a:schemeClr val="accent6">
                  <a:lumMod val="50000"/>
                </a:schemeClr>
              </a:solidFill>
            </a:endParaRPr>
          </a:p>
          <a:p>
            <a:pPr fontAlgn="auto"/>
            <a:r>
              <a:rPr lang="en-US" sz="900">
                <a:solidFill>
                  <a:schemeClr val="accent6">
                    <a:lumMod val="50000"/>
                  </a:schemeClr>
                </a:solidFill>
              </a:rPr>
              <a:t>Appendicitis cannot be cured with medicine alone. Antibiotics may be used to treat any accompanying bacterial infection, but they do not address the underlying inflammation or appendix itself. Surgery is the only effective treatment for appendicitis. The most common surgical procedure for treating appendicitis is an appendectomy, which involves removing the appendix through a small incision in the abdomen. This procedure can be performed laparoscopically (using small incisions and a camera) or open (with a larger incision).</a:t>
            </a:r>
          </a:p>
          <a:p>
            <a:pPr fontAlgn="auto"/>
            <a:endParaRPr lang="en-US" sz="900">
              <a:solidFill>
                <a:schemeClr val="accent6">
                  <a:lumMod val="50000"/>
                </a:schemeClr>
              </a:solidFill>
            </a:endParaRPr>
          </a:p>
          <a:p>
            <a:pPr fontAlgn="auto"/>
            <a:r>
              <a:rPr lang="en-US" sz="900">
                <a:solidFill>
                  <a:schemeClr val="accent6">
                    <a:lumMod val="50000"/>
                  </a:schemeClr>
                </a:solidFill>
              </a:rPr>
              <a:t>It's essential to seek medical attention promptly if you suspect appendicitis, as delaying treatment can lead to complications such as rupture of the appendix, peritonitis (inflammation of the abdominal cavity), and sepsis (a potentially life-threatening infection).</a:t>
            </a:r>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a:p>
            <a:pPr fontAlgn="auto"/>
            <a:endParaRPr lang="en-US"/>
          </a:p>
        </p:txBody>
      </p:sp>
      <p:sp>
        <p:nvSpPr>
          <p:cNvPr id="2" name="Google Shape;252;p52">
            <a:extLst>
              <a:ext uri="{FF2B5EF4-FFF2-40B4-BE49-F238E27FC236}">
                <a16:creationId xmlns:a16="http://schemas.microsoft.com/office/drawing/2014/main" id="{B67C5356-18A0-4A28-6647-7C313E398A63}"/>
              </a:ext>
            </a:extLst>
          </p:cNvPr>
          <p:cNvSpPr txBox="1"/>
          <p:nvPr/>
        </p:nvSpPr>
        <p:spPr>
          <a:xfrm>
            <a:off x="264422" y="807126"/>
            <a:ext cx="8588387" cy="675857"/>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sz="105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50"/>
              <a:t>What are the common symptoms of appendicitis, and can it be cured via medicine? If not, what surgical procedure should be followed to treat it?</a:t>
            </a:r>
          </a:p>
        </p:txBody>
      </p:sp>
    </p:spTree>
    <p:extLst>
      <p:ext uri="{BB962C8B-B14F-4D97-AF65-F5344CB8AC3E}">
        <p14:creationId xmlns:p14="http://schemas.microsoft.com/office/powerpoint/2010/main" val="3064306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41D9686F-F85D-B011-D4F4-9DADA0CBA6DF}"/>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CE02CEA7-5165-821F-D585-97D64C13907E}"/>
              </a:ext>
            </a:extLst>
          </p:cNvPr>
          <p:cNvSpPr txBox="1">
            <a:spLocks noGrp="1"/>
          </p:cNvSpPr>
          <p:nvPr>
            <p:ph type="title"/>
          </p:nvPr>
        </p:nvSpPr>
        <p:spPr>
          <a:xfrm>
            <a:off x="188036" y="37539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LLM</a:t>
            </a:r>
            <a:endParaRPr sz="2400">
              <a:solidFill>
                <a:srgbClr val="0E39A9"/>
              </a:solidFill>
            </a:endParaRPr>
          </a:p>
        </p:txBody>
      </p:sp>
      <p:sp>
        <p:nvSpPr>
          <p:cNvPr id="252" name="Google Shape;252;p52">
            <a:extLst>
              <a:ext uri="{FF2B5EF4-FFF2-40B4-BE49-F238E27FC236}">
                <a16:creationId xmlns:a16="http://schemas.microsoft.com/office/drawing/2014/main" id="{804250DE-4948-36AF-1DBC-1329728B8339}"/>
              </a:ext>
            </a:extLst>
          </p:cNvPr>
          <p:cNvSpPr txBox="1"/>
          <p:nvPr/>
        </p:nvSpPr>
        <p:spPr>
          <a:xfrm>
            <a:off x="264422" y="1635772"/>
            <a:ext cx="8588387" cy="2983199"/>
          </a:xfrm>
          <a:prstGeom prst="roundRect">
            <a:avLst>
              <a:gd name="adj" fmla="val 715"/>
            </a:avLst>
          </a:prstGeom>
          <a:noFill/>
          <a:ln>
            <a:solidFill>
              <a:schemeClr val="accent1">
                <a:lumMod val="60000"/>
                <a:lumOff val="40000"/>
              </a:schemeClr>
            </a:solidFill>
          </a:ln>
        </p:spPr>
        <p:txBody>
          <a:bodyPr spcFirstLastPara="1" wrap="square" lIns="91425" tIns="91425" rIns="91425" bIns="91425" anchor="t" anchorCtr="0">
            <a:spAutoFit/>
          </a:bodyPr>
          <a:lstStyle/>
          <a:p>
            <a:r>
              <a:rPr lang="en-US" sz="900">
                <a:solidFill>
                  <a:schemeClr val="accent6">
                    <a:lumMod val="50000"/>
                  </a:schemeClr>
                </a:solidFill>
              </a:rPr>
              <a:t>Sudden patchy hair loss, also known as alopecia areata, is a common autoimmune disorder that affects the hair follicles. It can result in round or oval bald patches on the scalp, but it can also occur on other parts of the body such as the beard area, eyebrows, and eyelashes.</a:t>
            </a:r>
          </a:p>
          <a:p>
            <a:endParaRPr lang="en-US" sz="900">
              <a:solidFill>
                <a:schemeClr val="accent6">
                  <a:lumMod val="50000"/>
                </a:schemeClr>
              </a:solidFill>
            </a:endParaRPr>
          </a:p>
          <a:p>
            <a:r>
              <a:rPr lang="en-US" sz="900">
                <a:solidFill>
                  <a:schemeClr val="accent6">
                    <a:lumMod val="50000"/>
                  </a:schemeClr>
                </a:solidFill>
              </a:rPr>
              <a:t>The exact cause of alopecia areata is not known, but it's believed to be related to a problem with the immune system. Some possible triggers for this condition include stress, genetics, viral infections, and certain medications.</a:t>
            </a:r>
          </a:p>
          <a:p>
            <a:endParaRPr lang="en-US" sz="900">
              <a:solidFill>
                <a:schemeClr val="accent6">
                  <a:lumMod val="50000"/>
                </a:schemeClr>
              </a:solidFill>
            </a:endParaRPr>
          </a:p>
          <a:p>
            <a:r>
              <a:rPr lang="en-US" sz="900">
                <a:solidFill>
                  <a:schemeClr val="accent6">
                    <a:lumMod val="50000"/>
                  </a:schemeClr>
                </a:solidFill>
              </a:rPr>
              <a:t>There are several treatments that have been shown to be effective in managing alopecia areata:</a:t>
            </a:r>
          </a:p>
          <a:p>
            <a:endParaRPr lang="en-US" sz="900">
              <a:solidFill>
                <a:schemeClr val="accent6">
                  <a:lumMod val="50000"/>
                </a:schemeClr>
              </a:solidFill>
            </a:endParaRPr>
          </a:p>
          <a:p>
            <a:r>
              <a:rPr lang="en-US" sz="900">
                <a:solidFill>
                  <a:schemeClr val="accent6">
                    <a:lumMod val="50000"/>
                  </a:schemeClr>
                </a:solidFill>
              </a:rPr>
              <a:t>1. Corticosteroids: These are anti-inflammatory drugs that can help reduce inflammation and suppress the immune system's attack on the hair follicles. They can be applied topically or taken orally, depending on the severity of the condition.</a:t>
            </a:r>
          </a:p>
          <a:p>
            <a:r>
              <a:rPr lang="en-US" sz="900">
                <a:solidFill>
                  <a:schemeClr val="accent6">
                    <a:lumMod val="50000"/>
                  </a:schemeClr>
                </a:solidFill>
              </a:rPr>
              <a:t>2. Minoxidil: This is a medication that has been shown to promote hair growth in some people with alopecia areata. It works by increasing blood flow to the affected area and stimulating hair follicles to produce new hairs.</a:t>
            </a:r>
          </a:p>
          <a:p>
            <a:r>
              <a:rPr lang="en-US" sz="900">
                <a:solidFill>
                  <a:schemeClr val="accent6">
                    <a:lumMod val="50000"/>
                  </a:schemeClr>
                </a:solidFill>
              </a:rPr>
              <a:t>3. DHT blockers: Dihydrotestosterone (DHT) is a hormone that can contribute to hair loss. Some people with alopecia areata have high levels of DHT in their scalp. Finasteride and dutasteride are medications that can block the production of DHT, which may help promote hair growth.</a:t>
            </a:r>
          </a:p>
          <a:p>
            <a:r>
              <a:rPr lang="en-US" sz="900">
                <a:solidFill>
                  <a:schemeClr val="accent6">
                    <a:lumMod val="50000"/>
                  </a:schemeClr>
                </a:solidFill>
              </a:rPr>
              <a:t>4. Immunotherapy: This involves using substances that stimulate an immune response to help the body fight off the attack on the hair follicles. One such substance is anthralin, which can be applied topically. Another option is JAK inhibitors, which are oral medications that have shown promise in clinical trials for treating alopecia areata.</a:t>
            </a:r>
          </a:p>
          <a:p>
            <a:r>
              <a:rPr lang="en-US" sz="900">
                <a:solidFill>
                  <a:schemeClr val="accent6">
                    <a:lumMod val="50000"/>
                  </a:schemeClr>
                </a:solidFill>
              </a:rPr>
              <a:t>5. Hair transplantation: In some cases, hair transplantation may be an option for people with extensive hair loss due to alopecia areata. This involves taking healthy hairs from another part of the scalp or body and implanting them into the bald areas.</a:t>
            </a:r>
          </a:p>
          <a:p>
            <a:r>
              <a:rPr lang="en-US" sz="900">
                <a:solidFill>
                  <a:schemeClr val="accent6">
                    <a:lumMod val="50000"/>
                  </a:schemeClr>
                </a:solidFill>
              </a:rPr>
              <a:t>6. Lifestyle modifications: Certain lifestyle factors can contribute to hair loss, such as stress, poor nutrition, and lack</a:t>
            </a:r>
          </a:p>
        </p:txBody>
      </p:sp>
      <p:sp>
        <p:nvSpPr>
          <p:cNvPr id="4" name="Google Shape;252;p52">
            <a:extLst>
              <a:ext uri="{FF2B5EF4-FFF2-40B4-BE49-F238E27FC236}">
                <a16:creationId xmlns:a16="http://schemas.microsoft.com/office/drawing/2014/main" id="{0D4A5DAB-DBE4-1954-F131-E4D884966BFD}"/>
              </a:ext>
            </a:extLst>
          </p:cNvPr>
          <p:cNvSpPr txBox="1"/>
          <p:nvPr/>
        </p:nvSpPr>
        <p:spPr>
          <a:xfrm>
            <a:off x="264422" y="807126"/>
            <a:ext cx="8588387" cy="757430"/>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sz="105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50"/>
              <a:t>What are the effective treatments or solutions for addressing sudden patchy hair loss, commonly seen as localized bald spots on the scalp, and what could be the possible causes behind it?</a:t>
            </a:r>
          </a:p>
        </p:txBody>
      </p:sp>
    </p:spTree>
    <p:extLst>
      <p:ext uri="{BB962C8B-B14F-4D97-AF65-F5344CB8AC3E}">
        <p14:creationId xmlns:p14="http://schemas.microsoft.com/office/powerpoint/2010/main" val="1703794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F660A292-3BC1-8940-B737-3E92153474DD}"/>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A65F9C4E-8594-167F-0A32-60EE0BF4C701}"/>
              </a:ext>
            </a:extLst>
          </p:cNvPr>
          <p:cNvSpPr txBox="1">
            <a:spLocks noGrp="1"/>
          </p:cNvSpPr>
          <p:nvPr>
            <p:ph type="title"/>
          </p:nvPr>
        </p:nvSpPr>
        <p:spPr>
          <a:xfrm>
            <a:off x="202550" y="279301"/>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LLM</a:t>
            </a:r>
            <a:endParaRPr sz="2400">
              <a:solidFill>
                <a:srgbClr val="0E39A9"/>
              </a:solidFill>
            </a:endParaRPr>
          </a:p>
        </p:txBody>
      </p:sp>
      <p:sp>
        <p:nvSpPr>
          <p:cNvPr id="252" name="Google Shape;252;p52">
            <a:extLst>
              <a:ext uri="{FF2B5EF4-FFF2-40B4-BE49-F238E27FC236}">
                <a16:creationId xmlns:a16="http://schemas.microsoft.com/office/drawing/2014/main" id="{2AC11942-178E-B07E-D12A-3783CBDD80EA}"/>
              </a:ext>
            </a:extLst>
          </p:cNvPr>
          <p:cNvSpPr txBox="1"/>
          <p:nvPr/>
        </p:nvSpPr>
        <p:spPr>
          <a:xfrm>
            <a:off x="264422" y="1623001"/>
            <a:ext cx="8588387" cy="3647122"/>
          </a:xfrm>
          <a:prstGeom prst="roundRect">
            <a:avLst>
              <a:gd name="adj" fmla="val 1046"/>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US" sz="800">
                <a:solidFill>
                  <a:schemeClr val="accent6">
                    <a:lumMod val="50000"/>
                  </a:schemeClr>
                </a:solidFill>
              </a:rPr>
              <a:t>A person who has sustained a physical injury to brain tissue, resulting in temporary or permanent impairment of brain function, is typically diagnosed with a traumatic brain injury (TBI). The treatment for TBI depends on the severity and location of the injury. Here are some common treatments recommended for individuals with TBI:</a:t>
            </a:r>
          </a:p>
          <a:p>
            <a:pPr lvl="0">
              <a:lnSpc>
                <a:spcPct val="150000"/>
              </a:lnSpc>
              <a:buSzPts val="1400"/>
            </a:pPr>
            <a:endParaRPr lang="en-US" sz="800">
              <a:solidFill>
                <a:schemeClr val="accent6">
                  <a:lumMod val="50000"/>
                </a:schemeClr>
              </a:solidFill>
            </a:endParaRPr>
          </a:p>
          <a:p>
            <a:pPr lvl="0">
              <a:lnSpc>
                <a:spcPct val="150000"/>
              </a:lnSpc>
              <a:buSzPts val="1400"/>
            </a:pPr>
            <a:r>
              <a:rPr lang="en-US" sz="800">
                <a:solidFill>
                  <a:schemeClr val="accent6">
                    <a:lumMod val="50000"/>
                  </a:schemeClr>
                </a:solidFill>
              </a:rPr>
              <a:t>1. Emergency care: In case of a severe TBI, the first priority is to provide emergency care to ensure the person's airway is clear, breathing is stable, and circulation is adequate. This may involve intubation, administering oxygen, and controlling bleeding.</a:t>
            </a:r>
          </a:p>
          <a:p>
            <a:pPr lvl="0">
              <a:lnSpc>
                <a:spcPct val="150000"/>
              </a:lnSpc>
              <a:buSzPts val="1400"/>
            </a:pPr>
            <a:r>
              <a:rPr lang="en-US" sz="800">
                <a:solidFill>
                  <a:schemeClr val="accent6">
                    <a:lumMod val="50000"/>
                  </a:schemeClr>
                </a:solidFill>
              </a:rPr>
              <a:t>2. Medications: Depending on the symptoms, healthcare professionals may prescribe medications to manage conditions such as seizures, pain, or swelling in the brain. For instance, anti-inflammatory drugs like corticosteroids may be given to reduce inflammation and prevent further damage.</a:t>
            </a:r>
          </a:p>
          <a:p>
            <a:pPr lvl="0">
              <a:lnSpc>
                <a:spcPct val="150000"/>
              </a:lnSpc>
              <a:buSzPts val="1400"/>
            </a:pPr>
            <a:r>
              <a:rPr lang="en-US" sz="800">
                <a:solidFill>
                  <a:schemeClr val="accent6">
                    <a:lumMod val="50000"/>
                  </a:schemeClr>
                </a:solidFill>
              </a:rPr>
              <a:t>3. Surgery: In some cases, surgery may be necessary to remove blood clots or repair skull fractures that could be putting pressure on the brain. Craniotomy, a surgical procedure to remove a portion of the skull, may also be performed to relieve swelling or allow for the brain to expand.</a:t>
            </a:r>
          </a:p>
          <a:p>
            <a:pPr lvl="0">
              <a:lnSpc>
                <a:spcPct val="150000"/>
              </a:lnSpc>
              <a:buSzPts val="1400"/>
            </a:pPr>
            <a:r>
              <a:rPr lang="en-US" sz="800">
                <a:solidFill>
                  <a:schemeClr val="accent6">
                    <a:lumMod val="50000"/>
                  </a:schemeClr>
                </a:solidFill>
              </a:rPr>
              <a:t>4. Rehabilitation: Rehabilitation is an essential part of the treatment process for individuals with TBI. This can include physical therapy to help regain mobility and strength, occupational therapy to learn new skills or adapt to limitations, speech-language therapy to improve communication abilities, and cognitive rehabilitation to address memory, attention, and problem-solving deficits.</a:t>
            </a:r>
          </a:p>
          <a:p>
            <a:pPr lvl="0">
              <a:lnSpc>
                <a:spcPct val="150000"/>
              </a:lnSpc>
              <a:buSzPts val="1400"/>
            </a:pPr>
            <a:r>
              <a:rPr lang="en-US" sz="800">
                <a:solidFill>
                  <a:schemeClr val="accent6">
                    <a:lumMod val="50000"/>
                  </a:schemeClr>
                </a:solidFill>
              </a:rPr>
              <a:t>5. Assistive devices: Depending on the extent of the injury, individuals with TBI may require assistive devices such as wheelchairs, walkers, or braces to help them move around. They might also need communication aids like text-to-speech software or picture boards to facilitate communication.</a:t>
            </a:r>
          </a:p>
          <a:p>
            <a:pPr lvl="0">
              <a:lnSpc>
                <a:spcPct val="150000"/>
              </a:lnSpc>
              <a:buSzPts val="1400"/>
            </a:pPr>
            <a:r>
              <a:rPr lang="en-US" sz="800">
                <a:solidFill>
                  <a:schemeClr val="accent6">
                    <a:lumMod val="50000"/>
                  </a:schemeClr>
                </a:solidFill>
              </a:rPr>
              <a:t>6. Support groups and counseling: Living with a brain injury can be challenging both for the individual and their family members. Joining support groups and seeking counseling can help individuals cope with the emotional and psychological aspects of their injury, as well as provide opportunities to connect with others who have gone through similar experiences.</a:t>
            </a:r>
          </a:p>
          <a:p>
            <a:pPr lvl="0">
              <a:lnSpc>
                <a:spcPct val="150000"/>
              </a:lnSpc>
              <a:buSzPts val="1400"/>
            </a:pPr>
            <a:r>
              <a:rPr lang="en-US" sz="800">
                <a:solidFill>
                  <a:schemeClr val="accent6">
                    <a:lumMod val="50000"/>
                  </a:schemeClr>
                </a:solidFill>
              </a:rPr>
              <a:t>7. Lifestyle modifications: Making lifestyle modifications such as getting enough rest, eating a healthy diet, avoiding alcohol and drugs, and engaging in regular physical activity can help</a:t>
            </a:r>
          </a:p>
          <a:p>
            <a:pPr>
              <a:lnSpc>
                <a:spcPct val="150000"/>
              </a:lnSpc>
              <a:buSzPts val="1400"/>
            </a:pPr>
            <a:endParaRPr lang="en-US"/>
          </a:p>
        </p:txBody>
      </p:sp>
      <p:sp>
        <p:nvSpPr>
          <p:cNvPr id="2" name="Google Shape;252;p52">
            <a:extLst>
              <a:ext uri="{FF2B5EF4-FFF2-40B4-BE49-F238E27FC236}">
                <a16:creationId xmlns:a16="http://schemas.microsoft.com/office/drawing/2014/main" id="{413AD16D-CFC8-F6CA-3F16-DA57EB5B6AFE}"/>
              </a:ext>
            </a:extLst>
          </p:cNvPr>
          <p:cNvSpPr txBox="1"/>
          <p:nvPr/>
        </p:nvSpPr>
        <p:spPr>
          <a:xfrm>
            <a:off x="264422" y="807126"/>
            <a:ext cx="8588387" cy="757430"/>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sz="1050" b="1">
                <a:solidFill>
                  <a:schemeClr val="accent6">
                    <a:lumMod val="50000"/>
                  </a:schemeClr>
                </a:solidFill>
                <a:latin typeface="Montserrat"/>
                <a:ea typeface="Montserrat"/>
                <a:cs typeface="Montserrat"/>
                <a:sym typeface="Montserrat"/>
              </a:rPr>
              <a:t>Questions</a:t>
            </a:r>
          </a:p>
          <a:p>
            <a:pPr marL="285750" indent="-285750">
              <a:buSzPts val="1400"/>
              <a:buFont typeface="Arial" panose="020B0604020202020204" pitchFamily="34" charset="0"/>
              <a:buChar char="•"/>
            </a:pPr>
            <a:r>
              <a:rPr lang="en-US" sz="1050"/>
              <a:t>What treatments are recommended for a person who has sustained a physical injury to brain tissue, resulting in temporary or permanent impairment of brain function?</a:t>
            </a:r>
          </a:p>
        </p:txBody>
      </p:sp>
    </p:spTree>
    <p:extLst>
      <p:ext uri="{BB962C8B-B14F-4D97-AF65-F5344CB8AC3E}">
        <p14:creationId xmlns:p14="http://schemas.microsoft.com/office/powerpoint/2010/main" val="2685727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41A2F43-2867-F0D1-EC21-02CFA3DA25E5}"/>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4548FEE7-2B5A-4249-8F06-63C4D8730BAF}"/>
              </a:ext>
            </a:extLst>
          </p:cNvPr>
          <p:cNvSpPr txBox="1">
            <a:spLocks noGrp="1"/>
          </p:cNvSpPr>
          <p:nvPr>
            <p:ph type="title"/>
          </p:nvPr>
        </p:nvSpPr>
        <p:spPr>
          <a:xfrm>
            <a:off x="197712" y="298653"/>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LLM</a:t>
            </a:r>
            <a:endParaRPr sz="2400">
              <a:solidFill>
                <a:srgbClr val="0E39A9"/>
              </a:solidFill>
            </a:endParaRPr>
          </a:p>
        </p:txBody>
      </p:sp>
      <p:sp>
        <p:nvSpPr>
          <p:cNvPr id="252" name="Google Shape;252;p52">
            <a:extLst>
              <a:ext uri="{FF2B5EF4-FFF2-40B4-BE49-F238E27FC236}">
                <a16:creationId xmlns:a16="http://schemas.microsoft.com/office/drawing/2014/main" id="{5E93DCC8-A400-C5EC-4B72-DA5BA9A4FD01}"/>
              </a:ext>
            </a:extLst>
          </p:cNvPr>
          <p:cNvSpPr txBox="1"/>
          <p:nvPr/>
        </p:nvSpPr>
        <p:spPr>
          <a:xfrm>
            <a:off x="264422" y="1622652"/>
            <a:ext cx="8581243" cy="2703522"/>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fontAlgn="auto"/>
            <a:r>
              <a:rPr lang="en-US" sz="900">
                <a:solidFill>
                  <a:schemeClr val="accent6">
                    <a:lumMod val="50000"/>
                  </a:schemeClr>
                </a:solidFill>
                <a:latin typeface="Montserrat"/>
                <a:ea typeface="Montserrat"/>
                <a:cs typeface="Montserrat"/>
                <a:sym typeface="Montserrat"/>
              </a:rPr>
              <a:t>First and foremost, it is essential to ensure the safety of the injured person and any companions. If possible, try to keep the person as comfortable as possible while assessing the extent of the injury. Here are some general steps to follow:</a:t>
            </a:r>
          </a:p>
          <a:p>
            <a:pPr fontAlgn="auto"/>
            <a:endParaRPr lang="en-US" sz="900">
              <a:solidFill>
                <a:schemeClr val="accent6">
                  <a:lumMod val="50000"/>
                </a:schemeClr>
              </a:solidFill>
              <a:latin typeface="Montserrat"/>
              <a:ea typeface="Montserrat"/>
              <a:cs typeface="Montserrat"/>
              <a:sym typeface="Montserrat"/>
            </a:endParaRPr>
          </a:p>
          <a:p>
            <a:pPr fontAlgn="auto"/>
            <a:r>
              <a:rPr lang="en-US" sz="900">
                <a:solidFill>
                  <a:schemeClr val="accent6">
                    <a:lumMod val="50000"/>
                  </a:schemeClr>
                </a:solidFill>
                <a:latin typeface="Montserrat"/>
                <a:ea typeface="Montserrat"/>
                <a:cs typeface="Montserrat"/>
                <a:sym typeface="Montserrat"/>
              </a:rPr>
              <a:t>1. Assess the severity of the injury: Check for signs of open wounds, swelling, deformity, or inability to move the leg. If there is significant pain, swelling, or deformity, it may be a fracture. However, only a medical professional can make an accurate diagnosis.</a:t>
            </a:r>
          </a:p>
          <a:p>
            <a:pPr fontAlgn="auto"/>
            <a:r>
              <a:rPr lang="en-US" sz="900">
                <a:solidFill>
                  <a:schemeClr val="accent6">
                    <a:lumMod val="50000"/>
                  </a:schemeClr>
                </a:solidFill>
                <a:latin typeface="Montserrat"/>
                <a:ea typeface="Montserrat"/>
                <a:cs typeface="Montserrat"/>
                <a:sym typeface="Montserrat"/>
              </a:rPr>
              <a:t>2. Immobilize the leg: Use a splint, sling, or other available materials to immobilize the leg as best as possible. This will help prevent further injury and provide some comfort to the person.</a:t>
            </a:r>
          </a:p>
          <a:p>
            <a:pPr fontAlgn="auto"/>
            <a:r>
              <a:rPr lang="en-US" sz="900">
                <a:solidFill>
                  <a:schemeClr val="accent6">
                    <a:lumMod val="50000"/>
                  </a:schemeClr>
                </a:solidFill>
                <a:latin typeface="Montserrat"/>
                <a:ea typeface="Montserrat"/>
                <a:cs typeface="Montserrat"/>
                <a:sym typeface="Montserrat"/>
              </a:rPr>
              <a:t>3. Provide first aid: Clean any wounds with water and gentle soap, apply pressure to control bleeding, and cover the wound with a sterile dressing.</a:t>
            </a:r>
          </a:p>
          <a:p>
            <a:pPr fontAlgn="auto"/>
            <a:r>
              <a:rPr lang="en-US" sz="900">
                <a:solidFill>
                  <a:schemeClr val="accent6">
                    <a:lumMod val="50000"/>
                  </a:schemeClr>
                </a:solidFill>
                <a:latin typeface="Montserrat"/>
                <a:ea typeface="Montserrat"/>
                <a:cs typeface="Montserrat"/>
                <a:sym typeface="Montserrat"/>
              </a:rPr>
              <a:t>4. Monitor vital signs: Check the person's pulse, respiration rate, and level of consciousness regularly. If their condition worsens or they exhibit signs of shock (pale skin, rapid heartbeat, weak pulse), seek medical help immediately.</a:t>
            </a:r>
          </a:p>
          <a:p>
            <a:pPr fontAlgn="auto"/>
            <a:r>
              <a:rPr lang="en-US" sz="900">
                <a:solidFill>
                  <a:schemeClr val="accent6">
                    <a:lumMod val="50000"/>
                  </a:schemeClr>
                </a:solidFill>
                <a:latin typeface="Montserrat"/>
                <a:ea typeface="Montserrat"/>
                <a:cs typeface="Montserrat"/>
                <a:sym typeface="Montserrat"/>
              </a:rPr>
              <a:t>5. Seek medical attention: It is crucial to get the person to a healthcare facility as soon as possible for proper diagnosis and treatment. This may involve transporting them by foot, horseback, or other means if they are unable to walk.</a:t>
            </a:r>
          </a:p>
          <a:p>
            <a:pPr fontAlgn="auto"/>
            <a:r>
              <a:rPr lang="en-US" sz="900">
                <a:solidFill>
                  <a:schemeClr val="accent6">
                    <a:lumMod val="50000"/>
                  </a:schemeClr>
                </a:solidFill>
                <a:latin typeface="Montserrat"/>
                <a:ea typeface="Montserrat"/>
                <a:cs typeface="Montserrat"/>
                <a:sym typeface="Montserrat"/>
              </a:rPr>
              <a:t>6. Consider the care and recovery process: Depending on the severity of the fracture, the person may require surgery, extended hospitalization, or rehabilitation. They will likely need to avoid weight-bearing activities for an extended period, which could impact their ability to hike or engage in other physical activities. It is essential to provide emotional support and help with daily tasks during this time.</a:t>
            </a:r>
          </a:p>
          <a:p>
            <a:pPr fontAlgn="auto"/>
            <a:r>
              <a:rPr lang="en-US" sz="900">
                <a:solidFill>
                  <a:schemeClr val="accent6">
                    <a:lumMod val="50000"/>
                  </a:schemeClr>
                </a:solidFill>
                <a:latin typeface="Montserrat"/>
                <a:ea typeface="Montserrat"/>
                <a:cs typeface="Montserrat"/>
                <a:sym typeface="Montserrat"/>
              </a:rPr>
              <a:t>7. Prepare for future hiking trips: Consider the risks involved in hiking and take steps to minimize them. This may include carrying a well-stocked first aid kit, wearing appropriate footwear and clothing, and staying informed about weather conditions and trail conditions. Additionally, consider taking a wilderness first aid course to learn how to handle emergencies in remote areas.</a:t>
            </a:r>
            <a:endParaRPr sz="900">
              <a:solidFill>
                <a:schemeClr val="accent6">
                  <a:lumMod val="50000"/>
                </a:schemeClr>
              </a:solidFill>
              <a:latin typeface="Montserrat"/>
              <a:ea typeface="Montserrat"/>
              <a:cs typeface="Montserrat"/>
              <a:sym typeface="Montserrat"/>
            </a:endParaRPr>
          </a:p>
        </p:txBody>
      </p:sp>
      <p:sp>
        <p:nvSpPr>
          <p:cNvPr id="2" name="Google Shape;252;p52">
            <a:extLst>
              <a:ext uri="{FF2B5EF4-FFF2-40B4-BE49-F238E27FC236}">
                <a16:creationId xmlns:a16="http://schemas.microsoft.com/office/drawing/2014/main" id="{8C9C0406-8774-1D09-BCA9-5139790828F1}"/>
              </a:ext>
            </a:extLst>
          </p:cNvPr>
          <p:cNvSpPr txBox="1"/>
          <p:nvPr/>
        </p:nvSpPr>
        <p:spPr>
          <a:xfrm>
            <a:off x="264422" y="807126"/>
            <a:ext cx="8588387" cy="757430"/>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sz="1050" b="1">
                <a:solidFill>
                  <a:schemeClr val="accent6">
                    <a:lumMod val="50000"/>
                  </a:schemeClr>
                </a:solidFill>
                <a:latin typeface="Montserrat"/>
                <a:ea typeface="Montserrat"/>
                <a:cs typeface="Montserrat"/>
                <a:sym typeface="Montserrat"/>
              </a:rPr>
              <a:t>Questions/Answer</a:t>
            </a:r>
          </a:p>
          <a:p>
            <a:pPr marL="342900" indent="-342900">
              <a:buFont typeface="Arial" panose="020B0604020202020204" pitchFamily="34" charset="0"/>
              <a:buChar char="•"/>
            </a:pPr>
            <a:r>
              <a:rPr lang="en-US" sz="1050"/>
              <a:t>What are the necessary precautions and treatment steps for a person who has fractured their leg during a hiking trip, and what should be considered for their care and recovery?</a:t>
            </a:r>
          </a:p>
        </p:txBody>
      </p:sp>
    </p:spTree>
    <p:extLst>
      <p:ext uri="{BB962C8B-B14F-4D97-AF65-F5344CB8AC3E}">
        <p14:creationId xmlns:p14="http://schemas.microsoft.com/office/powerpoint/2010/main" val="4140989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A94C0BF9-9992-121F-7475-5B3F9D517F3C}"/>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F2F35A35-2546-932D-B048-CF8B9DCAAACA}"/>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LLM</a:t>
            </a:r>
            <a:endParaRPr sz="2400">
              <a:solidFill>
                <a:srgbClr val="0E39A9"/>
              </a:solidFill>
            </a:endParaRPr>
          </a:p>
        </p:txBody>
      </p:sp>
      <p:sp>
        <p:nvSpPr>
          <p:cNvPr id="252" name="Google Shape;252;p52">
            <a:extLst>
              <a:ext uri="{FF2B5EF4-FFF2-40B4-BE49-F238E27FC236}">
                <a16:creationId xmlns:a16="http://schemas.microsoft.com/office/drawing/2014/main" id="{C0CB23DC-F800-8081-48DF-4C379E6688A1}"/>
              </a:ext>
            </a:extLst>
          </p:cNvPr>
          <p:cNvSpPr txBox="1"/>
          <p:nvPr/>
        </p:nvSpPr>
        <p:spPr>
          <a:xfrm>
            <a:off x="271566" y="1671033"/>
            <a:ext cx="7701225" cy="3029812"/>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b="1">
                <a:solidFill>
                  <a:schemeClr val="accent6">
                    <a:lumMod val="50000"/>
                  </a:schemeClr>
                </a:solidFill>
                <a:latin typeface="Montserrat"/>
                <a:ea typeface="Montserrat"/>
                <a:cs typeface="Montserrat"/>
                <a:sym typeface="Montserrat"/>
              </a:rPr>
              <a:t>Comments</a:t>
            </a:r>
          </a:p>
          <a:p>
            <a:pPr>
              <a:lnSpc>
                <a:spcPct val="150000"/>
              </a:lnSpc>
              <a:buSzPts val="1400"/>
            </a:pPr>
            <a:r>
              <a:rPr lang="en" sz="1200">
                <a:solidFill>
                  <a:schemeClr val="accent6">
                    <a:lumMod val="50000"/>
                  </a:schemeClr>
                </a:solidFill>
                <a:latin typeface="Montserrat"/>
                <a:ea typeface="Montserrat"/>
                <a:cs typeface="Montserrat"/>
                <a:sym typeface="Montserrat"/>
              </a:rPr>
              <a:t>The plain LLM answer is lengthy and slow. It also does not consider the medical diagnostic manual; instead, it uses information collected somewhere else.</a:t>
            </a:r>
          </a:p>
          <a:p>
            <a:pPr>
              <a:lnSpc>
                <a:spcPct val="150000"/>
              </a:lnSpc>
              <a:buSzPts val="1400"/>
            </a:pPr>
            <a:endParaRPr lang="en" sz="1200">
              <a:solidFill>
                <a:schemeClr val="accent6">
                  <a:lumMod val="50000"/>
                </a:schemeClr>
              </a:solidFill>
              <a:latin typeface="Montserrat"/>
              <a:ea typeface="Montserrat"/>
              <a:cs typeface="Montserrat"/>
              <a:sym typeface="Montserrat"/>
            </a:endParaRPr>
          </a:p>
          <a:p>
            <a:pPr>
              <a:lnSpc>
                <a:spcPct val="150000"/>
              </a:lnSpc>
              <a:buSzPts val="1400"/>
            </a:pPr>
            <a:r>
              <a:rPr lang="en" sz="1200">
                <a:solidFill>
                  <a:schemeClr val="accent6">
                    <a:lumMod val="50000"/>
                  </a:schemeClr>
                </a:solidFill>
                <a:latin typeface="Montserrat"/>
                <a:ea typeface="Montserrat"/>
                <a:cs typeface="Montserrat"/>
                <a:sym typeface="Montserrat"/>
              </a:rPr>
              <a:t>I used max_tokens = 500, top_p=.95, top_k=50. It took a long time to process each answer in the local machine(4s average). </a:t>
            </a:r>
          </a:p>
          <a:p>
            <a:pPr>
              <a:lnSpc>
                <a:spcPct val="150000"/>
              </a:lnSpc>
              <a:buSzPts val="1400"/>
            </a:pPr>
            <a:endParaRPr lang="en" sz="1200">
              <a:solidFill>
                <a:schemeClr val="accent6">
                  <a:lumMod val="50000"/>
                </a:schemeClr>
              </a:solidFill>
              <a:latin typeface="Montserrat"/>
              <a:ea typeface="Montserrat"/>
              <a:cs typeface="Montserrat"/>
              <a:sym typeface="Montserrat"/>
            </a:endParaRPr>
          </a:p>
          <a:p>
            <a:pPr>
              <a:lnSpc>
                <a:spcPct val="150000"/>
              </a:lnSpc>
              <a:buSzPts val="1400"/>
            </a:pPr>
            <a:r>
              <a:rPr lang="en" sz="1200">
                <a:solidFill>
                  <a:schemeClr val="accent6">
                    <a:lumMod val="50000"/>
                  </a:schemeClr>
                </a:solidFill>
                <a:latin typeface="Montserrat"/>
                <a:ea typeface="Montserrat"/>
                <a:cs typeface="Montserrat"/>
                <a:sym typeface="Montserrat"/>
              </a:rPr>
              <a:t>About the asnwers. It is clear that the generic answers are not deep root in facts and clear recommendation as in the future answer using the Medical Manual. It usually do not recommend prescriptions or clearly push to rush to hospital in case of appendicitis or brain hurt.</a:t>
            </a:r>
          </a:p>
        </p:txBody>
      </p:sp>
    </p:spTree>
    <p:extLst>
      <p:ext uri="{BB962C8B-B14F-4D97-AF65-F5344CB8AC3E}">
        <p14:creationId xmlns:p14="http://schemas.microsoft.com/office/powerpoint/2010/main" val="673904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363D88C1-6946-5101-5361-67C4A3B1BBF7}"/>
            </a:ext>
          </a:extLst>
        </p:cNvPr>
        <p:cNvGrpSpPr/>
        <p:nvPr/>
      </p:nvGrpSpPr>
      <p:grpSpPr>
        <a:xfrm>
          <a:off x="0" y="0"/>
          <a:ext cx="0" cy="0"/>
          <a:chOff x="0" y="0"/>
          <a:chExt cx="0" cy="0"/>
        </a:xfrm>
      </p:grpSpPr>
      <p:sp>
        <p:nvSpPr>
          <p:cNvPr id="256" name="Google Shape;256;p52">
            <a:extLst>
              <a:ext uri="{FF2B5EF4-FFF2-40B4-BE49-F238E27FC236}">
                <a16:creationId xmlns:a16="http://schemas.microsoft.com/office/drawing/2014/main" id="{E51D9030-72A3-AFE8-4A13-452C76B9D415}"/>
              </a:ext>
            </a:extLst>
          </p:cNvPr>
          <p:cNvSpPr txBox="1"/>
          <p:nvPr/>
        </p:nvSpPr>
        <p:spPr>
          <a:xfrm>
            <a:off x="396079" y="1563848"/>
            <a:ext cx="6033000" cy="4031843"/>
          </a:xfrm>
          <a:prstGeom prst="roundRect">
            <a:avLst>
              <a:gd name="adj" fmla="val 1535"/>
            </a:avLst>
          </a:prstGeom>
          <a:noFill/>
          <a:ln>
            <a:solidFill>
              <a:schemeClr val="accent1">
                <a:lumMod val="60000"/>
                <a:lumOff val="40000"/>
              </a:schemeClr>
            </a:solidFill>
          </a:ln>
        </p:spPr>
        <p:txBody>
          <a:bodyPr spcFirstLastPara="1" wrap="square" lIns="91425" tIns="91425" rIns="91425" bIns="91425" anchor="t" anchorCtr="0">
            <a:spAutoFit/>
          </a:bodyPr>
          <a:lstStyle/>
          <a:p>
            <a:r>
              <a:rPr lang="en" sz="1000" b="1">
                <a:solidFill>
                  <a:schemeClr val="accent6">
                    <a:lumMod val="50000"/>
                  </a:schemeClr>
                </a:solidFill>
                <a:latin typeface="Montserrat"/>
                <a:ea typeface="Montserrat"/>
                <a:cs typeface="Montserrat"/>
                <a:sym typeface="Montserrat"/>
              </a:rPr>
              <a:t>The System Prompt</a:t>
            </a:r>
            <a:br>
              <a:rPr lang="en" sz="1000" b="1">
                <a:solidFill>
                  <a:schemeClr val="accent6">
                    <a:lumMod val="50000"/>
                  </a:schemeClr>
                </a:solidFill>
                <a:latin typeface="Montserrat"/>
                <a:ea typeface="Montserrat"/>
                <a:cs typeface="Montserrat"/>
                <a:sym typeface="Montserrat"/>
              </a:rPr>
            </a:br>
            <a:r>
              <a:rPr lang="en-US" sz="1000"/>
              <a:t>You are a professional Medical AI Assistant for healthcare professionals.</a:t>
            </a:r>
          </a:p>
          <a:p>
            <a:br>
              <a:rPr lang="en-US" sz="1000"/>
            </a:br>
            <a:endParaRPr lang="en-US" sz="1000"/>
          </a:p>
          <a:p>
            <a:r>
              <a:rPr lang="en-US" sz="1000">
                <a:solidFill>
                  <a:schemeClr val="accent6">
                    <a:lumMod val="50000"/>
                  </a:schemeClr>
                </a:solidFill>
              </a:rPr>
              <a:t>Rules:</a:t>
            </a:r>
          </a:p>
          <a:p>
            <a:r>
              <a:rPr lang="en-US" sz="1000">
                <a:solidFill>
                  <a:schemeClr val="accent6">
                    <a:lumMod val="50000"/>
                  </a:schemeClr>
                </a:solidFill>
              </a:rPr>
              <a:t>1. Use ONLY the provided context. Do not use outside knowledge. If the answer is not in the context, say: "Insufficient information in provided source."</a:t>
            </a:r>
          </a:p>
          <a:p>
            <a:r>
              <a:rPr lang="en-US" sz="1000">
                <a:solidFill>
                  <a:schemeClr val="accent6">
                    <a:lumMod val="50000"/>
                  </a:schemeClr>
                </a:solidFill>
              </a:rPr>
              <a:t>2. Be accurate. Provide protocols, dosages, diagnostic steps, and treatments exactly as supported by the source.</a:t>
            </a:r>
          </a:p>
          <a:p>
            <a:r>
              <a:rPr lang="en-US" sz="1000">
                <a:solidFill>
                  <a:schemeClr val="accent6">
                    <a:lumMod val="50000"/>
                  </a:schemeClr>
                </a:solidFill>
              </a:rPr>
              <a:t>3. Use a professional, objective, concise clinical tone.</a:t>
            </a:r>
          </a:p>
          <a:p>
            <a:r>
              <a:rPr lang="en-US" sz="1000">
                <a:solidFill>
                  <a:schemeClr val="accent6">
                    <a:lumMod val="50000"/>
                  </a:schemeClr>
                </a:solidFill>
              </a:rPr>
              <a:t>4. Prioritize speed and clarity for time-sensitive settings.</a:t>
            </a:r>
          </a:p>
          <a:p>
            <a:r>
              <a:rPr lang="en-US" sz="1000">
                <a:solidFill>
                  <a:schemeClr val="accent6">
                    <a:lumMod val="50000"/>
                  </a:schemeClr>
                </a:solidFill>
              </a:rPr>
              <a:t>5. If critical data for safe treatment is missing (age, weight, allergies, pregnancy, renal/hepatic status), state what is needed.</a:t>
            </a:r>
          </a:p>
          <a:p>
            <a:r>
              <a:rPr lang="en-US" sz="1000">
                <a:solidFill>
                  <a:schemeClr val="accent6">
                    <a:lumMod val="50000"/>
                  </a:schemeClr>
                </a:solidFill>
              </a:rPr>
              <a:t>6. If the case suggests an emergency (sepsis, stroke, appendicitis, anaphylaxis, airway issue), give immediate life-saving actions first, then diagnostics, then treatment.</a:t>
            </a:r>
          </a:p>
          <a:p>
            <a:r>
              <a:rPr lang="en-US" sz="1000">
                <a:solidFill>
                  <a:schemeClr val="accent6">
                    <a:lumMod val="50000"/>
                  </a:schemeClr>
                </a:solidFill>
              </a:rPr>
              <a:t>7. Do not guess or invent information.</a:t>
            </a:r>
          </a:p>
          <a:p>
            <a:br>
              <a:rPr lang="en-US" sz="1000">
                <a:solidFill>
                  <a:schemeClr val="accent6">
                    <a:lumMod val="50000"/>
                  </a:schemeClr>
                </a:solidFill>
              </a:rPr>
            </a:br>
            <a:endParaRPr lang="en-US" sz="1000">
              <a:solidFill>
                <a:schemeClr val="accent6">
                  <a:lumMod val="50000"/>
                </a:schemeClr>
              </a:solidFill>
            </a:endParaRPr>
          </a:p>
          <a:p>
            <a:r>
              <a:rPr lang="en-US" sz="1000">
                <a:solidFill>
                  <a:schemeClr val="accent6">
                    <a:lumMod val="50000"/>
                  </a:schemeClr>
                </a:solidFill>
              </a:rPr>
              <a:t>Preferred Response Format:</a:t>
            </a:r>
          </a:p>
          <a:p>
            <a:r>
              <a:rPr lang="en-US" sz="1000">
                <a:solidFill>
                  <a:schemeClr val="accent6">
                    <a:lumMod val="50000"/>
                  </a:schemeClr>
                </a:solidFill>
              </a:rPr>
              <a:t>- Assessment</a:t>
            </a:r>
          </a:p>
          <a:p>
            <a:r>
              <a:rPr lang="en-US" sz="1000">
                <a:solidFill>
                  <a:schemeClr val="accent6">
                    <a:lumMod val="50000"/>
                  </a:schemeClr>
                </a:solidFill>
              </a:rPr>
              <a:t>- Immediate Actions</a:t>
            </a:r>
          </a:p>
          <a:p>
            <a:r>
              <a:rPr lang="en-US" sz="1000">
                <a:solidFill>
                  <a:schemeClr val="accent6">
                    <a:lumMod val="50000"/>
                  </a:schemeClr>
                </a:solidFill>
              </a:rPr>
              <a:t>- Diagnostics</a:t>
            </a:r>
          </a:p>
          <a:p>
            <a:r>
              <a:rPr lang="en-US" sz="1000">
                <a:solidFill>
                  <a:schemeClr val="accent6">
                    <a:lumMod val="50000"/>
                  </a:schemeClr>
                </a:solidFill>
              </a:rPr>
              <a:t>- Treatment</a:t>
            </a:r>
          </a:p>
          <a:p>
            <a:r>
              <a:rPr lang="en-US" sz="1000">
                <a:solidFill>
                  <a:schemeClr val="accent6">
                    <a:lumMod val="50000"/>
                  </a:schemeClr>
                </a:solidFill>
              </a:rPr>
              <a:t>- Warnings / Escalation</a:t>
            </a:r>
          </a:p>
          <a:p>
            <a:pPr>
              <a:buSzPts val="1400"/>
            </a:pPr>
            <a:endParaRPr lang="en" sz="1000">
              <a:latin typeface="Montserrat"/>
              <a:ea typeface="Montserrat"/>
              <a:cs typeface="Montserrat"/>
              <a:sym typeface="Montserrat"/>
            </a:endParaRPr>
          </a:p>
        </p:txBody>
      </p:sp>
      <p:sp>
        <p:nvSpPr>
          <p:cNvPr id="2" name="Google Shape;262;p53">
            <a:extLst>
              <a:ext uri="{FF2B5EF4-FFF2-40B4-BE49-F238E27FC236}">
                <a16:creationId xmlns:a16="http://schemas.microsoft.com/office/drawing/2014/main" id="{05C090BF-61A3-9B42-3CFD-0DB4FC6D086A}"/>
              </a:ext>
            </a:extLst>
          </p:cNvPr>
          <p:cNvSpPr txBox="1">
            <a:spLocks/>
          </p:cNvSpPr>
          <p:nvPr/>
        </p:nvSpPr>
        <p:spPr>
          <a:xfrm>
            <a:off x="70903" y="934141"/>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a:solidFill>
                  <a:srgbClr val="0E39A9"/>
                </a:solidFill>
              </a:rPr>
              <a:t>Question Answering using LLM with Prompt Engineering</a:t>
            </a:r>
          </a:p>
        </p:txBody>
      </p:sp>
    </p:spTree>
    <p:extLst>
      <p:ext uri="{BB962C8B-B14F-4D97-AF65-F5344CB8AC3E}">
        <p14:creationId xmlns:p14="http://schemas.microsoft.com/office/powerpoint/2010/main" val="3743188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1723F97-7F0E-3376-1C56-583AE4A3E39D}"/>
            </a:ext>
          </a:extLst>
        </p:cNvPr>
        <p:cNvGrpSpPr/>
        <p:nvPr/>
      </p:nvGrpSpPr>
      <p:grpSpPr>
        <a:xfrm>
          <a:off x="0" y="0"/>
          <a:ext cx="0" cy="0"/>
          <a:chOff x="0" y="0"/>
          <a:chExt cx="0" cy="0"/>
        </a:xfrm>
      </p:grpSpPr>
      <p:sp>
        <p:nvSpPr>
          <p:cNvPr id="252" name="Google Shape;252;p52">
            <a:extLst>
              <a:ext uri="{FF2B5EF4-FFF2-40B4-BE49-F238E27FC236}">
                <a16:creationId xmlns:a16="http://schemas.microsoft.com/office/drawing/2014/main" id="{1A309A9F-1D96-0B21-2ABB-2807DFEF158A}"/>
              </a:ext>
            </a:extLst>
          </p:cNvPr>
          <p:cNvSpPr txBox="1"/>
          <p:nvPr/>
        </p:nvSpPr>
        <p:spPr>
          <a:xfrm>
            <a:off x="264422" y="1473122"/>
            <a:ext cx="8588387" cy="3666856"/>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r>
              <a:rPr lang="en-US" sz="800">
                <a:solidFill>
                  <a:schemeClr val="accent6">
                    <a:lumMod val="50000"/>
                  </a:schemeClr>
                </a:solidFill>
              </a:rPr>
              <a:t>Assessment:</a:t>
            </a:r>
          </a:p>
          <a:p>
            <a:r>
              <a:rPr lang="en-US" sz="800">
                <a:solidFill>
                  <a:schemeClr val="accent6">
                    <a:lumMod val="50000"/>
                  </a:schemeClr>
                </a:solidFill>
              </a:rPr>
              <a:t>1. Identify signs and symptoms of sepsis, including fever or hypothermia, tachycardia or bradycardia, respiratory distress, altered mental status, and lactic acidosis.</a:t>
            </a:r>
          </a:p>
          <a:p>
            <a:r>
              <a:rPr lang="en-US" sz="800">
                <a:solidFill>
                  <a:schemeClr val="accent6">
                    <a:lumMod val="50000"/>
                  </a:schemeClr>
                </a:solidFill>
              </a:rPr>
              <a:t>2. Evaluate severity using the Sequential [Sepsis-related] Organ Failure Assessment (SOFA) score.</a:t>
            </a:r>
          </a:p>
          <a:p>
            <a:r>
              <a:rPr lang="en-US" sz="800">
                <a:solidFill>
                  <a:schemeClr val="accent6">
                    <a:lumMod val="50000"/>
                  </a:schemeClr>
                </a:solidFill>
              </a:rPr>
              <a:t>3. Check for source of infection.</a:t>
            </a:r>
          </a:p>
          <a:p>
            <a:r>
              <a:rPr lang="en-US" sz="800">
                <a:solidFill>
                  <a:schemeClr val="accent6">
                    <a:lumMod val="50000"/>
                  </a:schemeClr>
                </a:solidFill>
              </a:rPr>
              <a:t>4. Assess fluid status and consider volume resuscitation.</a:t>
            </a:r>
          </a:p>
          <a:p>
            <a:r>
              <a:rPr lang="en-US" sz="800">
                <a:solidFill>
                  <a:schemeClr val="accent6">
                    <a:lumMod val="50000"/>
                  </a:schemeClr>
                </a:solidFill>
              </a:rPr>
              <a:t>5. Evaluate hemodynamic stability.</a:t>
            </a:r>
          </a:p>
          <a:p>
            <a:r>
              <a:rPr lang="en-US" sz="800">
                <a:solidFill>
                  <a:schemeClr val="accent6">
                    <a:lumMod val="50000"/>
                  </a:schemeClr>
                </a:solidFill>
              </a:rPr>
              <a:t>6. Monitor electrolytes, glucose, and acid-base balance.</a:t>
            </a:r>
          </a:p>
          <a:p>
            <a:r>
              <a:rPr lang="en-US" sz="800">
                <a:solidFill>
                  <a:schemeClr val="accent6">
                    <a:lumMod val="50000"/>
                  </a:schemeClr>
                </a:solidFill>
              </a:rPr>
              <a:t>7. Assess respiratory function and provide oxygen support as needed.</a:t>
            </a:r>
          </a:p>
          <a:p>
            <a:r>
              <a:rPr lang="en-US" sz="800">
                <a:solidFill>
                  <a:schemeClr val="accent6">
                    <a:lumMod val="50000"/>
                  </a:schemeClr>
                </a:solidFill>
              </a:rPr>
              <a:t>8. Check for coagulopathy and administer appropriate blood products if necessary.</a:t>
            </a:r>
          </a:p>
          <a:p>
            <a:r>
              <a:rPr lang="en-US" sz="800">
                <a:solidFill>
                  <a:schemeClr val="accent6">
                    <a:lumMod val="50000"/>
                  </a:schemeClr>
                </a:solidFill>
              </a:rPr>
              <a:t>9. Monitor cardiac function and provide inotropic support if needed.</a:t>
            </a:r>
          </a:p>
          <a:p>
            <a:r>
              <a:rPr lang="en-US" sz="800">
                <a:solidFill>
                  <a:schemeClr val="accent6">
                    <a:lumMod val="50000"/>
                  </a:schemeClr>
                </a:solidFill>
              </a:rPr>
              <a:t>10. Evaluate renal function and consider diuretics or continuous renal replacement therapy (CRRT).</a:t>
            </a:r>
          </a:p>
          <a:p>
            <a:r>
              <a:rPr lang="en-US" sz="800">
                <a:solidFill>
                  <a:schemeClr val="accent6">
                    <a:lumMod val="50000"/>
                  </a:schemeClr>
                </a:solidFill>
              </a:rPr>
              <a:t>11. Assess neurologic status and provide supportive care as needed.</a:t>
            </a:r>
          </a:p>
          <a:p>
            <a:endParaRPr lang="en-US" sz="800">
              <a:solidFill>
                <a:schemeClr val="accent6">
                  <a:lumMod val="50000"/>
                </a:schemeClr>
              </a:solidFill>
            </a:endParaRPr>
          </a:p>
          <a:p>
            <a:r>
              <a:rPr lang="en-US" sz="800">
                <a:solidFill>
                  <a:schemeClr val="accent6">
                    <a:lumMod val="50000"/>
                  </a:schemeClr>
                </a:solidFill>
              </a:rPr>
              <a:t>Immediate Actions:</a:t>
            </a:r>
          </a:p>
          <a:p>
            <a:r>
              <a:rPr lang="en-US" sz="800">
                <a:solidFill>
                  <a:schemeClr val="accent6">
                    <a:lumMod val="50000"/>
                  </a:schemeClr>
                </a:solidFill>
              </a:rPr>
              <a:t>1. Administer high-flow oxygen via non-rebreather mask or endotracheal tube if respiratory distress is present.</a:t>
            </a:r>
          </a:p>
          <a:p>
            <a:r>
              <a:rPr lang="en-US" sz="800">
                <a:solidFill>
                  <a:schemeClr val="accent6">
                    <a:lumMod val="50000"/>
                  </a:schemeClr>
                </a:solidFill>
              </a:rPr>
              <a:t>2. Initiate intravenous access and administer 30 mL/kg of crystalloid solution over the first hour, followed by 3 mL/kg/h for the next few hours.</a:t>
            </a:r>
          </a:p>
          <a:p>
            <a:r>
              <a:rPr lang="en-US" sz="800">
                <a:solidFill>
                  <a:schemeClr val="accent6">
                    <a:lumMod val="50000"/>
                  </a:schemeClr>
                </a:solidFill>
              </a:rPr>
              <a:t>3. Administer broad-spectrum antibiotics based on suspected infection site and local microbiology data.</a:t>
            </a:r>
          </a:p>
          <a:p>
            <a:r>
              <a:rPr lang="en-US" sz="800">
                <a:solidFill>
                  <a:schemeClr val="accent6">
                    <a:lumMod val="50000"/>
                  </a:schemeClr>
                </a:solidFill>
              </a:rPr>
              <a:t>4. Initiate vasopressor therapy if mean arterial pressure (MAP) is less than 65 mmHg despite adequate fluid resuscitation.</a:t>
            </a:r>
          </a:p>
          <a:p>
            <a:r>
              <a:rPr lang="en-US" sz="800">
                <a:solidFill>
                  <a:schemeClr val="accent6">
                    <a:lumMod val="50000"/>
                  </a:schemeClr>
                </a:solidFill>
              </a:rPr>
              <a:t>5. Consider administering corticosteroids in cases of septic shock unresponsive to initial fluid resuscitation and vasopressors.</a:t>
            </a:r>
          </a:p>
          <a:p>
            <a:endParaRPr lang="en-US" sz="800">
              <a:solidFill>
                <a:schemeClr val="accent6">
                  <a:lumMod val="50000"/>
                </a:schemeClr>
              </a:solidFill>
            </a:endParaRPr>
          </a:p>
          <a:p>
            <a:r>
              <a:rPr lang="en-US" sz="800">
                <a:solidFill>
                  <a:schemeClr val="accent6">
                    <a:lumMod val="50000"/>
                  </a:schemeClr>
                </a:solidFill>
              </a:rPr>
              <a:t>Diagnostics:</a:t>
            </a:r>
          </a:p>
          <a:p>
            <a:r>
              <a:rPr lang="en-US" sz="800">
                <a:solidFill>
                  <a:schemeClr val="accent6">
                    <a:lumMod val="50000"/>
                  </a:schemeClr>
                </a:solidFill>
              </a:rPr>
              <a:t>1. Obtain blood cultures before antibiotic administration if possible.</a:t>
            </a:r>
          </a:p>
          <a:p>
            <a:r>
              <a:rPr lang="en-US" sz="800">
                <a:solidFill>
                  <a:schemeClr val="accent6">
                    <a:lumMod val="50000"/>
                  </a:schemeClr>
                </a:solidFill>
              </a:rPr>
              <a:t>2. Perform complete blood count, coagulation panel, electrolytes, glucose, lactate, and arterial blood gases.</a:t>
            </a:r>
          </a:p>
          <a:p>
            <a:r>
              <a:rPr lang="en-US" sz="800">
                <a:solidFill>
                  <a:schemeClr val="accent6">
                    <a:lumMod val="50000"/>
                  </a:schemeClr>
                </a:solidFill>
              </a:rPr>
              <a:t>3. Consider obtaining urinalysis, chest X-ray, and other imaging studies as needed based on clinical presentation.</a:t>
            </a:r>
          </a:p>
          <a:p>
            <a:r>
              <a:rPr lang="en-US" sz="800">
                <a:solidFill>
                  <a:schemeClr val="accent6">
                    <a:lumMod val="50000"/>
                  </a:schemeClr>
                </a:solidFill>
              </a:rPr>
              <a:t>4. Monitor serial SOFA scores to assess organ dysfunction.</a:t>
            </a:r>
          </a:p>
          <a:p>
            <a:endParaRPr lang="en-US" sz="800">
              <a:solidFill>
                <a:schemeClr val="accent6">
                  <a:lumMod val="50000"/>
                </a:schemeClr>
              </a:solidFill>
            </a:endParaRPr>
          </a:p>
          <a:p>
            <a:r>
              <a:rPr lang="en-US" sz="800">
                <a:solidFill>
                  <a:schemeClr val="accent6">
                    <a:lumMod val="50000"/>
                  </a:schemeClr>
                </a:solidFill>
              </a:rPr>
              <a:t>Treatment:</a:t>
            </a:r>
          </a:p>
          <a:p>
            <a:r>
              <a:rPr lang="en-US" sz="800">
                <a:solidFill>
                  <a:schemeClr val="accent6">
                    <a:lumMod val="50000"/>
                  </a:schemeClr>
                </a:solidFill>
              </a:rPr>
              <a:t>1. Contin</a:t>
            </a:r>
          </a:p>
        </p:txBody>
      </p:sp>
      <p:sp>
        <p:nvSpPr>
          <p:cNvPr id="2" name="Google Shape;262;p53">
            <a:extLst>
              <a:ext uri="{FF2B5EF4-FFF2-40B4-BE49-F238E27FC236}">
                <a16:creationId xmlns:a16="http://schemas.microsoft.com/office/drawing/2014/main" id="{696511D3-0DE9-DAF5-8912-CE94D211DCA6}"/>
              </a:ext>
            </a:extLst>
          </p:cNvPr>
          <p:cNvSpPr txBox="1">
            <a:spLocks/>
          </p:cNvSpPr>
          <p:nvPr/>
        </p:nvSpPr>
        <p:spPr>
          <a:xfrm>
            <a:off x="128960" y="226552"/>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a:solidFill>
                  <a:srgbClr val="0E39A9"/>
                </a:solidFill>
              </a:rPr>
              <a:t>Question Answering using LLM with Prompt Engineering</a:t>
            </a:r>
          </a:p>
        </p:txBody>
      </p:sp>
      <p:sp>
        <p:nvSpPr>
          <p:cNvPr id="3" name="Google Shape;252;p52">
            <a:extLst>
              <a:ext uri="{FF2B5EF4-FFF2-40B4-BE49-F238E27FC236}">
                <a16:creationId xmlns:a16="http://schemas.microsoft.com/office/drawing/2014/main" id="{84CB8887-9910-92B1-8231-6AB0E3B69011}"/>
              </a:ext>
            </a:extLst>
          </p:cNvPr>
          <p:cNvSpPr txBox="1"/>
          <p:nvPr/>
        </p:nvSpPr>
        <p:spPr>
          <a:xfrm>
            <a:off x="264422" y="807126"/>
            <a:ext cx="8588387" cy="594285"/>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sz="1050" b="1">
                <a:solidFill>
                  <a:schemeClr val="accent6">
                    <a:lumMod val="50000"/>
                  </a:schemeClr>
                </a:solidFill>
                <a:latin typeface="Montserrat"/>
                <a:ea typeface="Montserrat"/>
                <a:cs typeface="Montserrat"/>
                <a:sym typeface="Montserrat"/>
              </a:rPr>
              <a:t>Questions</a:t>
            </a:r>
          </a:p>
          <a:p>
            <a:pPr marL="285750" indent="-285750">
              <a:buFont typeface="Arial" panose="020B0604020202020204" pitchFamily="34" charset="0"/>
              <a:buChar char="•"/>
            </a:pPr>
            <a:r>
              <a:rPr lang="en-US" sz="1050"/>
              <a:t>What is the protocol for managing sepsis in a critical care unit?</a:t>
            </a:r>
          </a:p>
        </p:txBody>
      </p:sp>
    </p:spTree>
    <p:extLst>
      <p:ext uri="{BB962C8B-B14F-4D97-AF65-F5344CB8AC3E}">
        <p14:creationId xmlns:p14="http://schemas.microsoft.com/office/powerpoint/2010/main" val="3637238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BEDD4B9B-475F-AAAF-5CBF-096A8B532B23}"/>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EDCA1FA2-BAF1-AD21-0EC6-EB016C70EAB8}"/>
              </a:ext>
            </a:extLst>
          </p:cNvPr>
          <p:cNvSpPr txBox="1">
            <a:spLocks noGrp="1"/>
          </p:cNvSpPr>
          <p:nvPr>
            <p:ph type="title"/>
          </p:nvPr>
        </p:nvSpPr>
        <p:spPr>
          <a:xfrm>
            <a:off x="202550" y="197053"/>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Question Answering using LLM with Prompt Engineering</a:t>
            </a:r>
            <a:endParaRPr sz="2400">
              <a:solidFill>
                <a:srgbClr val="0E39A9"/>
              </a:solidFill>
            </a:endParaRPr>
          </a:p>
        </p:txBody>
      </p:sp>
      <p:sp>
        <p:nvSpPr>
          <p:cNvPr id="252" name="Google Shape;252;p52">
            <a:extLst>
              <a:ext uri="{FF2B5EF4-FFF2-40B4-BE49-F238E27FC236}">
                <a16:creationId xmlns:a16="http://schemas.microsoft.com/office/drawing/2014/main" id="{2EF88904-AE14-9A25-8D2D-B2AB8231E878}"/>
              </a:ext>
            </a:extLst>
          </p:cNvPr>
          <p:cNvSpPr txBox="1"/>
          <p:nvPr/>
        </p:nvSpPr>
        <p:spPr>
          <a:xfrm>
            <a:off x="329932" y="1529334"/>
            <a:ext cx="8588387" cy="3231624"/>
          </a:xfrm>
          <a:prstGeom prst="roundRect">
            <a:avLst>
              <a:gd name="adj" fmla="val 1008"/>
            </a:avLst>
          </a:prstGeom>
          <a:noFill/>
          <a:ln>
            <a:solidFill>
              <a:schemeClr val="accent1">
                <a:lumMod val="60000"/>
                <a:lumOff val="40000"/>
              </a:schemeClr>
            </a:solidFill>
          </a:ln>
        </p:spPr>
        <p:txBody>
          <a:bodyPr spcFirstLastPara="1" wrap="square" lIns="91425" tIns="91425" rIns="91425" bIns="91425" anchor="t" anchorCtr="0">
            <a:spAutoFit/>
          </a:bodyPr>
          <a:lstStyle/>
          <a:p>
            <a:pPr fontAlgn="auto"/>
            <a:r>
              <a:rPr lang="en-US" sz="900">
                <a:solidFill>
                  <a:schemeClr val="accent6">
                    <a:lumMod val="50000"/>
                  </a:schemeClr>
                </a:solidFill>
              </a:rPr>
              <a:t>Assessment:</a:t>
            </a:r>
          </a:p>
          <a:p>
            <a:pPr fontAlgn="auto"/>
            <a:r>
              <a:rPr lang="en-US" sz="900">
                <a:solidFill>
                  <a:schemeClr val="accent6">
                    <a:lumMod val="50000"/>
                  </a:schemeClr>
                </a:solidFill>
              </a:rPr>
              <a:t>The context does not provide sufficient information about specific symptoms or whether appendicitis can be cured with medication. However, common symptoms of appendicitis include abdominal pain (usually localized in the right lower quadrant), loss of appetite, nausea and vomiting, fever, and rebound tenderness.</a:t>
            </a:r>
          </a:p>
          <a:p>
            <a:pPr fontAlgn="auto"/>
            <a:endParaRPr lang="en-US" sz="900">
              <a:solidFill>
                <a:schemeClr val="accent6">
                  <a:lumMod val="50000"/>
                </a:schemeClr>
              </a:solidFill>
            </a:endParaRPr>
          </a:p>
          <a:p>
            <a:pPr fontAlgn="auto"/>
            <a:r>
              <a:rPr lang="en-US" sz="900">
                <a:solidFill>
                  <a:schemeClr val="accent6">
                    <a:lumMod val="50000"/>
                  </a:schemeClr>
                </a:solidFill>
              </a:rPr>
              <a:t>Immediate Actions:</a:t>
            </a:r>
          </a:p>
          <a:p>
            <a:pPr fontAlgn="auto"/>
            <a:r>
              <a:rPr lang="en-US" sz="900">
                <a:solidFill>
                  <a:schemeClr val="accent6">
                    <a:lumMod val="50000"/>
                  </a:schemeClr>
                </a:solidFill>
              </a:rPr>
              <a:t>If there is suspicion of appendicitis, consider it a surgical emergency due to potential rupture and peritonitis. Immediately initiate broad-spectrum antibiotics for sepsis prophylaxis. Secure intravenous access and prepare for possible surgery.</a:t>
            </a:r>
          </a:p>
          <a:p>
            <a:pPr fontAlgn="auto"/>
            <a:endParaRPr lang="en-US" sz="900">
              <a:solidFill>
                <a:schemeClr val="accent6">
                  <a:lumMod val="50000"/>
                </a:schemeClr>
              </a:solidFill>
            </a:endParaRPr>
          </a:p>
          <a:p>
            <a:pPr fontAlgn="auto"/>
            <a:r>
              <a:rPr lang="en-US" sz="900">
                <a:solidFill>
                  <a:schemeClr val="accent6">
                    <a:lumMod val="50000"/>
                  </a:schemeClr>
                </a:solidFill>
              </a:rPr>
              <a:t>Diagnostics:</a:t>
            </a:r>
          </a:p>
          <a:p>
            <a:pPr fontAlgn="auto"/>
            <a:r>
              <a:rPr lang="en-US" sz="900">
                <a:solidFill>
                  <a:schemeClr val="accent6">
                    <a:lumMod val="50000"/>
                  </a:schemeClr>
                </a:solidFill>
              </a:rPr>
              <a:t>Confirm the diagnosis with imaging studies such as ultrasound or CT scan. A positive finding of an inflamed appendix with a diameter greater than 6mm, periappendiceal fat stranding, and free fluid in the right lower quadrant is indicative of appendicitis.</a:t>
            </a:r>
          </a:p>
          <a:p>
            <a:pPr fontAlgn="auto"/>
            <a:endParaRPr lang="en-US" sz="900">
              <a:solidFill>
                <a:schemeClr val="accent6">
                  <a:lumMod val="50000"/>
                </a:schemeClr>
              </a:solidFill>
            </a:endParaRPr>
          </a:p>
          <a:p>
            <a:pPr fontAlgn="auto"/>
            <a:r>
              <a:rPr lang="en-US" sz="900">
                <a:solidFill>
                  <a:schemeClr val="accent6">
                    <a:lumMod val="50000"/>
                  </a:schemeClr>
                </a:solidFill>
              </a:rPr>
              <a:t>Treatment:</a:t>
            </a:r>
          </a:p>
          <a:p>
            <a:pPr fontAlgn="auto"/>
            <a:r>
              <a:rPr lang="en-US" sz="900">
                <a:solidFill>
                  <a:schemeClr val="accent6">
                    <a:lumMod val="50000"/>
                  </a:schemeClr>
                </a:solidFill>
              </a:rPr>
              <a:t>The standard treatment for appendicitis is surgical removal of the appendix (appendectomy). This can be performed as an open procedure or laparoscopically, depending on the patient's condition and surgeon's preference. Post-operative care includes pain management, antibiotics to treat any existing infection, and monitoring for complications such as wound infection or post-operative ileus.</a:t>
            </a:r>
          </a:p>
          <a:p>
            <a:pPr fontAlgn="auto"/>
            <a:endParaRPr lang="en-US" sz="900">
              <a:solidFill>
                <a:schemeClr val="accent6">
                  <a:lumMod val="50000"/>
                </a:schemeClr>
              </a:solidFill>
            </a:endParaRPr>
          </a:p>
          <a:p>
            <a:pPr fontAlgn="auto"/>
            <a:r>
              <a:rPr lang="en-US" sz="900">
                <a:solidFill>
                  <a:schemeClr val="accent6">
                    <a:lumMod val="50000"/>
                  </a:schemeClr>
                </a:solidFill>
              </a:rPr>
              <a:t>Warnings / Escalation:</a:t>
            </a:r>
          </a:p>
          <a:p>
            <a:pPr fontAlgn="auto"/>
            <a:r>
              <a:rPr lang="en-US" sz="900">
                <a:solidFill>
                  <a:schemeClr val="accent6">
                    <a:lumMod val="50000"/>
                  </a:schemeClr>
                </a:solidFill>
              </a:rPr>
              <a:t>If there is a delay in diagnosis or treatment of appendicitis, the appendix may rupture, leading to peritonitis, sepsis, and potential organ failure. In this case, immediate surgical intervention is required to prevent further complications. Additionally, consider other differential diagnoses such as Crohn's disease, diverticulitis, or ectopic pregnancy when evaluating patients with suspected appendicitis.</a:t>
            </a:r>
          </a:p>
        </p:txBody>
      </p:sp>
      <p:sp>
        <p:nvSpPr>
          <p:cNvPr id="2" name="Google Shape;252;p52">
            <a:extLst>
              <a:ext uri="{FF2B5EF4-FFF2-40B4-BE49-F238E27FC236}">
                <a16:creationId xmlns:a16="http://schemas.microsoft.com/office/drawing/2014/main" id="{339C86BE-7357-E4D7-0389-72589499C882}"/>
              </a:ext>
            </a:extLst>
          </p:cNvPr>
          <p:cNvSpPr txBox="1"/>
          <p:nvPr/>
        </p:nvSpPr>
        <p:spPr>
          <a:xfrm>
            <a:off x="329932" y="727011"/>
            <a:ext cx="8588387" cy="757430"/>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 sz="105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50"/>
              <a:t>What are the common symptoms of appendicitis, and can it be cured via medicine? If not, what surgical procedure should be followed to treat it?</a:t>
            </a:r>
          </a:p>
        </p:txBody>
      </p:sp>
    </p:spTree>
    <p:extLst>
      <p:ext uri="{BB962C8B-B14F-4D97-AF65-F5344CB8AC3E}">
        <p14:creationId xmlns:p14="http://schemas.microsoft.com/office/powerpoint/2010/main" val="1920126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C77DA1B8-BB2E-45D4-D63B-A0F9F03CBC72}"/>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CA3CAD33-067A-6EA4-B2B0-290B86C74B3F}"/>
              </a:ext>
            </a:extLst>
          </p:cNvPr>
          <p:cNvSpPr txBox="1">
            <a:spLocks noGrp="1"/>
          </p:cNvSpPr>
          <p:nvPr>
            <p:ph type="title"/>
          </p:nvPr>
        </p:nvSpPr>
        <p:spPr>
          <a:xfrm>
            <a:off x="197712" y="148672"/>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Question Answering using LLM with Prompt Engineering</a:t>
            </a:r>
            <a:endParaRPr sz="2400">
              <a:solidFill>
                <a:srgbClr val="0E39A9"/>
              </a:solidFill>
            </a:endParaRPr>
          </a:p>
        </p:txBody>
      </p:sp>
      <p:sp>
        <p:nvSpPr>
          <p:cNvPr id="252" name="Google Shape;252;p52">
            <a:extLst>
              <a:ext uri="{FF2B5EF4-FFF2-40B4-BE49-F238E27FC236}">
                <a16:creationId xmlns:a16="http://schemas.microsoft.com/office/drawing/2014/main" id="{C1BE011B-4909-52FF-CB1E-5AFAAAA42BA8}"/>
              </a:ext>
            </a:extLst>
          </p:cNvPr>
          <p:cNvSpPr txBox="1"/>
          <p:nvPr/>
        </p:nvSpPr>
        <p:spPr>
          <a:xfrm>
            <a:off x="329932" y="1490630"/>
            <a:ext cx="8588387" cy="3262401"/>
          </a:xfrm>
          <a:prstGeom prst="roundRect">
            <a:avLst>
              <a:gd name="adj" fmla="val 1057"/>
            </a:avLst>
          </a:prstGeom>
          <a:noFill/>
          <a:ln>
            <a:solidFill>
              <a:schemeClr val="accent1">
                <a:lumMod val="60000"/>
                <a:lumOff val="40000"/>
              </a:schemeClr>
            </a:solidFill>
          </a:ln>
        </p:spPr>
        <p:txBody>
          <a:bodyPr spcFirstLastPara="1" wrap="square" lIns="91425" tIns="91425" rIns="91425" bIns="91425" anchor="t" anchorCtr="0">
            <a:spAutoFit/>
          </a:bodyPr>
          <a:lstStyle/>
          <a:p>
            <a:pPr fontAlgn="auto"/>
            <a:r>
              <a:rPr lang="en-US" sz="800">
                <a:solidFill>
                  <a:schemeClr val="accent6">
                    <a:lumMod val="50000"/>
                  </a:schemeClr>
                </a:solidFill>
              </a:rPr>
              <a:t>Context:</a:t>
            </a:r>
          </a:p>
          <a:p>
            <a:pPr fontAlgn="auto"/>
            <a:r>
              <a:rPr lang="en-US" sz="800">
                <a:solidFill>
                  <a:schemeClr val="accent6">
                    <a:lumMod val="50000"/>
                  </a:schemeClr>
                </a:solidFill>
              </a:rPr>
              <a:t>A 35-year-old female patient presents with a concern about sudden patchy hair loss. She describes the issue as localized bald spots on her scalp that have appeared over the past few weeks. The patches are round in shape, approximately 1 inch in diameter, and seem to be spreading slowly. She denies any recent stressors or significant life changes. Her medical history is unremarkable, with no known allergies or autoimmune disorders.</a:t>
            </a:r>
          </a:p>
          <a:p>
            <a:pPr fontAlgn="auto"/>
            <a:endParaRPr lang="en-US" sz="800">
              <a:solidFill>
                <a:schemeClr val="accent6">
                  <a:lumMod val="50000"/>
                </a:schemeClr>
              </a:solidFill>
            </a:endParaRPr>
          </a:p>
          <a:p>
            <a:pPr fontAlgn="auto"/>
            <a:r>
              <a:rPr lang="en-US" sz="800">
                <a:solidFill>
                  <a:schemeClr val="accent6">
                    <a:lumMod val="50000"/>
                  </a:schemeClr>
                </a:solidFill>
              </a:rPr>
              <a:t>Assessment:</a:t>
            </a:r>
          </a:p>
          <a:p>
            <a:pPr fontAlgn="auto"/>
            <a:r>
              <a:rPr lang="en-US" sz="800">
                <a:solidFill>
                  <a:schemeClr val="accent6">
                    <a:lumMod val="50000"/>
                  </a:schemeClr>
                </a:solidFill>
              </a:rPr>
              <a:t>The patient's symptoms suggest a form of alopecia areata, an autoimmune disorder causing patchy hair loss. The round bald spots and slow spreading indicate the early stages of this condition.</a:t>
            </a:r>
          </a:p>
          <a:p>
            <a:pPr fontAlgn="auto"/>
            <a:endParaRPr lang="en-US" sz="800">
              <a:solidFill>
                <a:schemeClr val="accent6">
                  <a:lumMod val="50000"/>
                </a:schemeClr>
              </a:solidFill>
            </a:endParaRPr>
          </a:p>
          <a:p>
            <a:pPr fontAlgn="auto"/>
            <a:r>
              <a:rPr lang="en-US" sz="800">
                <a:solidFill>
                  <a:schemeClr val="accent6">
                    <a:lumMod val="50000"/>
                  </a:schemeClr>
                </a:solidFill>
              </a:rPr>
              <a:t>Immediate Actions:</a:t>
            </a:r>
          </a:p>
          <a:p>
            <a:pPr fontAlgn="auto"/>
            <a:r>
              <a:rPr lang="en-US" sz="800">
                <a:solidFill>
                  <a:schemeClr val="accent6">
                    <a:lumMod val="50000"/>
                  </a:schemeClr>
                </a:solidFill>
              </a:rPr>
              <a:t>None required at this time as the issue does not pose an immediate threat to the patient's health or safety.</a:t>
            </a:r>
          </a:p>
          <a:p>
            <a:pPr fontAlgn="auto"/>
            <a:endParaRPr lang="en-US" sz="800">
              <a:solidFill>
                <a:schemeClr val="accent6">
                  <a:lumMod val="50000"/>
                </a:schemeClr>
              </a:solidFill>
            </a:endParaRPr>
          </a:p>
          <a:p>
            <a:pPr fontAlgn="auto"/>
            <a:r>
              <a:rPr lang="en-US" sz="800">
                <a:solidFill>
                  <a:schemeClr val="accent6">
                    <a:lumMod val="50000"/>
                  </a:schemeClr>
                </a:solidFill>
              </a:rPr>
              <a:t>Diagnostics:</a:t>
            </a:r>
          </a:p>
          <a:p>
            <a:pPr fontAlgn="auto"/>
            <a:r>
              <a:rPr lang="en-US" sz="800">
                <a:solidFill>
                  <a:schemeClr val="accent6">
                    <a:lumMod val="50000"/>
                  </a:schemeClr>
                </a:solidFill>
              </a:rPr>
              <a:t>A scalp biopsy may be performed to confirm the diagnosis of alopecia areata. Other diagnostic tests, such as a complete blood count (CBC), thyroid function tests, and autoimmune panels, can help rule out other causes of hair loss.</a:t>
            </a:r>
          </a:p>
          <a:p>
            <a:pPr fontAlgn="auto"/>
            <a:endParaRPr lang="en-US" sz="800">
              <a:solidFill>
                <a:schemeClr val="accent6">
                  <a:lumMod val="50000"/>
                </a:schemeClr>
              </a:solidFill>
            </a:endParaRPr>
          </a:p>
          <a:p>
            <a:pPr fontAlgn="auto"/>
            <a:r>
              <a:rPr lang="en-US" sz="800">
                <a:solidFill>
                  <a:schemeClr val="accent6">
                    <a:lumMod val="50000"/>
                  </a:schemeClr>
                </a:solidFill>
              </a:rPr>
              <a:t>Treatment:</a:t>
            </a:r>
          </a:p>
          <a:p>
            <a:pPr fontAlgn="auto"/>
            <a:r>
              <a:rPr lang="en-US" sz="800">
                <a:solidFill>
                  <a:schemeClr val="accent6">
                    <a:lumMod val="50000"/>
                  </a:schemeClr>
                </a:solidFill>
              </a:rPr>
              <a:t>Topical treatments like minoxidil or corticosteroids may be prescribed to promote hair regrowth in the affected areas. Intra-lesional corticosteroid injections can also be considered for more severe cases. Systemic treatments, such as oral corticosteroids or immunosuppressants, may be recommended if the condition affects a large area of the scalp or causes significant psychological distress.</a:t>
            </a:r>
          </a:p>
          <a:p>
            <a:pPr fontAlgn="auto"/>
            <a:endParaRPr lang="en-US" sz="800">
              <a:solidFill>
                <a:schemeClr val="accent6">
                  <a:lumMod val="50000"/>
                </a:schemeClr>
              </a:solidFill>
            </a:endParaRPr>
          </a:p>
          <a:p>
            <a:pPr fontAlgn="auto"/>
            <a:r>
              <a:rPr lang="en-US" sz="800">
                <a:solidFill>
                  <a:schemeClr val="accent6">
                    <a:lumMod val="50000"/>
                  </a:schemeClr>
                </a:solidFill>
              </a:rPr>
              <a:t>Warnings / Escalation:</a:t>
            </a:r>
          </a:p>
          <a:p>
            <a:pPr fontAlgn="auto"/>
            <a:r>
              <a:rPr lang="en-US" sz="800">
                <a:solidFill>
                  <a:schemeClr val="accent6">
                    <a:lumMod val="50000"/>
                  </a:schemeClr>
                </a:solidFill>
              </a:rPr>
              <a:t>Monitor the patient's progress and assess the need for escalating treatment based on the size and number of bald patches, as well as the patient's emotional response to the condition. If the condition worsens or spreads rapidly, consider referring the patient to a dermatologist for further evaluation and potential systemic treatments. Additionally, if the patient reports any new symptoms or signs of infection in the affected areas, seek medical attention promptly.</a:t>
            </a:r>
          </a:p>
        </p:txBody>
      </p:sp>
      <p:sp>
        <p:nvSpPr>
          <p:cNvPr id="2" name="Google Shape;252;p52">
            <a:extLst>
              <a:ext uri="{FF2B5EF4-FFF2-40B4-BE49-F238E27FC236}">
                <a16:creationId xmlns:a16="http://schemas.microsoft.com/office/drawing/2014/main" id="{5E82F85F-C1E9-33F3-851B-970EC33D49BE}"/>
              </a:ext>
            </a:extLst>
          </p:cNvPr>
          <p:cNvSpPr txBox="1"/>
          <p:nvPr/>
        </p:nvSpPr>
        <p:spPr>
          <a:xfrm>
            <a:off x="329932" y="673792"/>
            <a:ext cx="8588387" cy="757430"/>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 sz="105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50"/>
              <a:t>What are the effective treatments or solutions for addressing sudden patchy hair loss, commonly seen as localized bald spots on the scalp, and what could be the possible causes behind it?</a:t>
            </a:r>
          </a:p>
        </p:txBody>
      </p:sp>
    </p:spTree>
    <p:extLst>
      <p:ext uri="{BB962C8B-B14F-4D97-AF65-F5344CB8AC3E}">
        <p14:creationId xmlns:p14="http://schemas.microsoft.com/office/powerpoint/2010/main" val="65054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A41C4610-FDFD-676C-2E12-1CC72668ADF1}"/>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F4D19EE5-0843-8265-50B8-10CB5EA3E1EA}"/>
              </a:ext>
            </a:extLst>
          </p:cNvPr>
          <p:cNvSpPr txBox="1">
            <a:spLocks noGrp="1"/>
          </p:cNvSpPr>
          <p:nvPr>
            <p:ph type="title"/>
          </p:nvPr>
        </p:nvSpPr>
        <p:spPr>
          <a:xfrm>
            <a:off x="129979" y="114806"/>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Question Answering using LLM with Prompt Engineering</a:t>
            </a:r>
            <a:endParaRPr sz="2400">
              <a:solidFill>
                <a:srgbClr val="0E39A9"/>
              </a:solidFill>
            </a:endParaRPr>
          </a:p>
        </p:txBody>
      </p:sp>
      <p:sp>
        <p:nvSpPr>
          <p:cNvPr id="252" name="Google Shape;252;p52">
            <a:extLst>
              <a:ext uri="{FF2B5EF4-FFF2-40B4-BE49-F238E27FC236}">
                <a16:creationId xmlns:a16="http://schemas.microsoft.com/office/drawing/2014/main" id="{DFEFA200-024F-EF07-B127-3836EF3BB1B9}"/>
              </a:ext>
            </a:extLst>
          </p:cNvPr>
          <p:cNvSpPr txBox="1"/>
          <p:nvPr/>
        </p:nvSpPr>
        <p:spPr>
          <a:xfrm>
            <a:off x="202551" y="1348610"/>
            <a:ext cx="8588387" cy="3754844"/>
          </a:xfrm>
          <a:prstGeom prst="roundRect">
            <a:avLst>
              <a:gd name="adj" fmla="val 919"/>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US" sz="800">
                <a:solidFill>
                  <a:schemeClr val="accent6">
                    <a:lumMod val="50000"/>
                  </a:schemeClr>
                </a:solidFill>
              </a:rPr>
              <a:t>Assessment:</a:t>
            </a:r>
          </a:p>
          <a:p>
            <a:pPr lvl="0">
              <a:buSzPts val="1400"/>
            </a:pPr>
            <a:r>
              <a:rPr lang="en-US" sz="800">
                <a:solidFill>
                  <a:schemeClr val="accent6">
                    <a:lumMod val="50000"/>
                  </a:schemeClr>
                </a:solidFill>
              </a:rPr>
              <a:t>The provided context does not specify the extent or nature of the brain injury. It is essential to assess the level of consciousness, pupil response, motor function, and vital signs. If there are signs of increased intracranial pressure (ICP), such as headache, vomiting, altered mental status, or decreased level of consciousness, consider it a medical emergency.</a:t>
            </a:r>
          </a:p>
          <a:p>
            <a:pPr lvl="0">
              <a:buSzPts val="1400"/>
            </a:pPr>
            <a:endParaRPr lang="en-US" sz="800">
              <a:solidFill>
                <a:schemeClr val="accent6">
                  <a:lumMod val="50000"/>
                </a:schemeClr>
              </a:solidFill>
            </a:endParaRPr>
          </a:p>
          <a:p>
            <a:pPr lvl="0">
              <a:buSzPts val="1400"/>
            </a:pPr>
            <a:r>
              <a:rPr lang="en-US" sz="800">
                <a:solidFill>
                  <a:schemeClr val="accent6">
                    <a:lumMod val="50000"/>
                  </a:schemeClr>
                </a:solidFill>
              </a:rPr>
              <a:t>Immediate Actions:</a:t>
            </a:r>
          </a:p>
          <a:p>
            <a:pPr lvl="0">
              <a:buSzPts val="1400"/>
            </a:pPr>
            <a:r>
              <a:rPr lang="en-US" sz="800">
                <a:solidFill>
                  <a:schemeClr val="accent6">
                    <a:lumMod val="50000"/>
                  </a:schemeClr>
                </a:solidFill>
              </a:rPr>
              <a:t>1. Ensure the airway is clear and secure.</a:t>
            </a:r>
          </a:p>
          <a:p>
            <a:pPr lvl="0">
              <a:buSzPts val="1400"/>
            </a:pPr>
            <a:r>
              <a:rPr lang="en-US" sz="800">
                <a:solidFill>
                  <a:schemeClr val="accent6">
                    <a:lumMod val="50000"/>
                  </a:schemeClr>
                </a:solidFill>
              </a:rPr>
              <a:t>2. Monitor vital signs closely.</a:t>
            </a:r>
          </a:p>
          <a:p>
            <a:pPr lvl="0">
              <a:buSzPts val="1400"/>
            </a:pPr>
            <a:r>
              <a:rPr lang="en-US" sz="800">
                <a:solidFill>
                  <a:schemeClr val="accent6">
                    <a:lumMod val="50000"/>
                  </a:schemeClr>
                </a:solidFill>
              </a:rPr>
              <a:t>3. Provide oxygen supplementation if necessary.</a:t>
            </a:r>
          </a:p>
          <a:p>
            <a:pPr lvl="0">
              <a:buSzPts val="1400"/>
            </a:pPr>
            <a:r>
              <a:rPr lang="en-US" sz="800">
                <a:solidFill>
                  <a:schemeClr val="accent6">
                    <a:lumMod val="50000"/>
                  </a:schemeClr>
                </a:solidFill>
              </a:rPr>
              <a:t>4. Control any bleeding if present.</a:t>
            </a:r>
          </a:p>
          <a:p>
            <a:pPr lvl="0">
              <a:buSzPts val="1400"/>
            </a:pPr>
            <a:r>
              <a:rPr lang="en-US" sz="800">
                <a:solidFill>
                  <a:schemeClr val="accent6">
                    <a:lumMod val="50000"/>
                  </a:schemeClr>
                </a:solidFill>
              </a:rPr>
              <a:t>5. Administer glucose if the patient is unconscious or unresponsive.</a:t>
            </a:r>
          </a:p>
          <a:p>
            <a:pPr lvl="0">
              <a:buSzPts val="1400"/>
            </a:pPr>
            <a:r>
              <a:rPr lang="en-US" sz="800">
                <a:solidFill>
                  <a:schemeClr val="accent6">
                    <a:lumMod val="50000"/>
                  </a:schemeClr>
                </a:solidFill>
              </a:rPr>
              <a:t>6. If there are signs of increased ICP, consider administering mannitol or hyperventilation to reduce ICP.</a:t>
            </a:r>
          </a:p>
          <a:p>
            <a:pPr lvl="0">
              <a:buSzPts val="1400"/>
            </a:pPr>
            <a:r>
              <a:rPr lang="en-US" sz="800">
                <a:solidFill>
                  <a:schemeClr val="accent6">
                    <a:lumMod val="50000"/>
                  </a:schemeClr>
                </a:solidFill>
              </a:rPr>
              <a:t>7. If the patient is not breathing, initiate cardiopulmonary resuscitation (CPR).</a:t>
            </a:r>
          </a:p>
          <a:p>
            <a:pPr lvl="0">
              <a:buSzPts val="1400"/>
            </a:pPr>
            <a:endParaRPr lang="en-US" sz="800">
              <a:solidFill>
                <a:schemeClr val="accent6">
                  <a:lumMod val="50000"/>
                </a:schemeClr>
              </a:solidFill>
            </a:endParaRPr>
          </a:p>
          <a:p>
            <a:pPr lvl="0">
              <a:buSzPts val="1400"/>
            </a:pPr>
            <a:r>
              <a:rPr lang="en-US" sz="800">
                <a:solidFill>
                  <a:schemeClr val="accent6">
                    <a:lumMod val="50000"/>
                  </a:schemeClr>
                </a:solidFill>
              </a:rPr>
              <a:t>Diagnostics:</a:t>
            </a:r>
          </a:p>
          <a:p>
            <a:pPr lvl="0">
              <a:buSzPts val="1400"/>
            </a:pPr>
            <a:r>
              <a:rPr lang="en-US" sz="800">
                <a:solidFill>
                  <a:schemeClr val="accent6">
                    <a:lumMod val="50000"/>
                  </a:schemeClr>
                </a:solidFill>
              </a:rPr>
              <a:t>1. Obtain a detailed history from the patient or family members if possible.</a:t>
            </a:r>
          </a:p>
          <a:p>
            <a:pPr lvl="0">
              <a:buSzPts val="1400"/>
            </a:pPr>
            <a:r>
              <a:rPr lang="en-US" sz="800">
                <a:solidFill>
                  <a:schemeClr val="accent6">
                    <a:lumMod val="50000"/>
                  </a:schemeClr>
                </a:solidFill>
              </a:rPr>
              <a:t>2. Perform a physical examination focusing on neurological assessment.</a:t>
            </a:r>
          </a:p>
          <a:p>
            <a:pPr lvl="0">
              <a:buSzPts val="1400"/>
            </a:pPr>
            <a:r>
              <a:rPr lang="en-US" sz="800">
                <a:solidFill>
                  <a:schemeClr val="accent6">
                    <a:lumMod val="50000"/>
                  </a:schemeClr>
                </a:solidFill>
              </a:rPr>
              <a:t>3. Order imaging studies such as CT scan or MRI to evaluate the extent and location of brain injury.</a:t>
            </a:r>
          </a:p>
          <a:p>
            <a:pPr lvl="0">
              <a:buSzPts val="1400"/>
            </a:pPr>
            <a:r>
              <a:rPr lang="en-US" sz="800">
                <a:solidFill>
                  <a:schemeClr val="accent6">
                    <a:lumMod val="50000"/>
                  </a:schemeClr>
                </a:solidFill>
              </a:rPr>
              <a:t>4. Consider obtaining laboratory tests, including complete blood count (CBC), coagulation panel, glucose level, and toxicology screen if indicated.</a:t>
            </a:r>
          </a:p>
          <a:p>
            <a:pPr lvl="0">
              <a:buSzPts val="1400"/>
            </a:pPr>
            <a:r>
              <a:rPr lang="en-US" sz="800">
                <a:solidFill>
                  <a:schemeClr val="accent6">
                    <a:lumMod val="50000"/>
                  </a:schemeClr>
                </a:solidFill>
              </a:rPr>
              <a:t>5. Consult with a neurologist or neurosurgeon for further evaluation and management.</a:t>
            </a:r>
          </a:p>
          <a:p>
            <a:pPr lvl="0">
              <a:buSzPts val="1400"/>
            </a:pPr>
            <a:endParaRPr lang="en-US" sz="800">
              <a:solidFill>
                <a:schemeClr val="accent6">
                  <a:lumMod val="50000"/>
                </a:schemeClr>
              </a:solidFill>
            </a:endParaRPr>
          </a:p>
          <a:p>
            <a:pPr lvl="0">
              <a:buSzPts val="1400"/>
            </a:pPr>
            <a:r>
              <a:rPr lang="en-US" sz="800">
                <a:solidFill>
                  <a:schemeClr val="accent6">
                    <a:lumMod val="50000"/>
                  </a:schemeClr>
                </a:solidFill>
              </a:rPr>
              <a:t>Treatment:</a:t>
            </a:r>
          </a:p>
          <a:p>
            <a:pPr lvl="0">
              <a:buSzPts val="1400"/>
            </a:pPr>
            <a:r>
              <a:rPr lang="en-US" sz="800">
                <a:solidFill>
                  <a:schemeClr val="accent6">
                    <a:lumMod val="50000"/>
                  </a:schemeClr>
                </a:solidFill>
              </a:rPr>
              <a:t>1. Provide supportive care, such as maintaining adequate hydration, nutrition, and preventing complications like infections.</a:t>
            </a:r>
          </a:p>
          <a:p>
            <a:pPr lvl="0">
              <a:buSzPts val="1400"/>
            </a:pPr>
            <a:r>
              <a:rPr lang="en-US" sz="800">
                <a:solidFill>
                  <a:schemeClr val="accent6">
                    <a:lumMod val="50000"/>
                  </a:schemeClr>
                </a:solidFill>
              </a:rPr>
              <a:t>2. Administer medications to manage symptoms, such as analgesics for pain, anticonvulsants for seizures, or diuretics for increased ICP.</a:t>
            </a:r>
          </a:p>
          <a:p>
            <a:pPr lvl="0">
              <a:buSzPts val="1400"/>
            </a:pPr>
            <a:r>
              <a:rPr lang="en-US" sz="800">
                <a:solidFill>
                  <a:schemeClr val="accent6">
                    <a:lumMod val="50000"/>
                  </a:schemeClr>
                </a:solidFill>
              </a:rPr>
              <a:t>3. Consider surgical intervention if there is a mass lesion, hematoma, or herniation causing brain compression.</a:t>
            </a:r>
          </a:p>
          <a:p>
            <a:pPr lvl="0">
              <a:buSzPts val="1400"/>
            </a:pPr>
            <a:r>
              <a:rPr lang="en-US" sz="800">
                <a:solidFill>
                  <a:schemeClr val="accent6">
                    <a:lumMod val="50000"/>
                  </a:schemeClr>
                </a:solidFill>
              </a:rPr>
              <a:t>4. Provide rehabilitation services, including physical therapy, occupational therapy, and speech therapy, to help the patient regain lost functions.</a:t>
            </a:r>
          </a:p>
          <a:p>
            <a:pPr lvl="0">
              <a:buSzPts val="1400"/>
            </a:pPr>
            <a:r>
              <a:rPr lang="en-US" sz="800">
                <a:solidFill>
                  <a:schemeClr val="accent6">
                    <a:lumMod val="50000"/>
                  </a:schemeClr>
                </a:solidFill>
              </a:rPr>
              <a:t>5. Monitor the patient closely for any changes in condition and adjust treatment accordingly.</a:t>
            </a:r>
          </a:p>
          <a:p>
            <a:pPr lvl="0">
              <a:buSzPts val="1400"/>
            </a:pPr>
            <a:endParaRPr lang="en-US" sz="800">
              <a:solidFill>
                <a:schemeClr val="accent6">
                  <a:lumMod val="50000"/>
                </a:schemeClr>
              </a:solidFill>
            </a:endParaRPr>
          </a:p>
          <a:p>
            <a:pPr lvl="0">
              <a:buSzPts val="1400"/>
            </a:pPr>
            <a:r>
              <a:rPr lang="en-US" sz="800">
                <a:solidFill>
                  <a:schemeClr val="accent6">
                    <a:lumMod val="50000"/>
                  </a:schemeClr>
                </a:solidFill>
              </a:rPr>
              <a:t>Warnings / Escalation:</a:t>
            </a:r>
          </a:p>
          <a:p>
            <a:pPr lvl="0">
              <a:buSzPts val="1400"/>
            </a:pPr>
            <a:r>
              <a:rPr lang="en-US" sz="800">
                <a:solidFill>
                  <a:schemeClr val="accent6">
                    <a:lumMod val="50000"/>
                  </a:schemeClr>
                </a:solidFill>
              </a:rPr>
              <a:t>1. If there are signs of increased ICP or impending herniation (unequal pupils, decreased level of consciousness, motor deficits), consider intubating</a:t>
            </a:r>
          </a:p>
        </p:txBody>
      </p:sp>
      <p:sp>
        <p:nvSpPr>
          <p:cNvPr id="2" name="Google Shape;252;p52">
            <a:extLst>
              <a:ext uri="{FF2B5EF4-FFF2-40B4-BE49-F238E27FC236}">
                <a16:creationId xmlns:a16="http://schemas.microsoft.com/office/drawing/2014/main" id="{E1A0ACC2-50CD-5AD3-CD3D-82E9969D97DD}"/>
              </a:ext>
            </a:extLst>
          </p:cNvPr>
          <p:cNvSpPr txBox="1"/>
          <p:nvPr/>
        </p:nvSpPr>
        <p:spPr>
          <a:xfrm>
            <a:off x="202551" y="557313"/>
            <a:ext cx="8588387" cy="675857"/>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50" b="1">
                <a:solidFill>
                  <a:schemeClr val="accent6">
                    <a:lumMod val="50000"/>
                  </a:schemeClr>
                </a:solidFill>
                <a:latin typeface="Montserrat"/>
                <a:ea typeface="Montserrat"/>
                <a:cs typeface="Montserrat"/>
                <a:sym typeface="Montserrat"/>
              </a:rPr>
              <a:t>Questions</a:t>
            </a:r>
          </a:p>
          <a:p>
            <a:pPr marL="285750" indent="-285750">
              <a:buSzPts val="1400"/>
              <a:buFont typeface="Arial" panose="020B0604020202020204" pitchFamily="34" charset="0"/>
              <a:buChar char="•"/>
            </a:pPr>
            <a:r>
              <a:rPr lang="en-US" sz="1050"/>
              <a:t>What treatments are recommended for a person who has sustained a physical injury to brain tissue, resulting in temporary or permanent impairment of brain function?</a:t>
            </a:r>
          </a:p>
        </p:txBody>
      </p:sp>
    </p:spTree>
    <p:extLst>
      <p:ext uri="{BB962C8B-B14F-4D97-AF65-F5344CB8AC3E}">
        <p14:creationId xmlns:p14="http://schemas.microsoft.com/office/powerpoint/2010/main" val="3299006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12D36E8E-2FE2-BBCF-2478-31B1812E95F2}"/>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31700637-FF76-16CC-6EBC-A75E0750D56A}"/>
              </a:ext>
            </a:extLst>
          </p:cNvPr>
          <p:cNvSpPr txBox="1">
            <a:spLocks noGrp="1"/>
          </p:cNvSpPr>
          <p:nvPr>
            <p:ph type="title"/>
          </p:nvPr>
        </p:nvSpPr>
        <p:spPr>
          <a:xfrm>
            <a:off x="221901" y="5674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Question Answering using LLM with Prompt Engineering</a:t>
            </a:r>
            <a:endParaRPr sz="2400">
              <a:solidFill>
                <a:srgbClr val="0E39A9"/>
              </a:solidFill>
            </a:endParaRPr>
          </a:p>
        </p:txBody>
      </p:sp>
      <p:sp>
        <p:nvSpPr>
          <p:cNvPr id="252" name="Google Shape;252;p52">
            <a:extLst>
              <a:ext uri="{FF2B5EF4-FFF2-40B4-BE49-F238E27FC236}">
                <a16:creationId xmlns:a16="http://schemas.microsoft.com/office/drawing/2014/main" id="{48ABB8BB-77AB-9BD2-66C8-C3228251935D}"/>
              </a:ext>
            </a:extLst>
          </p:cNvPr>
          <p:cNvSpPr txBox="1"/>
          <p:nvPr/>
        </p:nvSpPr>
        <p:spPr>
          <a:xfrm>
            <a:off x="202551" y="1365224"/>
            <a:ext cx="7701225" cy="3631733"/>
          </a:xfrm>
          <a:prstGeom prst="roundRect">
            <a:avLst>
              <a:gd name="adj" fmla="val 430"/>
            </a:avLst>
          </a:prstGeom>
          <a:noFill/>
          <a:ln>
            <a:solidFill>
              <a:schemeClr val="accent1">
                <a:lumMod val="60000"/>
                <a:lumOff val="40000"/>
              </a:schemeClr>
            </a:solidFill>
          </a:ln>
        </p:spPr>
        <p:txBody>
          <a:bodyPr spcFirstLastPara="1" wrap="square" lIns="91425" tIns="91425" rIns="91425" bIns="91425" anchor="t" anchorCtr="0">
            <a:spAutoFit/>
          </a:bodyPr>
          <a:lstStyle/>
          <a:p>
            <a:pPr fontAlgn="auto"/>
            <a:r>
              <a:rPr lang="en-US" sz="700">
                <a:solidFill>
                  <a:schemeClr val="accent6">
                    <a:lumMod val="50000"/>
                  </a:schemeClr>
                </a:solidFill>
                <a:latin typeface="Montserrat"/>
                <a:ea typeface="Montserrat"/>
                <a:cs typeface="Montserrat"/>
                <a:sym typeface="Montserrat"/>
              </a:rPr>
              <a:t>Assessment:</a:t>
            </a:r>
          </a:p>
          <a:p>
            <a:pPr fontAlgn="auto"/>
            <a:r>
              <a:rPr lang="en-US" sz="700">
                <a:solidFill>
                  <a:schemeClr val="accent6">
                    <a:lumMod val="50000"/>
                  </a:schemeClr>
                </a:solidFill>
                <a:latin typeface="Montserrat"/>
                <a:ea typeface="Montserrat"/>
                <a:cs typeface="Montserrat"/>
                <a:sym typeface="Montserrat"/>
              </a:rPr>
              <a:t>A leg fracture is a common injury in hiking due to uneven terrain and falls. The assessment of a person with a suspected leg fracture includes evaluating the following:</a:t>
            </a:r>
          </a:p>
          <a:p>
            <a:pPr fontAlgn="auto"/>
            <a:r>
              <a:rPr lang="en-US" sz="700">
                <a:solidFill>
                  <a:schemeClr val="accent6">
                    <a:lumMod val="50000"/>
                  </a:schemeClr>
                </a:solidFill>
                <a:latin typeface="Montserrat"/>
                <a:ea typeface="Montserrat"/>
                <a:cs typeface="Montserrat"/>
                <a:sym typeface="Montserrat"/>
              </a:rPr>
              <a:t>1. Location and severity of pain</a:t>
            </a:r>
          </a:p>
          <a:p>
            <a:pPr fontAlgn="auto"/>
            <a:r>
              <a:rPr lang="en-US" sz="700">
                <a:solidFill>
                  <a:schemeClr val="accent6">
                    <a:lumMod val="50000"/>
                  </a:schemeClr>
                </a:solidFill>
                <a:latin typeface="Montserrat"/>
                <a:ea typeface="Montserrat"/>
                <a:cs typeface="Montserrat"/>
                <a:sym typeface="Montserrat"/>
              </a:rPr>
              <a:t>2. Swelling, deformity, or open wounds</a:t>
            </a:r>
          </a:p>
          <a:p>
            <a:pPr fontAlgn="auto"/>
            <a:r>
              <a:rPr lang="en-US" sz="700">
                <a:solidFill>
                  <a:schemeClr val="accent6">
                    <a:lumMod val="50000"/>
                  </a:schemeClr>
                </a:solidFill>
                <a:latin typeface="Montserrat"/>
                <a:ea typeface="Montserrat"/>
                <a:cs typeface="Montserrat"/>
                <a:sym typeface="Montserrat"/>
              </a:rPr>
              <a:t>3. Ability to bear weight</a:t>
            </a:r>
          </a:p>
          <a:p>
            <a:pPr fontAlgn="auto"/>
            <a:r>
              <a:rPr lang="en-US" sz="700">
                <a:solidFill>
                  <a:schemeClr val="accent6">
                    <a:lumMod val="50000"/>
                  </a:schemeClr>
                </a:solidFill>
                <a:latin typeface="Montserrat"/>
                <a:ea typeface="Montserrat"/>
                <a:cs typeface="Montserrat"/>
                <a:sym typeface="Montserrat"/>
              </a:rPr>
              <a:t>4. Presence of neurovascular deficits (pulse, sensation)</a:t>
            </a:r>
          </a:p>
          <a:p>
            <a:pPr fontAlgn="auto"/>
            <a:r>
              <a:rPr lang="en-US" sz="700">
                <a:solidFill>
                  <a:schemeClr val="accent6">
                    <a:lumMod val="50000"/>
                  </a:schemeClr>
                </a:solidFill>
                <a:latin typeface="Montserrat"/>
                <a:ea typeface="Montserrat"/>
                <a:cs typeface="Montserrat"/>
                <a:sym typeface="Montserrat"/>
              </a:rPr>
              <a:t>5. Any associated injuries</a:t>
            </a:r>
          </a:p>
          <a:p>
            <a:pPr fontAlgn="auto"/>
            <a:endParaRPr lang="en-US" sz="700">
              <a:solidFill>
                <a:schemeClr val="accent6">
                  <a:lumMod val="50000"/>
                </a:schemeClr>
              </a:solidFill>
              <a:latin typeface="Montserrat"/>
              <a:ea typeface="Montserrat"/>
              <a:cs typeface="Montserrat"/>
              <a:sym typeface="Montserrat"/>
            </a:endParaRPr>
          </a:p>
          <a:p>
            <a:pPr fontAlgn="auto"/>
            <a:r>
              <a:rPr lang="en-US" sz="700">
                <a:solidFill>
                  <a:schemeClr val="accent6">
                    <a:lumMod val="50000"/>
                  </a:schemeClr>
                </a:solidFill>
                <a:latin typeface="Montserrat"/>
                <a:ea typeface="Montserrat"/>
                <a:cs typeface="Montserrat"/>
                <a:sym typeface="Montserrat"/>
              </a:rPr>
              <a:t>Immediate Actions:</a:t>
            </a:r>
          </a:p>
          <a:p>
            <a:pPr fontAlgn="auto"/>
            <a:r>
              <a:rPr lang="en-US" sz="700">
                <a:solidFill>
                  <a:schemeClr val="accent6">
                    <a:lumMod val="50000"/>
                  </a:schemeClr>
                </a:solidFill>
                <a:latin typeface="Montserrat"/>
                <a:ea typeface="Montserrat"/>
                <a:cs typeface="Montserrat"/>
                <a:sym typeface="Montserrat"/>
              </a:rPr>
              <a:t>1. Ensure the safety of both the patient and rescuers.</a:t>
            </a:r>
          </a:p>
          <a:p>
            <a:pPr fontAlgn="auto"/>
            <a:r>
              <a:rPr lang="en-US" sz="700">
                <a:solidFill>
                  <a:schemeClr val="accent6">
                    <a:lumMod val="50000"/>
                  </a:schemeClr>
                </a:solidFill>
                <a:latin typeface="Montserrat"/>
                <a:ea typeface="Montserrat"/>
                <a:cs typeface="Montserrat"/>
                <a:sym typeface="Montserrat"/>
              </a:rPr>
              <a:t>2. Immobilize the affected leg using a splint or a sling to prevent further injury and maintain alignment.</a:t>
            </a:r>
          </a:p>
          <a:p>
            <a:pPr fontAlgn="auto"/>
            <a:r>
              <a:rPr lang="en-US" sz="700">
                <a:solidFill>
                  <a:schemeClr val="accent6">
                    <a:lumMod val="50000"/>
                  </a:schemeClr>
                </a:solidFill>
                <a:latin typeface="Montserrat"/>
                <a:ea typeface="Montserrat"/>
                <a:cs typeface="Montserrat"/>
                <a:sym typeface="Montserrat"/>
              </a:rPr>
              <a:t>3. Provide pain relief with non-narcotic analgesics, such as acetaminophen or ibuprofen, if no contraindications exist.</a:t>
            </a:r>
          </a:p>
          <a:p>
            <a:pPr fontAlgn="auto"/>
            <a:r>
              <a:rPr lang="en-US" sz="700">
                <a:solidFill>
                  <a:schemeClr val="accent6">
                    <a:lumMod val="50000"/>
                  </a:schemeClr>
                </a:solidFill>
                <a:latin typeface="Montserrat"/>
                <a:ea typeface="Montserrat"/>
                <a:cs typeface="Montserrat"/>
                <a:sym typeface="Montserrat"/>
              </a:rPr>
              <a:t>4. Administer oxygen if there are signs of respiratory distress.</a:t>
            </a:r>
          </a:p>
          <a:p>
            <a:pPr fontAlgn="auto"/>
            <a:r>
              <a:rPr lang="en-US" sz="700">
                <a:solidFill>
                  <a:schemeClr val="accent6">
                    <a:lumMod val="50000"/>
                  </a:schemeClr>
                </a:solidFill>
                <a:latin typeface="Montserrat"/>
                <a:ea typeface="Montserrat"/>
                <a:cs typeface="Montserrat"/>
                <a:sym typeface="Montserrat"/>
              </a:rPr>
              <a:t>5. Monitor vital signs and assess for any other injuries.</a:t>
            </a:r>
          </a:p>
          <a:p>
            <a:pPr fontAlgn="auto"/>
            <a:r>
              <a:rPr lang="en-US" sz="700">
                <a:solidFill>
                  <a:schemeClr val="accent6">
                    <a:lumMod val="50000"/>
                  </a:schemeClr>
                </a:solidFill>
                <a:latin typeface="Montserrat"/>
                <a:ea typeface="Montserrat"/>
                <a:cs typeface="Montserrat"/>
                <a:sym typeface="Montserrat"/>
              </a:rPr>
              <a:t>6. Transport the patient to a healthcare facility as soon as possible.</a:t>
            </a:r>
          </a:p>
          <a:p>
            <a:pPr fontAlgn="auto"/>
            <a:endParaRPr lang="en-US" sz="700">
              <a:solidFill>
                <a:schemeClr val="accent6">
                  <a:lumMod val="50000"/>
                </a:schemeClr>
              </a:solidFill>
              <a:latin typeface="Montserrat"/>
              <a:ea typeface="Montserrat"/>
              <a:cs typeface="Montserrat"/>
              <a:sym typeface="Montserrat"/>
            </a:endParaRPr>
          </a:p>
          <a:p>
            <a:pPr fontAlgn="auto"/>
            <a:r>
              <a:rPr lang="en-US" sz="700">
                <a:solidFill>
                  <a:schemeClr val="accent6">
                    <a:lumMod val="50000"/>
                  </a:schemeClr>
                </a:solidFill>
                <a:latin typeface="Montserrat"/>
                <a:ea typeface="Montserrat"/>
                <a:cs typeface="Montserrat"/>
                <a:sym typeface="Montserrat"/>
              </a:rPr>
              <a:t>Diagnostics:</a:t>
            </a:r>
          </a:p>
          <a:p>
            <a:pPr fontAlgn="auto"/>
            <a:r>
              <a:rPr lang="en-US" sz="700">
                <a:solidFill>
                  <a:schemeClr val="accent6">
                    <a:lumMod val="50000"/>
                  </a:schemeClr>
                </a:solidFill>
                <a:latin typeface="Montserrat"/>
                <a:ea typeface="Montserrat"/>
                <a:cs typeface="Montserrat"/>
                <a:sym typeface="Montserrat"/>
              </a:rPr>
              <a:t>1. X-ray imaging is the gold standard for diagnosing leg fractures.</a:t>
            </a:r>
          </a:p>
          <a:p>
            <a:pPr fontAlgn="auto"/>
            <a:r>
              <a:rPr lang="en-US" sz="700">
                <a:solidFill>
                  <a:schemeClr val="accent6">
                    <a:lumMod val="50000"/>
                  </a:schemeClr>
                </a:solidFill>
                <a:latin typeface="Montserrat"/>
                <a:ea typeface="Montserrat"/>
                <a:cs typeface="Montserrat"/>
                <a:sym typeface="Montserrat"/>
              </a:rPr>
              <a:t>2. If there is suspicion of an open fracture, obtain cultures and initiate antibiotic therapy promptly.</a:t>
            </a:r>
          </a:p>
          <a:p>
            <a:pPr fontAlgn="auto"/>
            <a:r>
              <a:rPr lang="en-US" sz="700">
                <a:solidFill>
                  <a:schemeClr val="accent6">
                    <a:lumMod val="50000"/>
                  </a:schemeClr>
                </a:solidFill>
                <a:latin typeface="Montserrat"/>
                <a:ea typeface="Montserrat"/>
                <a:cs typeface="Montserrat"/>
                <a:sym typeface="Montserrat"/>
              </a:rPr>
              <a:t>3. Consider additional diagnostic tests if there are signs of associated injuries or complications (e.g., head injury, cardiac symptoms).</a:t>
            </a:r>
          </a:p>
          <a:p>
            <a:pPr fontAlgn="auto"/>
            <a:endParaRPr lang="en-US" sz="700">
              <a:solidFill>
                <a:schemeClr val="accent6">
                  <a:lumMod val="50000"/>
                </a:schemeClr>
              </a:solidFill>
              <a:latin typeface="Montserrat"/>
              <a:ea typeface="Montserrat"/>
              <a:cs typeface="Montserrat"/>
              <a:sym typeface="Montserrat"/>
            </a:endParaRPr>
          </a:p>
          <a:p>
            <a:pPr fontAlgn="auto"/>
            <a:r>
              <a:rPr lang="en-US" sz="700">
                <a:solidFill>
                  <a:schemeClr val="accent6">
                    <a:lumMod val="50000"/>
                  </a:schemeClr>
                </a:solidFill>
                <a:latin typeface="Montserrat"/>
                <a:ea typeface="Montserrat"/>
                <a:cs typeface="Montserrat"/>
                <a:sym typeface="Montserrat"/>
              </a:rPr>
              <a:t>Treatment:</a:t>
            </a:r>
          </a:p>
          <a:p>
            <a:pPr fontAlgn="auto"/>
            <a:r>
              <a:rPr lang="en-US" sz="700">
                <a:solidFill>
                  <a:schemeClr val="accent6">
                    <a:lumMod val="50000"/>
                  </a:schemeClr>
                </a:solidFill>
                <a:latin typeface="Montserrat"/>
                <a:ea typeface="Montserrat"/>
                <a:cs typeface="Montserrat"/>
                <a:sym typeface="Montserrat"/>
              </a:rPr>
              <a:t>1. Once the diagnosis is confirmed, immobilize the leg using a cast or a brace to maintain alignment and promote healing.</a:t>
            </a:r>
          </a:p>
          <a:p>
            <a:pPr fontAlgn="auto"/>
            <a:r>
              <a:rPr lang="en-US" sz="700">
                <a:solidFill>
                  <a:schemeClr val="accent6">
                    <a:lumMod val="50000"/>
                  </a:schemeClr>
                </a:solidFill>
                <a:latin typeface="Montserrat"/>
                <a:ea typeface="Montserrat"/>
                <a:cs typeface="Montserrat"/>
                <a:sym typeface="Montserrat"/>
              </a:rPr>
              <a:t>2. Administer pain medication as needed for comfort.</a:t>
            </a:r>
          </a:p>
          <a:p>
            <a:pPr fontAlgn="auto"/>
            <a:r>
              <a:rPr lang="en-US" sz="700">
                <a:solidFill>
                  <a:schemeClr val="accent6">
                    <a:lumMod val="50000"/>
                  </a:schemeClr>
                </a:solidFill>
                <a:latin typeface="Montserrat"/>
                <a:ea typeface="Montserrat"/>
                <a:cs typeface="Montserrat"/>
                <a:sym typeface="Montserrat"/>
              </a:rPr>
              <a:t>3. Encourage early mobility and range of motion exercises under medical supervision to prevent complications such as stiffness and blood clots.</a:t>
            </a:r>
          </a:p>
          <a:p>
            <a:pPr fontAlgn="auto"/>
            <a:r>
              <a:rPr lang="en-US" sz="700">
                <a:solidFill>
                  <a:schemeClr val="accent6">
                    <a:lumMod val="50000"/>
                  </a:schemeClr>
                </a:solidFill>
                <a:latin typeface="Montserrat"/>
                <a:ea typeface="Montserrat"/>
                <a:cs typeface="Montserrat"/>
                <a:sym typeface="Montserrat"/>
              </a:rPr>
              <a:t>4. Monitor the patient's progress closely, including wound healing, bone healing, and functional recovery.</a:t>
            </a:r>
          </a:p>
          <a:p>
            <a:pPr fontAlgn="auto"/>
            <a:r>
              <a:rPr lang="en-US" sz="700">
                <a:solidFill>
                  <a:schemeClr val="accent6">
                    <a:lumMod val="50000"/>
                  </a:schemeClr>
                </a:solidFill>
                <a:latin typeface="Montserrat"/>
                <a:ea typeface="Montserrat"/>
                <a:cs typeface="Montserrat"/>
                <a:sym typeface="Montserrat"/>
              </a:rPr>
              <a:t>5. Consider referral to a specialist (orthopedic surgeon) for complex fractures or those that do not respond to conservative treatment.</a:t>
            </a:r>
          </a:p>
          <a:p>
            <a:pPr fontAlgn="auto"/>
            <a:endParaRPr lang="en-US" sz="700">
              <a:solidFill>
                <a:schemeClr val="accent6">
                  <a:lumMod val="50000"/>
                </a:schemeClr>
              </a:solidFill>
              <a:latin typeface="Montserrat"/>
              <a:ea typeface="Montserrat"/>
              <a:cs typeface="Montserrat"/>
              <a:sym typeface="Montserrat"/>
            </a:endParaRPr>
          </a:p>
          <a:p>
            <a:pPr fontAlgn="auto"/>
            <a:r>
              <a:rPr lang="en-US" sz="700">
                <a:solidFill>
                  <a:schemeClr val="accent6">
                    <a:lumMod val="50000"/>
                  </a:schemeClr>
                </a:solidFill>
                <a:latin typeface="Montserrat"/>
                <a:ea typeface="Montserrat"/>
                <a:cs typeface="Montserrat"/>
                <a:sym typeface="Montserrat"/>
              </a:rPr>
              <a:t>Warnings / Escalation:</a:t>
            </a:r>
          </a:p>
          <a:p>
            <a:pPr fontAlgn="auto"/>
            <a:r>
              <a:rPr lang="en-US" sz="700">
                <a:solidFill>
                  <a:schemeClr val="accent6">
                    <a:lumMod val="50000"/>
                  </a:schemeClr>
                </a:solidFill>
                <a:latin typeface="Montserrat"/>
                <a:ea typeface="Montserrat"/>
                <a:cs typeface="Montserrat"/>
                <a:sym typeface="Montserrat"/>
              </a:rPr>
              <a:t>1. If there are signs of an open fracture, neurovascular deficits, severe pain, or inability to bear weight, consider this a medical emergency and seek immediate professional help.</a:t>
            </a:r>
          </a:p>
          <a:p>
            <a:pPr fontAlgn="auto"/>
            <a:r>
              <a:rPr lang="en-US" sz="700">
                <a:solidFill>
                  <a:schemeClr val="accent6">
                    <a:lumMod val="50000"/>
                  </a:schemeClr>
                </a:solidFill>
                <a:latin typeface="Montserrat"/>
                <a:ea typeface="Montserrat"/>
                <a:cs typeface="Montserrat"/>
                <a:sym typeface="Montserrat"/>
              </a:rPr>
              <a:t>2. In cases of suspected compartment syndrome (pain out of proportion to injury, swelling,</a:t>
            </a:r>
            <a:endParaRPr sz="700">
              <a:solidFill>
                <a:schemeClr val="accent6">
                  <a:lumMod val="50000"/>
                </a:schemeClr>
              </a:solidFill>
              <a:latin typeface="Montserrat"/>
              <a:ea typeface="Montserrat"/>
              <a:cs typeface="Montserrat"/>
              <a:sym typeface="Montserrat"/>
            </a:endParaRPr>
          </a:p>
        </p:txBody>
      </p:sp>
      <p:sp>
        <p:nvSpPr>
          <p:cNvPr id="2" name="Google Shape;252;p52">
            <a:extLst>
              <a:ext uri="{FF2B5EF4-FFF2-40B4-BE49-F238E27FC236}">
                <a16:creationId xmlns:a16="http://schemas.microsoft.com/office/drawing/2014/main" id="{6203F510-49C8-D207-3768-118107A35EAE}"/>
              </a:ext>
            </a:extLst>
          </p:cNvPr>
          <p:cNvSpPr txBox="1"/>
          <p:nvPr/>
        </p:nvSpPr>
        <p:spPr>
          <a:xfrm>
            <a:off x="202551" y="557313"/>
            <a:ext cx="8588387" cy="757430"/>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 sz="105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50"/>
              <a:t>What are the necessary precautions and treatment steps for a person who has fractured their leg during a hiking trip, and what should be considered for their care and recovery?</a:t>
            </a:r>
          </a:p>
        </p:txBody>
      </p:sp>
    </p:spTree>
    <p:extLst>
      <p:ext uri="{BB962C8B-B14F-4D97-AF65-F5344CB8AC3E}">
        <p14:creationId xmlns:p14="http://schemas.microsoft.com/office/powerpoint/2010/main" val="2430592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1248B1D5-371D-246B-C688-AE249D77D493}"/>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12DF3B15-18E4-3913-0F77-471F5821DA08}"/>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Question Answering using LLM with Prompt Engineering</a:t>
            </a:r>
            <a:endParaRPr sz="2400">
              <a:solidFill>
                <a:srgbClr val="0E39A9"/>
              </a:solidFill>
            </a:endParaRPr>
          </a:p>
        </p:txBody>
      </p:sp>
      <p:sp>
        <p:nvSpPr>
          <p:cNvPr id="252" name="Google Shape;252;p52">
            <a:extLst>
              <a:ext uri="{FF2B5EF4-FFF2-40B4-BE49-F238E27FC236}">
                <a16:creationId xmlns:a16="http://schemas.microsoft.com/office/drawing/2014/main" id="{1CE7091D-AB62-0BA2-A027-1249AFFB7D1E}"/>
              </a:ext>
            </a:extLst>
          </p:cNvPr>
          <p:cNvSpPr txBox="1"/>
          <p:nvPr/>
        </p:nvSpPr>
        <p:spPr>
          <a:xfrm>
            <a:off x="256001" y="1671032"/>
            <a:ext cx="7701225" cy="4148524"/>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 b="1">
                <a:solidFill>
                  <a:schemeClr val="accent6">
                    <a:lumMod val="50000"/>
                  </a:schemeClr>
                </a:solidFill>
                <a:latin typeface="Montserrat"/>
                <a:ea typeface="Montserrat"/>
                <a:cs typeface="Montserrat"/>
                <a:sym typeface="Montserrat"/>
              </a:rPr>
              <a:t>Comments/Parameters</a:t>
            </a:r>
          </a:p>
          <a:p>
            <a:pPr marL="285750" indent="-285750">
              <a:lnSpc>
                <a:spcPct val="150000"/>
              </a:lnSpc>
              <a:buSzPts val="1400"/>
              <a:buFont typeface="Arial" panose="020B0604020202020204" pitchFamily="34" charset="0"/>
              <a:buChar char="•"/>
            </a:pPr>
            <a:r>
              <a:rPr lang="en" sz="1200">
                <a:solidFill>
                  <a:schemeClr val="accent6">
                    <a:lumMod val="50000"/>
                  </a:schemeClr>
                </a:solidFill>
                <a:latin typeface="Montserrat"/>
                <a:ea typeface="Montserrat"/>
                <a:cs typeface="Montserrat"/>
                <a:sym typeface="Montserrat"/>
              </a:rPr>
              <a:t>Using prompt engineering adds control and constraints to the result. But It still allowed for halucinations “For exemple, when the llm answer saying (</a:t>
            </a:r>
            <a:r>
              <a:rPr lang="en-US" sz="1200">
                <a:solidFill>
                  <a:schemeClr val="accent6">
                    <a:lumMod val="50000"/>
                  </a:schemeClr>
                </a:solidFill>
              </a:rPr>
              <a:t>A 35-year-old female patient presents with a concern about sudden patchy hair loss. ). </a:t>
            </a:r>
            <a:r>
              <a:rPr lang="en-US" sz="1200">
                <a:solidFill>
                  <a:schemeClr val="accent6">
                    <a:lumMod val="50000"/>
                  </a:schemeClr>
                </a:solidFill>
                <a:latin typeface="Montserrat"/>
              </a:rPr>
              <a:t>The context was injected by the LLM even with temperature set to </a:t>
            </a:r>
            <a:r>
              <a:rPr lang="en-US" sz="1200" b="1">
                <a:solidFill>
                  <a:schemeClr val="accent6">
                    <a:lumMod val="50000"/>
                  </a:schemeClr>
                </a:solidFill>
                <a:latin typeface="Montserrat"/>
              </a:rPr>
              <a:t>0.1</a:t>
            </a:r>
            <a:endParaRPr lang="en" sz="1200" b="1">
              <a:solidFill>
                <a:schemeClr val="accent6">
                  <a:lumMod val="50000"/>
                </a:schemeClr>
              </a:solidFill>
              <a:latin typeface="Montserrat"/>
              <a:ea typeface="Montserrat"/>
              <a:cs typeface="Montserrat"/>
              <a:sym typeface="Montserrat"/>
            </a:endParaRPr>
          </a:p>
          <a:p>
            <a:pPr marL="285750" indent="-285750">
              <a:lnSpc>
                <a:spcPct val="150000"/>
              </a:lnSpc>
              <a:buSzPts val="1400"/>
              <a:buFont typeface="Arial" panose="020B0604020202020204" pitchFamily="34" charset="0"/>
              <a:buChar char="•"/>
            </a:pPr>
            <a:r>
              <a:rPr lang="en" sz="1200">
                <a:solidFill>
                  <a:schemeClr val="accent6">
                    <a:lumMod val="50000"/>
                  </a:schemeClr>
                </a:solidFill>
                <a:latin typeface="Montserrat"/>
                <a:ea typeface="Montserrat"/>
                <a:cs typeface="Montserrat"/>
                <a:sym typeface="Montserrat"/>
              </a:rPr>
              <a:t>The result is organized, predictable, and well-defined based on the prompt</a:t>
            </a:r>
          </a:p>
          <a:p>
            <a:pPr marL="285750" indent="-285750">
              <a:lnSpc>
                <a:spcPct val="150000"/>
              </a:lnSpc>
              <a:buSzPts val="1400"/>
              <a:buFont typeface="Arial" panose="020B0604020202020204" pitchFamily="34" charset="0"/>
              <a:buChar char="•"/>
            </a:pPr>
            <a:r>
              <a:rPr lang="en" sz="1200">
                <a:solidFill>
                  <a:schemeClr val="accent6">
                    <a:lumMod val="50000"/>
                  </a:schemeClr>
                </a:solidFill>
                <a:latin typeface="Montserrat"/>
                <a:ea typeface="Montserrat"/>
                <a:cs typeface="Montserrat"/>
                <a:sym typeface="Montserrat"/>
              </a:rPr>
              <a:t>Apparently, the output is also more relevant. </a:t>
            </a:r>
          </a:p>
          <a:p>
            <a:pPr marL="285750" indent="-285750">
              <a:lnSpc>
                <a:spcPct val="150000"/>
              </a:lnSpc>
              <a:buSzPts val="1400"/>
              <a:buFont typeface="Arial" panose="020B0604020202020204" pitchFamily="34" charset="0"/>
              <a:buChar char="•"/>
            </a:pPr>
            <a:r>
              <a:rPr lang="en" sz="1200">
                <a:solidFill>
                  <a:schemeClr val="accent6">
                    <a:lumMod val="50000"/>
                  </a:schemeClr>
                </a:solidFill>
                <a:latin typeface="Montserrat"/>
                <a:ea typeface="Montserrat"/>
                <a:cs typeface="Montserrat"/>
                <a:sym typeface="Montserrat"/>
              </a:rPr>
              <a:t>It helps defines the exact persona you want to portrait in the media.</a:t>
            </a:r>
          </a:p>
          <a:p>
            <a:pPr marL="285750" indent="-285750">
              <a:lnSpc>
                <a:spcPct val="150000"/>
              </a:lnSpc>
              <a:buSzPts val="1400"/>
              <a:buFont typeface="Arial" panose="020B0604020202020204" pitchFamily="34" charset="0"/>
              <a:buChar char="•"/>
            </a:pPr>
            <a:r>
              <a:rPr lang="en" sz="1200">
                <a:solidFill>
                  <a:schemeClr val="accent6">
                    <a:lumMod val="50000"/>
                  </a:schemeClr>
                </a:solidFill>
                <a:latin typeface="Montserrat"/>
                <a:ea typeface="Montserrat"/>
                <a:cs typeface="Montserrat"/>
                <a:sym typeface="Montserrat"/>
              </a:rPr>
              <a:t>The system prompt also ensure precise clinical ground.</a:t>
            </a:r>
          </a:p>
          <a:p>
            <a:pPr lvl="0">
              <a:lnSpc>
                <a:spcPct val="150000"/>
              </a:lnSpc>
              <a:buSzPts val="1400"/>
            </a:pPr>
            <a:r>
              <a:rPr lang="en" sz="1200">
                <a:solidFill>
                  <a:schemeClr val="accent6">
                    <a:lumMod val="50000"/>
                  </a:schemeClr>
                </a:solidFill>
                <a:latin typeface="Montserrat"/>
                <a:ea typeface="Montserrat"/>
                <a:cs typeface="Montserrat"/>
                <a:sym typeface="Montserrat"/>
              </a:rPr>
              <a:t>Parameters</a:t>
            </a:r>
          </a:p>
          <a:p>
            <a:pPr marL="228600" indent="-228600">
              <a:lnSpc>
                <a:spcPct val="150000"/>
              </a:lnSpc>
              <a:buSzPts val="1400"/>
              <a:buAutoNum type="arabicPeriod"/>
            </a:pPr>
            <a:r>
              <a:rPr lang="en" sz="1200">
                <a:solidFill>
                  <a:schemeClr val="accent6">
                    <a:lumMod val="50000"/>
                  </a:schemeClr>
                </a:solidFill>
                <a:latin typeface="Montserrat"/>
                <a:ea typeface="Montserrat"/>
                <a:cs typeface="Montserrat"/>
                <a:sym typeface="Montserrat"/>
              </a:rPr>
              <a:t>Max_tokens=400, top_k=40, top_p=0.95, and temperature=0.1</a:t>
            </a:r>
          </a:p>
          <a:p>
            <a:pPr lvl="0">
              <a:lnSpc>
                <a:spcPct val="150000"/>
              </a:lnSpc>
              <a:buSzPts val="1400"/>
            </a:pPr>
            <a:r>
              <a:rPr lang="en" sz="1200">
                <a:solidFill>
                  <a:schemeClr val="accent6">
                    <a:lumMod val="50000"/>
                  </a:schemeClr>
                </a:solidFill>
                <a:latin typeface="Montserrat"/>
                <a:ea typeface="Montserrat"/>
                <a:cs typeface="Montserrat"/>
                <a:sym typeface="Montserrat"/>
              </a:rPr>
              <a:t>    It is a soft spot for medical teams, which still gives a .1 temperature room to basic adjustments.</a:t>
            </a:r>
          </a:p>
          <a:p>
            <a:pPr lvl="0">
              <a:lnSpc>
                <a:spcPct val="150000"/>
              </a:lnSpc>
              <a:buSzPts val="1400"/>
            </a:pPr>
            <a:r>
              <a:rPr lang="en" sz="1200">
                <a:solidFill>
                  <a:schemeClr val="accent6">
                    <a:lumMod val="50000"/>
                  </a:schemeClr>
                </a:solidFill>
                <a:latin typeface="Montserrat"/>
                <a:ea typeface="Montserrat"/>
                <a:cs typeface="Montserrat"/>
                <a:sym typeface="Montserrat"/>
              </a:rPr>
              <a:t>    when max_tokens is equal 400 limits the output, which should be revised for other achines too.</a:t>
            </a:r>
          </a:p>
          <a:p>
            <a:pPr marL="285750" indent="-285750">
              <a:lnSpc>
                <a:spcPct val="150000"/>
              </a:lnSpc>
              <a:buSzPts val="1400"/>
              <a:buFont typeface="Arial" panose="020B0604020202020204" pitchFamily="34" charset="0"/>
              <a:buChar char="•"/>
            </a:pPr>
            <a:endParaRPr lang="en" sz="1200">
              <a:solidFill>
                <a:schemeClr val="accent6">
                  <a:lumMod val="50000"/>
                </a:schemeClr>
              </a:solidFill>
              <a:latin typeface="Montserrat"/>
              <a:ea typeface="Montserrat"/>
              <a:cs typeface="Montserrat"/>
              <a:sym typeface="Montserrat"/>
            </a:endParaRPr>
          </a:p>
        </p:txBody>
      </p:sp>
    </p:spTree>
    <p:extLst>
      <p:ext uri="{BB962C8B-B14F-4D97-AF65-F5344CB8AC3E}">
        <p14:creationId xmlns:p14="http://schemas.microsoft.com/office/powerpoint/2010/main" val="4284150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6" name="Google Shape;276;p54"/>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Data Preparation for RAG</a:t>
            </a:r>
            <a:endParaRPr sz="2400">
              <a:solidFill>
                <a:srgbClr val="0E39A9"/>
              </a:solidFill>
            </a:endParaRPr>
          </a:p>
        </p:txBody>
      </p:sp>
      <p:sp>
        <p:nvSpPr>
          <p:cNvPr id="2" name="Google Shape;252;p52">
            <a:extLst>
              <a:ext uri="{FF2B5EF4-FFF2-40B4-BE49-F238E27FC236}">
                <a16:creationId xmlns:a16="http://schemas.microsoft.com/office/drawing/2014/main" id="{6A9AF8A2-863D-E57E-6F81-7FBEE095F3B6}"/>
              </a:ext>
            </a:extLst>
          </p:cNvPr>
          <p:cNvSpPr txBox="1"/>
          <p:nvPr/>
        </p:nvSpPr>
        <p:spPr>
          <a:xfrm>
            <a:off x="202551" y="1301228"/>
            <a:ext cx="7701225" cy="3915459"/>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 sz="1200" b="1">
                <a:solidFill>
                  <a:schemeClr val="accent6">
                    <a:lumMod val="50000"/>
                  </a:schemeClr>
                </a:solidFill>
                <a:latin typeface="Montserrat"/>
                <a:ea typeface="Montserrat"/>
                <a:cs typeface="Montserrat"/>
                <a:sym typeface="Montserrat"/>
              </a:rPr>
              <a:t>Name of the dataset</a:t>
            </a:r>
          </a:p>
          <a:p>
            <a:pPr marL="274320" lvl="2">
              <a:lnSpc>
                <a:spcPct val="150000"/>
              </a:lnSpc>
              <a:buSzPts val="1400"/>
            </a:pPr>
            <a:r>
              <a:rPr lang="en-US" sz="1200">
                <a:solidFill>
                  <a:schemeClr val="accent6">
                    <a:lumMod val="50000"/>
                  </a:schemeClr>
                </a:solidFill>
                <a:latin typeface="Montserrat"/>
                <a:ea typeface="Montserrat"/>
                <a:cs typeface="Montserrat"/>
                <a:sym typeface="Montserrat"/>
              </a:rPr>
              <a:t>M</a:t>
            </a:r>
            <a:r>
              <a:rPr lang="en" sz="1200">
                <a:solidFill>
                  <a:schemeClr val="accent6">
                    <a:lumMod val="50000"/>
                  </a:schemeClr>
                </a:solidFill>
                <a:latin typeface="Montserrat"/>
                <a:ea typeface="Montserrat"/>
                <a:cs typeface="Montserrat"/>
                <a:sym typeface="Montserrat"/>
              </a:rPr>
              <a:t>edical_diagnosis_manual.pdf</a:t>
            </a:r>
          </a:p>
          <a:p>
            <a:pPr lvl="0">
              <a:lnSpc>
                <a:spcPct val="150000"/>
              </a:lnSpc>
              <a:buSzPts val="1400"/>
            </a:pPr>
            <a:r>
              <a:rPr lang="en" sz="1200" b="1">
                <a:solidFill>
                  <a:schemeClr val="accent6">
                    <a:lumMod val="50000"/>
                  </a:schemeClr>
                </a:solidFill>
                <a:latin typeface="Montserrat"/>
                <a:ea typeface="Montserrat"/>
                <a:cs typeface="Montserrat"/>
                <a:sym typeface="Montserrat"/>
              </a:rPr>
              <a:t>Parameters used to split the data</a:t>
            </a:r>
          </a:p>
          <a:p>
            <a:pPr marL="285750" lvl="2" indent="-285750">
              <a:buSzPts val="1400"/>
              <a:buFont typeface="Arial" panose="020B0604020202020204" pitchFamily="34" charset="0"/>
              <a:buChar char="•"/>
            </a:pPr>
            <a:r>
              <a:rPr lang="en-US" sz="1200" i="1">
                <a:solidFill>
                  <a:schemeClr val="accent6">
                    <a:lumMod val="50000"/>
                  </a:schemeClr>
                </a:solidFill>
              </a:rPr>
              <a:t>Chunk Size  </a:t>
            </a:r>
            <a:r>
              <a:rPr lang="en-US" sz="1200"/>
              <a:t>900</a:t>
            </a:r>
            <a:br>
              <a:rPr lang="en-US" sz="1200"/>
            </a:br>
            <a:r>
              <a:rPr lang="en-US" sz="1200"/>
              <a:t>I used the chunk size 900 because it is a sweet spot for a medical document of 4114 pages. The Medical Diagnosis Manual contains large diagnoses, usually symptoms, followed by treatment and diagnoses, followed by protocol. The answer needs enough medical context.</a:t>
            </a:r>
          </a:p>
          <a:p>
            <a:pPr marL="285750" lvl="2" indent="-285750">
              <a:buSzPts val="1400"/>
              <a:buFont typeface="Arial" panose="020B0604020202020204" pitchFamily="34" charset="0"/>
              <a:buChar char="•"/>
            </a:pPr>
            <a:r>
              <a:rPr lang="en-US" sz="1200" i="1">
                <a:solidFill>
                  <a:schemeClr val="accent6">
                    <a:lumMod val="50000"/>
                  </a:schemeClr>
                </a:solidFill>
              </a:rPr>
              <a:t>Chunk Overlap </a:t>
            </a:r>
            <a:r>
              <a:rPr lang="en-US" sz="1200"/>
              <a:t>120</a:t>
            </a:r>
          </a:p>
          <a:p>
            <a:pPr marL="274320" lvl="3">
              <a:buSzPts val="1400"/>
            </a:pPr>
            <a:r>
              <a:rPr lang="en-US" sz="1200"/>
              <a:t>I used overlap 120 because it is enough to preserve continuity without creating too much duplicate text.</a:t>
            </a:r>
          </a:p>
          <a:p>
            <a:pPr marL="274320" lvl="3">
              <a:buSzPts val="1400"/>
            </a:pPr>
            <a:endParaRPr lang="en-US" sz="1200"/>
          </a:p>
          <a:p>
            <a:pPr lvl="3">
              <a:buSzPts val="1400"/>
            </a:pPr>
            <a:r>
              <a:rPr lang="en-US" sz="1200" b="1">
                <a:solidFill>
                  <a:schemeClr val="accent6">
                    <a:lumMod val="50000"/>
                  </a:schemeClr>
                </a:solidFill>
              </a:rPr>
              <a:t>Embedding Model</a:t>
            </a:r>
          </a:p>
          <a:p>
            <a:pPr marL="285750" indent="-285750">
              <a:buSzPts val="1400"/>
              <a:buFont typeface="Arial" panose="020B0604020202020204" pitchFamily="34" charset="0"/>
              <a:buChar char="•"/>
            </a:pPr>
            <a:r>
              <a:rPr lang="en-US" sz="1200"/>
              <a:t>bge-m3 ( a great model for long-running texts like the medical diagnoses, which contain contents such as causes followed by interventions).</a:t>
            </a:r>
          </a:p>
          <a:p>
            <a:pPr>
              <a:lnSpc>
                <a:spcPct val="150000"/>
              </a:lnSpc>
              <a:buSzPts val="1400"/>
            </a:pPr>
            <a:r>
              <a:rPr lang="en-US" sz="1200" b="1"/>
              <a:t>Parameters</a:t>
            </a:r>
          </a:p>
          <a:p>
            <a:pPr marL="171450" indent="-320040">
              <a:buSzPts val="1400"/>
              <a:buFont typeface="Arial" panose="020B0604020202020204" pitchFamily="34" charset="0"/>
              <a:buChar char="•"/>
            </a:pPr>
            <a:r>
              <a:rPr lang="en-US" sz="1200"/>
              <a:t>K = 5</a:t>
            </a:r>
          </a:p>
          <a:p>
            <a:pPr marL="171450" indent="-320040">
              <a:buSzPts val="1400"/>
              <a:buFont typeface="Arial" panose="020B0604020202020204" pitchFamily="34" charset="0"/>
              <a:buChar char="•"/>
            </a:pPr>
            <a:r>
              <a:rPr lang="en-US" sz="1200"/>
              <a:t>Max_tokens=500</a:t>
            </a:r>
          </a:p>
          <a:p>
            <a:pPr marL="171450" indent="-320040">
              <a:buSzPts val="1400"/>
              <a:buFont typeface="Arial" panose="020B0604020202020204" pitchFamily="34" charset="0"/>
              <a:buChar char="•"/>
            </a:pPr>
            <a:r>
              <a:rPr lang="en-US" sz="1200"/>
              <a:t>Temperature=0.1 (Usually in medical answers, 0 is too deterministic, so 0.1 makes it a little smoother     without    being too creative)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55"/>
          <p:cNvSpPr txBox="1">
            <a:spLocks noGrp="1"/>
          </p:cNvSpPr>
          <p:nvPr>
            <p:ph type="title"/>
          </p:nvPr>
        </p:nvSpPr>
        <p:spPr>
          <a:xfrm>
            <a:off x="236417" y="30832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endParaRPr sz="2400">
              <a:solidFill>
                <a:srgbClr val="0E39A9"/>
              </a:solidFill>
            </a:endParaRPr>
          </a:p>
        </p:txBody>
      </p:sp>
      <p:sp>
        <p:nvSpPr>
          <p:cNvPr id="7" name="TextBox 6">
            <a:extLst>
              <a:ext uri="{FF2B5EF4-FFF2-40B4-BE49-F238E27FC236}">
                <a16:creationId xmlns:a16="http://schemas.microsoft.com/office/drawing/2014/main" id="{2EEC7A69-C6B8-86B5-CC72-3B3E4D04ACB6}"/>
              </a:ext>
            </a:extLst>
          </p:cNvPr>
          <p:cNvSpPr txBox="1"/>
          <p:nvPr/>
        </p:nvSpPr>
        <p:spPr>
          <a:xfrm>
            <a:off x="265361" y="939000"/>
            <a:ext cx="4267200" cy="3970318"/>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System Prompt</a:t>
            </a:r>
          </a:p>
          <a:p>
            <a:r>
              <a:rPr lang="en-US" sz="800"/>
              <a:t>You are a professional Medical AI Assistant designed to support healthcare professionals using a Retrieval-Augmented Generation system.</a:t>
            </a:r>
          </a:p>
          <a:p>
            <a:br>
              <a:rPr lang="en-US" sz="800"/>
            </a:br>
            <a:endParaRPr lang="en-US" sz="800"/>
          </a:p>
          <a:p>
            <a:r>
              <a:rPr lang="en-US" sz="800"/>
              <a:t>Rules:</a:t>
            </a:r>
          </a:p>
          <a:p>
            <a:r>
              <a:rPr lang="en-US" sz="800"/>
              <a:t>1. Use ONLY the provided context. Do not use outside knowledge. If the answer is not in the context, say: "Insufficient information in provided source."</a:t>
            </a:r>
          </a:p>
          <a:p>
            <a:r>
              <a:rPr lang="en-US" sz="800"/>
              <a:t>2. Be accurate. Provide protocols, dosages, diagnostic steps, and treatments exactly as supported by the source.</a:t>
            </a:r>
          </a:p>
          <a:p>
            <a:r>
              <a:rPr lang="en-US" sz="800"/>
              <a:t>3. Use a professional, objective, concise clinical tone.</a:t>
            </a:r>
          </a:p>
          <a:p>
            <a:r>
              <a:rPr lang="en-US" sz="800"/>
              <a:t>4. Prioritize speed and clarity for time-sensitive settings.</a:t>
            </a:r>
          </a:p>
          <a:p>
            <a:r>
              <a:rPr lang="en-US" sz="800"/>
              <a:t>5. If critical data for safe treatment is missing, such as age, weight, allergies, pregnancy status, renal function, hepatic function, current medications, or severity of symptoms, state what information is needed.</a:t>
            </a:r>
          </a:p>
          <a:p>
            <a:r>
              <a:rPr lang="en-US" sz="800"/>
              <a:t>6. If the case suggests an emergency, such as sepsis, stroke, appendicitis, anaphylaxis, or airway compromise, present immediate life-saving actions first, followed by diagnostics and treatment, but only when supported by the provided context.</a:t>
            </a:r>
          </a:p>
          <a:p>
            <a:r>
              <a:rPr lang="en-US" sz="800"/>
              <a:t>7. Do not guess, infer beyond the source, or invent information.</a:t>
            </a:r>
          </a:p>
          <a:p>
            <a:r>
              <a:rPr lang="en-US" sz="800"/>
              <a:t>8. This assistant supports clinical information retrieval and does not replace professional medical judgment.</a:t>
            </a:r>
          </a:p>
          <a:p>
            <a:br>
              <a:rPr lang="en-US" sz="800"/>
            </a:br>
            <a:endParaRPr lang="en-US" sz="800"/>
          </a:p>
          <a:p>
            <a:r>
              <a:rPr lang="en-US" sz="800"/>
              <a:t>Preferred Response Format:</a:t>
            </a:r>
          </a:p>
          <a:p>
            <a:r>
              <a:rPr lang="en-US" sz="800"/>
              <a:t>- Assessment</a:t>
            </a:r>
          </a:p>
          <a:p>
            <a:r>
              <a:rPr lang="en-US" sz="800"/>
              <a:t>- Immediate Actions</a:t>
            </a:r>
          </a:p>
          <a:p>
            <a:r>
              <a:rPr lang="en-US" sz="800"/>
              <a:t>- Diagnostics</a:t>
            </a:r>
          </a:p>
          <a:p>
            <a:r>
              <a:rPr lang="en-US" sz="800"/>
              <a:t>- Treatment</a:t>
            </a:r>
          </a:p>
          <a:p>
            <a:r>
              <a:rPr lang="en-US" sz="800"/>
              <a:t>- Warnings / Escalation</a:t>
            </a:r>
          </a:p>
          <a:p>
            <a:endParaRPr lang="en-US" sz="800"/>
          </a:p>
        </p:txBody>
      </p:sp>
      <p:sp>
        <p:nvSpPr>
          <p:cNvPr id="8" name="TextBox 7">
            <a:extLst>
              <a:ext uri="{FF2B5EF4-FFF2-40B4-BE49-F238E27FC236}">
                <a16:creationId xmlns:a16="http://schemas.microsoft.com/office/drawing/2014/main" id="{3A56BABE-27AF-392F-8943-1A853F41CB1F}"/>
              </a:ext>
            </a:extLst>
          </p:cNvPr>
          <p:cNvSpPr txBox="1"/>
          <p:nvPr/>
        </p:nvSpPr>
        <p:spPr>
          <a:xfrm>
            <a:off x="4650590" y="939000"/>
            <a:ext cx="4267200" cy="3970318"/>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User Prompt</a:t>
            </a:r>
          </a:p>
          <a:p>
            <a:r>
              <a:rPr lang="en-US" sz="1000"/>
              <a:t>You are given context extracted from a medical diagnosis manual.</a:t>
            </a:r>
          </a:p>
          <a:p>
            <a:br>
              <a:rPr lang="en-US" sz="1000"/>
            </a:br>
            <a:endParaRPr lang="en-US" sz="1000"/>
          </a:p>
          <a:p>
            <a:r>
              <a:rPr lang="en-US" sz="1000"/>
              <a:t>Context:</a:t>
            </a:r>
          </a:p>
          <a:p>
            <a:r>
              <a:rPr lang="en-US" sz="1000"/>
              <a:t>{context}</a:t>
            </a:r>
          </a:p>
          <a:p>
            <a:endParaRPr lang="en-US" sz="1000"/>
          </a:p>
          <a:p>
            <a:r>
              <a:rPr lang="en-US" sz="1000"/>
              <a:t>Question:</a:t>
            </a:r>
          </a:p>
          <a:p>
            <a:r>
              <a:rPr lang="en-US" sz="1000"/>
              <a:t>{question}</a:t>
            </a:r>
          </a:p>
          <a:p>
            <a:br>
              <a:rPr lang="en-US" sz="1000"/>
            </a:br>
            <a:r>
              <a:rPr lang="en-US" sz="1000"/>
              <a:t>Task:</a:t>
            </a:r>
          </a:p>
          <a:p>
            <a:r>
              <a:rPr lang="en-US" sz="1000"/>
              <a:t>Answer the question using only the provided context. If the context does not contain enough information, say: "Insufficient information in provided source."</a:t>
            </a:r>
          </a:p>
          <a:p>
            <a:br>
              <a:rPr lang="en-US" sz="1000"/>
            </a:br>
            <a:endParaRPr lang="en-US" sz="1000"/>
          </a:p>
          <a:p>
            <a:r>
              <a:rPr lang="en-US" sz="1000"/>
              <a:t>Use this format:</a:t>
            </a:r>
          </a:p>
          <a:p>
            <a:r>
              <a:rPr lang="en-US" sz="1000"/>
              <a:t>- Assessment</a:t>
            </a:r>
          </a:p>
          <a:p>
            <a:r>
              <a:rPr lang="en-US" sz="1000"/>
              <a:t>- Immediate Actions</a:t>
            </a:r>
          </a:p>
          <a:p>
            <a:r>
              <a:rPr lang="en-US" sz="1000"/>
              <a:t>- Diagnostics</a:t>
            </a:r>
          </a:p>
          <a:p>
            <a:r>
              <a:rPr lang="en-US" sz="1000"/>
              <a:t>- Treatment</a:t>
            </a:r>
          </a:p>
          <a:p>
            <a:pPr marL="171450" indent="-171450">
              <a:buFontTx/>
              <a:buChar char="-"/>
            </a:pPr>
            <a:r>
              <a:rPr lang="en-US" sz="1000"/>
              <a:t>Warnings / Escalation</a:t>
            </a:r>
          </a:p>
          <a:p>
            <a:pPr marL="171450" indent="-171450">
              <a:buFontTx/>
              <a:buChar char="-"/>
            </a:pPr>
            <a:endParaRPr lang="en-US" sz="1000"/>
          </a:p>
          <a:p>
            <a:endParaRPr lang="en-US" sz="1000"/>
          </a:p>
          <a:p>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296AF44D-7023-D3CE-B974-77EBD45D7BF2}"/>
            </a:ext>
          </a:extLst>
        </p:cNvPr>
        <p:cNvGrpSpPr/>
        <p:nvPr/>
      </p:nvGrpSpPr>
      <p:grpSpPr>
        <a:xfrm>
          <a:off x="0" y="0"/>
          <a:ext cx="0" cy="0"/>
          <a:chOff x="0" y="0"/>
          <a:chExt cx="0" cy="0"/>
        </a:xfrm>
      </p:grpSpPr>
      <p:sp>
        <p:nvSpPr>
          <p:cNvPr id="252" name="Google Shape;252;p52">
            <a:extLst>
              <a:ext uri="{FF2B5EF4-FFF2-40B4-BE49-F238E27FC236}">
                <a16:creationId xmlns:a16="http://schemas.microsoft.com/office/drawing/2014/main" id="{6B587836-C3C4-AE31-C175-4304A61082B9}"/>
              </a:ext>
            </a:extLst>
          </p:cNvPr>
          <p:cNvSpPr txBox="1"/>
          <p:nvPr/>
        </p:nvSpPr>
        <p:spPr>
          <a:xfrm>
            <a:off x="264422" y="807126"/>
            <a:ext cx="8588387" cy="512712"/>
          </a:xfrm>
          <a:prstGeom prst="roundRect">
            <a:avLst>
              <a:gd name="adj" fmla="val 2271"/>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sz="1050" b="1">
                <a:solidFill>
                  <a:schemeClr val="accent6">
                    <a:lumMod val="50000"/>
                  </a:schemeClr>
                </a:solidFill>
                <a:latin typeface="Montserrat"/>
                <a:ea typeface="Montserrat"/>
                <a:cs typeface="Montserrat"/>
                <a:sym typeface="Montserrat"/>
              </a:rPr>
              <a:t>Questions</a:t>
            </a:r>
          </a:p>
          <a:p>
            <a:pPr marL="285750" indent="-285750">
              <a:buFont typeface="Arial" panose="020B0604020202020204" pitchFamily="34" charset="0"/>
              <a:buChar char="•"/>
            </a:pPr>
            <a:r>
              <a:rPr lang="en-US" sz="1050"/>
              <a:t>What is the protocol for managing sepsis in a critical care unit?</a:t>
            </a:r>
          </a:p>
        </p:txBody>
      </p:sp>
      <p:sp>
        <p:nvSpPr>
          <p:cNvPr id="2" name="Google Shape;262;p53">
            <a:extLst>
              <a:ext uri="{FF2B5EF4-FFF2-40B4-BE49-F238E27FC236}">
                <a16:creationId xmlns:a16="http://schemas.microsoft.com/office/drawing/2014/main" id="{5E081988-E357-ACDE-46FA-839E1AF1D140}"/>
              </a:ext>
            </a:extLst>
          </p:cNvPr>
          <p:cNvSpPr txBox="1">
            <a:spLocks/>
          </p:cNvSpPr>
          <p:nvPr/>
        </p:nvSpPr>
        <p:spPr>
          <a:xfrm>
            <a:off x="133798" y="353570"/>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 sz="2400">
                <a:solidFill>
                  <a:srgbClr val="0E39A9"/>
                </a:solidFill>
              </a:rPr>
              <a:t>Question Answering using RAG</a:t>
            </a:r>
            <a:endParaRPr lang="en-US" sz="2400">
              <a:solidFill>
                <a:srgbClr val="0E39A9"/>
              </a:solidFill>
            </a:endParaRPr>
          </a:p>
        </p:txBody>
      </p:sp>
      <p:sp>
        <p:nvSpPr>
          <p:cNvPr id="3" name="TextBox 2">
            <a:extLst>
              <a:ext uri="{FF2B5EF4-FFF2-40B4-BE49-F238E27FC236}">
                <a16:creationId xmlns:a16="http://schemas.microsoft.com/office/drawing/2014/main" id="{05FD2087-3105-FBFD-3505-5DB3A0FDB0E6}"/>
              </a:ext>
            </a:extLst>
          </p:cNvPr>
          <p:cNvSpPr txBox="1"/>
          <p:nvPr/>
        </p:nvSpPr>
        <p:spPr>
          <a:xfrm>
            <a:off x="264421" y="1354906"/>
            <a:ext cx="4267200" cy="3354765"/>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Simple</a:t>
            </a:r>
            <a:br>
              <a:rPr lang="en-US" sz="1200" b="1"/>
            </a:br>
            <a:r>
              <a:rPr lang="en-US" sz="800" b="1">
                <a:solidFill>
                  <a:schemeClr val="accent6">
                    <a:lumMod val="50000"/>
                  </a:schemeClr>
                </a:solidFill>
              </a:rPr>
              <a:t>Assessment</a:t>
            </a:r>
            <a:r>
              <a:rPr lang="en-US" sz="800">
                <a:solidFill>
                  <a:schemeClr val="accent6">
                    <a:lumMod val="50000"/>
                  </a:schemeClr>
                </a:solidFill>
              </a:rPr>
              <a:t>: Suspected sepsis requires very prompt empiric therapy. Antibiotic selection is based on suspected source, clinical setting, knowledge or suspicion of causative organisms and sensitivity patterns, and previous culture results.</a:t>
            </a:r>
          </a:p>
          <a:p>
            <a:r>
              <a:rPr lang="en-US" sz="800" b="1">
                <a:solidFill>
                  <a:schemeClr val="accent6">
                    <a:lumMod val="50000"/>
                  </a:schemeClr>
                </a:solidFill>
              </a:rPr>
              <a:t>Immediate Actions: </a:t>
            </a:r>
            <a:r>
              <a:rPr lang="en-US" sz="800">
                <a:solidFill>
                  <a:schemeClr val="accent6">
                    <a:lumMod val="50000"/>
                  </a:schemeClr>
                </a:solidFill>
              </a:rPr>
              <a:t>Start antibiotics immediately after suspecting sepsis. Regimens include gentamicin or tobramycin 5.1 mg/kg IV once/day plus a 3rd-generation cephalosporin (cefotaxime, ceftriaxone, or ceftazidime), or ceftazidime plus a fluoroquinolone (ciprofloxacin). Add vancomycin if resistant staphylococci or enterococci are suspected. If there is an abdominal source, include a drug effective against anaerobes (eg, metronidazole).</a:t>
            </a:r>
          </a:p>
          <a:p>
            <a:r>
              <a:rPr lang="en-US" sz="800" b="1">
                <a:solidFill>
                  <a:schemeClr val="accent6">
                    <a:lumMod val="50000"/>
                  </a:schemeClr>
                </a:solidFill>
              </a:rPr>
              <a:t>Diagnostics</a:t>
            </a:r>
            <a:r>
              <a:rPr lang="en-US" sz="800">
                <a:solidFill>
                  <a:schemeClr val="accent6">
                    <a:lumMod val="50000"/>
                  </a:schemeClr>
                </a:solidFill>
              </a:rPr>
              <a:t>: Culture and sensitivity results should be used to change the antibiotic regimen accordingly. Hemodynamic measurements with a central venous or pulmonary artery catheter can be used when the specific type of shock is unclear or when large fluid volumes are needed.</a:t>
            </a:r>
          </a:p>
          <a:p>
            <a:r>
              <a:rPr lang="en-US" sz="800" b="1">
                <a:solidFill>
                  <a:schemeClr val="accent6">
                    <a:lumMod val="50000"/>
                  </a:schemeClr>
                </a:solidFill>
              </a:rPr>
              <a:t>Treatment</a:t>
            </a:r>
            <a:r>
              <a:rPr lang="en-US" sz="800">
                <a:solidFill>
                  <a:schemeClr val="accent6">
                    <a:lumMod val="50000"/>
                  </a:schemeClr>
                </a:solidFill>
              </a:rPr>
              <a:t>: Drain abscesses and excise necrotic tissue to eliminate septic foci. Normalize blood glucose levels with a continuous IV insulin infusion titrated to maintain glucose between 80 to 110 mg/dL. Consider corticosteroid therapy with hydrocortisone and fludrocortisone during hemodynamic instability and for 3 days thereafter. Activated protein C (drotrecogin alfa) may be beneficial for severe sepsis and septic shock if begun early, but bleeding is the most common complication.</a:t>
            </a:r>
          </a:p>
          <a:p>
            <a:r>
              <a:rPr lang="en-US" sz="800" b="1">
                <a:solidFill>
                  <a:schemeClr val="accent6">
                    <a:lumMod val="50000"/>
                  </a:schemeClr>
                </a:solidFill>
              </a:rPr>
              <a:t>Warnings / Escalation</a:t>
            </a:r>
            <a:r>
              <a:rPr lang="en-US" sz="800">
                <a:solidFill>
                  <a:schemeClr val="accent6">
                    <a:lumMod val="50000"/>
                  </a:schemeClr>
                </a:solidFill>
              </a:rPr>
              <a:t>: Monitor vital signs, quantify all fluid intake and output, and measure daily weight. Every ICU should strictly follow protocols for investigating alarms. Patients with severe sepsis have a high mortality rate, averaging 40%, and poor outcomes often follow failure to institute early aggressive therapy.</a:t>
            </a:r>
            <a:endParaRPr lang="en-US" sz="800" b="1">
              <a:solidFill>
                <a:schemeClr val="accent6">
                  <a:lumMod val="50000"/>
                </a:schemeClr>
              </a:solidFill>
            </a:endParaRPr>
          </a:p>
          <a:p>
            <a:endParaRPr lang="en-US" sz="800">
              <a:solidFill>
                <a:schemeClr val="accent6">
                  <a:lumMod val="50000"/>
                </a:schemeClr>
              </a:solidFill>
            </a:endParaRPr>
          </a:p>
        </p:txBody>
      </p:sp>
      <p:sp>
        <p:nvSpPr>
          <p:cNvPr id="4" name="TextBox 3">
            <a:extLst>
              <a:ext uri="{FF2B5EF4-FFF2-40B4-BE49-F238E27FC236}">
                <a16:creationId xmlns:a16="http://schemas.microsoft.com/office/drawing/2014/main" id="{66489882-A79B-9458-E40B-209E137A7545}"/>
              </a:ext>
            </a:extLst>
          </p:cNvPr>
          <p:cNvSpPr txBox="1"/>
          <p:nvPr/>
        </p:nvSpPr>
        <p:spPr>
          <a:xfrm>
            <a:off x="4558614" y="1351015"/>
            <a:ext cx="4294194" cy="3370153"/>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sz="800">
                <a:solidFill>
                  <a:schemeClr val="accent3">
                    <a:lumMod val="50000"/>
                  </a:schemeClr>
                </a:solidFill>
              </a:rPr>
              <a:t>- </a:t>
            </a:r>
            <a:r>
              <a:rPr lang="en-US" sz="800" b="1">
                <a:solidFill>
                  <a:schemeClr val="accent3">
                    <a:lumMod val="50000"/>
                  </a:schemeClr>
                </a:solidFill>
              </a:rPr>
              <a:t>Assessment</a:t>
            </a:r>
            <a:r>
              <a:rPr lang="en-US" sz="800">
                <a:solidFill>
                  <a:schemeClr val="accent3">
                    <a:lumMod val="50000"/>
                  </a:schemeClr>
                </a:solidFill>
              </a:rPr>
              <a:t>: Suspected sepsis requires very prompt empiric therapy. Antibiotic selection is based on suspected source, clinical setting, knowledge or suspicion of causative organisms and sensitivity patterns, and previous culture results.</a:t>
            </a:r>
          </a:p>
          <a:p>
            <a:r>
              <a:rPr lang="en-US" sz="800">
                <a:solidFill>
                  <a:schemeClr val="accent3">
                    <a:lumMod val="50000"/>
                  </a:schemeClr>
                </a:solidFill>
              </a:rPr>
              <a:t>- </a:t>
            </a:r>
            <a:r>
              <a:rPr lang="en-US" sz="800" b="1">
                <a:solidFill>
                  <a:schemeClr val="accent3">
                    <a:lumMod val="50000"/>
                  </a:schemeClr>
                </a:solidFill>
              </a:rPr>
              <a:t>Immediate Actions: </a:t>
            </a:r>
            <a:r>
              <a:rPr lang="en-US" sz="800">
                <a:solidFill>
                  <a:schemeClr val="accent3">
                    <a:lumMod val="50000"/>
                  </a:schemeClr>
                </a:solidFill>
              </a:rPr>
              <a:t>Start antibiotics immediately after suspecting sepsis. Regimens include gentamicin or tobramycin 5.1 mg/kg IV once/day plus a 3rd-generation cephalosporin (cefotaxime, ceftriaxone, or ceftazidime), or ceftazidime plus a fluoroquinolone (ciprofloxacin). If resistant staphylococci or enterococci are suspected, add vancomycin. For abdominal sources, include a drug effective against anaerobes (eg, metronidazole).</a:t>
            </a:r>
          </a:p>
          <a:p>
            <a:r>
              <a:rPr lang="en-US" sz="800">
                <a:solidFill>
                  <a:schemeClr val="accent3">
                    <a:lumMod val="50000"/>
                  </a:schemeClr>
                </a:solidFill>
              </a:rPr>
              <a:t>- </a:t>
            </a:r>
            <a:r>
              <a:rPr lang="en-US" sz="800" b="1">
                <a:solidFill>
                  <a:schemeClr val="accent3">
                    <a:lumMod val="50000"/>
                  </a:schemeClr>
                </a:solidFill>
              </a:rPr>
              <a:t>Diagnostics</a:t>
            </a:r>
            <a:r>
              <a:rPr lang="en-US" sz="800">
                <a:solidFill>
                  <a:schemeClr val="accent3">
                    <a:lumMod val="50000"/>
                  </a:schemeClr>
                </a:solidFill>
              </a:rPr>
              <a:t>: Blood glucose normalization improves outcome in critically ill patients; maintain between 80 to 110 mg/dL with a continuous IV insulin infusion. Corticosteroid therapy seems beneficial for severe sepsis and septic shock, especially if APACHE II score is &gt; 25. Consider activated protein C (drotrecogin alfa) for significant risk of death as defined by an APACHE II score &gt; 25. Monitor vital signs, fluid intake and output, and perform daily blood tests to help detect problems early.</a:t>
            </a:r>
          </a:p>
          <a:p>
            <a:r>
              <a:rPr lang="en-US" sz="800">
                <a:solidFill>
                  <a:schemeClr val="accent3">
                    <a:lumMod val="50000"/>
                  </a:schemeClr>
                </a:solidFill>
              </a:rPr>
              <a:t>- </a:t>
            </a:r>
            <a:r>
              <a:rPr lang="en-US" sz="800" b="1">
                <a:solidFill>
                  <a:schemeClr val="accent3">
                    <a:lumMod val="50000"/>
                  </a:schemeClr>
                </a:solidFill>
              </a:rPr>
              <a:t>Treatment</a:t>
            </a:r>
            <a:r>
              <a:rPr lang="en-US" sz="800">
                <a:solidFill>
                  <a:schemeClr val="accent3">
                    <a:lumMod val="50000"/>
                  </a:schemeClr>
                </a:solidFill>
              </a:rPr>
              <a:t>: Drain abscesses and excise necrotic tissue; continue antibiotics for at least 5 days after shock resolves and evidence of infection subsides. Normalize blood glucose levels with a continuous IV insulin infusion. Administer replacement-dose corticosteroids (hydrocortisone, fludrocortisone) during hemodynamic instability and for 3 days thereafter. Consider activated protein C (drotrecogin alfa) early in severe sepsis and septic shock if risk of death is high.</a:t>
            </a:r>
          </a:p>
          <a:p>
            <a:pPr marL="171450" indent="-171450">
              <a:buFontTx/>
              <a:buChar char="-"/>
            </a:pPr>
            <a:r>
              <a:rPr lang="en-US" sz="800" b="1">
                <a:solidFill>
                  <a:schemeClr val="accent3">
                    <a:lumMod val="50000"/>
                  </a:schemeClr>
                </a:solidFill>
              </a:rPr>
              <a:t>Warnings / Escalation: </a:t>
            </a:r>
            <a:r>
              <a:rPr lang="en-US" sz="800">
                <a:solidFill>
                  <a:schemeClr val="accent3">
                    <a:lumMod val="50000"/>
                  </a:schemeClr>
                </a:solidFill>
              </a:rPr>
              <a:t>Bleeding is the most common complication with activated protein C (drotrecogin alfa); assess risk in other patients with increased risk of serious bleeding before use.</a:t>
            </a:r>
          </a:p>
          <a:p>
            <a:endParaRPr lang="en-US" sz="800"/>
          </a:p>
        </p:txBody>
      </p:sp>
    </p:spTree>
    <p:extLst>
      <p:ext uri="{BB962C8B-B14F-4D97-AF65-F5344CB8AC3E}">
        <p14:creationId xmlns:p14="http://schemas.microsoft.com/office/powerpoint/2010/main" val="217505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CBECA0D-62C8-100C-4EC5-DAB108C394A1}"/>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1D4658B-8B2F-5E80-9625-99B1A27E852A}"/>
              </a:ext>
            </a:extLst>
          </p:cNvPr>
          <p:cNvSpPr txBox="1">
            <a:spLocks noGrp="1"/>
          </p:cNvSpPr>
          <p:nvPr>
            <p:ph type="title"/>
          </p:nvPr>
        </p:nvSpPr>
        <p:spPr>
          <a:xfrm>
            <a:off x="221903" y="158348"/>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endParaRPr lang="en-US" sz="2400">
              <a:solidFill>
                <a:srgbClr val="0E39A9"/>
              </a:solidFill>
            </a:endParaRPr>
          </a:p>
        </p:txBody>
      </p:sp>
      <p:sp>
        <p:nvSpPr>
          <p:cNvPr id="252" name="Google Shape;252;p52">
            <a:extLst>
              <a:ext uri="{FF2B5EF4-FFF2-40B4-BE49-F238E27FC236}">
                <a16:creationId xmlns:a16="http://schemas.microsoft.com/office/drawing/2014/main" id="{50FF3C24-B332-FEEA-8DD1-5D3D8A91ABB2}"/>
              </a:ext>
            </a:extLst>
          </p:cNvPr>
          <p:cNvSpPr txBox="1"/>
          <p:nvPr/>
        </p:nvSpPr>
        <p:spPr>
          <a:xfrm>
            <a:off x="221903" y="594861"/>
            <a:ext cx="8520600" cy="692467"/>
          </a:xfrm>
          <a:prstGeom prst="roundRect">
            <a:avLst>
              <a:gd name="adj" fmla="val 1363"/>
            </a:avLst>
          </a:prstGeom>
          <a:noFill/>
          <a:ln>
            <a:solidFill>
              <a:schemeClr val="accent1">
                <a:lumMod val="60000"/>
                <a:lumOff val="40000"/>
              </a:schemeClr>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SzPts val="1400"/>
              <a:buNone/>
              <a:defRPr sz="1050" b="1">
                <a:solidFill>
                  <a:schemeClr val="accent6">
                    <a:lumMod val="50000"/>
                  </a:schemeClr>
                </a:solidFill>
                <a:latin typeface="Montserrat"/>
                <a:ea typeface="Montserrat"/>
                <a:cs typeface="Montserrat"/>
              </a:defRPr>
            </a:lvl1pPr>
          </a:lstStyle>
          <a:p>
            <a:r>
              <a:rPr lang="en">
                <a:sym typeface="Montserrat"/>
              </a:rPr>
              <a:t>Questions</a:t>
            </a:r>
          </a:p>
          <a:p>
            <a:r>
              <a:rPr lang="en-US" b="0">
                <a:solidFill>
                  <a:schemeClr val="tx1"/>
                </a:solidFill>
              </a:rPr>
              <a:t>What are the common symptoms of appendicitis, and can it be cured via medicine? If not, what surgical procedure should be followed to treat it?</a:t>
            </a:r>
          </a:p>
        </p:txBody>
      </p:sp>
      <p:sp>
        <p:nvSpPr>
          <p:cNvPr id="2" name="TextBox 1">
            <a:extLst>
              <a:ext uri="{FF2B5EF4-FFF2-40B4-BE49-F238E27FC236}">
                <a16:creationId xmlns:a16="http://schemas.microsoft.com/office/drawing/2014/main" id="{F285D6C7-9492-1F3C-AE73-8679B0946E28}"/>
              </a:ext>
            </a:extLst>
          </p:cNvPr>
          <p:cNvSpPr txBox="1"/>
          <p:nvPr/>
        </p:nvSpPr>
        <p:spPr>
          <a:xfrm>
            <a:off x="220879" y="1331535"/>
            <a:ext cx="4267200" cy="4832092"/>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Simple</a:t>
            </a:r>
            <a:br>
              <a:rPr lang="en-US" sz="1200" b="1"/>
            </a:br>
            <a:r>
              <a:rPr lang="en-US" sz="800">
                <a:solidFill>
                  <a:schemeClr val="accent6">
                    <a:lumMod val="50000"/>
                  </a:schemeClr>
                </a:solidFill>
              </a:rPr>
              <a:t>Response:</a:t>
            </a:r>
          </a:p>
          <a:p>
            <a:r>
              <a:rPr lang="en-US" sz="800" b="1">
                <a:solidFill>
                  <a:schemeClr val="accent6">
                    <a:lumMod val="50000"/>
                  </a:schemeClr>
                </a:solidFill>
              </a:rPr>
              <a:t>Assessment</a:t>
            </a:r>
            <a:r>
              <a:rPr lang="en-US" sz="800">
                <a:solidFill>
                  <a:schemeClr val="accent6">
                    <a:lumMod val="50000"/>
                  </a:schemeClr>
                </a:solidFill>
              </a:rPr>
              <a:t>: The common symptoms for appendicitis include epigastric or periumbilical pain followed by brief nausea, vomiting, and anorexia; after a few hours, the pain shifts to the right lower quadrant. Pain increases with cough and motion. Classic signs are right lower quadrant direct and rebound tenderness located at McBurney's point (junction of the middle and outer thirds of the line joining the umbilicus to the anterior superior spine). Additional signs include pain felt in the right lower quadrant with palpation of the left lower quadrant (Rovsing sign), an increase in pain from passive extension of the right hip joint that stretches the iliopsoas muscle (psoas sign), or pain caused by passive internal rotation of the flexed thigh (obturator sign). Low-grade fever is common. However, these classic findings appear in less than 50% of patients, and many variations of symptoms and signs occur. Pain may not be localized, particularly in infants and children. Tenderness may be diffuse or absent. Bowel movements are usually less frequent or absent; if diarrhea is a sign, a retrocecal appendix should be suspected. RBCs or WBCs may be present in the urine. Atypical symptoms are common among elderly patients and pregnant women.</a:t>
            </a:r>
          </a:p>
          <a:p>
            <a:r>
              <a:rPr lang="en-US" sz="800" b="1">
                <a:solidFill>
                  <a:schemeClr val="accent6">
                    <a:lumMod val="50000"/>
                  </a:schemeClr>
                </a:solidFill>
              </a:rPr>
              <a:t>Immediate Actions</a:t>
            </a:r>
            <a:r>
              <a:rPr lang="en-US" sz="800">
                <a:solidFill>
                  <a:schemeClr val="accent6">
                    <a:lumMod val="50000"/>
                  </a:schemeClr>
                </a:solidFill>
              </a:rPr>
              <a:t>: If the diagnosis of appendicitis is confirmed, immediate surgical intervention is required due to the risk of perforation and subsequent complications.</a:t>
            </a:r>
          </a:p>
          <a:p>
            <a:r>
              <a:rPr lang="en-US" sz="800">
                <a:solidFill>
                  <a:schemeClr val="accent6">
                    <a:lumMod val="50000"/>
                  </a:schemeClr>
                </a:solidFill>
              </a:rPr>
              <a:t>Diagnostics: The diagnosis of appendicitis is primarily clinical when classic symptoms and signs are present. In such cases, delaying laparotomy for imaging tests increases the likelihood of perforation and subsequent complications. However, in patients with atypical or equivocal findings, imaging studies should be done without delay to confirm the diagnosis. Contrast-enhanced CT has reasonable accuracy in diagnosing appendicitis and can also reveal other causes of an acute abdomen. Graded compression ultrasound can usually be done quickly and uses no radiation but is less useful for recognizing nonappendiceal causes of pain.</a:t>
            </a:r>
          </a:p>
          <a:p>
            <a:r>
              <a:rPr lang="en-US" sz="800" b="1">
                <a:solidFill>
                  <a:schemeClr val="accent6">
                    <a:lumMod val="50000"/>
                  </a:schemeClr>
                </a:solidFill>
              </a:rPr>
              <a:t>Treatment:</a:t>
            </a:r>
            <a:r>
              <a:rPr lang="en-US" sz="800">
                <a:solidFill>
                  <a:schemeClr val="accent6">
                    <a:lumMod val="50000"/>
                  </a:schemeClr>
                </a:solidFill>
              </a:rPr>
              <a:t> The treatment for appendicitis is surgical removal, which can usually be done even if the appendix is perforated. Antibiotics should be administered intravenously before surgery to prevent infection. For nonperforated appendicitis, no further antibiotics are required after surgery. If the appendix is perforated, antibiotics should be continued until the patient's temperature and WBC count have normalized or for a fixed course according to the surgeon's preference. If surgery is impossible, antibiotics can improve the survival rate but are not curative. When a large inflammatory mass is found involving the appendix, terminal ileum, and cecum, resection of the entire mass and ileocolostomy may be necessary. In late cases in which a pericolic abscess has already formed, the abscess should be drained either</a:t>
            </a:r>
          </a:p>
          <a:p>
            <a:endParaRPr lang="en-US" sz="800">
              <a:solidFill>
                <a:schemeClr val="accent6">
                  <a:lumMod val="50000"/>
                </a:schemeClr>
              </a:solidFill>
            </a:endParaRPr>
          </a:p>
        </p:txBody>
      </p:sp>
      <p:sp>
        <p:nvSpPr>
          <p:cNvPr id="3" name="TextBox 2">
            <a:extLst>
              <a:ext uri="{FF2B5EF4-FFF2-40B4-BE49-F238E27FC236}">
                <a16:creationId xmlns:a16="http://schemas.microsoft.com/office/drawing/2014/main" id="{A0F72B4B-3C6E-1CE2-1F1C-37FEDCD49CD5}"/>
              </a:ext>
            </a:extLst>
          </p:cNvPr>
          <p:cNvSpPr txBox="1"/>
          <p:nvPr/>
        </p:nvSpPr>
        <p:spPr>
          <a:xfrm>
            <a:off x="4515072" y="1327645"/>
            <a:ext cx="4294194" cy="4924425"/>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a:t>Response:</a:t>
            </a:r>
          </a:p>
          <a:p>
            <a:r>
              <a:rPr lang="en-US" sz="800" b="1">
                <a:solidFill>
                  <a:schemeClr val="accent3">
                    <a:lumMod val="50000"/>
                  </a:schemeClr>
                </a:solidFill>
              </a:rPr>
              <a:t>Assessment</a:t>
            </a:r>
            <a:r>
              <a:rPr lang="en-US" sz="800">
                <a:solidFill>
                  <a:schemeClr val="accent3">
                    <a:lumMod val="50000"/>
                  </a:schemeClr>
                </a:solidFill>
              </a:rPr>
              <a:t>: The common symptoms for appendicitis include epigastric or periumbilical pain followed by brief nausea, vomiting, and anorexia; after a few hours, the pain shifts to the right lower quadrant. Pain increases with cough and motion. Classic signs are right lower quadrant direct and rebound tenderness located at McBurney's point. Additional signs include pain felt in the right lower quadrant with palpation of the left lower quadrant (Rovsing sign), an increase in pain from passive extension of the right hip joint, or pain caused by passive internal rotation of the flexed thigh (obturator sign). Low-grade fever is common. However, these classic findings appear in less than 50% of patients and many variations of symptoms and signs occur. Pain may not be localized, particularly in infants and children. Tenderness may be diffuse or absent, and bowel movements are usually less frequent or absent if diarrhea is a sign.</a:t>
            </a:r>
          </a:p>
          <a:p>
            <a:r>
              <a:rPr lang="en-US" sz="800">
                <a:solidFill>
                  <a:schemeClr val="accent3">
                    <a:lumMod val="50000"/>
                  </a:schemeClr>
                </a:solidFill>
              </a:rPr>
              <a:t>Immediate Actions: There are no immediate actions mentioned for appendicitis in the provided context.</a:t>
            </a:r>
          </a:p>
          <a:p>
            <a:r>
              <a:rPr lang="en-US" sz="800" b="1">
                <a:solidFill>
                  <a:schemeClr val="accent3">
                    <a:lumMod val="50000"/>
                  </a:schemeClr>
                </a:solidFill>
              </a:rPr>
              <a:t>Diagnostics</a:t>
            </a:r>
            <a:r>
              <a:rPr lang="en-US" sz="800">
                <a:solidFill>
                  <a:schemeClr val="accent3">
                    <a:lumMod val="50000"/>
                  </a:schemeClr>
                </a:solidFill>
              </a:rPr>
              <a:t>: The diagnosis of appendicitis is clinical when classic symptoms and signs are present. In such patients, delaying laparotomy to do imaging tests only increases the likelihood of perforation and subsequent complications. However, in patients with atypical or equivocal findings, imaging studies like abdominal CT or ultrasound should be done without delay. Contrast-enhanced CT has reasonable accuracy in diagnosing appendicitis and can also reveal other causes of an acute abdomen. Graded compression ultrasound is quick and uses no radiation but is less useful for recognizing nonappendiceal causes of pain.</a:t>
            </a:r>
          </a:p>
          <a:p>
            <a:r>
              <a:rPr lang="en-US" sz="800" b="1">
                <a:solidFill>
                  <a:schemeClr val="accent3">
                    <a:lumMod val="50000"/>
                  </a:schemeClr>
                </a:solidFill>
              </a:rPr>
              <a:t>Treatment</a:t>
            </a:r>
            <a:r>
              <a:rPr lang="en-US" sz="800">
                <a:solidFill>
                  <a:schemeClr val="accent3">
                    <a:lumMod val="50000"/>
                  </a:schemeClr>
                </a:solidFill>
              </a:rPr>
              <a:t>: The treatment for appendicitis is open or laparoscopic appendectomy. Because treatment delay increases mortality, a negative appendectomy rate of 15% is considered acceptable. Antibiotics should be administered intravenously before surgery with third-generation cephalosporins being preferred. For nonperforated appendicitis, no further antibiotics are required after surgery. If the appendix is perforated, antibiotics should be continued until the patient's temperature and WBC count have normalized or for a fixed course according to the surgeon's preference. If surgery is impossible, antibiotics can improve survival but are not curative. When a large inflammatory mass is found involving the appendix, terminal ileum, and cecum, resection of the entire mass and ileocolostomy are preferable. In late cases where a pericolic abscess has already formed, the abscess is drained either by an ultrasound-guided percutaneous catheter or by open operation (with appendectomy to follow at a later date). A Meckel's diverticulum in a patient under the age of 40 should be removed concomitantly with the appendectomy unless extensive inflammation around</a:t>
            </a:r>
          </a:p>
          <a:p>
            <a:endParaRPr lang="en-US" sz="800"/>
          </a:p>
        </p:txBody>
      </p:sp>
    </p:spTree>
    <p:extLst>
      <p:ext uri="{BB962C8B-B14F-4D97-AF65-F5344CB8AC3E}">
        <p14:creationId xmlns:p14="http://schemas.microsoft.com/office/powerpoint/2010/main" val="3038203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0EE5FCB6-8442-28AE-2919-D7CA56711327}"/>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EEC5893-7E0C-CE12-748D-4ED0186843CD}"/>
              </a:ext>
            </a:extLst>
          </p:cNvPr>
          <p:cNvSpPr txBox="1">
            <a:spLocks noGrp="1"/>
          </p:cNvSpPr>
          <p:nvPr>
            <p:ph type="title"/>
          </p:nvPr>
        </p:nvSpPr>
        <p:spPr>
          <a:xfrm>
            <a:off x="183404" y="100290"/>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endParaRPr lang="en-US" sz="2400">
              <a:solidFill>
                <a:srgbClr val="0E39A9"/>
              </a:solidFill>
            </a:endParaRPr>
          </a:p>
        </p:txBody>
      </p:sp>
      <p:sp>
        <p:nvSpPr>
          <p:cNvPr id="252" name="Google Shape;252;p52">
            <a:extLst>
              <a:ext uri="{FF2B5EF4-FFF2-40B4-BE49-F238E27FC236}">
                <a16:creationId xmlns:a16="http://schemas.microsoft.com/office/drawing/2014/main" id="{7C35D01C-3EE4-BE2B-0ED8-3177E226E8DA}"/>
              </a:ext>
            </a:extLst>
          </p:cNvPr>
          <p:cNvSpPr txBox="1"/>
          <p:nvPr/>
        </p:nvSpPr>
        <p:spPr>
          <a:xfrm>
            <a:off x="220879" y="617648"/>
            <a:ext cx="8520600" cy="652551"/>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0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00"/>
              <a:t>What are the effective treatments or solutions for addressing sudden patchy hair loss, commonly seen as localized bald spots on the scalp, and what could be the possible causes behind it?</a:t>
            </a:r>
          </a:p>
        </p:txBody>
      </p:sp>
      <p:sp>
        <p:nvSpPr>
          <p:cNvPr id="2" name="TextBox 1">
            <a:extLst>
              <a:ext uri="{FF2B5EF4-FFF2-40B4-BE49-F238E27FC236}">
                <a16:creationId xmlns:a16="http://schemas.microsoft.com/office/drawing/2014/main" id="{D75260ED-0A61-E610-22DD-F230BB17C444}"/>
              </a:ext>
            </a:extLst>
          </p:cNvPr>
          <p:cNvSpPr txBox="1"/>
          <p:nvPr/>
        </p:nvSpPr>
        <p:spPr>
          <a:xfrm>
            <a:off x="220879" y="1331535"/>
            <a:ext cx="4267200" cy="4216539"/>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Simple</a:t>
            </a:r>
            <a:br>
              <a:rPr lang="en-US" sz="1200" b="1"/>
            </a:br>
            <a:r>
              <a:rPr lang="en-US" sz="800" b="1">
                <a:solidFill>
                  <a:schemeClr val="accent6">
                    <a:lumMod val="50000"/>
                  </a:schemeClr>
                </a:solidFill>
              </a:rPr>
              <a:t>Assessment</a:t>
            </a:r>
            <a:r>
              <a:rPr lang="en-US" sz="800">
                <a:solidFill>
                  <a:schemeClr val="accent6">
                    <a:lumMod val="50000"/>
                  </a:schemeClr>
                </a:solidFill>
              </a:rPr>
              <a:t>: </a:t>
            </a:r>
          </a:p>
          <a:p>
            <a:r>
              <a:rPr lang="en-US" sz="800">
                <a:solidFill>
                  <a:schemeClr val="accent6">
                    <a:lumMod val="50000"/>
                  </a:schemeClr>
                </a:solidFill>
              </a:rPr>
              <a:t>The patient presents with sudden patchy hair loss on the scalp. This condition is known as alopecia areata, which is characterized by discrete circular patches of hair loss with short broken hairs at the margins. The diagnosis is made through inspection.</a:t>
            </a:r>
          </a:p>
          <a:p>
            <a:endParaRPr lang="en-US" sz="800">
              <a:solidFill>
                <a:schemeClr val="accent6">
                  <a:lumMod val="50000"/>
                </a:schemeClr>
              </a:solidFill>
            </a:endParaRPr>
          </a:p>
          <a:p>
            <a:r>
              <a:rPr lang="en-US" sz="800" b="1">
                <a:solidFill>
                  <a:schemeClr val="accent6">
                    <a:lumMod val="50000"/>
                  </a:schemeClr>
                </a:solidFill>
              </a:rPr>
              <a:t>Immediate Actions</a:t>
            </a:r>
            <a:r>
              <a:rPr lang="en-US" sz="800">
                <a:solidFill>
                  <a:schemeClr val="accent6">
                    <a:lumMod val="50000"/>
                  </a:schemeClr>
                </a:solidFill>
              </a:rPr>
              <a:t>: </a:t>
            </a:r>
          </a:p>
          <a:p>
            <a:r>
              <a:rPr lang="en-US" sz="800">
                <a:solidFill>
                  <a:schemeClr val="accent6">
                    <a:lumMod val="50000"/>
                  </a:schemeClr>
                </a:solidFill>
              </a:rPr>
              <a:t>There are no immediate actions required for this condition as it does not pose an immediate threat to the patient's health or life.</a:t>
            </a:r>
          </a:p>
          <a:p>
            <a:endParaRPr lang="en-US" sz="800">
              <a:solidFill>
                <a:schemeClr val="accent6">
                  <a:lumMod val="50000"/>
                </a:schemeClr>
              </a:solidFill>
            </a:endParaRPr>
          </a:p>
          <a:p>
            <a:r>
              <a:rPr lang="en-US" sz="800" b="1">
                <a:solidFill>
                  <a:schemeClr val="accent6">
                    <a:lumMod val="50000"/>
                  </a:schemeClr>
                </a:solidFill>
              </a:rPr>
              <a:t>Diagnostics</a:t>
            </a:r>
            <a:r>
              <a:rPr lang="en-US" sz="800">
                <a:solidFill>
                  <a:schemeClr val="accent6">
                    <a:lumMod val="50000"/>
                  </a:schemeClr>
                </a:solidFill>
              </a:rPr>
              <a:t>: </a:t>
            </a:r>
          </a:p>
          <a:p>
            <a:r>
              <a:rPr lang="en-US" sz="800">
                <a:solidFill>
                  <a:schemeClr val="accent6">
                    <a:lumMod val="50000"/>
                  </a:schemeClr>
                </a:solidFill>
              </a:rPr>
              <a:t>The diagnosis is based on the appearance of the hair loss and a thorough examination by a healthcare professional. Measures of thyroid-stimulating hormone, vitamin B12, and autoantibodies may be indicated if coexisting disease is suspected.</a:t>
            </a:r>
          </a:p>
          <a:p>
            <a:endParaRPr lang="en-US" sz="800">
              <a:solidFill>
                <a:schemeClr val="accent6">
                  <a:lumMod val="50000"/>
                </a:schemeClr>
              </a:solidFill>
            </a:endParaRPr>
          </a:p>
          <a:p>
            <a:r>
              <a:rPr lang="en-US" sz="800" b="1">
                <a:solidFill>
                  <a:schemeClr val="accent6">
                    <a:lumMod val="50000"/>
                  </a:schemeClr>
                </a:solidFill>
              </a:rPr>
              <a:t>Treatment</a:t>
            </a:r>
            <a:r>
              <a:rPr lang="en-US" sz="800">
                <a:solidFill>
                  <a:schemeClr val="accent6">
                    <a:lumMod val="50000"/>
                  </a:schemeClr>
                </a:solidFill>
              </a:rPr>
              <a:t>: </a:t>
            </a:r>
          </a:p>
          <a:p>
            <a:r>
              <a:rPr lang="en-US" sz="800">
                <a:solidFill>
                  <a:schemeClr val="accent6">
                    <a:lumMod val="50000"/>
                  </a:schemeClr>
                </a:solidFill>
              </a:rPr>
              <a:t>The treatment for alopecia areata includes corticosteroids, topical anthralin, minoxidil, or a combination of these. Triamcinolone acetonide suspension can be injected intradermally for small lesions, while potent topical corticosteroids may not penetrate deeply enough to the hair bulb where the inflammatory process is located. Oral corticosteroids are effective but have adverse effects and limit use. Topical anthralin and/or minoxidil may also be used. Induction of allergic contact dermatitis using diphencyprone or squaric acid dibutylester can lead to hair growth, but it is best reserved for patients with diffuse involvement who have not responded to other therapies.</a:t>
            </a:r>
          </a:p>
          <a:p>
            <a:endParaRPr lang="en-US" sz="800">
              <a:solidFill>
                <a:schemeClr val="accent6">
                  <a:lumMod val="50000"/>
                </a:schemeClr>
              </a:solidFill>
            </a:endParaRPr>
          </a:p>
          <a:p>
            <a:r>
              <a:rPr lang="en-US" sz="800" b="1">
                <a:solidFill>
                  <a:schemeClr val="accent6">
                    <a:lumMod val="50000"/>
                  </a:schemeClr>
                </a:solidFill>
              </a:rPr>
              <a:t>Warnings / Escalation</a:t>
            </a:r>
            <a:r>
              <a:rPr lang="en-US" sz="800">
                <a:solidFill>
                  <a:schemeClr val="accent6">
                    <a:lumMod val="50000"/>
                  </a:schemeClr>
                </a:solidFill>
              </a:rPr>
              <a:t>: </a:t>
            </a:r>
          </a:p>
          <a:p>
            <a:r>
              <a:rPr lang="en-US" sz="800">
                <a:solidFill>
                  <a:schemeClr val="accent6">
                    <a:lumMod val="50000"/>
                  </a:schemeClr>
                </a:solidFill>
              </a:rPr>
              <a:t>Alopecia areata may spontaneously regress, become chronic, or spread diffusely. Risk factors for chronicity include extensive involvement, onset before adolescence, atopy, and involvement of the peripheral scalp (ophiasis). Patients should be informed about these possibilities and the need for long-term treatment to maintain hair growth. If the patient's condition worsens or does not improve with treatment, further evaluation may be necessary to rule out other causes of hair loss</a:t>
            </a:r>
            <a:r>
              <a:rPr lang="en-US" sz="800"/>
              <a:t>.</a:t>
            </a:r>
          </a:p>
          <a:p>
            <a:endParaRPr lang="en-US" sz="800">
              <a:solidFill>
                <a:schemeClr val="accent6">
                  <a:lumMod val="50000"/>
                </a:schemeClr>
              </a:solidFill>
            </a:endParaRPr>
          </a:p>
        </p:txBody>
      </p:sp>
      <p:sp>
        <p:nvSpPr>
          <p:cNvPr id="3" name="TextBox 2">
            <a:extLst>
              <a:ext uri="{FF2B5EF4-FFF2-40B4-BE49-F238E27FC236}">
                <a16:creationId xmlns:a16="http://schemas.microsoft.com/office/drawing/2014/main" id="{8928AAF0-DC8B-00E4-D4F7-87661C3C5AA5}"/>
              </a:ext>
            </a:extLst>
          </p:cNvPr>
          <p:cNvSpPr txBox="1"/>
          <p:nvPr/>
        </p:nvSpPr>
        <p:spPr>
          <a:xfrm>
            <a:off x="4515072" y="1327645"/>
            <a:ext cx="4294194" cy="4462760"/>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sz="800" b="1">
                <a:solidFill>
                  <a:schemeClr val="accent3">
                    <a:lumMod val="50000"/>
                  </a:schemeClr>
                </a:solidFill>
              </a:rPr>
              <a:t>Assessment:</a:t>
            </a:r>
          </a:p>
          <a:p>
            <a:r>
              <a:rPr lang="en-US" sz="800" b="1">
                <a:solidFill>
                  <a:schemeClr val="accent3">
                    <a:lumMod val="50000"/>
                  </a:schemeClr>
                </a:solidFill>
              </a:rPr>
              <a:t>The context suggests sudden patchy hair loss, also known as alopecia areata. It is characterized by discrete circular patches of hair loss with short broken hairs at the margins resembling exclamation points. Nails may also display pitting or trachyonychia.</a:t>
            </a:r>
          </a:p>
          <a:p>
            <a:endParaRPr lang="en-US" sz="800" b="1">
              <a:solidFill>
                <a:schemeClr val="accent3">
                  <a:lumMod val="50000"/>
                </a:schemeClr>
              </a:solidFill>
            </a:endParaRPr>
          </a:p>
          <a:p>
            <a:r>
              <a:rPr lang="en-US" sz="800" b="1">
                <a:solidFill>
                  <a:schemeClr val="accent3">
                    <a:lumMod val="50000"/>
                  </a:schemeClr>
                </a:solidFill>
              </a:rPr>
              <a:t>Immediate Actions:</a:t>
            </a:r>
          </a:p>
          <a:p>
            <a:r>
              <a:rPr lang="en-US" sz="800" b="1">
                <a:solidFill>
                  <a:schemeClr val="accent3">
                    <a:lumMod val="50000"/>
                  </a:schemeClr>
                </a:solidFill>
              </a:rPr>
              <a:t>There are no immediate actions required for alopecia areata as it does not pose an immediate threat to life or health. However, patients who are self-conscious about their hair loss may consider surgical options such as follicle transplant, scalp flaps, and alopecia reduction.</a:t>
            </a:r>
          </a:p>
          <a:p>
            <a:endParaRPr lang="en-US" sz="800" b="1">
              <a:solidFill>
                <a:schemeClr val="accent3">
                  <a:lumMod val="50000"/>
                </a:schemeClr>
              </a:solidFill>
            </a:endParaRPr>
          </a:p>
          <a:p>
            <a:r>
              <a:rPr lang="en-US" sz="800" b="1">
                <a:solidFill>
                  <a:schemeClr val="accent3">
                    <a:lumMod val="50000"/>
                  </a:schemeClr>
                </a:solidFill>
              </a:rPr>
              <a:t>Diagnostics:</a:t>
            </a:r>
          </a:p>
          <a:p>
            <a:r>
              <a:rPr lang="en-US" sz="800" b="1">
                <a:solidFill>
                  <a:schemeClr val="accent3">
                    <a:lumMod val="50000"/>
                  </a:schemeClr>
                </a:solidFill>
              </a:rPr>
              <a:t>Diagnosis is by inspection. Alopecia areata may coexist with autoimmune vitiligo or thyroiditis. Measures of thyroid-stimulating hormone, vitamin B12, and autoantibodies are indicated only when coexisting disease is suspected.</a:t>
            </a:r>
          </a:p>
          <a:p>
            <a:endParaRPr lang="en-US" sz="800" b="1">
              <a:solidFill>
                <a:schemeClr val="accent3">
                  <a:lumMod val="50000"/>
                </a:schemeClr>
              </a:solidFill>
            </a:endParaRPr>
          </a:p>
          <a:p>
            <a:r>
              <a:rPr lang="en-US" sz="800" b="1">
                <a:solidFill>
                  <a:schemeClr val="accent3">
                    <a:lumMod val="50000"/>
                  </a:schemeClr>
                </a:solidFill>
              </a:rPr>
              <a:t>Treatment:</a:t>
            </a:r>
          </a:p>
          <a:p>
            <a:r>
              <a:rPr lang="en-US" sz="800" b="1">
                <a:solidFill>
                  <a:schemeClr val="accent3">
                    <a:lumMod val="50000"/>
                  </a:schemeClr>
                </a:solidFill>
              </a:rPr>
              <a:t>The treatment for alopecia areata is corticosteroids, which can be injected intradermally or used topically. Triamcinolone acetonide suspension or potent topical corticosteroids such as betamethasone 0.05% bid can be used. Oral corticosteroids are effective but hair loss recurs after cessation of therapy and adverse effects limit use. Topical anthralin (0.5 to 1%) and/or minoxidil may also be used. Induction of allergic contact dermatitis using diphencyprone or squaric acid dibutylester is a last resort for patients with diffuse involvement who have not responded to other therapies.</a:t>
            </a:r>
          </a:p>
          <a:p>
            <a:endParaRPr lang="en-US" sz="800" b="1">
              <a:solidFill>
                <a:schemeClr val="accent3">
                  <a:lumMod val="50000"/>
                </a:schemeClr>
              </a:solidFill>
            </a:endParaRPr>
          </a:p>
          <a:p>
            <a:r>
              <a:rPr lang="en-US" sz="800" b="1">
                <a:solidFill>
                  <a:schemeClr val="accent3">
                    <a:lumMod val="50000"/>
                  </a:schemeClr>
                </a:solidFill>
              </a:rPr>
              <a:t>Warnings / Escalation:</a:t>
            </a:r>
          </a:p>
          <a:p>
            <a:r>
              <a:rPr lang="en-US" sz="800" b="1">
                <a:solidFill>
                  <a:schemeClr val="accent3">
                    <a:lumMod val="50000"/>
                  </a:schemeClr>
                </a:solidFill>
              </a:rPr>
              <a:t>Alopecia areata may spontaneously regress, become chronic, or spread diffusely. Risk factors for chronicity include extensive involvement, onset before adolescence, atopy, and involvement of the peripheral scalp (ophiasis). Patients with sudden patchy hair loss should be evaluated for underlying disorders that could be causing the hair loss. If there are signs of systemic disease or virilization, a thorough evaluation is warranted.</a:t>
            </a:r>
            <a:endParaRPr lang="en-US" sz="800"/>
          </a:p>
        </p:txBody>
      </p:sp>
    </p:spTree>
    <p:extLst>
      <p:ext uri="{BB962C8B-B14F-4D97-AF65-F5344CB8AC3E}">
        <p14:creationId xmlns:p14="http://schemas.microsoft.com/office/powerpoint/2010/main" val="8848519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1692A833-5A87-83F6-428C-E47FCD368AEB}"/>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38EF6062-5148-595A-345A-B0D752573657}"/>
              </a:ext>
            </a:extLst>
          </p:cNvPr>
          <p:cNvSpPr txBox="1">
            <a:spLocks noGrp="1"/>
          </p:cNvSpPr>
          <p:nvPr>
            <p:ph type="title"/>
          </p:nvPr>
        </p:nvSpPr>
        <p:spPr>
          <a:xfrm>
            <a:off x="183404" y="100290"/>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endParaRPr lang="en-US" sz="2400">
              <a:solidFill>
                <a:srgbClr val="0E39A9"/>
              </a:solidFill>
            </a:endParaRPr>
          </a:p>
        </p:txBody>
      </p:sp>
      <p:sp>
        <p:nvSpPr>
          <p:cNvPr id="252" name="Google Shape;252;p52">
            <a:extLst>
              <a:ext uri="{FF2B5EF4-FFF2-40B4-BE49-F238E27FC236}">
                <a16:creationId xmlns:a16="http://schemas.microsoft.com/office/drawing/2014/main" id="{BA1DF229-B377-32CF-1F35-7B69EF5381A2}"/>
              </a:ext>
            </a:extLst>
          </p:cNvPr>
          <p:cNvSpPr txBox="1"/>
          <p:nvPr/>
        </p:nvSpPr>
        <p:spPr>
          <a:xfrm>
            <a:off x="220879" y="617648"/>
            <a:ext cx="8520600" cy="652551"/>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00"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sz="1000"/>
              <a:t>What are the effective treatments or solutions for addressing sudden patchy hair loss, commonly seen as localized bald spots on the scalp, and what could be the possible causes behind it?</a:t>
            </a:r>
          </a:p>
        </p:txBody>
      </p:sp>
      <p:sp>
        <p:nvSpPr>
          <p:cNvPr id="2" name="TextBox 1">
            <a:extLst>
              <a:ext uri="{FF2B5EF4-FFF2-40B4-BE49-F238E27FC236}">
                <a16:creationId xmlns:a16="http://schemas.microsoft.com/office/drawing/2014/main" id="{E3F230D8-F836-E0FB-425F-7371C3D4A0E0}"/>
              </a:ext>
            </a:extLst>
          </p:cNvPr>
          <p:cNvSpPr txBox="1"/>
          <p:nvPr/>
        </p:nvSpPr>
        <p:spPr>
          <a:xfrm>
            <a:off x="220879" y="1331535"/>
            <a:ext cx="4267200" cy="4216539"/>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Simple</a:t>
            </a:r>
            <a:br>
              <a:rPr lang="en-US" sz="1200" b="1"/>
            </a:br>
            <a:r>
              <a:rPr lang="en-US" sz="800" b="1">
                <a:solidFill>
                  <a:schemeClr val="accent6">
                    <a:lumMod val="50000"/>
                  </a:schemeClr>
                </a:solidFill>
              </a:rPr>
              <a:t>Assessment</a:t>
            </a:r>
            <a:r>
              <a:rPr lang="en-US" sz="800">
                <a:solidFill>
                  <a:schemeClr val="accent6">
                    <a:lumMod val="50000"/>
                  </a:schemeClr>
                </a:solidFill>
              </a:rPr>
              <a:t>: </a:t>
            </a:r>
          </a:p>
          <a:p>
            <a:r>
              <a:rPr lang="en-US" sz="800">
                <a:solidFill>
                  <a:schemeClr val="accent6">
                    <a:lumMod val="50000"/>
                  </a:schemeClr>
                </a:solidFill>
              </a:rPr>
              <a:t>The patient presents with sudden patchy hair loss on the scalp. This condition is known as alopecia areata, which is characterized by discrete circular patches of hair loss with short broken hairs at the margins. The diagnosis is made through inspection.</a:t>
            </a:r>
          </a:p>
          <a:p>
            <a:endParaRPr lang="en-US" sz="800">
              <a:solidFill>
                <a:schemeClr val="accent6">
                  <a:lumMod val="50000"/>
                </a:schemeClr>
              </a:solidFill>
            </a:endParaRPr>
          </a:p>
          <a:p>
            <a:r>
              <a:rPr lang="en-US" sz="800" b="1">
                <a:solidFill>
                  <a:schemeClr val="accent6">
                    <a:lumMod val="50000"/>
                  </a:schemeClr>
                </a:solidFill>
              </a:rPr>
              <a:t>Immediate Actions</a:t>
            </a:r>
            <a:r>
              <a:rPr lang="en-US" sz="800">
                <a:solidFill>
                  <a:schemeClr val="accent6">
                    <a:lumMod val="50000"/>
                  </a:schemeClr>
                </a:solidFill>
              </a:rPr>
              <a:t>: </a:t>
            </a:r>
          </a:p>
          <a:p>
            <a:r>
              <a:rPr lang="en-US" sz="800">
                <a:solidFill>
                  <a:schemeClr val="accent6">
                    <a:lumMod val="50000"/>
                  </a:schemeClr>
                </a:solidFill>
              </a:rPr>
              <a:t>There are no immediate actions required for this condition as it does not pose an immediate threat to the patient's health or life.</a:t>
            </a:r>
          </a:p>
          <a:p>
            <a:endParaRPr lang="en-US" sz="800">
              <a:solidFill>
                <a:schemeClr val="accent6">
                  <a:lumMod val="50000"/>
                </a:schemeClr>
              </a:solidFill>
            </a:endParaRPr>
          </a:p>
          <a:p>
            <a:r>
              <a:rPr lang="en-US" sz="800" b="1">
                <a:solidFill>
                  <a:schemeClr val="accent6">
                    <a:lumMod val="50000"/>
                  </a:schemeClr>
                </a:solidFill>
              </a:rPr>
              <a:t>Diagnostics</a:t>
            </a:r>
            <a:r>
              <a:rPr lang="en-US" sz="800">
                <a:solidFill>
                  <a:schemeClr val="accent6">
                    <a:lumMod val="50000"/>
                  </a:schemeClr>
                </a:solidFill>
              </a:rPr>
              <a:t>: </a:t>
            </a:r>
          </a:p>
          <a:p>
            <a:r>
              <a:rPr lang="en-US" sz="800">
                <a:solidFill>
                  <a:schemeClr val="accent6">
                    <a:lumMod val="50000"/>
                  </a:schemeClr>
                </a:solidFill>
              </a:rPr>
              <a:t>The diagnosis is based on the appearance of the hair loss and a thorough examination by a healthcare professional. Measures of thyroid-stimulating hormone, vitamin B12, and autoantibodies may be indicated if coexisting disease is suspected.</a:t>
            </a:r>
          </a:p>
          <a:p>
            <a:endParaRPr lang="en-US" sz="800">
              <a:solidFill>
                <a:schemeClr val="accent6">
                  <a:lumMod val="50000"/>
                </a:schemeClr>
              </a:solidFill>
            </a:endParaRPr>
          </a:p>
          <a:p>
            <a:r>
              <a:rPr lang="en-US" sz="800" b="1">
                <a:solidFill>
                  <a:schemeClr val="accent6">
                    <a:lumMod val="50000"/>
                  </a:schemeClr>
                </a:solidFill>
              </a:rPr>
              <a:t>Treatment</a:t>
            </a:r>
            <a:r>
              <a:rPr lang="en-US" sz="800">
                <a:solidFill>
                  <a:schemeClr val="accent6">
                    <a:lumMod val="50000"/>
                  </a:schemeClr>
                </a:solidFill>
              </a:rPr>
              <a:t>: </a:t>
            </a:r>
          </a:p>
          <a:p>
            <a:r>
              <a:rPr lang="en-US" sz="800">
                <a:solidFill>
                  <a:schemeClr val="accent6">
                    <a:lumMod val="50000"/>
                  </a:schemeClr>
                </a:solidFill>
              </a:rPr>
              <a:t>The treatment for alopecia areata includes corticosteroids, topical anthralin, minoxidil, or a combination of these. Triamcinolone acetonide suspension can be injected intradermally for small lesions, while potent topical corticosteroids may not penetrate deeply enough to the hair bulb where the inflammatory process is located. Oral corticosteroids are effective but have adverse effects and limit use. Topical anthralin and/or minoxidil may also be used. Induction of allergic contact dermatitis using diphencyprone or squaric acid dibutylester can lead to hair growth, but it is best reserved for patients with diffuse involvement who have not responded to other therapies.</a:t>
            </a:r>
          </a:p>
          <a:p>
            <a:endParaRPr lang="en-US" sz="800">
              <a:solidFill>
                <a:schemeClr val="accent6">
                  <a:lumMod val="50000"/>
                </a:schemeClr>
              </a:solidFill>
            </a:endParaRPr>
          </a:p>
          <a:p>
            <a:r>
              <a:rPr lang="en-US" sz="800" b="1">
                <a:solidFill>
                  <a:schemeClr val="accent6">
                    <a:lumMod val="50000"/>
                  </a:schemeClr>
                </a:solidFill>
              </a:rPr>
              <a:t>Warnings / Escalation</a:t>
            </a:r>
            <a:r>
              <a:rPr lang="en-US" sz="800">
                <a:solidFill>
                  <a:schemeClr val="accent6">
                    <a:lumMod val="50000"/>
                  </a:schemeClr>
                </a:solidFill>
              </a:rPr>
              <a:t>: </a:t>
            </a:r>
          </a:p>
          <a:p>
            <a:r>
              <a:rPr lang="en-US" sz="800">
                <a:solidFill>
                  <a:schemeClr val="accent6">
                    <a:lumMod val="50000"/>
                  </a:schemeClr>
                </a:solidFill>
              </a:rPr>
              <a:t>Alopecia areata may spontaneously regress, become chronic, or spread diffusely. Risk factors for chronicity include extensive involvement, onset before adolescence, atopy, and involvement of the peripheral scalp (ophiasis). Patients should be informed about these possibilities and the need for long-term treatment to maintain hair growth. If the patient's condition worsens or does not improve with treatment, further evaluation may be necessary to rule out other causes of hair loss</a:t>
            </a:r>
            <a:r>
              <a:rPr lang="en-US" sz="800"/>
              <a:t>.</a:t>
            </a:r>
          </a:p>
          <a:p>
            <a:endParaRPr lang="en-US" sz="800">
              <a:solidFill>
                <a:schemeClr val="accent6">
                  <a:lumMod val="50000"/>
                </a:schemeClr>
              </a:solidFill>
            </a:endParaRPr>
          </a:p>
        </p:txBody>
      </p:sp>
      <p:sp>
        <p:nvSpPr>
          <p:cNvPr id="3" name="TextBox 2">
            <a:extLst>
              <a:ext uri="{FF2B5EF4-FFF2-40B4-BE49-F238E27FC236}">
                <a16:creationId xmlns:a16="http://schemas.microsoft.com/office/drawing/2014/main" id="{88B5FD37-5AA5-B460-65C8-6F8ABF37D184}"/>
              </a:ext>
            </a:extLst>
          </p:cNvPr>
          <p:cNvSpPr txBox="1"/>
          <p:nvPr/>
        </p:nvSpPr>
        <p:spPr>
          <a:xfrm>
            <a:off x="4515072" y="1327645"/>
            <a:ext cx="4294194" cy="3477875"/>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sz="800" b="1">
                <a:solidFill>
                  <a:schemeClr val="accent3">
                    <a:lumMod val="50000"/>
                  </a:schemeClr>
                </a:solidFill>
              </a:rPr>
              <a:t>Assessment</a:t>
            </a:r>
            <a:r>
              <a:rPr lang="en-US" sz="800">
                <a:solidFill>
                  <a:schemeClr val="accent3">
                    <a:lumMod val="50000"/>
                  </a:schemeClr>
                </a:solidFill>
              </a:rPr>
              <a:t>: </a:t>
            </a:r>
          </a:p>
          <a:p>
            <a:r>
              <a:rPr lang="en-US" sz="800">
                <a:solidFill>
                  <a:schemeClr val="accent3">
                    <a:lumMod val="50000"/>
                  </a:schemeClr>
                </a:solidFill>
              </a:rPr>
              <a:t>The person has sustained a traumatic brain injury (TBI), which is defined as physical injury to brain tissue that temporarily or permanently impairs brain function.</a:t>
            </a:r>
          </a:p>
          <a:p>
            <a:endParaRPr lang="en-US" sz="800">
              <a:solidFill>
                <a:schemeClr val="accent3">
                  <a:lumMod val="50000"/>
                </a:schemeClr>
              </a:solidFill>
            </a:endParaRPr>
          </a:p>
          <a:p>
            <a:r>
              <a:rPr lang="en-US" sz="800" b="1">
                <a:solidFill>
                  <a:schemeClr val="accent3">
                    <a:lumMod val="50000"/>
                  </a:schemeClr>
                </a:solidFill>
              </a:rPr>
              <a:t>Immediate Actions: </a:t>
            </a:r>
          </a:p>
          <a:p>
            <a:r>
              <a:rPr lang="en-US" sz="800">
                <a:solidFill>
                  <a:schemeClr val="accent3">
                    <a:lumMod val="50000"/>
                  </a:schemeClr>
                </a:solidFill>
              </a:rPr>
              <a:t>Ensure a reliable airway and maintain adequate ventilation, oxygenation, and blood pressure. Surgery may be needed in patients with more severe injury to place monitors to track and treat intracranial pressure, decompress the brain if intracranial pressure is increased, or remove intracranial hematomas.</a:t>
            </a:r>
          </a:p>
          <a:p>
            <a:endParaRPr lang="en-US" sz="800">
              <a:solidFill>
                <a:schemeClr val="accent3">
                  <a:lumMod val="50000"/>
                </a:schemeClr>
              </a:solidFill>
            </a:endParaRPr>
          </a:p>
          <a:p>
            <a:r>
              <a:rPr lang="en-US" sz="800" b="1">
                <a:solidFill>
                  <a:schemeClr val="accent3">
                    <a:lumMod val="50000"/>
                  </a:schemeClr>
                </a:solidFill>
              </a:rPr>
              <a:t>Diagnostics</a:t>
            </a:r>
            <a:r>
              <a:rPr lang="en-US" sz="800">
                <a:solidFill>
                  <a:schemeClr val="accent3">
                    <a:lumMod val="50000"/>
                  </a:schemeClr>
                </a:solidFill>
              </a:rPr>
              <a:t>: </a:t>
            </a:r>
          </a:p>
          <a:p>
            <a:r>
              <a:rPr lang="en-US" sz="800">
                <a:solidFill>
                  <a:schemeClr val="accent3">
                    <a:lumMod val="50000"/>
                  </a:schemeClr>
                </a:solidFill>
              </a:rPr>
              <a:t>Suspected clinically and confirmed by imaging, primarily CT.</a:t>
            </a:r>
          </a:p>
          <a:p>
            <a:endParaRPr lang="en-US" sz="800">
              <a:solidFill>
                <a:schemeClr val="accent3">
                  <a:lumMod val="50000"/>
                </a:schemeClr>
              </a:solidFill>
            </a:endParaRPr>
          </a:p>
          <a:p>
            <a:r>
              <a:rPr lang="en-US" sz="800" b="1">
                <a:solidFill>
                  <a:schemeClr val="accent3">
                    <a:lumMod val="50000"/>
                  </a:schemeClr>
                </a:solidFill>
              </a:rPr>
              <a:t>Treatment</a:t>
            </a:r>
            <a:r>
              <a:rPr lang="en-US" sz="800">
                <a:solidFill>
                  <a:schemeClr val="accent3">
                    <a:lumMod val="50000"/>
                  </a:schemeClr>
                </a:solidFill>
              </a:rPr>
              <a:t>: </a:t>
            </a:r>
          </a:p>
          <a:p>
            <a:r>
              <a:rPr lang="en-US" sz="800">
                <a:solidFill>
                  <a:schemeClr val="accent3">
                    <a:lumMod val="50000"/>
                  </a:schemeClr>
                </a:solidFill>
              </a:rPr>
              <a:t>In the first few days after the injury, maintaining adequate brain perfusion and oxygenation and preventing complications of altered sensorium are important. Subsequently, many patients require rehabilitation. Anticonvulsants may be used to prevent seizures in some cases, but their value in preventing future seizures is not established. Skull fractures may require surgery depending on the type and severity. Intracranial hematomas may require urgent surgical evacuation to prevent or treat brain shift, compression, and herniation. Rehabilitation is needed when neurologic deficits persist.</a:t>
            </a:r>
          </a:p>
          <a:p>
            <a:endParaRPr lang="en-US" sz="800">
              <a:solidFill>
                <a:schemeClr val="accent3">
                  <a:lumMod val="50000"/>
                </a:schemeClr>
              </a:solidFill>
            </a:endParaRPr>
          </a:p>
          <a:p>
            <a:r>
              <a:rPr lang="en-US" sz="800" b="1">
                <a:solidFill>
                  <a:schemeClr val="accent3">
                    <a:lumMod val="50000"/>
                  </a:schemeClr>
                </a:solidFill>
              </a:rPr>
              <a:t>Warnings / Escalation: </a:t>
            </a:r>
          </a:p>
          <a:p>
            <a:r>
              <a:rPr lang="en-US" sz="800">
                <a:solidFill>
                  <a:schemeClr val="accent3">
                    <a:lumMod val="50000"/>
                  </a:schemeClr>
                </a:solidFill>
              </a:rPr>
              <a:t>If the person shows signs of an emergency such as seizures, loss of consciousness, or worsening neurologic examination findings, immediate neurosurgical consultation is mandatory.</a:t>
            </a:r>
          </a:p>
        </p:txBody>
      </p:sp>
    </p:spTree>
    <p:extLst>
      <p:ext uri="{BB962C8B-B14F-4D97-AF65-F5344CB8AC3E}">
        <p14:creationId xmlns:p14="http://schemas.microsoft.com/office/powerpoint/2010/main" val="523955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FECCFA3E-711D-8D46-AFDD-7A91A5087BFD}"/>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CE6063C2-E98F-8B48-9A1A-91C9478DAF5C}"/>
              </a:ext>
            </a:extLst>
          </p:cNvPr>
          <p:cNvSpPr txBox="1">
            <a:spLocks noGrp="1"/>
          </p:cNvSpPr>
          <p:nvPr>
            <p:ph type="title"/>
          </p:nvPr>
        </p:nvSpPr>
        <p:spPr>
          <a:xfrm>
            <a:off x="144429" y="163186"/>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endParaRPr lang="en-US" sz="2400">
              <a:solidFill>
                <a:srgbClr val="0E39A9"/>
              </a:solidFill>
            </a:endParaRPr>
          </a:p>
        </p:txBody>
      </p:sp>
      <p:sp>
        <p:nvSpPr>
          <p:cNvPr id="252" name="Google Shape;252;p52">
            <a:extLst>
              <a:ext uri="{FF2B5EF4-FFF2-40B4-BE49-F238E27FC236}">
                <a16:creationId xmlns:a16="http://schemas.microsoft.com/office/drawing/2014/main" id="{B8192FC5-A4B2-B8AE-C9E3-0511811681C2}"/>
              </a:ext>
            </a:extLst>
          </p:cNvPr>
          <p:cNvSpPr txBox="1"/>
          <p:nvPr/>
        </p:nvSpPr>
        <p:spPr>
          <a:xfrm>
            <a:off x="190098" y="659480"/>
            <a:ext cx="8619168" cy="652551"/>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00" b="1">
                <a:solidFill>
                  <a:schemeClr val="accent6">
                    <a:lumMod val="50000"/>
                  </a:schemeClr>
                </a:solidFill>
                <a:latin typeface="Montserrat"/>
                <a:ea typeface="Montserrat"/>
                <a:cs typeface="Montserrat"/>
                <a:sym typeface="Montserrat"/>
              </a:rPr>
              <a:t>Questions/Answer/Comments/Parameters/Fine Tuning</a:t>
            </a:r>
          </a:p>
          <a:p>
            <a:pPr marL="285750" indent="-285750">
              <a:buSzPts val="1400"/>
              <a:buFont typeface="Arial" panose="020B0604020202020204" pitchFamily="34" charset="0"/>
              <a:buChar char="•"/>
            </a:pPr>
            <a:r>
              <a:rPr lang="en-US" sz="1000"/>
              <a:t>What treatments are recommended for a person who has sustained a physical injury to brain tissue, resulting in temporary or permanent impairment of brain function?</a:t>
            </a:r>
          </a:p>
        </p:txBody>
      </p:sp>
      <p:sp>
        <p:nvSpPr>
          <p:cNvPr id="2" name="TextBox 1">
            <a:extLst>
              <a:ext uri="{FF2B5EF4-FFF2-40B4-BE49-F238E27FC236}">
                <a16:creationId xmlns:a16="http://schemas.microsoft.com/office/drawing/2014/main" id="{B1B3729F-B68C-94B3-36E2-714A9DFD2BA4}"/>
              </a:ext>
            </a:extLst>
          </p:cNvPr>
          <p:cNvSpPr txBox="1"/>
          <p:nvPr/>
        </p:nvSpPr>
        <p:spPr>
          <a:xfrm>
            <a:off x="211203" y="1360563"/>
            <a:ext cx="4267200" cy="4093428"/>
          </a:xfrm>
          <a:prstGeom prst="roundRect">
            <a:avLst>
              <a:gd name="adj" fmla="val 1119"/>
            </a:avLst>
          </a:prstGeom>
          <a:noFill/>
          <a:ln>
            <a:solidFill>
              <a:schemeClr val="accent1">
                <a:lumMod val="60000"/>
                <a:lumOff val="40000"/>
              </a:schemeClr>
            </a:solidFill>
          </a:ln>
        </p:spPr>
        <p:txBody>
          <a:bodyPr wrap="square" rtlCol="0">
            <a:spAutoFit/>
          </a:bodyPr>
          <a:lstStyle/>
          <a:p>
            <a:pPr lvl="0">
              <a:buSzPts val="1400"/>
            </a:pPr>
            <a:r>
              <a:rPr lang="en-US" sz="1200" b="1"/>
              <a:t>Simple</a:t>
            </a:r>
            <a:br>
              <a:rPr lang="en-US" sz="1200" b="1"/>
            </a:br>
            <a:r>
              <a:rPr lang="en-US" sz="800" b="1">
                <a:solidFill>
                  <a:schemeClr val="accent6">
                    <a:lumMod val="50000"/>
                  </a:schemeClr>
                </a:solidFill>
              </a:rPr>
              <a:t>Assessment</a:t>
            </a:r>
            <a:r>
              <a:rPr lang="en-US" sz="800">
                <a:solidFill>
                  <a:schemeClr val="accent6">
                    <a:lumMod val="50000"/>
                  </a:schemeClr>
                </a:solidFill>
              </a:rPr>
              <a:t>: </a:t>
            </a:r>
          </a:p>
          <a:p>
            <a:pPr lvl="0">
              <a:buSzPts val="1400"/>
            </a:pPr>
            <a:r>
              <a:rPr lang="en-US" sz="800">
                <a:solidFill>
                  <a:schemeClr val="accent6">
                    <a:lumMod val="50000"/>
                  </a:schemeClr>
                </a:solidFill>
              </a:rPr>
              <a:t>The person has sustained a traumatic brain injury (TBI), which is defined as physical injury to brain tissue that temporarily or permanently impairs brain function.- Immediate</a:t>
            </a:r>
          </a:p>
          <a:p>
            <a:pPr lvl="0">
              <a:buSzPts val="1400"/>
            </a:pPr>
            <a:endParaRPr lang="en-US" sz="800" b="1">
              <a:solidFill>
                <a:schemeClr val="accent6">
                  <a:lumMod val="50000"/>
                </a:schemeClr>
              </a:solidFill>
            </a:endParaRPr>
          </a:p>
          <a:p>
            <a:pPr lvl="0">
              <a:buSzPts val="1400"/>
            </a:pPr>
            <a:r>
              <a:rPr lang="en-US" sz="800" b="1">
                <a:solidFill>
                  <a:schemeClr val="accent6">
                    <a:lumMod val="50000"/>
                  </a:schemeClr>
                </a:solidFill>
              </a:rPr>
              <a:t>Actions</a:t>
            </a:r>
            <a:r>
              <a:rPr lang="en-US" sz="800">
                <a:solidFill>
                  <a:schemeClr val="accent6">
                    <a:lumMod val="50000"/>
                  </a:schemeClr>
                </a:solidFill>
              </a:rPr>
              <a:t>: Ensure a reliable airway and maintain adequate ventilation, oxygenation, and blood pressure. Surgery may be needed in patients with more severe injury to place monitors to track and treat intracranial pressure, decompress the brain if intracranial pressure is increased, or remove intracranial hematomas.- </a:t>
            </a:r>
          </a:p>
          <a:p>
            <a:pPr lvl="0">
              <a:buSzPts val="1400"/>
            </a:pPr>
            <a:endParaRPr lang="en-US" sz="800">
              <a:solidFill>
                <a:schemeClr val="accent6">
                  <a:lumMod val="50000"/>
                </a:schemeClr>
              </a:solidFill>
            </a:endParaRPr>
          </a:p>
          <a:p>
            <a:pPr lvl="0">
              <a:buSzPts val="1400"/>
            </a:pPr>
            <a:r>
              <a:rPr lang="en-US" sz="800" b="1">
                <a:solidFill>
                  <a:schemeClr val="accent6">
                    <a:lumMod val="50000"/>
                  </a:schemeClr>
                </a:solidFill>
              </a:rPr>
              <a:t>Diagnostics</a:t>
            </a:r>
            <a:r>
              <a:rPr lang="en-US" sz="800">
                <a:solidFill>
                  <a:schemeClr val="accent6">
                    <a:lumMod val="50000"/>
                  </a:schemeClr>
                </a:solidFill>
              </a:rPr>
              <a:t>: </a:t>
            </a:r>
          </a:p>
          <a:p>
            <a:pPr lvl="0">
              <a:buSzPts val="1400"/>
            </a:pPr>
            <a:r>
              <a:rPr lang="en-US" sz="800">
                <a:solidFill>
                  <a:schemeClr val="accent6">
                    <a:lumMod val="50000"/>
                  </a:schemeClr>
                </a:solidFill>
              </a:rPr>
              <a:t>The diagnosis of TBI is suspected clinically and confirmed by imaging, primarily CT.- </a:t>
            </a:r>
          </a:p>
          <a:p>
            <a:pPr lvl="0">
              <a:buSzPts val="1400"/>
            </a:pPr>
            <a:endParaRPr lang="en-US" sz="800">
              <a:solidFill>
                <a:schemeClr val="accent6">
                  <a:lumMod val="50000"/>
                </a:schemeClr>
              </a:solidFill>
            </a:endParaRPr>
          </a:p>
          <a:p>
            <a:pPr lvl="0">
              <a:buSzPts val="1400"/>
            </a:pPr>
            <a:r>
              <a:rPr lang="en-US" sz="800" b="1">
                <a:solidFill>
                  <a:schemeClr val="accent6">
                    <a:lumMod val="50000"/>
                  </a:schemeClr>
                </a:solidFill>
              </a:rPr>
              <a:t>Treatment</a:t>
            </a:r>
            <a:r>
              <a:rPr lang="en-US" sz="800">
                <a:solidFill>
                  <a:schemeClr val="accent6">
                    <a:lumMod val="50000"/>
                  </a:schemeClr>
                </a:solidFill>
              </a:rPr>
              <a:t>: </a:t>
            </a:r>
          </a:p>
          <a:p>
            <a:pPr lvl="0">
              <a:buSzPts val="1400"/>
            </a:pPr>
            <a:r>
              <a:rPr lang="en-US" sz="800">
                <a:solidFill>
                  <a:schemeClr val="accent6">
                    <a:lumMod val="50000"/>
                  </a:schemeClr>
                </a:solidFill>
              </a:rPr>
              <a:t>In the first few days after the injury, maintaining adequate brain perfusion and oxygenation and preventing complications of altered sensorium are important. Subsequently, many patients require rehabilitation. Anticonvulsants may be used to prevent seizures in some cases, but their value in preventing future seizures is not established. Skull fractures may require surgery to elevate fragments, manage lacerated cortical vessels, repair dura mater, and debride injured brain or to remove intracranial hematomas. Rehabilitation is needed when neurologic deficits persist.- </a:t>
            </a:r>
          </a:p>
          <a:p>
            <a:pPr lvl="0">
              <a:buSzPts val="1400"/>
            </a:pPr>
            <a:endParaRPr lang="en-US" sz="800">
              <a:solidFill>
                <a:schemeClr val="accent6">
                  <a:lumMod val="50000"/>
                </a:schemeClr>
              </a:solidFill>
            </a:endParaRPr>
          </a:p>
          <a:p>
            <a:pPr lvl="0">
              <a:buSzPts val="1400"/>
            </a:pPr>
            <a:r>
              <a:rPr lang="en-US" sz="800" b="1">
                <a:solidFill>
                  <a:schemeClr val="accent6">
                    <a:lumMod val="50000"/>
                  </a:schemeClr>
                </a:solidFill>
              </a:rPr>
              <a:t>Warnings / Escalation: </a:t>
            </a:r>
          </a:p>
          <a:p>
            <a:pPr lvl="0">
              <a:buSzPts val="1400"/>
            </a:pPr>
            <a:r>
              <a:rPr lang="en-US" sz="800">
                <a:solidFill>
                  <a:schemeClr val="accent6">
                    <a:lumMod val="50000"/>
                  </a:schemeClr>
                </a:solidFill>
              </a:rPr>
              <a:t>If the person shows signs of decreased intellectual function, late seizures (&gt; 7 days after the injury), spastic motor impairment, gait and balance disturbances, ataxia, or sensory losses, immediate medical attention is required as these may indicate more severe neurologic damage. A persistent vegetative state, which can result from a TBI that destroys forebrain cognitive functions but spares the brain stem, may require prolonged rehabilitation and has a poor prognosis for normal neurologic function if it lasts for 3 months or longer after injury.</a:t>
            </a:r>
          </a:p>
          <a:p>
            <a:r>
              <a:rPr lang="en-US" sz="800"/>
              <a:t>.</a:t>
            </a:r>
          </a:p>
          <a:p>
            <a:endParaRPr lang="en-US" sz="800">
              <a:solidFill>
                <a:schemeClr val="accent6">
                  <a:lumMod val="50000"/>
                </a:schemeClr>
              </a:solidFill>
            </a:endParaRPr>
          </a:p>
        </p:txBody>
      </p:sp>
      <p:sp>
        <p:nvSpPr>
          <p:cNvPr id="3" name="TextBox 2">
            <a:extLst>
              <a:ext uri="{FF2B5EF4-FFF2-40B4-BE49-F238E27FC236}">
                <a16:creationId xmlns:a16="http://schemas.microsoft.com/office/drawing/2014/main" id="{74BC5B48-B536-D221-6007-4CBBCCC0B4DA}"/>
              </a:ext>
            </a:extLst>
          </p:cNvPr>
          <p:cNvSpPr txBox="1"/>
          <p:nvPr/>
        </p:nvSpPr>
        <p:spPr>
          <a:xfrm>
            <a:off x="4515072" y="1356673"/>
            <a:ext cx="4294194" cy="4093428"/>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sz="800" b="1">
                <a:solidFill>
                  <a:schemeClr val="accent3">
                    <a:lumMod val="50000"/>
                  </a:schemeClr>
                </a:solidFill>
              </a:rPr>
              <a:t>Assessment</a:t>
            </a:r>
            <a:r>
              <a:rPr lang="en-US" sz="800">
                <a:solidFill>
                  <a:schemeClr val="accent3">
                    <a:lumMod val="50000"/>
                  </a:schemeClr>
                </a:solidFill>
              </a:rPr>
              <a:t>: </a:t>
            </a:r>
          </a:p>
          <a:p>
            <a:r>
              <a:rPr lang="en-US" sz="800">
                <a:solidFill>
                  <a:schemeClr val="accent3">
                    <a:lumMod val="50000"/>
                  </a:schemeClr>
                </a:solidFill>
              </a:rPr>
              <a:t>The person has sustained a traumatic brain injury (TBI), which is defined as physical injury to brain tissue that temporarily or permanently impairs brain function.</a:t>
            </a:r>
          </a:p>
          <a:p>
            <a:endParaRPr lang="en-US" sz="800">
              <a:solidFill>
                <a:schemeClr val="accent3">
                  <a:lumMod val="50000"/>
                </a:schemeClr>
              </a:solidFill>
            </a:endParaRPr>
          </a:p>
          <a:p>
            <a:r>
              <a:rPr lang="en-US" sz="800" b="1">
                <a:solidFill>
                  <a:schemeClr val="accent3">
                    <a:lumMod val="50000"/>
                  </a:schemeClr>
                </a:solidFill>
              </a:rPr>
              <a:t>Immediate Actions: </a:t>
            </a:r>
          </a:p>
          <a:p>
            <a:r>
              <a:rPr lang="en-US" sz="800">
                <a:solidFill>
                  <a:schemeClr val="accent3">
                    <a:lumMod val="50000"/>
                  </a:schemeClr>
                </a:solidFill>
              </a:rPr>
              <a:t>Ensure a reliable airway and maintain adequate ventilation, oxygenation, and blood pressure. Surgery may be needed in patients with more severe injury to place monitors to track and treat intracranial pressure, decompress the brain if intracranial pressure is increased, or remove intracranial hematomas.</a:t>
            </a:r>
          </a:p>
          <a:p>
            <a:endParaRPr lang="en-US" sz="800">
              <a:solidFill>
                <a:schemeClr val="accent3">
                  <a:lumMod val="50000"/>
                </a:schemeClr>
              </a:solidFill>
            </a:endParaRPr>
          </a:p>
          <a:p>
            <a:r>
              <a:rPr lang="en-US" sz="800" b="1">
                <a:solidFill>
                  <a:schemeClr val="accent3">
                    <a:lumMod val="50000"/>
                  </a:schemeClr>
                </a:solidFill>
              </a:rPr>
              <a:t>Diagnostics</a:t>
            </a:r>
            <a:r>
              <a:rPr lang="en-US" sz="800">
                <a:solidFill>
                  <a:schemeClr val="accent3">
                    <a:lumMod val="50000"/>
                  </a:schemeClr>
                </a:solidFill>
              </a:rPr>
              <a:t>: </a:t>
            </a:r>
          </a:p>
          <a:p>
            <a:r>
              <a:rPr lang="en-US" sz="800">
                <a:solidFill>
                  <a:schemeClr val="accent3">
                    <a:lumMod val="50000"/>
                  </a:schemeClr>
                </a:solidFill>
              </a:rPr>
              <a:t>Suspected clinically and confirmed by imaging, primarily CT.</a:t>
            </a:r>
          </a:p>
          <a:p>
            <a:endParaRPr lang="en-US" sz="800">
              <a:solidFill>
                <a:schemeClr val="accent3">
                  <a:lumMod val="50000"/>
                </a:schemeClr>
              </a:solidFill>
            </a:endParaRPr>
          </a:p>
          <a:p>
            <a:r>
              <a:rPr lang="en-US" sz="800" b="1">
                <a:solidFill>
                  <a:schemeClr val="accent3">
                    <a:lumMod val="50000"/>
                  </a:schemeClr>
                </a:solidFill>
              </a:rPr>
              <a:t>Treatment</a:t>
            </a:r>
            <a:r>
              <a:rPr lang="en-US" sz="800">
                <a:solidFill>
                  <a:schemeClr val="accent3">
                    <a:lumMod val="50000"/>
                  </a:schemeClr>
                </a:solidFill>
              </a:rPr>
              <a:t>: </a:t>
            </a:r>
          </a:p>
          <a:p>
            <a:r>
              <a:rPr lang="en-US" sz="800">
                <a:solidFill>
                  <a:schemeClr val="accent3">
                    <a:lumMod val="50000"/>
                  </a:schemeClr>
                </a:solidFill>
              </a:rPr>
              <a:t>In the first few days after the injury, maintaining adequate brain perfusion and oxygenation and preventing complications of altered sensorium are important. Subsequently, many patients require rehabilitation. Anticonvulsants may be used to prevent seizures in some cases, but their value in preventing future seizures is not established. Skull fractures may require surgery depending on the type and severity. Intracranial hematomas may require urgent surgical evacuation to prevent or treat brain shift, compression, and herniation. Rehabilitation is needed when neurologic deficits persist.</a:t>
            </a:r>
          </a:p>
          <a:p>
            <a:endParaRPr lang="en-US" sz="800">
              <a:solidFill>
                <a:schemeClr val="accent3">
                  <a:lumMod val="50000"/>
                </a:schemeClr>
              </a:solidFill>
            </a:endParaRPr>
          </a:p>
          <a:p>
            <a:r>
              <a:rPr lang="en-US" sz="800" b="1">
                <a:solidFill>
                  <a:schemeClr val="accent3">
                    <a:lumMod val="50000"/>
                  </a:schemeClr>
                </a:solidFill>
              </a:rPr>
              <a:t>Warnings / Escalation: </a:t>
            </a:r>
          </a:p>
          <a:p>
            <a:r>
              <a:rPr lang="en-US" sz="800">
                <a:solidFill>
                  <a:schemeClr val="accent3">
                    <a:lumMod val="50000"/>
                  </a:schemeClr>
                </a:solidFill>
              </a:rPr>
              <a:t>If the person shows signs of an emergency such as seizures, loss of consciousness, or worsening neurologic examination findings, immediate neurosurgical consultation is mandatory.</a:t>
            </a: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p:txBody>
      </p:sp>
    </p:spTree>
    <p:extLst>
      <p:ext uri="{BB962C8B-B14F-4D97-AF65-F5344CB8AC3E}">
        <p14:creationId xmlns:p14="http://schemas.microsoft.com/office/powerpoint/2010/main" val="2349631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95DFCB87-4B18-B668-7C49-20BAC05A34C7}"/>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7CBC4FF7-B7BB-2613-96B9-881E17CC2094}"/>
              </a:ext>
            </a:extLst>
          </p:cNvPr>
          <p:cNvSpPr txBox="1">
            <a:spLocks noGrp="1"/>
          </p:cNvSpPr>
          <p:nvPr>
            <p:ph type="title"/>
          </p:nvPr>
        </p:nvSpPr>
        <p:spPr>
          <a:xfrm>
            <a:off x="202550" y="187376"/>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endParaRPr lang="en-US" sz="2400">
              <a:solidFill>
                <a:srgbClr val="0E39A9"/>
              </a:solidFill>
            </a:endParaRPr>
          </a:p>
        </p:txBody>
      </p:sp>
      <p:sp>
        <p:nvSpPr>
          <p:cNvPr id="2" name="TextBox 1">
            <a:extLst>
              <a:ext uri="{FF2B5EF4-FFF2-40B4-BE49-F238E27FC236}">
                <a16:creationId xmlns:a16="http://schemas.microsoft.com/office/drawing/2014/main" id="{6D908BC6-1432-A788-5668-170E79F71055}"/>
              </a:ext>
            </a:extLst>
          </p:cNvPr>
          <p:cNvSpPr txBox="1"/>
          <p:nvPr/>
        </p:nvSpPr>
        <p:spPr>
          <a:xfrm>
            <a:off x="211203" y="1360563"/>
            <a:ext cx="4267200" cy="4832092"/>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Simple</a:t>
            </a:r>
            <a:br>
              <a:rPr lang="en-US" sz="1200" b="1"/>
            </a:br>
            <a:r>
              <a:rPr lang="en-US" sz="800" b="1">
                <a:solidFill>
                  <a:schemeClr val="accent6">
                    <a:lumMod val="50000"/>
                  </a:schemeClr>
                </a:solidFill>
              </a:rPr>
              <a:t>Assessment: </a:t>
            </a:r>
          </a:p>
          <a:p>
            <a:r>
              <a:rPr lang="en-US" sz="800">
                <a:solidFill>
                  <a:schemeClr val="accent6">
                    <a:lumMod val="50000"/>
                  </a:schemeClr>
                </a:solidFill>
              </a:rPr>
              <a:t>The person has a fractured leg. They may need assistance walking, especially when using stairs. They should be evaluated for signs of skin breakdown due to wearing a prosthesis or brace.</a:t>
            </a:r>
          </a:p>
          <a:p>
            <a:endParaRPr lang="en-US" sz="800">
              <a:solidFill>
                <a:schemeClr val="accent6">
                  <a:lumMod val="50000"/>
                </a:schemeClr>
              </a:solidFill>
            </a:endParaRPr>
          </a:p>
          <a:p>
            <a:r>
              <a:rPr lang="en-US" sz="800" b="1">
                <a:solidFill>
                  <a:schemeClr val="accent6">
                    <a:lumMod val="50000"/>
                  </a:schemeClr>
                </a:solidFill>
              </a:rPr>
              <a:t>Immediate Actions</a:t>
            </a:r>
            <a:r>
              <a:rPr lang="en-US" sz="800">
                <a:solidFill>
                  <a:schemeClr val="accent6">
                    <a:lumMod val="50000"/>
                  </a:schemeClr>
                </a:solidFill>
              </a:rPr>
              <a:t>: </a:t>
            </a:r>
          </a:p>
          <a:p>
            <a:r>
              <a:rPr lang="en-US" sz="800">
                <a:solidFill>
                  <a:schemeClr val="accent6">
                    <a:lumMod val="50000"/>
                  </a:schemeClr>
                </a:solidFill>
              </a:rPr>
              <a:t>The person should avoid weight bearing on the affected leg. They should use crutches or other assistive devices as needed. If they have severe pain or cannot bear weight at all, they may require immobilization with a cast or splint.</a:t>
            </a:r>
          </a:p>
          <a:p>
            <a:endParaRPr lang="en-US" sz="800">
              <a:solidFill>
                <a:schemeClr val="accent6">
                  <a:lumMod val="50000"/>
                </a:schemeClr>
              </a:solidFill>
            </a:endParaRPr>
          </a:p>
          <a:p>
            <a:r>
              <a:rPr lang="en-US" sz="800" b="1">
                <a:solidFill>
                  <a:schemeClr val="accent6">
                    <a:lumMod val="50000"/>
                  </a:schemeClr>
                </a:solidFill>
              </a:rPr>
              <a:t>Diagnostics: </a:t>
            </a:r>
          </a:p>
          <a:p>
            <a:r>
              <a:rPr lang="en-US" sz="800">
                <a:solidFill>
                  <a:schemeClr val="accent6">
                    <a:lumMod val="50000"/>
                  </a:schemeClr>
                </a:solidFill>
              </a:rPr>
              <a:t>Standard x-rays are recommended for diagnosis of a fracture, but they may not show the injury until a callus forms 2 to 3 weeks after the injury. Bone scanning may be necessary for early diagnosis.</a:t>
            </a:r>
          </a:p>
          <a:p>
            <a:endParaRPr lang="en-US" sz="800">
              <a:solidFill>
                <a:schemeClr val="accent6">
                  <a:lumMod val="50000"/>
                </a:schemeClr>
              </a:solidFill>
            </a:endParaRPr>
          </a:p>
          <a:p>
            <a:r>
              <a:rPr lang="en-US" sz="800" b="1">
                <a:solidFill>
                  <a:schemeClr val="accent6">
                    <a:lumMod val="50000"/>
                  </a:schemeClr>
                </a:solidFill>
              </a:rPr>
              <a:t>Treatment: </a:t>
            </a:r>
          </a:p>
          <a:p>
            <a:r>
              <a:rPr lang="en-US" sz="800">
                <a:solidFill>
                  <a:schemeClr val="accent6">
                    <a:lumMod val="50000"/>
                  </a:schemeClr>
                </a:solidFill>
              </a:rPr>
              <a:t>Restriction of weight-bearing activity is essential for healing. Use of crutches or other assistive devices can help reduce weight on the affected leg. Healing can take anywhere from 6 to 12 weeks. For popliteus tendinitis, rest, NSAIDs, ice, and physical therapy are recommended. Hamstring strains may require rest, ice, compression, and elevation.</a:t>
            </a:r>
          </a:p>
          <a:p>
            <a:endParaRPr lang="en-US" sz="800">
              <a:solidFill>
                <a:schemeClr val="accent6">
                  <a:lumMod val="50000"/>
                </a:schemeClr>
              </a:solidFill>
            </a:endParaRPr>
          </a:p>
          <a:p>
            <a:r>
              <a:rPr lang="en-US" sz="800" b="1">
                <a:solidFill>
                  <a:schemeClr val="accent6">
                    <a:lumMod val="50000"/>
                  </a:schemeClr>
                </a:solidFill>
              </a:rPr>
              <a:t>Warnings / Escalation: </a:t>
            </a:r>
          </a:p>
          <a:p>
            <a:r>
              <a:rPr lang="en-US" sz="800">
                <a:solidFill>
                  <a:schemeClr val="accent6">
                    <a:lumMod val="50000"/>
                  </a:schemeClr>
                </a:solidFill>
              </a:rPr>
              <a:t>Patients with stress fractures may have osteoporosis and should undergo dual-energy x-ray absorptiometry for diagnosis. Patients with signs of skin breakdown or poor prosthetic fit should promptly see a healthcare practitioner and a prosthetist. Patients with severe pain, inability to bear weight, or signs of infection should be referred to a specialist</a:t>
            </a:r>
            <a:r>
              <a:rPr lang="en-US" sz="800"/>
              <a:t>.</a:t>
            </a:r>
          </a:p>
          <a:p>
            <a:endParaRPr lang="en-US" sz="800"/>
          </a:p>
          <a:p>
            <a:endParaRPr lang="en-US" sz="800"/>
          </a:p>
          <a:p>
            <a:endParaRPr lang="en-US" sz="800"/>
          </a:p>
          <a:p>
            <a:endParaRPr lang="en-US" sz="800"/>
          </a:p>
          <a:p>
            <a:endParaRPr lang="en-US" sz="800"/>
          </a:p>
          <a:p>
            <a:endParaRPr lang="en-US" sz="800"/>
          </a:p>
          <a:p>
            <a:endParaRPr lang="en-US" sz="800"/>
          </a:p>
          <a:p>
            <a:endParaRPr lang="en-US" sz="800"/>
          </a:p>
          <a:p>
            <a:pPr lvl="0">
              <a:buSzPts val="1400"/>
            </a:pPr>
            <a:r>
              <a:rPr lang="en-US" sz="800">
                <a:solidFill>
                  <a:schemeClr val="accent6">
                    <a:lumMod val="50000"/>
                  </a:schemeClr>
                </a:solidFill>
              </a:rPr>
              <a:t>.</a:t>
            </a:r>
          </a:p>
          <a:p>
            <a:r>
              <a:rPr lang="en-US" sz="800"/>
              <a:t>.</a:t>
            </a:r>
          </a:p>
          <a:p>
            <a:endParaRPr lang="en-US" sz="800">
              <a:solidFill>
                <a:schemeClr val="accent6">
                  <a:lumMod val="50000"/>
                </a:schemeClr>
              </a:solidFill>
            </a:endParaRPr>
          </a:p>
        </p:txBody>
      </p:sp>
      <p:sp>
        <p:nvSpPr>
          <p:cNvPr id="3" name="TextBox 2">
            <a:extLst>
              <a:ext uri="{FF2B5EF4-FFF2-40B4-BE49-F238E27FC236}">
                <a16:creationId xmlns:a16="http://schemas.microsoft.com/office/drawing/2014/main" id="{437C856F-A040-2422-348B-6349C923EED6}"/>
              </a:ext>
            </a:extLst>
          </p:cNvPr>
          <p:cNvSpPr txBox="1"/>
          <p:nvPr/>
        </p:nvSpPr>
        <p:spPr>
          <a:xfrm>
            <a:off x="4515072" y="1356673"/>
            <a:ext cx="4294194" cy="4832092"/>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sz="800" b="1">
                <a:solidFill>
                  <a:schemeClr val="accent3">
                    <a:lumMod val="50000"/>
                  </a:schemeClr>
                </a:solidFill>
              </a:rPr>
              <a:t>Assessment: </a:t>
            </a:r>
          </a:p>
          <a:p>
            <a:r>
              <a:rPr lang="en-US" sz="800">
                <a:solidFill>
                  <a:schemeClr val="accent3">
                    <a:lumMod val="50000"/>
                  </a:schemeClr>
                </a:solidFill>
              </a:rPr>
              <a:t>The context suggests a leg fracture, but it does not specify the type or location of the fracture. Therefore, an assessment should include evaluating for signs and symptoms of a metatarsal stress fracture (forefoot pain that occurs after long or intense workouts and then disappears shortly afterward, with progressive onset of pain), proximal femur stress fracture (groin pain with weight bearing), or other lower-limb injuries.- </a:t>
            </a:r>
          </a:p>
          <a:p>
            <a:endParaRPr lang="en-US" sz="800" b="1">
              <a:solidFill>
                <a:schemeClr val="accent3">
                  <a:lumMod val="50000"/>
                </a:schemeClr>
              </a:solidFill>
            </a:endParaRPr>
          </a:p>
          <a:p>
            <a:r>
              <a:rPr lang="en-US" sz="800" b="1">
                <a:solidFill>
                  <a:schemeClr val="accent3">
                    <a:lumMod val="50000"/>
                  </a:schemeClr>
                </a:solidFill>
              </a:rPr>
              <a:t>Immediate Actions: </a:t>
            </a:r>
          </a:p>
          <a:p>
            <a:r>
              <a:rPr lang="en-US" sz="800">
                <a:solidFill>
                  <a:schemeClr val="accent3">
                    <a:lumMod val="50000"/>
                  </a:schemeClr>
                </a:solidFill>
              </a:rPr>
              <a:t>The person should be encouraged to rest and avoid weight-bearing activity on the affected leg. If they are unable to bear weight, crutches or a walking aid may be necessary. In case of a metatarsal stress fracture, a wooden shoe or other commercially available supportive shoe or boot is preferable over casting to prevent muscle atrophy during healing.-</a:t>
            </a:r>
          </a:p>
          <a:p>
            <a:r>
              <a:rPr lang="en-US" sz="800" b="1">
                <a:solidFill>
                  <a:schemeClr val="accent3">
                    <a:lumMod val="50000"/>
                  </a:schemeClr>
                </a:solidFill>
              </a:rPr>
              <a:t> </a:t>
            </a:r>
          </a:p>
          <a:p>
            <a:r>
              <a:rPr lang="en-US" sz="800" b="1">
                <a:solidFill>
                  <a:schemeClr val="accent3">
                    <a:lumMod val="50000"/>
                  </a:schemeClr>
                </a:solidFill>
              </a:rPr>
              <a:t>Diagnostics:</a:t>
            </a:r>
            <a:r>
              <a:rPr lang="en-US" sz="800">
                <a:solidFill>
                  <a:schemeClr val="accent3">
                    <a:lumMod val="50000"/>
                  </a:schemeClr>
                </a:solidFill>
              </a:rPr>
              <a:t> </a:t>
            </a:r>
          </a:p>
          <a:p>
            <a:r>
              <a:rPr lang="en-US" sz="800">
                <a:solidFill>
                  <a:schemeClr val="accent3">
                    <a:lumMod val="50000"/>
                  </a:schemeClr>
                </a:solidFill>
              </a:rPr>
              <a:t>Standard x-rays may not show the fracture until a callus forms 2 to 3 weeks after the injury. If early diagnosis is necessary, technetium diphosphonate bone scanning should be considered. For proximal femur stress fractures, dual-energy x-ray absorptiometry (DXA) is recommended to evaluate for osteoporosis.-</a:t>
            </a:r>
          </a:p>
          <a:p>
            <a:endParaRPr lang="en-US" sz="800" b="1">
              <a:solidFill>
                <a:schemeClr val="accent3">
                  <a:lumMod val="50000"/>
                </a:schemeClr>
              </a:solidFill>
            </a:endParaRPr>
          </a:p>
          <a:p>
            <a:r>
              <a:rPr lang="en-US" sz="800" b="1">
                <a:solidFill>
                  <a:schemeClr val="accent3">
                    <a:lumMod val="50000"/>
                  </a:schemeClr>
                </a:solidFill>
              </a:rPr>
              <a:t>Treatment: </a:t>
            </a:r>
          </a:p>
          <a:p>
            <a:r>
              <a:rPr lang="en-US" sz="800">
                <a:solidFill>
                  <a:schemeClr val="accent3">
                    <a:lumMod val="50000"/>
                  </a:schemeClr>
                </a:solidFill>
              </a:rPr>
              <a:t>Restriction of weight-bearing activity and use of crutches or a walking aid are essential for proper healing. Casting may be used but can lead to muscle atrophy, so other supportive devices are preferred. Healing can take anywhere from 6 to 12 weeks.- </a:t>
            </a:r>
          </a:p>
          <a:p>
            <a:endParaRPr lang="en-US" sz="800" b="1">
              <a:solidFill>
                <a:schemeClr val="accent3">
                  <a:lumMod val="50000"/>
                </a:schemeClr>
              </a:solidFill>
            </a:endParaRPr>
          </a:p>
          <a:p>
            <a:r>
              <a:rPr lang="en-US" sz="800" b="1">
                <a:solidFill>
                  <a:schemeClr val="accent3">
                    <a:lumMod val="50000"/>
                  </a:schemeClr>
                </a:solidFill>
              </a:rPr>
              <a:t>Warnings / Escalation: </a:t>
            </a:r>
          </a:p>
          <a:p>
            <a:r>
              <a:rPr lang="en-US" sz="800">
                <a:solidFill>
                  <a:schemeClr val="accent3">
                    <a:lumMod val="50000"/>
                  </a:schemeClr>
                </a:solidFill>
              </a:rPr>
              <a:t>If signs and symptoms of a stress fracture are present, such as persistent pain or inability to bear weight, the person should be referred to a specialist for further evaluation and treatment. If there is any suspicion of a proximal femur stress fracture, prompt referral to a specialist is necessary due to the potential seriousness of this injury. Additionally, if there are signs of skin breakdown around the stump for those with lower-limb prostheses, patients should seek professional help and avoid wearing the prosthesis until it can be adjusted.</a:t>
            </a: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p:txBody>
      </p:sp>
      <p:sp>
        <p:nvSpPr>
          <p:cNvPr id="4" name="Google Shape;252;p52">
            <a:extLst>
              <a:ext uri="{FF2B5EF4-FFF2-40B4-BE49-F238E27FC236}">
                <a16:creationId xmlns:a16="http://schemas.microsoft.com/office/drawing/2014/main" id="{36F9ADCF-1C18-2E0B-45CD-D15575E14913}"/>
              </a:ext>
            </a:extLst>
          </p:cNvPr>
          <p:cNvSpPr txBox="1"/>
          <p:nvPr/>
        </p:nvSpPr>
        <p:spPr>
          <a:xfrm>
            <a:off x="211203" y="665800"/>
            <a:ext cx="8560264" cy="652551"/>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00" b="1">
                <a:solidFill>
                  <a:schemeClr val="accent6">
                    <a:lumMod val="50000"/>
                  </a:schemeClr>
                </a:solidFill>
                <a:latin typeface="Montserrat"/>
                <a:ea typeface="Montserrat"/>
                <a:cs typeface="Montserrat"/>
                <a:sym typeface="Montserrat"/>
              </a:rPr>
              <a:t>Questions/Answer/Comments/Parameters/Fine Tuning</a:t>
            </a:r>
          </a:p>
          <a:p>
            <a:pPr marL="342900" indent="-342900">
              <a:buFont typeface="Arial" panose="020B0604020202020204" pitchFamily="34" charset="0"/>
              <a:buChar char="•"/>
            </a:pPr>
            <a:r>
              <a:rPr lang="en-US" sz="1000"/>
              <a:t>What are the necessary precautions and treatment steps for a person who has fractured their leg during a hiking trip, and what should be considered for their care and recovery?</a:t>
            </a:r>
          </a:p>
        </p:txBody>
      </p:sp>
    </p:spTree>
    <p:extLst>
      <p:ext uri="{BB962C8B-B14F-4D97-AF65-F5344CB8AC3E}">
        <p14:creationId xmlns:p14="http://schemas.microsoft.com/office/powerpoint/2010/main" val="2541449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CC2A324E-C5B4-710F-74B3-0D6298FA09D8}"/>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5331E9D4-6E0B-00E7-7F44-E24CD1B36F00}"/>
              </a:ext>
            </a:extLst>
          </p:cNvPr>
          <p:cNvSpPr txBox="1">
            <a:spLocks noGrp="1"/>
          </p:cNvSpPr>
          <p:nvPr>
            <p:ph type="title"/>
          </p:nvPr>
        </p:nvSpPr>
        <p:spPr>
          <a:xfrm>
            <a:off x="202550" y="352273"/>
            <a:ext cx="8520600" cy="1123346"/>
          </a:xfrm>
          <a:prstGeom prst="rect">
            <a:avLst/>
          </a:prstGeom>
          <a:noFill/>
          <a:ln>
            <a:noFill/>
          </a:ln>
        </p:spPr>
        <p:txBody>
          <a:bodyPr spcFirstLastPara="1" wrap="square" lIns="91425" tIns="91425" rIns="91425" bIns="91425" anchor="t" anchorCtr="0">
            <a:noAutofit/>
          </a:bodyPr>
          <a:lstStyle/>
          <a:p>
            <a:r>
              <a:rPr lang="en" sz="2400">
                <a:solidFill>
                  <a:srgbClr val="0E39A9"/>
                </a:solidFill>
              </a:rPr>
              <a:t>Question Answering using RAG</a:t>
            </a:r>
            <a:br>
              <a:rPr lang="en" sz="2400">
                <a:solidFill>
                  <a:srgbClr val="0E39A9"/>
                </a:solidFill>
              </a:rPr>
            </a:br>
            <a:r>
              <a:rPr lang="en" sz="2400">
                <a:solidFill>
                  <a:srgbClr val="0E39A9"/>
                </a:solidFill>
              </a:rPr>
              <a:t>Parameters and Comments</a:t>
            </a:r>
            <a:endParaRPr sz="2400">
              <a:solidFill>
                <a:srgbClr val="0E39A9"/>
              </a:solidFill>
            </a:endParaRPr>
          </a:p>
        </p:txBody>
      </p:sp>
      <p:sp>
        <p:nvSpPr>
          <p:cNvPr id="3" name="TextBox 2">
            <a:extLst>
              <a:ext uri="{FF2B5EF4-FFF2-40B4-BE49-F238E27FC236}">
                <a16:creationId xmlns:a16="http://schemas.microsoft.com/office/drawing/2014/main" id="{5980C804-9976-73B5-0CCE-AF432AF29BBA}"/>
              </a:ext>
            </a:extLst>
          </p:cNvPr>
          <p:cNvSpPr txBox="1"/>
          <p:nvPr/>
        </p:nvSpPr>
        <p:spPr>
          <a:xfrm>
            <a:off x="182718" y="1212545"/>
            <a:ext cx="4267200" cy="3416320"/>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solidFill>
                  <a:schemeClr val="accent6">
                    <a:lumMod val="50000"/>
                  </a:schemeClr>
                </a:solidFill>
              </a:rPr>
              <a:t>Simple</a:t>
            </a:r>
            <a:br>
              <a:rPr lang="en-US" sz="1200" b="1"/>
            </a:br>
            <a:r>
              <a:rPr lang="en-US" sz="800">
                <a:solidFill>
                  <a:schemeClr val="accent6">
                    <a:lumMod val="50000"/>
                  </a:schemeClr>
                </a:solidFill>
              </a:rPr>
              <a:t>Parameters:</a:t>
            </a:r>
          </a:p>
          <a:p>
            <a:r>
              <a:rPr lang="en-US" sz="800">
                <a:solidFill>
                  <a:schemeClr val="accent6">
                    <a:lumMod val="50000"/>
                  </a:schemeClr>
                </a:solidFill>
              </a:rPr>
              <a:t>TOP_K=20</a:t>
            </a:r>
          </a:p>
          <a:p>
            <a:r>
              <a:rPr lang="en-US" sz="800">
                <a:solidFill>
                  <a:schemeClr val="accent6">
                    <a:lumMod val="50000"/>
                  </a:schemeClr>
                </a:solidFill>
              </a:rPr>
              <a:t>Temperature=0.1</a:t>
            </a:r>
          </a:p>
          <a:p>
            <a:r>
              <a:rPr lang="en-US" sz="800">
                <a:solidFill>
                  <a:schemeClr val="accent6">
                    <a:lumMod val="50000"/>
                  </a:schemeClr>
                </a:solidFill>
              </a:rPr>
              <a:t>TOP_P=.95</a:t>
            </a:r>
          </a:p>
          <a:p>
            <a:r>
              <a:rPr lang="en-US" sz="800">
                <a:solidFill>
                  <a:schemeClr val="accent6">
                    <a:lumMod val="50000"/>
                  </a:schemeClr>
                </a:solidFill>
              </a:rPr>
              <a:t>Max Tokens = 700</a:t>
            </a:r>
          </a:p>
          <a:p>
            <a:endParaRPr lang="en-US" sz="800" b="1">
              <a:solidFill>
                <a:schemeClr val="accent6">
                  <a:lumMod val="50000"/>
                </a:schemeClr>
              </a:solidFill>
            </a:endParaRPr>
          </a:p>
          <a:p>
            <a:endParaRPr lang="en-US" sz="800" b="1">
              <a:solidFill>
                <a:schemeClr val="accent6">
                  <a:lumMod val="50000"/>
                </a:schemeClr>
              </a:solidFill>
            </a:endParaRPr>
          </a:p>
          <a:p>
            <a:endParaRPr lang="en-US" sz="800" b="1">
              <a:solidFill>
                <a:schemeClr val="accent6">
                  <a:lumMod val="50000"/>
                </a:schemeClr>
              </a:solidFill>
            </a:endParaRPr>
          </a:p>
          <a:p>
            <a:r>
              <a:rPr lang="en-US" sz="800" b="1">
                <a:solidFill>
                  <a:schemeClr val="accent6">
                    <a:lumMod val="50000"/>
                  </a:schemeClr>
                </a:solidFill>
              </a:rPr>
              <a:t>Comments</a:t>
            </a:r>
          </a:p>
          <a:p>
            <a:r>
              <a:rPr lang="en-US" sz="800" b="1">
                <a:solidFill>
                  <a:schemeClr val="accent6">
                    <a:lumMod val="50000"/>
                  </a:schemeClr>
                </a:solidFill>
              </a:rPr>
              <a:t>  </a:t>
            </a:r>
          </a:p>
          <a:p>
            <a:r>
              <a:rPr lang="en-US" sz="1000">
                <a:solidFill>
                  <a:schemeClr val="accent6">
                    <a:lumMod val="50000"/>
                  </a:schemeClr>
                </a:solidFill>
                <a:latin typeface="Montserrat"/>
              </a:rPr>
              <a:t>Setting</a:t>
            </a:r>
            <a:r>
              <a:rPr lang="en-US" sz="800">
                <a:solidFill>
                  <a:schemeClr val="accent6">
                    <a:lumMod val="50000"/>
                  </a:schemeClr>
                </a:solidFill>
              </a:rPr>
              <a:t> </a:t>
            </a:r>
            <a:r>
              <a:rPr lang="en-US" sz="800" b="1">
                <a:solidFill>
                  <a:schemeClr val="accent6">
                    <a:lumMod val="50000"/>
                  </a:schemeClr>
                </a:solidFill>
              </a:rPr>
              <a:t>TOP_K to 20  </a:t>
            </a:r>
            <a:r>
              <a:rPr lang="en-US" sz="800">
                <a:solidFill>
                  <a:schemeClr val="accent6">
                    <a:lumMod val="50000"/>
                  </a:schemeClr>
                </a:solidFill>
              </a:rPr>
              <a:t>prevents the model to wildly inappropriate wods. While </a:t>
            </a:r>
            <a:r>
              <a:rPr lang="en-US" sz="800" b="1">
                <a:solidFill>
                  <a:schemeClr val="accent6">
                    <a:lumMod val="50000"/>
                  </a:schemeClr>
                </a:solidFill>
              </a:rPr>
              <a:t>Temperature 0.1 </a:t>
            </a:r>
            <a:r>
              <a:rPr lang="en-US" sz="800">
                <a:solidFill>
                  <a:schemeClr val="accent6">
                    <a:lumMod val="50000"/>
                  </a:schemeClr>
                </a:solidFill>
              </a:rPr>
              <a:t>diminish drastically the changes of the LLM to be creative. In May opinion this wins, because in Medial Practice we do not want medical information ore leftovers to spill outside of the context. </a:t>
            </a:r>
            <a:endParaRPr lang="en-US" sz="800" b="1">
              <a:solidFill>
                <a:schemeClr val="accent6">
                  <a:lumMod val="50000"/>
                </a:schemeClr>
              </a:solidFill>
            </a:endParaRPr>
          </a:p>
          <a:p>
            <a:endParaRPr lang="en-US" sz="800"/>
          </a:p>
          <a:p>
            <a:endParaRPr lang="en-US" sz="800"/>
          </a:p>
          <a:p>
            <a:endParaRPr lang="en-US" sz="800"/>
          </a:p>
          <a:p>
            <a:endParaRPr lang="en-US" sz="800"/>
          </a:p>
          <a:p>
            <a:endParaRPr lang="en-US" sz="800"/>
          </a:p>
          <a:p>
            <a:endParaRPr lang="en-US" sz="1000">
              <a:solidFill>
                <a:schemeClr val="tx1"/>
              </a:solidFill>
              <a:latin typeface="Montserrat"/>
            </a:endParaRPr>
          </a:p>
          <a:p>
            <a:endParaRPr lang="en-US" sz="800"/>
          </a:p>
          <a:p>
            <a:endParaRPr lang="en-US" sz="800"/>
          </a:p>
          <a:p>
            <a:pPr lvl="0">
              <a:buSzPts val="1400"/>
            </a:pPr>
            <a:r>
              <a:rPr lang="en-US" sz="800">
                <a:solidFill>
                  <a:schemeClr val="accent6">
                    <a:lumMod val="50000"/>
                  </a:schemeClr>
                </a:solidFill>
              </a:rPr>
              <a:t>.</a:t>
            </a:r>
          </a:p>
          <a:p>
            <a:r>
              <a:rPr lang="en-US" sz="800"/>
              <a:t>.</a:t>
            </a:r>
          </a:p>
          <a:p>
            <a:endParaRPr lang="en-US" sz="800">
              <a:solidFill>
                <a:schemeClr val="accent6">
                  <a:lumMod val="50000"/>
                </a:schemeClr>
              </a:solidFill>
            </a:endParaRPr>
          </a:p>
        </p:txBody>
      </p:sp>
      <p:sp>
        <p:nvSpPr>
          <p:cNvPr id="4" name="TextBox 3">
            <a:extLst>
              <a:ext uri="{FF2B5EF4-FFF2-40B4-BE49-F238E27FC236}">
                <a16:creationId xmlns:a16="http://schemas.microsoft.com/office/drawing/2014/main" id="{A7F8A85E-A664-A70D-03DA-EAB0F1E4FDE4}"/>
              </a:ext>
            </a:extLst>
          </p:cNvPr>
          <p:cNvSpPr txBox="1"/>
          <p:nvPr/>
        </p:nvSpPr>
        <p:spPr>
          <a:xfrm>
            <a:off x="4439437" y="1212545"/>
            <a:ext cx="4294194" cy="3354765"/>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Fine Tuned</a:t>
            </a:r>
          </a:p>
          <a:p>
            <a:r>
              <a:rPr lang="en-US" sz="800" b="1">
                <a:solidFill>
                  <a:schemeClr val="accent3">
                    <a:lumMod val="50000"/>
                  </a:schemeClr>
                </a:solidFill>
              </a:rPr>
              <a:t>Parameters: </a:t>
            </a:r>
          </a:p>
          <a:p>
            <a:r>
              <a:rPr lang="en-US" sz="800">
                <a:solidFill>
                  <a:schemeClr val="accent3">
                    <a:lumMod val="50000"/>
                  </a:schemeClr>
                </a:solidFill>
              </a:rPr>
              <a:t>TOP_K = 50</a:t>
            </a:r>
          </a:p>
          <a:p>
            <a:r>
              <a:rPr lang="en-US" sz="800">
                <a:solidFill>
                  <a:schemeClr val="accent3">
                    <a:lumMod val="50000"/>
                  </a:schemeClr>
                </a:solidFill>
              </a:rPr>
              <a:t>Temperature = .5</a:t>
            </a:r>
          </a:p>
          <a:p>
            <a:r>
              <a:rPr lang="en-US" sz="800">
                <a:solidFill>
                  <a:schemeClr val="accent3">
                    <a:lumMod val="50000"/>
                  </a:schemeClr>
                </a:solidFill>
              </a:rPr>
              <a:t>TOP_P=.95</a:t>
            </a:r>
          </a:p>
          <a:p>
            <a:r>
              <a:rPr lang="en-US" sz="800">
                <a:solidFill>
                  <a:schemeClr val="accent3">
                    <a:lumMod val="50000"/>
                  </a:schemeClr>
                </a:solidFill>
              </a:rPr>
              <a:t>Max Tokens = 700</a:t>
            </a: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r>
              <a:rPr lang="en-US" sz="800" b="1">
                <a:solidFill>
                  <a:schemeClr val="accent3">
                    <a:lumMod val="50000"/>
                  </a:schemeClr>
                </a:solidFill>
              </a:rPr>
              <a:t>Comments</a:t>
            </a:r>
          </a:p>
          <a:p>
            <a:endParaRPr lang="en-US" sz="800" b="1">
              <a:solidFill>
                <a:schemeClr val="accent3">
                  <a:lumMod val="50000"/>
                </a:schemeClr>
              </a:solidFill>
            </a:endParaRPr>
          </a:p>
          <a:p>
            <a:r>
              <a:rPr lang="en-US" sz="800">
                <a:solidFill>
                  <a:schemeClr val="accent3">
                    <a:lumMod val="50000"/>
                  </a:schemeClr>
                </a:solidFill>
              </a:rPr>
              <a:t>TOP_K = 50 allow  the model to capture more possible works even the ones that are not extremely relevant to the business. </a:t>
            </a:r>
          </a:p>
          <a:p>
            <a:endParaRPr lang="en-US" sz="800">
              <a:solidFill>
                <a:schemeClr val="accent3">
                  <a:lumMod val="50000"/>
                </a:schemeClr>
              </a:solidFill>
            </a:endParaRPr>
          </a:p>
          <a:p>
            <a:r>
              <a:rPr lang="en-US" sz="800">
                <a:solidFill>
                  <a:schemeClr val="accent3">
                    <a:lumMod val="50000"/>
                  </a:schemeClr>
                </a:solidFill>
              </a:rPr>
              <a:t>The fine tunned version added </a:t>
            </a:r>
            <a:r>
              <a:rPr lang="en-US" sz="800" b="1">
                <a:solidFill>
                  <a:schemeClr val="accent3">
                    <a:lumMod val="50000"/>
                  </a:schemeClr>
                </a:solidFill>
              </a:rPr>
              <a:t>“</a:t>
            </a:r>
            <a:r>
              <a:rPr lang="en-US" sz="800">
                <a:solidFill>
                  <a:schemeClr val="accent3">
                    <a:lumMod val="50000"/>
                  </a:schemeClr>
                </a:solidFill>
              </a:rPr>
              <a:t>Blood glucose normalization improves outcome in critically ill patients; maintain between 80 to 110 mg/dL with a continuous IV insulin infusion. Corticosteroid therapy seems beneficial for severe sepsis and septic shock, especially if APACHE II score is &gt; 25. “” to </a:t>
            </a:r>
            <a:r>
              <a:rPr lang="en-US" sz="800" b="1">
                <a:solidFill>
                  <a:schemeClr val="accent3">
                    <a:lumMod val="50000"/>
                  </a:schemeClr>
                </a:solidFill>
              </a:rPr>
              <a:t>immediate actions </a:t>
            </a:r>
            <a:r>
              <a:rPr lang="en-US" sz="800">
                <a:solidFill>
                  <a:schemeClr val="accent3">
                    <a:lumMod val="50000"/>
                  </a:schemeClr>
                </a:solidFill>
              </a:rPr>
              <a:t>of the first question. It shows some more creativetity y the LLM. It may not be totally factual for this information was not found in the RAG document. </a:t>
            </a:r>
          </a:p>
          <a:p>
            <a:endParaRPr lang="en-US" sz="800">
              <a:solidFill>
                <a:schemeClr val="accent3">
                  <a:lumMod val="50000"/>
                </a:schemeClr>
              </a:solidFill>
            </a:endParaRPr>
          </a:p>
          <a:p>
            <a:r>
              <a:rPr lang="en-US" sz="800">
                <a:solidFill>
                  <a:schemeClr val="accent3">
                    <a:lumMod val="50000"/>
                  </a:schemeClr>
                </a:solidFill>
              </a:rPr>
              <a:t>It also happened in some other messaes. </a:t>
            </a:r>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p:txBody>
      </p:sp>
      <p:sp>
        <p:nvSpPr>
          <p:cNvPr id="5" name="Google Shape;252;p52">
            <a:extLst>
              <a:ext uri="{FF2B5EF4-FFF2-40B4-BE49-F238E27FC236}">
                <a16:creationId xmlns:a16="http://schemas.microsoft.com/office/drawing/2014/main" id="{EA12E296-E2D6-AB22-1411-CEC4412C0BE6}"/>
              </a:ext>
            </a:extLst>
          </p:cNvPr>
          <p:cNvSpPr txBox="1"/>
          <p:nvPr/>
        </p:nvSpPr>
        <p:spPr>
          <a:xfrm>
            <a:off x="169786" y="4623243"/>
            <a:ext cx="8560264" cy="1429434"/>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00" b="1">
                <a:solidFill>
                  <a:schemeClr val="accent6">
                    <a:lumMod val="50000"/>
                  </a:schemeClr>
                </a:solidFill>
                <a:latin typeface="Montserrat"/>
                <a:ea typeface="Montserrat"/>
                <a:cs typeface="Montserrat"/>
                <a:sym typeface="Montserrat"/>
              </a:rPr>
              <a:t>General Comments</a:t>
            </a:r>
          </a:p>
          <a:p>
            <a:pPr lvl="0">
              <a:buSzPts val="1400"/>
            </a:pPr>
            <a:r>
              <a:rPr lang="en" sz="1000">
                <a:solidFill>
                  <a:schemeClr val="tx1"/>
                </a:solidFill>
                <a:latin typeface="Montserrat"/>
                <a:sym typeface="Montserrat"/>
              </a:rPr>
              <a:t>The prompt used for RAG is also more robust, including guardrails to mitigate, filter, or catch  hallucination and undesired outcome.</a:t>
            </a:r>
          </a:p>
          <a:p>
            <a:pPr lvl="0">
              <a:buSzPts val="1400"/>
            </a:pPr>
            <a:endParaRPr lang="en" sz="1000">
              <a:solidFill>
                <a:schemeClr val="tx1"/>
              </a:solidFill>
              <a:latin typeface="Montserrat"/>
              <a:sym typeface="Montserrat"/>
            </a:endParaRPr>
          </a:p>
          <a:p>
            <a:pPr lvl="0">
              <a:buSzPts val="1400"/>
            </a:pPr>
            <a:r>
              <a:rPr lang="en" sz="1000">
                <a:solidFill>
                  <a:schemeClr val="tx1"/>
                </a:solidFill>
                <a:latin typeface="Montserrat"/>
                <a:ea typeface="Montserrat"/>
                <a:cs typeface="Montserrat"/>
                <a:sym typeface="Montserrat"/>
              </a:rPr>
              <a:t>Max Tokens was set to 700 to allow the result to be beefed up a bit, considering the lengthy Prompt and the possibility of more creativity setting the temperature to .5.  TOP_K and TOP_P also control the quality and the criativity of the LLM. </a:t>
            </a:r>
          </a:p>
          <a:p>
            <a:pPr lvl="0">
              <a:buSzPts val="1400"/>
            </a:pPr>
            <a:endParaRPr lang="en" sz="1000">
              <a:solidFill>
                <a:schemeClr val="tx1"/>
              </a:solidFill>
              <a:latin typeface="Montserrat"/>
              <a:ea typeface="Montserrat"/>
              <a:cs typeface="Montserrat"/>
              <a:sym typeface="Montserrat"/>
            </a:endParaRPr>
          </a:p>
          <a:p>
            <a:pPr lvl="0">
              <a:buSzPts val="1400"/>
            </a:pPr>
            <a:r>
              <a:rPr lang="en" sz="1000">
                <a:solidFill>
                  <a:schemeClr val="tx1"/>
                </a:solidFill>
                <a:latin typeface="Montserrat"/>
                <a:ea typeface="Montserrat"/>
                <a:cs typeface="Montserrat"/>
                <a:sym typeface="Montserrat"/>
              </a:rPr>
              <a:t>Verdict. For the medical RAG I recommend attention to parameters that allow the LLM to be more creative and broader. It may be dangerous for the result may not have come from a solid source like the Medical Manual. </a:t>
            </a:r>
          </a:p>
        </p:txBody>
      </p:sp>
    </p:spTree>
    <p:extLst>
      <p:ext uri="{BB962C8B-B14F-4D97-AF65-F5344CB8AC3E}">
        <p14:creationId xmlns:p14="http://schemas.microsoft.com/office/powerpoint/2010/main" val="2567413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613EBBB9-D8BB-E18F-795E-1F89AF0246BF}"/>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D55F7214-921C-91AA-B368-F3F35478BF9B}"/>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Output Evaluation</a:t>
            </a:r>
            <a:endParaRPr sz="2400">
              <a:solidFill>
                <a:srgbClr val="0E39A9"/>
              </a:solidFill>
            </a:endParaRPr>
          </a:p>
        </p:txBody>
      </p:sp>
      <p:sp>
        <p:nvSpPr>
          <p:cNvPr id="7" name="TextBox 6">
            <a:extLst>
              <a:ext uri="{FF2B5EF4-FFF2-40B4-BE49-F238E27FC236}">
                <a16:creationId xmlns:a16="http://schemas.microsoft.com/office/drawing/2014/main" id="{A3E73E76-33EE-E99B-3A1C-CF2FD8F00029}"/>
              </a:ext>
            </a:extLst>
          </p:cNvPr>
          <p:cNvSpPr txBox="1"/>
          <p:nvPr/>
        </p:nvSpPr>
        <p:spPr>
          <a:xfrm>
            <a:off x="231494" y="1548601"/>
            <a:ext cx="4267200" cy="4001095"/>
          </a:xfrm>
          <a:prstGeom prst="roundRect">
            <a:avLst>
              <a:gd name="adj" fmla="val 1119"/>
            </a:avLst>
          </a:prstGeom>
          <a:noFill/>
          <a:ln>
            <a:solidFill>
              <a:schemeClr val="accent1">
                <a:lumMod val="60000"/>
                <a:lumOff val="40000"/>
              </a:schemeClr>
            </a:solidFill>
          </a:ln>
        </p:spPr>
        <p:txBody>
          <a:bodyPr wrap="square" rtlCol="0">
            <a:spAutoFit/>
          </a:bodyPr>
          <a:lstStyle/>
          <a:p>
            <a:r>
              <a:rPr lang="en" sz="1200" b="1">
                <a:solidFill>
                  <a:schemeClr val="accent6">
                    <a:lumMod val="50000"/>
                  </a:schemeClr>
                </a:solidFill>
                <a:latin typeface="Montserrat"/>
                <a:ea typeface="Montserrat"/>
                <a:cs typeface="Montserrat"/>
                <a:sym typeface="Montserrat"/>
              </a:rPr>
              <a:t>groundedness prompt</a:t>
            </a:r>
            <a:br>
              <a:rPr lang="en" sz="1200">
                <a:latin typeface="Montserrat"/>
                <a:ea typeface="Montserrat"/>
                <a:cs typeface="Montserrat"/>
                <a:sym typeface="Montserrat"/>
              </a:rPr>
            </a:br>
            <a:r>
              <a:rPr lang="en-US" sz="900"/>
              <a:t>You are a strict groundedness evaluator for a medical Retrieval-Augmented Generation system.</a:t>
            </a:r>
          </a:p>
          <a:p>
            <a:endParaRPr lang="en-US" sz="900"/>
          </a:p>
          <a:p>
            <a:r>
              <a:rPr lang="en-US" sz="900"/>
              <a:t>Your task is to evaluate whether the generated answer is fully supported by the provided source context.</a:t>
            </a:r>
          </a:p>
          <a:p>
            <a:br>
              <a:rPr lang="en-US" sz="900"/>
            </a:br>
            <a:r>
              <a:rPr lang="en-US" sz="900"/>
              <a:t>Rules:</a:t>
            </a:r>
          </a:p>
          <a:p>
            <a:r>
              <a:rPr lang="en-US" sz="900"/>
              <a:t>1. Use ONLY the provided context as the source of truth.</a:t>
            </a:r>
          </a:p>
          <a:p>
            <a:r>
              <a:rPr lang="en-US" sz="900"/>
              <a:t>2. Check every medical claim, treatment, dosage, protocol, diagnostic step, and warning against the context.</a:t>
            </a:r>
          </a:p>
          <a:p>
            <a:r>
              <a:rPr lang="en-US" sz="900"/>
              <a:t>3. Mark the answer as grounded only if all important claims are directly supported by the context.</a:t>
            </a:r>
          </a:p>
          <a:p>
            <a:r>
              <a:rPr lang="en-US" sz="900"/>
              <a:t>4. If the answer includes unsupported medical information, assumptions, or outside knowledge, mark it as not grounded.</a:t>
            </a:r>
          </a:p>
          <a:p>
            <a:r>
              <a:rPr lang="en-US" sz="900"/>
              <a:t>5. Do not evaluate whether the medical advice is generally correct. Evaluate only whether it is supported by the context.</a:t>
            </a:r>
          </a:p>
          <a:p>
            <a:r>
              <a:rPr lang="en-US" sz="900"/>
              <a:t>6. Be strict because this is a healthcare use case.</a:t>
            </a:r>
          </a:p>
          <a:p>
            <a:br>
              <a:rPr lang="en-US" sz="900"/>
            </a:br>
            <a:endParaRPr lang="en-US" sz="900"/>
          </a:p>
          <a:p>
            <a:r>
              <a:rPr lang="en-US" sz="900"/>
              <a:t>Return your evaluation in this format:</a:t>
            </a:r>
          </a:p>
          <a:p>
            <a:r>
              <a:rPr lang="en-US" sz="900"/>
              <a:t>Groundedness Score: X/5</a:t>
            </a:r>
          </a:p>
          <a:p>
            <a:r>
              <a:rPr lang="en-US" sz="900"/>
              <a:t>Verdict: Grounded / Partially Grounded / Not Grounded</a:t>
            </a:r>
          </a:p>
          <a:p>
            <a:r>
              <a:rPr lang="en-US" sz="900"/>
              <a:t>Unsupported Claims:</a:t>
            </a:r>
          </a:p>
          <a:p>
            <a:r>
              <a:rPr lang="en-US" sz="900"/>
              <a:t>- List unsupported or weakly supported claims, or write "None"</a:t>
            </a:r>
          </a:p>
          <a:p>
            <a:r>
              <a:rPr lang="en-US" sz="900"/>
              <a:t>Explanation:</a:t>
            </a:r>
          </a:p>
          <a:p>
            <a:r>
              <a:rPr lang="en-US" sz="900"/>
              <a:t>- Briefly explain your rating</a:t>
            </a:r>
          </a:p>
          <a:p>
            <a:endParaRPr lang="en-US" sz="800"/>
          </a:p>
        </p:txBody>
      </p:sp>
      <p:sp>
        <p:nvSpPr>
          <p:cNvPr id="8" name="TextBox 7">
            <a:extLst>
              <a:ext uri="{FF2B5EF4-FFF2-40B4-BE49-F238E27FC236}">
                <a16:creationId xmlns:a16="http://schemas.microsoft.com/office/drawing/2014/main" id="{3C8CD957-5857-C593-84DF-0229A073DEEA}"/>
              </a:ext>
            </a:extLst>
          </p:cNvPr>
          <p:cNvSpPr txBox="1"/>
          <p:nvPr/>
        </p:nvSpPr>
        <p:spPr>
          <a:xfrm>
            <a:off x="4616723" y="1548601"/>
            <a:ext cx="4267200" cy="3877985"/>
          </a:xfrm>
          <a:prstGeom prst="roundRect">
            <a:avLst>
              <a:gd name="adj" fmla="val 1119"/>
            </a:avLst>
          </a:prstGeom>
          <a:noFill/>
          <a:ln>
            <a:solidFill>
              <a:schemeClr val="accent1">
                <a:lumMod val="60000"/>
                <a:lumOff val="40000"/>
              </a:schemeClr>
            </a:solidFill>
          </a:ln>
        </p:spPr>
        <p:txBody>
          <a:bodyPr wrap="square" rtlCol="0">
            <a:spAutoFit/>
          </a:bodyPr>
          <a:lstStyle/>
          <a:p>
            <a:r>
              <a:rPr lang="en" sz="1200" b="1">
                <a:solidFill>
                  <a:schemeClr val="accent6">
                    <a:lumMod val="50000"/>
                  </a:schemeClr>
                </a:solidFill>
                <a:latin typeface="Montserrat"/>
                <a:ea typeface="Montserrat"/>
                <a:cs typeface="Montserrat"/>
                <a:sym typeface="Montserrat"/>
              </a:rPr>
              <a:t>relevance</a:t>
            </a:r>
            <a:r>
              <a:rPr lang="en-US" sz="1200" b="1">
                <a:solidFill>
                  <a:schemeClr val="accent6">
                    <a:lumMod val="50000"/>
                  </a:schemeClr>
                </a:solidFill>
              </a:rPr>
              <a:t> Prompt</a:t>
            </a:r>
          </a:p>
          <a:p>
            <a:r>
              <a:rPr lang="en-US" sz="900"/>
              <a:t>You are a strict relevance evaluator for a medical Retrieval-Augmented Generation system.</a:t>
            </a:r>
          </a:p>
          <a:p>
            <a:endParaRPr lang="en-US" sz="900"/>
          </a:p>
          <a:p>
            <a:r>
              <a:rPr lang="en-US" sz="900"/>
              <a:t>Your task is to evaluate how well the generated answer addresses the user's medical question.</a:t>
            </a:r>
          </a:p>
          <a:p>
            <a:br>
              <a:rPr lang="en-US" sz="900"/>
            </a:br>
            <a:r>
              <a:rPr lang="en-US" sz="900"/>
              <a:t>Rules:</a:t>
            </a:r>
          </a:p>
          <a:p>
            <a:r>
              <a:rPr lang="en-US" sz="900"/>
              <a:t>1. Focus only on relevance to the user question.</a:t>
            </a:r>
          </a:p>
          <a:p>
            <a:r>
              <a:rPr lang="en-US" sz="900"/>
              <a:t>2. Do not judge groundedness, factual correctness, or writing style unless they affect relevance.</a:t>
            </a:r>
          </a:p>
          <a:p>
            <a:r>
              <a:rPr lang="en-US" sz="900"/>
              <a:t>3. A highly relevant answer directly addresses the medical condition, symptoms, diagnostics, treatments, precautions, and escalation needs asked in the question.</a:t>
            </a:r>
          </a:p>
          <a:p>
            <a:r>
              <a:rPr lang="en-US" sz="900"/>
              <a:t>4. Penalize answers that are too generic, incomplete, off-topic, or do not answer key parts of the question.</a:t>
            </a:r>
          </a:p>
          <a:p>
            <a:r>
              <a:rPr lang="en-US" sz="900"/>
              <a:t>5. Be strict because this is a healthcare use case.</a:t>
            </a:r>
          </a:p>
          <a:p>
            <a:br>
              <a:rPr lang="en-US" sz="900"/>
            </a:br>
            <a:endParaRPr lang="en-US" sz="900"/>
          </a:p>
          <a:p>
            <a:r>
              <a:rPr lang="en-US" sz="900"/>
              <a:t>Return your evaluation in this format:</a:t>
            </a:r>
          </a:p>
          <a:p>
            <a:r>
              <a:rPr lang="en-US" sz="900"/>
              <a:t>Relevance Score: X/5</a:t>
            </a:r>
          </a:p>
          <a:p>
            <a:r>
              <a:rPr lang="en-US" sz="900"/>
              <a:t>Verdict: Highly Relevant / Partially Relevant / Not Relevant</a:t>
            </a:r>
          </a:p>
          <a:p>
            <a:r>
              <a:rPr lang="en-US" sz="900"/>
              <a:t>Missing or Weak Areas:</a:t>
            </a:r>
          </a:p>
          <a:p>
            <a:r>
              <a:rPr lang="en-US" sz="900"/>
              <a:t>- List missing parts of the question, or write "None"</a:t>
            </a:r>
          </a:p>
          <a:p>
            <a:r>
              <a:rPr lang="en-US" sz="900"/>
              <a:t>Explanation:</a:t>
            </a:r>
          </a:p>
          <a:p>
            <a:r>
              <a:rPr lang="en-US" sz="900"/>
              <a:t>- Briefly explain your rating</a:t>
            </a:r>
            <a:endParaRPr lang="en-US" sz="1000"/>
          </a:p>
        </p:txBody>
      </p:sp>
    </p:spTree>
    <p:extLst>
      <p:ext uri="{BB962C8B-B14F-4D97-AF65-F5344CB8AC3E}">
        <p14:creationId xmlns:p14="http://schemas.microsoft.com/office/powerpoint/2010/main" val="636553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058A6938-4C9B-1643-B6C4-69A4B67DFF6A}"/>
            </a:ext>
          </a:extLst>
        </p:cNvPr>
        <p:cNvGrpSpPr/>
        <p:nvPr/>
      </p:nvGrpSpPr>
      <p:grpSpPr>
        <a:xfrm>
          <a:off x="0" y="0"/>
          <a:ext cx="0" cy="0"/>
          <a:chOff x="0" y="0"/>
          <a:chExt cx="0" cy="0"/>
        </a:xfrm>
      </p:grpSpPr>
      <p:sp>
        <p:nvSpPr>
          <p:cNvPr id="252" name="Google Shape;252;p52">
            <a:extLst>
              <a:ext uri="{FF2B5EF4-FFF2-40B4-BE49-F238E27FC236}">
                <a16:creationId xmlns:a16="http://schemas.microsoft.com/office/drawing/2014/main" id="{3CDCC665-1E15-0551-7B26-51C7D2C9FC06}"/>
              </a:ext>
            </a:extLst>
          </p:cNvPr>
          <p:cNvSpPr txBox="1"/>
          <p:nvPr/>
        </p:nvSpPr>
        <p:spPr>
          <a:xfrm>
            <a:off x="139270" y="1379200"/>
            <a:ext cx="8199929" cy="947766"/>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lnSpc>
                <a:spcPct val="150000"/>
              </a:lnSpc>
              <a:buSzPts val="1400"/>
            </a:pPr>
            <a:r>
              <a:rPr lang="en" b="1">
                <a:solidFill>
                  <a:schemeClr val="accent6">
                    <a:lumMod val="50000"/>
                  </a:schemeClr>
                </a:solidFill>
                <a:latin typeface="Montserrat"/>
                <a:ea typeface="Montserrat"/>
                <a:cs typeface="Montserrat"/>
                <a:sym typeface="Montserrat"/>
              </a:rPr>
              <a:t>Questions</a:t>
            </a:r>
          </a:p>
          <a:p>
            <a:pPr marL="342900" indent="-342900">
              <a:buFont typeface="+mj-lt"/>
              <a:buAutoNum type="arabicPeriod"/>
            </a:pPr>
            <a:r>
              <a:rPr lang="en-US"/>
              <a:t>What is the protocol for managing sepsis in a critical care unit?</a:t>
            </a:r>
          </a:p>
          <a:p>
            <a:pPr fontAlgn="auto"/>
            <a:endParaRPr lang="en-US"/>
          </a:p>
        </p:txBody>
      </p:sp>
      <p:sp>
        <p:nvSpPr>
          <p:cNvPr id="2" name="Google Shape;262;p53">
            <a:extLst>
              <a:ext uri="{FF2B5EF4-FFF2-40B4-BE49-F238E27FC236}">
                <a16:creationId xmlns:a16="http://schemas.microsoft.com/office/drawing/2014/main" id="{304AAB5E-9CD3-5D09-9CAF-BA8C0CF72C43}"/>
              </a:ext>
            </a:extLst>
          </p:cNvPr>
          <p:cNvSpPr txBox="1">
            <a:spLocks/>
          </p:cNvSpPr>
          <p:nvPr/>
        </p:nvSpPr>
        <p:spPr>
          <a:xfrm>
            <a:off x="70903" y="934141"/>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 sz="2400">
                <a:solidFill>
                  <a:srgbClr val="0E39A9"/>
                </a:solidFill>
              </a:rPr>
              <a:t>Output Evaluation</a:t>
            </a:r>
            <a:endParaRPr lang="en-US" sz="2400">
              <a:solidFill>
                <a:srgbClr val="0E39A9"/>
              </a:solidFill>
            </a:endParaRPr>
          </a:p>
        </p:txBody>
      </p:sp>
      <p:sp>
        <p:nvSpPr>
          <p:cNvPr id="3" name="Google Shape;252;p52">
            <a:extLst>
              <a:ext uri="{FF2B5EF4-FFF2-40B4-BE49-F238E27FC236}">
                <a16:creationId xmlns:a16="http://schemas.microsoft.com/office/drawing/2014/main" id="{58CC4E5A-4968-835F-02F7-DD82EECBB9D6}"/>
              </a:ext>
            </a:extLst>
          </p:cNvPr>
          <p:cNvSpPr txBox="1"/>
          <p:nvPr/>
        </p:nvSpPr>
        <p:spPr>
          <a:xfrm>
            <a:off x="139269" y="2355638"/>
            <a:ext cx="4078644" cy="3060888"/>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Groundness</a:t>
            </a:r>
          </a:p>
          <a:p>
            <a:pPr lvl="0">
              <a:buSzPts val="1400"/>
            </a:pPr>
            <a:r>
              <a:rPr lang="en-US" sz="900">
                <a:solidFill>
                  <a:schemeClr val="accent6">
                    <a:lumMod val="50000"/>
                  </a:schemeClr>
                </a:solidFill>
                <a:latin typeface="Montserrat"/>
                <a:ea typeface="Montserrat"/>
                <a:cs typeface="Montserrat"/>
                <a:sym typeface="Montserrat"/>
              </a:rPr>
              <a:t>Groundedness Score: 5/5</a:t>
            </a:r>
          </a:p>
          <a:p>
            <a:pPr lvl="0">
              <a:buSzPts val="1400"/>
            </a:pPr>
            <a:r>
              <a:rPr lang="en-US" sz="900">
                <a:solidFill>
                  <a:schemeClr val="accent6">
                    <a:lumMod val="50000"/>
                  </a:schemeClr>
                </a:solidFill>
                <a:latin typeface="Montserrat"/>
                <a:ea typeface="Montserrat"/>
                <a:cs typeface="Montserrat"/>
                <a:sym typeface="Montserrat"/>
              </a:rPr>
              <a:t>Verdict: Grounded</a:t>
            </a:r>
          </a:p>
          <a:p>
            <a:pPr lvl="0">
              <a:buSzPts val="1400"/>
            </a:pPr>
            <a:r>
              <a:rPr lang="en-US" sz="900">
                <a:solidFill>
                  <a:schemeClr val="accent6">
                    <a:lumMod val="50000"/>
                  </a:schemeClr>
                </a:solidFill>
                <a:latin typeface="Montserrat"/>
                <a:ea typeface="Montserrat"/>
                <a:cs typeface="Montserrat"/>
                <a:sym typeface="Montserrat"/>
              </a:rPr>
              <a:t>Unsupported Claims: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answer is fully supported by the context, which provides detailed information on the protocol for managing sepsis in a critical care unit, including immediate actions such as initiating antibiotic therapy and obtaining specimens for Gram stain and culture before administration. The answer also correctly states that antibiotics should be continued for at least 5 days after shock resolves and evidence of infection subsides, and mentions the importance of draining abscesses and excising necrotic tissues. Additionally, the answer appropriately warns about the risk of bleeding when administering activated protein C and the need to assess risk-benefit in patients with increased risk of serious bleeding. The context also supports the consideration of cooling for hyperthermia and early treatment of renal failure as emerging therapies. Therefore, the answer is fully grounded in the provided context</a:t>
            </a:r>
            <a:endParaRPr lang="en-US"/>
          </a:p>
        </p:txBody>
      </p:sp>
      <p:sp>
        <p:nvSpPr>
          <p:cNvPr id="4" name="Google Shape;252;p52">
            <a:extLst>
              <a:ext uri="{FF2B5EF4-FFF2-40B4-BE49-F238E27FC236}">
                <a16:creationId xmlns:a16="http://schemas.microsoft.com/office/drawing/2014/main" id="{E1EB5BDB-C443-0417-1C29-E038B9DEC0A0}"/>
              </a:ext>
            </a:extLst>
          </p:cNvPr>
          <p:cNvSpPr txBox="1"/>
          <p:nvPr/>
        </p:nvSpPr>
        <p:spPr>
          <a:xfrm>
            <a:off x="4260554" y="2355639"/>
            <a:ext cx="4078644" cy="3076425"/>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Relevance</a:t>
            </a:r>
          </a:p>
          <a:p>
            <a:pPr lvl="0">
              <a:buSzPts val="1400"/>
            </a:pPr>
            <a:r>
              <a:rPr lang="en-US" sz="900">
                <a:solidFill>
                  <a:schemeClr val="accent6">
                    <a:lumMod val="50000"/>
                  </a:schemeClr>
                </a:solidFill>
                <a:latin typeface="Montserrat"/>
                <a:ea typeface="Montserrat"/>
                <a:cs typeface="Montserrat"/>
                <a:sym typeface="Montserrat"/>
              </a:rPr>
              <a:t>Relevance Score: 5/5</a:t>
            </a:r>
          </a:p>
          <a:p>
            <a:pPr lvl="0">
              <a:buSzPts val="1400"/>
            </a:pPr>
            <a:r>
              <a:rPr lang="en-US" sz="900">
                <a:solidFill>
                  <a:schemeClr val="accent6">
                    <a:lumMod val="50000"/>
                  </a:schemeClr>
                </a:solidFill>
                <a:latin typeface="Montserrat"/>
                <a:ea typeface="Montserrat"/>
                <a:cs typeface="Montserrat"/>
                <a:sym typeface="Montserrat"/>
              </a:rPr>
              <a:t>Verdict: Highly Relevant</a:t>
            </a:r>
          </a:p>
          <a:p>
            <a:pPr lvl="0">
              <a:buSzPts val="1400"/>
            </a:pPr>
            <a:r>
              <a:rPr lang="en-US" sz="900">
                <a:solidFill>
                  <a:schemeClr val="accent6">
                    <a:lumMod val="50000"/>
                  </a:schemeClr>
                </a:solidFill>
                <a:latin typeface="Montserrat"/>
                <a:ea typeface="Montserrat"/>
                <a:cs typeface="Montserrat"/>
                <a:sym typeface="Montserrat"/>
              </a:rPr>
              <a:t>Missing or Weak Areas:</a:t>
            </a:r>
          </a:p>
          <a:p>
            <a:pPr lvl="0">
              <a:buSzPts val="1400"/>
            </a:pPr>
            <a:r>
              <a:rPr lang="en-US" sz="900">
                <a:solidFill>
                  <a:schemeClr val="accent6">
                    <a:lumMod val="50000"/>
                  </a:schemeClr>
                </a:solidFill>
                <a:latin typeface="Montserrat"/>
                <a:ea typeface="Montserrat"/>
                <a:cs typeface="Montserrat"/>
                <a:sym typeface="Montserrat"/>
              </a:rPr>
              <a:t>-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generated answer directly addresses the user's question by discussing the protocol for managing sepsis in a critical care unit, including immediate actions such as initiating antibiotic therapy and obtaining specimens for diagnostics. It also covers key aspects of treatment like continuing antibiotics, draining abscesses, normalizing blood glucose, and considering corticosteroid therapy. The answer also mentions warnings and escalation needs related to bleeding when administering activated protein C. Overall, the generated answer is highly relevant to the user's question.</a:t>
            </a:r>
          </a:p>
          <a:p>
            <a:pPr lvl="0">
              <a:buSzPts val="1400"/>
            </a:pPr>
            <a:endParaRPr lang="en-US" sz="900">
              <a:solidFill>
                <a:schemeClr val="accent6">
                  <a:lumMod val="50000"/>
                </a:schemeClr>
              </a:solidFill>
              <a:latin typeface="Montserrat"/>
              <a:ea typeface="Montserrat"/>
              <a:cs typeface="Montserrat"/>
              <a:sym typeface="Montserrat"/>
            </a:endParaRPr>
          </a:p>
          <a:p>
            <a:pPr lvl="0">
              <a:buSzPts val="1400"/>
            </a:pPr>
            <a:endParaRPr lang="en" sz="900">
              <a:solidFill>
                <a:schemeClr val="accent6">
                  <a:lumMod val="50000"/>
                </a:schemeClr>
              </a:solidFill>
              <a:latin typeface="Montserrat"/>
              <a:ea typeface="Montserrat"/>
              <a:cs typeface="Montserrat"/>
              <a:sym typeface="Montserrat"/>
            </a:endParaRPr>
          </a:p>
          <a:p>
            <a:pPr>
              <a:buSzPts val="1400"/>
            </a:pPr>
            <a:endParaRPr lang="en" b="1">
              <a:solidFill>
                <a:schemeClr val="accent6">
                  <a:lumMod val="50000"/>
                </a:schemeClr>
              </a:solidFill>
              <a:latin typeface="Montserrat"/>
              <a:ea typeface="Montserrat"/>
              <a:cs typeface="Montserrat"/>
              <a:sym typeface="Montserrat"/>
            </a:endParaRPr>
          </a:p>
          <a:p>
            <a:pPr fontAlgn="auto"/>
            <a:endParaRPr lang="en-US"/>
          </a:p>
        </p:txBody>
      </p:sp>
    </p:spTree>
    <p:extLst>
      <p:ext uri="{BB962C8B-B14F-4D97-AF65-F5344CB8AC3E}">
        <p14:creationId xmlns:p14="http://schemas.microsoft.com/office/powerpoint/2010/main" val="3765887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27B07995-F2FC-0775-7ACF-E26AF0B09EA0}"/>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6475BCC4-DB44-C336-61D8-139047A6B243}"/>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Output Evaluation</a:t>
            </a:r>
            <a:endParaRPr sz="2400">
              <a:solidFill>
                <a:srgbClr val="0E39A9"/>
              </a:solidFill>
            </a:endParaRPr>
          </a:p>
        </p:txBody>
      </p:sp>
      <p:sp>
        <p:nvSpPr>
          <p:cNvPr id="252" name="Google Shape;252;p52">
            <a:extLst>
              <a:ext uri="{FF2B5EF4-FFF2-40B4-BE49-F238E27FC236}">
                <a16:creationId xmlns:a16="http://schemas.microsoft.com/office/drawing/2014/main" id="{F2ABFE67-BFF1-3EDF-139E-33F35C603063}"/>
              </a:ext>
            </a:extLst>
          </p:cNvPr>
          <p:cNvSpPr txBox="1"/>
          <p:nvPr/>
        </p:nvSpPr>
        <p:spPr>
          <a:xfrm>
            <a:off x="139270" y="1490629"/>
            <a:ext cx="8199929" cy="855076"/>
          </a:xfrm>
          <a:prstGeom prst="roundRect">
            <a:avLst>
              <a:gd name="adj" fmla="val 6366"/>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a:t>What are the common symptoms of appendicitis, and can it be cured via medicine? If not, what surgical procedure should be followed to treat it?</a:t>
            </a:r>
          </a:p>
        </p:txBody>
      </p:sp>
      <p:sp>
        <p:nvSpPr>
          <p:cNvPr id="2" name="Google Shape;252;p52">
            <a:extLst>
              <a:ext uri="{FF2B5EF4-FFF2-40B4-BE49-F238E27FC236}">
                <a16:creationId xmlns:a16="http://schemas.microsoft.com/office/drawing/2014/main" id="{63D7F3E4-EAF5-97BE-87F5-462FD409EDFA}"/>
              </a:ext>
            </a:extLst>
          </p:cNvPr>
          <p:cNvSpPr txBox="1"/>
          <p:nvPr/>
        </p:nvSpPr>
        <p:spPr>
          <a:xfrm>
            <a:off x="139269" y="2355638"/>
            <a:ext cx="4078644" cy="2579220"/>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Groundness</a:t>
            </a:r>
          </a:p>
          <a:p>
            <a:pPr lvl="0">
              <a:buSzPts val="1400"/>
            </a:pPr>
            <a:r>
              <a:rPr lang="en-US" sz="900">
                <a:solidFill>
                  <a:schemeClr val="accent6">
                    <a:lumMod val="50000"/>
                  </a:schemeClr>
                </a:solidFill>
                <a:latin typeface="Montserrat"/>
                <a:ea typeface="Montserrat"/>
                <a:cs typeface="Montserrat"/>
                <a:sym typeface="Montserrat"/>
              </a:rPr>
              <a:t>Groundedness Score: 5/5</a:t>
            </a:r>
          </a:p>
          <a:p>
            <a:pPr lvl="0">
              <a:buSzPts val="1400"/>
            </a:pPr>
            <a:r>
              <a:rPr lang="en-US" sz="900">
                <a:solidFill>
                  <a:schemeClr val="accent6">
                    <a:lumMod val="50000"/>
                  </a:schemeClr>
                </a:solidFill>
                <a:latin typeface="Montserrat"/>
                <a:ea typeface="Montserrat"/>
                <a:cs typeface="Montserrat"/>
                <a:sym typeface="Montserrat"/>
              </a:rPr>
              <a:t>Verdict: Grounded</a:t>
            </a:r>
          </a:p>
          <a:p>
            <a:pPr lvl="0">
              <a:buSzPts val="1400"/>
            </a:pPr>
            <a:r>
              <a:rPr lang="en-US" sz="900">
                <a:solidFill>
                  <a:schemeClr val="accent6">
                    <a:lumMod val="50000"/>
                  </a:schemeClr>
                </a:solidFill>
                <a:latin typeface="Montserrat"/>
                <a:ea typeface="Montserrat"/>
                <a:cs typeface="Montserrat"/>
                <a:sym typeface="Montserrat"/>
              </a:rPr>
              <a:t>Unsupported Claims: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answer accurately summarizes the symptoms, signs, diagnostic methods, and treatment options for appendicitis as described in the context. The immediate actions and warnings are also directly supported by the provided information. Therefore, the answer is fully grounded based on the context.</a:t>
            </a:r>
          </a:p>
          <a:p>
            <a:pPr lvl="0">
              <a:buSzPts val="1400"/>
            </a:pPr>
            <a:endParaRPr lang="en-US" sz="900">
              <a:solidFill>
                <a:schemeClr val="accent6">
                  <a:lumMod val="50000"/>
                </a:schemeClr>
              </a:solidFill>
              <a:latin typeface="Montserrat"/>
              <a:ea typeface="Montserrat"/>
              <a:cs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a:p>
        </p:txBody>
      </p:sp>
      <p:sp>
        <p:nvSpPr>
          <p:cNvPr id="3" name="Google Shape;252;p52">
            <a:extLst>
              <a:ext uri="{FF2B5EF4-FFF2-40B4-BE49-F238E27FC236}">
                <a16:creationId xmlns:a16="http://schemas.microsoft.com/office/drawing/2014/main" id="{86C979CB-54B7-3B82-3312-ECFCAFB68262}"/>
              </a:ext>
            </a:extLst>
          </p:cNvPr>
          <p:cNvSpPr txBox="1"/>
          <p:nvPr/>
        </p:nvSpPr>
        <p:spPr>
          <a:xfrm>
            <a:off x="4260554" y="2355638"/>
            <a:ext cx="4078644" cy="2579220"/>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Relevance</a:t>
            </a:r>
          </a:p>
          <a:p>
            <a:pPr lvl="0">
              <a:buSzPts val="1400"/>
            </a:pPr>
            <a:r>
              <a:rPr lang="en-US" sz="900">
                <a:solidFill>
                  <a:schemeClr val="accent6">
                    <a:lumMod val="50000"/>
                  </a:schemeClr>
                </a:solidFill>
                <a:latin typeface="Montserrat"/>
                <a:ea typeface="Montserrat"/>
                <a:cs typeface="Montserrat"/>
                <a:sym typeface="Montserrat"/>
              </a:rPr>
              <a:t>Relevance Score: 5/5</a:t>
            </a:r>
          </a:p>
          <a:p>
            <a:pPr lvl="0">
              <a:buSzPts val="1400"/>
            </a:pPr>
            <a:r>
              <a:rPr lang="en-US" sz="900">
                <a:solidFill>
                  <a:schemeClr val="accent6">
                    <a:lumMod val="50000"/>
                  </a:schemeClr>
                </a:solidFill>
                <a:latin typeface="Montserrat"/>
                <a:ea typeface="Montserrat"/>
                <a:cs typeface="Montserrat"/>
                <a:sym typeface="Montserrat"/>
              </a:rPr>
              <a:t>Verdict: Highly Relevant</a:t>
            </a:r>
          </a:p>
          <a:p>
            <a:pPr lvl="0">
              <a:buSzPts val="1400"/>
            </a:pPr>
            <a:r>
              <a:rPr lang="en-US" sz="900">
                <a:solidFill>
                  <a:schemeClr val="accent6">
                    <a:lumMod val="50000"/>
                  </a:schemeClr>
                </a:solidFill>
                <a:latin typeface="Montserrat"/>
                <a:ea typeface="Montserrat"/>
                <a:cs typeface="Montserrat"/>
                <a:sym typeface="Montserrat"/>
              </a:rPr>
              <a:t>Missing or Weak Areas:</a:t>
            </a:r>
          </a:p>
          <a:p>
            <a:pPr lvl="0">
              <a:buSzPts val="1400"/>
            </a:pPr>
            <a:r>
              <a:rPr lang="en-US" sz="900">
                <a:solidFill>
                  <a:schemeClr val="accent6">
                    <a:lumMod val="50000"/>
                  </a:schemeClr>
                </a:solidFill>
                <a:latin typeface="Montserrat"/>
                <a:ea typeface="Montserrat"/>
                <a:cs typeface="Montserrat"/>
                <a:sym typeface="Montserrat"/>
              </a:rPr>
              <a:t>-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answer directly addresses the user's question by providing a detailed explanation of the common symptoms of appendicitis, immediate actions to take if the diagnosis is suspected, diagnostics for atypical cases, and treatment options including surgery and antibiotics. The answer also mentions warnings and escalation needs such as contraindications to appendectomy and the need for further procedures in late cases with pericolic abscesses or a Meckel's diverticulum. The information provided is comprehensive and relevant to the user's question.</a:t>
            </a:r>
          </a:p>
          <a:p>
            <a:pPr lvl="0">
              <a:buSzPts val="1400"/>
            </a:pPr>
            <a:endParaRPr lang="en-US"/>
          </a:p>
        </p:txBody>
      </p:sp>
    </p:spTree>
    <p:extLst>
      <p:ext uri="{BB962C8B-B14F-4D97-AF65-F5344CB8AC3E}">
        <p14:creationId xmlns:p14="http://schemas.microsoft.com/office/powerpoint/2010/main" val="3860546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9C571B38-85B0-BBC5-C2FD-58D4CE0F8C8A}"/>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8BEB50B9-647D-C815-216A-03A9845BC2E4}"/>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Output Evaluation</a:t>
            </a:r>
            <a:endParaRPr sz="2400">
              <a:solidFill>
                <a:srgbClr val="0E39A9"/>
              </a:solidFill>
            </a:endParaRPr>
          </a:p>
        </p:txBody>
      </p:sp>
      <p:sp>
        <p:nvSpPr>
          <p:cNvPr id="252" name="Google Shape;252;p52">
            <a:extLst>
              <a:ext uri="{FF2B5EF4-FFF2-40B4-BE49-F238E27FC236}">
                <a16:creationId xmlns:a16="http://schemas.microsoft.com/office/drawing/2014/main" id="{B9F68A90-08C7-4927-4A1E-87041640D9AA}"/>
              </a:ext>
            </a:extLst>
          </p:cNvPr>
          <p:cNvSpPr txBox="1"/>
          <p:nvPr/>
        </p:nvSpPr>
        <p:spPr>
          <a:xfrm>
            <a:off x="139270" y="1490630"/>
            <a:ext cx="8199929" cy="847039"/>
          </a:xfrm>
          <a:prstGeom prst="roundRect">
            <a:avLst>
              <a:gd name="adj" fmla="val 4855"/>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a:t>What are the effective treatments or solutions for addressing sudden patchy hair loss, commonly seen as localized bald spots on the scalp, and what could be the possible causes behind it?</a:t>
            </a:r>
          </a:p>
        </p:txBody>
      </p:sp>
      <p:sp>
        <p:nvSpPr>
          <p:cNvPr id="2" name="Google Shape;252;p52">
            <a:extLst>
              <a:ext uri="{FF2B5EF4-FFF2-40B4-BE49-F238E27FC236}">
                <a16:creationId xmlns:a16="http://schemas.microsoft.com/office/drawing/2014/main" id="{1DA10B9A-108B-1158-34F4-C9F876BFB512}"/>
              </a:ext>
            </a:extLst>
          </p:cNvPr>
          <p:cNvSpPr txBox="1"/>
          <p:nvPr/>
        </p:nvSpPr>
        <p:spPr>
          <a:xfrm>
            <a:off x="139269" y="2355638"/>
            <a:ext cx="4078644" cy="2221854"/>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Groundness</a:t>
            </a:r>
          </a:p>
          <a:p>
            <a:pPr lvl="0">
              <a:buSzPts val="1400"/>
            </a:pPr>
            <a:r>
              <a:rPr lang="en-US" sz="900">
                <a:solidFill>
                  <a:schemeClr val="accent6">
                    <a:lumMod val="50000"/>
                  </a:schemeClr>
                </a:solidFill>
                <a:latin typeface="Montserrat"/>
                <a:ea typeface="Montserrat"/>
                <a:cs typeface="Montserrat"/>
                <a:sym typeface="Montserrat"/>
              </a:rPr>
              <a:t>Groundedness Score: 5/5</a:t>
            </a:r>
          </a:p>
          <a:p>
            <a:pPr lvl="0">
              <a:buSzPts val="1400"/>
            </a:pPr>
            <a:r>
              <a:rPr lang="en-US" sz="900">
                <a:solidFill>
                  <a:schemeClr val="accent6">
                    <a:lumMod val="50000"/>
                  </a:schemeClr>
                </a:solidFill>
                <a:latin typeface="Montserrat"/>
                <a:ea typeface="Montserrat"/>
                <a:cs typeface="Montserrat"/>
                <a:sym typeface="Montserrat"/>
              </a:rPr>
              <a:t>Verdict: Grounded</a:t>
            </a:r>
          </a:p>
          <a:p>
            <a:pPr lvl="0">
              <a:buSzPts val="1400"/>
            </a:pPr>
            <a:r>
              <a:rPr lang="en-US" sz="900">
                <a:solidFill>
                  <a:schemeClr val="accent6">
                    <a:lumMod val="50000"/>
                  </a:schemeClr>
                </a:solidFill>
                <a:latin typeface="Montserrat"/>
                <a:ea typeface="Montserrat"/>
                <a:cs typeface="Montserrat"/>
                <a:sym typeface="Montserrat"/>
              </a:rPr>
              <a:t>Unsupported Claims: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answer is fully supported by the context, as it accurately identifies the patient's condition as alopecia areata based on the description provided and recommends appropriate diagnostic tests and treatments in line with the information given. The answer also acknowledges potential risks and long-term management considerations for this condition.</a:t>
            </a:r>
          </a:p>
          <a:p>
            <a:pPr lvl="0">
              <a:buSzPts val="1400"/>
            </a:pPr>
            <a:endParaRPr lang="en-US" sz="900"/>
          </a:p>
          <a:p>
            <a:pPr lvl="0">
              <a:buSzPts val="1400"/>
            </a:pPr>
            <a:endParaRPr lang="en-US" sz="900"/>
          </a:p>
          <a:p>
            <a:pPr lvl="0">
              <a:buSzPts val="1400"/>
            </a:pPr>
            <a:endParaRPr lang="en-US" sz="900"/>
          </a:p>
        </p:txBody>
      </p:sp>
      <p:sp>
        <p:nvSpPr>
          <p:cNvPr id="3" name="Google Shape;252;p52">
            <a:extLst>
              <a:ext uri="{FF2B5EF4-FFF2-40B4-BE49-F238E27FC236}">
                <a16:creationId xmlns:a16="http://schemas.microsoft.com/office/drawing/2014/main" id="{C6691F0C-678C-B5D5-4A30-54DFB5391F58}"/>
              </a:ext>
            </a:extLst>
          </p:cNvPr>
          <p:cNvSpPr txBox="1"/>
          <p:nvPr/>
        </p:nvSpPr>
        <p:spPr>
          <a:xfrm>
            <a:off x="4260554" y="2355638"/>
            <a:ext cx="4078644" cy="2221854"/>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Relevance</a:t>
            </a:r>
          </a:p>
          <a:p>
            <a:pPr lvl="0">
              <a:buSzPts val="1400"/>
            </a:pPr>
            <a:r>
              <a:rPr lang="en-US" sz="900">
                <a:solidFill>
                  <a:schemeClr val="accent6">
                    <a:lumMod val="50000"/>
                  </a:schemeClr>
                </a:solidFill>
                <a:latin typeface="Montserrat"/>
                <a:ea typeface="Montserrat"/>
                <a:cs typeface="Montserrat"/>
                <a:sym typeface="Montserrat"/>
              </a:rPr>
              <a:t>Relevance Score: 5/5</a:t>
            </a:r>
          </a:p>
          <a:p>
            <a:pPr lvl="0">
              <a:buSzPts val="1400"/>
            </a:pPr>
            <a:r>
              <a:rPr lang="en-US" sz="900">
                <a:solidFill>
                  <a:schemeClr val="accent6">
                    <a:lumMod val="50000"/>
                  </a:schemeClr>
                </a:solidFill>
                <a:latin typeface="Montserrat"/>
                <a:ea typeface="Montserrat"/>
                <a:cs typeface="Montserrat"/>
                <a:sym typeface="Montserrat"/>
              </a:rPr>
              <a:t>Verdict: Highly Relevant</a:t>
            </a:r>
          </a:p>
          <a:p>
            <a:pPr lvl="0">
              <a:buSzPts val="1400"/>
            </a:pPr>
            <a:r>
              <a:rPr lang="en-US" sz="900">
                <a:solidFill>
                  <a:schemeClr val="accent6">
                    <a:lumMod val="50000"/>
                  </a:schemeClr>
                </a:solidFill>
                <a:latin typeface="Montserrat"/>
                <a:ea typeface="Montserrat"/>
                <a:cs typeface="Montserrat"/>
                <a:sym typeface="Montserrat"/>
              </a:rPr>
              <a:t>Missing or Weak Areas: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generated answer directly addresses the user's question by providing an assessment of the patient's condition (alopecia areata), immediate actions, diagnostics, treatment options, and warnings/escalation needs. The information provided is based on the context given and is highly relevant to the user's query about effective treatments for sudden patchy hair loss and possible causes behind it.</a:t>
            </a:r>
          </a:p>
          <a:p>
            <a:pPr lvl="0">
              <a:buSzPts val="1400"/>
            </a:pPr>
            <a:endParaRPr lang="en-US" sz="900">
              <a:solidFill>
                <a:schemeClr val="accent6">
                  <a:lumMod val="50000"/>
                </a:schemeClr>
              </a:solidFill>
              <a:latin typeface="Montserrat"/>
              <a:ea typeface="Montserrat"/>
              <a:cs typeface="Montserrat"/>
              <a:sym typeface="Montserrat"/>
            </a:endParaRPr>
          </a:p>
          <a:p>
            <a:pPr lvl="0">
              <a:buSzPts val="1400"/>
            </a:pPr>
            <a:endParaRPr lang="en-US" sz="900">
              <a:solidFill>
                <a:schemeClr val="accent6">
                  <a:lumMod val="50000"/>
                </a:schemeClr>
              </a:solidFill>
              <a:latin typeface="Montserrat"/>
              <a:ea typeface="Montserrat"/>
              <a:cs typeface="Montserrat"/>
              <a:sym typeface="Montserrat"/>
            </a:endParaRPr>
          </a:p>
        </p:txBody>
      </p:sp>
    </p:spTree>
    <p:extLst>
      <p:ext uri="{BB962C8B-B14F-4D97-AF65-F5344CB8AC3E}">
        <p14:creationId xmlns:p14="http://schemas.microsoft.com/office/powerpoint/2010/main" val="1910104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D63988BB-C551-0121-0EA5-94482B430872}"/>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E0E404CC-7AC1-9FA0-2CC0-2AA5DED05078}"/>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Output Evaluation</a:t>
            </a:r>
            <a:endParaRPr sz="2400">
              <a:solidFill>
                <a:srgbClr val="0E39A9"/>
              </a:solidFill>
            </a:endParaRPr>
          </a:p>
        </p:txBody>
      </p:sp>
      <p:sp>
        <p:nvSpPr>
          <p:cNvPr id="252" name="Google Shape;252;p52">
            <a:extLst>
              <a:ext uri="{FF2B5EF4-FFF2-40B4-BE49-F238E27FC236}">
                <a16:creationId xmlns:a16="http://schemas.microsoft.com/office/drawing/2014/main" id="{D55B8C2E-94CF-0A33-B6D1-89981D3A68A8}"/>
              </a:ext>
            </a:extLst>
          </p:cNvPr>
          <p:cNvSpPr txBox="1"/>
          <p:nvPr/>
        </p:nvSpPr>
        <p:spPr>
          <a:xfrm>
            <a:off x="256003" y="1351965"/>
            <a:ext cx="8199929" cy="947766"/>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lnSpc>
                <a:spcPct val="150000"/>
              </a:lnSpc>
              <a:buSzPts val="1400"/>
            </a:pPr>
            <a:r>
              <a:rPr lang="en" b="1">
                <a:solidFill>
                  <a:schemeClr val="accent6">
                    <a:lumMod val="50000"/>
                  </a:schemeClr>
                </a:solidFill>
                <a:latin typeface="Montserrat"/>
                <a:ea typeface="Montserrat"/>
                <a:cs typeface="Montserrat"/>
                <a:sym typeface="Montserrat"/>
              </a:rPr>
              <a:t>Questions</a:t>
            </a:r>
          </a:p>
          <a:p>
            <a:pPr marL="285750" indent="-285750">
              <a:buSzPts val="1400"/>
              <a:buFont typeface="Arial" panose="020B0604020202020204" pitchFamily="34" charset="0"/>
              <a:buChar char="•"/>
            </a:pPr>
            <a:r>
              <a:rPr lang="en-US"/>
              <a:t>What treatments are recommended for a person who has sustained a physical injury to brain tissue, resulting in temporary or permanent impairment of brain function?</a:t>
            </a:r>
          </a:p>
        </p:txBody>
      </p:sp>
      <p:sp>
        <p:nvSpPr>
          <p:cNvPr id="2" name="Google Shape;252;p52">
            <a:extLst>
              <a:ext uri="{FF2B5EF4-FFF2-40B4-BE49-F238E27FC236}">
                <a16:creationId xmlns:a16="http://schemas.microsoft.com/office/drawing/2014/main" id="{7C891018-9A6C-AA42-14D8-8CCB68F33D52}"/>
              </a:ext>
            </a:extLst>
          </p:cNvPr>
          <p:cNvSpPr txBox="1"/>
          <p:nvPr/>
        </p:nvSpPr>
        <p:spPr>
          <a:xfrm>
            <a:off x="256002" y="2336183"/>
            <a:ext cx="4078644" cy="2781210"/>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Groundness</a:t>
            </a:r>
          </a:p>
          <a:p>
            <a:pPr lvl="0">
              <a:buSzPts val="1400"/>
            </a:pPr>
            <a:r>
              <a:rPr lang="en-US" sz="900">
                <a:solidFill>
                  <a:schemeClr val="accent6">
                    <a:lumMod val="50000"/>
                  </a:schemeClr>
                </a:solidFill>
                <a:latin typeface="Montserrat"/>
                <a:ea typeface="Montserrat"/>
                <a:cs typeface="Montserrat"/>
                <a:sym typeface="Montserrat"/>
              </a:rPr>
              <a:t>Groundedness Score: 5/5</a:t>
            </a:r>
          </a:p>
          <a:p>
            <a:pPr lvl="0">
              <a:buSzPts val="1400"/>
            </a:pPr>
            <a:r>
              <a:rPr lang="en-US" sz="900">
                <a:solidFill>
                  <a:schemeClr val="accent6">
                    <a:lumMod val="50000"/>
                  </a:schemeClr>
                </a:solidFill>
                <a:latin typeface="Montserrat"/>
                <a:ea typeface="Montserrat"/>
                <a:cs typeface="Montserrat"/>
                <a:sym typeface="Montserrat"/>
              </a:rPr>
              <a:t>Verdict: Grounded</a:t>
            </a:r>
          </a:p>
          <a:p>
            <a:pPr lvl="0">
              <a:buSzPts val="1400"/>
            </a:pPr>
            <a:r>
              <a:rPr lang="en-US" sz="900">
                <a:solidFill>
                  <a:schemeClr val="accent6">
                    <a:lumMod val="50000"/>
                  </a:schemeClr>
                </a:solidFill>
                <a:latin typeface="Montserrat"/>
                <a:ea typeface="Montserrat"/>
                <a:cs typeface="Montserrat"/>
                <a:sym typeface="Montserrat"/>
              </a:rPr>
              <a:t>Unsupported Claims: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answer directly references the context and accurately summarizes the information provided in the context regarding the diagnosis, immediate actions, diagnostics, treatment, and warnings for a person with a traumatic brain injury (TBI). The answer does not include any unsupported medical claims or assumptions.</a:t>
            </a: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p:txBody>
      </p:sp>
      <p:sp>
        <p:nvSpPr>
          <p:cNvPr id="3" name="Google Shape;252;p52">
            <a:extLst>
              <a:ext uri="{FF2B5EF4-FFF2-40B4-BE49-F238E27FC236}">
                <a16:creationId xmlns:a16="http://schemas.microsoft.com/office/drawing/2014/main" id="{5F2B436F-6EF3-CCB3-B408-066E1DE081B5}"/>
              </a:ext>
            </a:extLst>
          </p:cNvPr>
          <p:cNvSpPr txBox="1"/>
          <p:nvPr/>
        </p:nvSpPr>
        <p:spPr>
          <a:xfrm>
            <a:off x="4377287" y="2336183"/>
            <a:ext cx="4078644" cy="2781210"/>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Relevance</a:t>
            </a:r>
          </a:p>
          <a:p>
            <a:pPr lvl="0">
              <a:buSzPts val="1400"/>
            </a:pPr>
            <a:r>
              <a:rPr lang="en-US" sz="900">
                <a:solidFill>
                  <a:schemeClr val="accent6">
                    <a:lumMod val="50000"/>
                  </a:schemeClr>
                </a:solidFill>
                <a:latin typeface="Montserrat"/>
                <a:ea typeface="Montserrat"/>
                <a:cs typeface="Montserrat"/>
                <a:sym typeface="Montserrat"/>
              </a:rPr>
              <a:t>Relevance Score: 5/5</a:t>
            </a:r>
          </a:p>
          <a:p>
            <a:pPr lvl="0">
              <a:buSzPts val="1400"/>
            </a:pPr>
            <a:r>
              <a:rPr lang="en-US" sz="900">
                <a:solidFill>
                  <a:schemeClr val="accent6">
                    <a:lumMod val="50000"/>
                  </a:schemeClr>
                </a:solidFill>
                <a:latin typeface="Montserrat"/>
                <a:ea typeface="Montserrat"/>
                <a:cs typeface="Montserrat"/>
                <a:sym typeface="Montserrat"/>
              </a:rPr>
              <a:t>Verdict: Highly Relevant</a:t>
            </a:r>
          </a:p>
          <a:p>
            <a:pPr lvl="0">
              <a:buSzPts val="1400"/>
            </a:pPr>
            <a:r>
              <a:rPr lang="en-US" sz="900">
                <a:solidFill>
                  <a:schemeClr val="accent6">
                    <a:lumMod val="50000"/>
                  </a:schemeClr>
                </a:solidFill>
                <a:latin typeface="Montserrat"/>
                <a:ea typeface="Montserrat"/>
                <a:cs typeface="Montserrat"/>
                <a:sym typeface="Montserrat"/>
              </a:rPr>
              <a:t>Missing or Weak Areas: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generated answer directly addresses the user's question by discussing the assessment, immediate actions, diagnostics, treatments, warnings, and escalation needs for a person with a physical injury to brain tissue resulting in temporary or permanent impairment of brain function (traumatic brain injury). The answer covers the symptoms mentioned in the question, such as seizures, motor impairments, gait and balance disturbances, ataxia, sensory losses, and persistent vegetative state. It also mentions the importance of rehabilitation for patients with neurologic deficits. The answer is based on the context provided, which is a detailed description of traumatic brain injury from The Merck Manual of Diagnosis &amp; Therapy.</a:t>
            </a:r>
          </a:p>
          <a:p>
            <a:pPr lvl="0">
              <a:buSzPts val="1400"/>
            </a:pPr>
            <a:endParaRPr lang="en-US" sz="900"/>
          </a:p>
        </p:txBody>
      </p:sp>
    </p:spTree>
    <p:extLst>
      <p:ext uri="{BB962C8B-B14F-4D97-AF65-F5344CB8AC3E}">
        <p14:creationId xmlns:p14="http://schemas.microsoft.com/office/powerpoint/2010/main" val="3188607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DA8D20F-FB5E-55D1-9FE5-595A3E6A1418}"/>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EEE21EA1-21B4-A75A-32B2-EE0D5AA4FFB5}"/>
              </a:ext>
            </a:extLst>
          </p:cNvPr>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pPr lvl="0"/>
            <a:r>
              <a:rPr lang="en" sz="2400">
                <a:solidFill>
                  <a:srgbClr val="0E39A9"/>
                </a:solidFill>
              </a:rPr>
              <a:t>Output Evaluation</a:t>
            </a:r>
            <a:endParaRPr sz="2400">
              <a:solidFill>
                <a:srgbClr val="0E39A9"/>
              </a:solidFill>
            </a:endParaRPr>
          </a:p>
        </p:txBody>
      </p:sp>
      <p:sp>
        <p:nvSpPr>
          <p:cNvPr id="252" name="Google Shape;252;p52">
            <a:extLst>
              <a:ext uri="{FF2B5EF4-FFF2-40B4-BE49-F238E27FC236}">
                <a16:creationId xmlns:a16="http://schemas.microsoft.com/office/drawing/2014/main" id="{04AF4134-8256-E9C9-0849-0E0DA81D3C4A}"/>
              </a:ext>
            </a:extLst>
          </p:cNvPr>
          <p:cNvSpPr txBox="1"/>
          <p:nvPr/>
        </p:nvSpPr>
        <p:spPr>
          <a:xfrm>
            <a:off x="202551" y="1336401"/>
            <a:ext cx="8199929" cy="839003"/>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b="1">
                <a:solidFill>
                  <a:schemeClr val="accent6">
                    <a:lumMod val="50000"/>
                  </a:schemeClr>
                </a:solidFill>
                <a:latin typeface="Montserrat"/>
                <a:ea typeface="Montserrat"/>
                <a:cs typeface="Montserrat"/>
                <a:sym typeface="Montserrat"/>
              </a:rPr>
              <a:t>Questions</a:t>
            </a:r>
          </a:p>
          <a:p>
            <a:pPr marL="342900" indent="-342900">
              <a:buFont typeface="Arial" panose="020B0604020202020204" pitchFamily="34" charset="0"/>
              <a:buChar char="•"/>
            </a:pPr>
            <a:r>
              <a:rPr lang="en-US"/>
              <a:t>What are the necessary precautions and treatment steps for a person who has fractured their leg during a hiking trip, and what should be considered for their care and recovery?</a:t>
            </a:r>
            <a:endParaRPr>
              <a:latin typeface="Montserrat"/>
              <a:ea typeface="Montserrat"/>
              <a:cs typeface="Montserrat"/>
              <a:sym typeface="Montserrat"/>
            </a:endParaRPr>
          </a:p>
        </p:txBody>
      </p:sp>
      <p:sp>
        <p:nvSpPr>
          <p:cNvPr id="2" name="Google Shape;252;p52">
            <a:extLst>
              <a:ext uri="{FF2B5EF4-FFF2-40B4-BE49-F238E27FC236}">
                <a16:creationId xmlns:a16="http://schemas.microsoft.com/office/drawing/2014/main" id="{F6256089-8859-1F3D-ECDD-EB51942114BF}"/>
              </a:ext>
            </a:extLst>
          </p:cNvPr>
          <p:cNvSpPr txBox="1"/>
          <p:nvPr/>
        </p:nvSpPr>
        <p:spPr>
          <a:xfrm>
            <a:off x="202550" y="2223342"/>
            <a:ext cx="4078644" cy="2656909"/>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Groundness</a:t>
            </a:r>
          </a:p>
          <a:p>
            <a:pPr lvl="0">
              <a:buSzPts val="1400"/>
            </a:pPr>
            <a:r>
              <a:rPr lang="en-US" sz="900">
                <a:solidFill>
                  <a:schemeClr val="accent6">
                    <a:lumMod val="50000"/>
                  </a:schemeClr>
                </a:solidFill>
                <a:latin typeface="Montserrat"/>
                <a:ea typeface="Montserrat"/>
                <a:cs typeface="Montserrat"/>
                <a:sym typeface="Montserrat"/>
              </a:rPr>
              <a:t>Groundedness Score: 5/5</a:t>
            </a:r>
          </a:p>
          <a:p>
            <a:pPr lvl="0">
              <a:buSzPts val="1400"/>
            </a:pPr>
            <a:r>
              <a:rPr lang="en-US" sz="900">
                <a:solidFill>
                  <a:schemeClr val="accent6">
                    <a:lumMod val="50000"/>
                  </a:schemeClr>
                </a:solidFill>
                <a:latin typeface="Montserrat"/>
                <a:ea typeface="Montserrat"/>
                <a:cs typeface="Montserrat"/>
                <a:sym typeface="Montserrat"/>
              </a:rPr>
              <a:t>Verdict: Grounded</a:t>
            </a:r>
          </a:p>
          <a:p>
            <a:pPr lvl="0">
              <a:buSzPts val="1400"/>
            </a:pPr>
            <a:r>
              <a:rPr lang="en-US" sz="900">
                <a:solidFill>
                  <a:schemeClr val="accent6">
                    <a:lumMod val="50000"/>
                  </a:schemeClr>
                </a:solidFill>
                <a:latin typeface="Montserrat"/>
                <a:ea typeface="Montserrat"/>
                <a:cs typeface="Montserrat"/>
                <a:sym typeface="Montserrat"/>
              </a:rPr>
              <a:t>Unsupported Claims: None</a:t>
            </a:r>
          </a:p>
          <a:p>
            <a:pPr lvl="0">
              <a:buSzPts val="1400"/>
            </a:pPr>
            <a:r>
              <a:rPr lang="en-US" sz="900">
                <a:solidFill>
                  <a:schemeClr val="accent6">
                    <a:lumMod val="50000"/>
                  </a:schemeClr>
                </a:solidFill>
                <a:latin typeface="Montserrat"/>
                <a:ea typeface="Montserrat"/>
                <a:cs typeface="Montserrat"/>
                <a:sym typeface="Montserrat"/>
              </a:rPr>
              <a:t>Explanation: The answer directly references the context, providing recommendations based on the information provided regarding leg fractures, including assessment, immediate actions, diagnostics, treatment, and warnings. All claims are fully supported by the context.</a:t>
            </a: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sz="900">
              <a:solidFill>
                <a:schemeClr val="accent6">
                  <a:lumMod val="50000"/>
                </a:schemeClr>
              </a:solidFill>
              <a:latin typeface="Montserrat"/>
              <a:sym typeface="Montserrat"/>
            </a:endParaRPr>
          </a:p>
          <a:p>
            <a:pPr lvl="0">
              <a:buSzPts val="1400"/>
            </a:pPr>
            <a:endParaRPr lang="en-US"/>
          </a:p>
          <a:p>
            <a:pPr lvl="0">
              <a:buSzPts val="1400"/>
            </a:pPr>
            <a:endParaRPr lang="en-US"/>
          </a:p>
        </p:txBody>
      </p:sp>
      <p:sp>
        <p:nvSpPr>
          <p:cNvPr id="3" name="Google Shape;252;p52">
            <a:extLst>
              <a:ext uri="{FF2B5EF4-FFF2-40B4-BE49-F238E27FC236}">
                <a16:creationId xmlns:a16="http://schemas.microsoft.com/office/drawing/2014/main" id="{9B5A74AB-07D4-6E65-329C-B6B9B46F99D7}"/>
              </a:ext>
            </a:extLst>
          </p:cNvPr>
          <p:cNvSpPr txBox="1"/>
          <p:nvPr/>
        </p:nvSpPr>
        <p:spPr>
          <a:xfrm>
            <a:off x="4323835" y="2223342"/>
            <a:ext cx="4078644" cy="2641371"/>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a:buSzPts val="1400"/>
            </a:pPr>
            <a:r>
              <a:rPr lang="en" b="1">
                <a:solidFill>
                  <a:schemeClr val="accent6">
                    <a:lumMod val="50000"/>
                  </a:schemeClr>
                </a:solidFill>
                <a:latin typeface="Montserrat"/>
                <a:ea typeface="Montserrat"/>
                <a:cs typeface="Montserrat"/>
                <a:sym typeface="Montserrat"/>
              </a:rPr>
              <a:t>Relevance</a:t>
            </a:r>
          </a:p>
          <a:p>
            <a:pPr lvl="0">
              <a:buSzPts val="1400"/>
            </a:pPr>
            <a:r>
              <a:rPr lang="en-US" sz="900">
                <a:solidFill>
                  <a:schemeClr val="accent6">
                    <a:lumMod val="50000"/>
                  </a:schemeClr>
                </a:solidFill>
                <a:latin typeface="Montserrat"/>
                <a:ea typeface="Montserrat"/>
                <a:cs typeface="Montserrat"/>
                <a:sym typeface="Montserrat"/>
              </a:rPr>
              <a:t>Relevance Score: 5/5</a:t>
            </a:r>
          </a:p>
          <a:p>
            <a:pPr lvl="0">
              <a:buSzPts val="1400"/>
            </a:pPr>
            <a:r>
              <a:rPr lang="en-US" sz="900">
                <a:solidFill>
                  <a:schemeClr val="accent6">
                    <a:lumMod val="50000"/>
                  </a:schemeClr>
                </a:solidFill>
                <a:latin typeface="Montserrat"/>
                <a:ea typeface="Montserrat"/>
                <a:cs typeface="Montserrat"/>
                <a:sym typeface="Montserrat"/>
              </a:rPr>
              <a:t>Verdict: Highly Relevant</a:t>
            </a:r>
          </a:p>
          <a:p>
            <a:pPr lvl="0">
              <a:buSzPts val="1400"/>
            </a:pPr>
            <a:r>
              <a:rPr lang="en-US" sz="900">
                <a:solidFill>
                  <a:schemeClr val="accent6">
                    <a:lumMod val="50000"/>
                  </a:schemeClr>
                </a:solidFill>
                <a:latin typeface="Montserrat"/>
                <a:ea typeface="Montserrat"/>
                <a:cs typeface="Montserrat"/>
                <a:sym typeface="Montserrat"/>
              </a:rPr>
              <a:t>Missing or Weak Areas:</a:t>
            </a:r>
          </a:p>
          <a:p>
            <a:pPr lvl="0">
              <a:buSzPts val="1400"/>
            </a:pPr>
            <a:r>
              <a:rPr lang="en-US" sz="900">
                <a:solidFill>
                  <a:schemeClr val="accent6">
                    <a:lumMod val="50000"/>
                  </a:schemeClr>
                </a:solidFill>
                <a:latin typeface="Montserrat"/>
                <a:ea typeface="Montserrat"/>
                <a:cs typeface="Montserrat"/>
                <a:sym typeface="Montserrat"/>
              </a:rPr>
              <a:t>- None</a:t>
            </a:r>
          </a:p>
          <a:p>
            <a:pPr lvl="0">
              <a:buSzPts val="1400"/>
            </a:pPr>
            <a:r>
              <a:rPr lang="en-US" sz="900">
                <a:solidFill>
                  <a:schemeClr val="accent6">
                    <a:lumMod val="50000"/>
                  </a:schemeClr>
                </a:solidFill>
                <a:latin typeface="Montserrat"/>
                <a:ea typeface="Montserrat"/>
                <a:cs typeface="Montserrat"/>
                <a:sym typeface="Montserrat"/>
              </a:rPr>
              <a:t>Explanation:</a:t>
            </a:r>
          </a:p>
          <a:p>
            <a:pPr lvl="0">
              <a:buSzPts val="1400"/>
            </a:pPr>
            <a:r>
              <a:rPr lang="en-US" sz="900">
                <a:solidFill>
                  <a:schemeClr val="accent6">
                    <a:lumMod val="50000"/>
                  </a:schemeClr>
                </a:solidFill>
                <a:latin typeface="Montserrat"/>
                <a:ea typeface="Montserrat"/>
                <a:cs typeface="Montserrat"/>
                <a:sym typeface="Montserrat"/>
              </a:rPr>
              <a:t>The generated answer directly addresses the user's question by discussing necessary precautions and treatment steps for a person who has fractured their leg. It covers both immediate actions, such as immobilizing the affected limb and ensuring safety during transportation, as well as long-term care and recovery considerations, including diagnostics, treatment methods, and warnings for escalation needs. The answer is based on information from the context provided and does not stray off-topic or provide generic advice.</a:t>
            </a:r>
          </a:p>
          <a:p>
            <a:pPr lvl="0">
              <a:buSzPts val="1400"/>
            </a:pPr>
            <a:endParaRPr lang="en-US" sz="900"/>
          </a:p>
          <a:p>
            <a:pPr lvl="0">
              <a:buSzPts val="1400"/>
            </a:pPr>
            <a:endParaRPr lang="en-US" sz="900"/>
          </a:p>
        </p:txBody>
      </p:sp>
    </p:spTree>
    <p:extLst>
      <p:ext uri="{BB962C8B-B14F-4D97-AF65-F5344CB8AC3E}">
        <p14:creationId xmlns:p14="http://schemas.microsoft.com/office/powerpoint/2010/main" val="2743782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2" name="Google Shape;289;p55">
            <a:extLst>
              <a:ext uri="{FF2B5EF4-FFF2-40B4-BE49-F238E27FC236}">
                <a16:creationId xmlns:a16="http://schemas.microsoft.com/office/drawing/2014/main" id="{4090453F-558E-FFA1-C3D6-B0913A0BE92A}"/>
              </a:ext>
            </a:extLst>
          </p:cNvPr>
          <p:cNvSpPr txBox="1">
            <a:spLocks/>
          </p:cNvSpPr>
          <p:nvPr/>
        </p:nvSpPr>
        <p:spPr>
          <a:xfrm>
            <a:off x="132818" y="97203"/>
            <a:ext cx="8520600" cy="11233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a:solidFill>
                  <a:srgbClr val="0E39A9"/>
                </a:solidFill>
              </a:rPr>
              <a:t>Output Evaluation</a:t>
            </a:r>
            <a:br>
              <a:rPr lang="en-US" sz="2400">
                <a:solidFill>
                  <a:srgbClr val="0E39A9"/>
                </a:solidFill>
              </a:rPr>
            </a:br>
            <a:r>
              <a:rPr lang="en-US" sz="2400">
                <a:solidFill>
                  <a:srgbClr val="0E39A9"/>
                </a:solidFill>
              </a:rPr>
              <a:t>Parameters and Comments</a:t>
            </a:r>
          </a:p>
        </p:txBody>
      </p:sp>
      <p:sp>
        <p:nvSpPr>
          <p:cNvPr id="3" name="TextBox 2">
            <a:extLst>
              <a:ext uri="{FF2B5EF4-FFF2-40B4-BE49-F238E27FC236}">
                <a16:creationId xmlns:a16="http://schemas.microsoft.com/office/drawing/2014/main" id="{73DB78B5-247F-BF29-FAE2-58028097B226}"/>
              </a:ext>
            </a:extLst>
          </p:cNvPr>
          <p:cNvSpPr txBox="1"/>
          <p:nvPr/>
        </p:nvSpPr>
        <p:spPr>
          <a:xfrm>
            <a:off x="172237" y="1212545"/>
            <a:ext cx="4267200" cy="2123658"/>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solidFill>
                  <a:schemeClr val="accent6">
                    <a:lumMod val="50000"/>
                  </a:schemeClr>
                </a:solidFill>
              </a:rPr>
              <a:t>Groundedness</a:t>
            </a:r>
            <a:br>
              <a:rPr lang="en-US" sz="1200" b="1"/>
            </a:br>
            <a:r>
              <a:rPr lang="en-US" sz="800" b="1">
                <a:solidFill>
                  <a:schemeClr val="accent6">
                    <a:lumMod val="50000"/>
                  </a:schemeClr>
                </a:solidFill>
              </a:rPr>
              <a:t>Parameters:</a:t>
            </a:r>
          </a:p>
          <a:p>
            <a:r>
              <a:rPr lang="en-US" sz="800" b="1">
                <a:solidFill>
                  <a:schemeClr val="tx1"/>
                </a:solidFill>
              </a:rPr>
              <a:t>TOP_K=50</a:t>
            </a:r>
          </a:p>
          <a:p>
            <a:r>
              <a:rPr lang="en-US" sz="800" b="1">
                <a:solidFill>
                  <a:schemeClr val="tx1"/>
                </a:solidFill>
              </a:rPr>
              <a:t>Temperature=0</a:t>
            </a:r>
          </a:p>
          <a:p>
            <a:r>
              <a:rPr lang="en-US" sz="800" b="1">
                <a:solidFill>
                  <a:schemeClr val="tx1"/>
                </a:solidFill>
              </a:rPr>
              <a:t>TOP_P=.95</a:t>
            </a:r>
          </a:p>
          <a:p>
            <a:r>
              <a:rPr lang="en-US" sz="800" b="1">
                <a:solidFill>
                  <a:schemeClr val="tx1"/>
                </a:solidFill>
              </a:rPr>
              <a:t>Max Tokens = 128</a:t>
            </a:r>
          </a:p>
          <a:p>
            <a:endParaRPr lang="en-US" sz="800" b="1">
              <a:solidFill>
                <a:schemeClr val="accent6">
                  <a:lumMod val="50000"/>
                </a:schemeClr>
              </a:solidFill>
            </a:endParaRPr>
          </a:p>
          <a:p>
            <a:endParaRPr lang="en-US" sz="800" b="1">
              <a:solidFill>
                <a:schemeClr val="accent6">
                  <a:lumMod val="50000"/>
                </a:schemeClr>
              </a:solidFill>
            </a:endParaRPr>
          </a:p>
          <a:p>
            <a:endParaRPr lang="en-US" sz="800" b="1">
              <a:solidFill>
                <a:schemeClr val="accent6">
                  <a:lumMod val="50000"/>
                </a:schemeClr>
              </a:solidFill>
            </a:endParaRPr>
          </a:p>
          <a:p>
            <a:r>
              <a:rPr lang="en-US" sz="800" b="1">
                <a:solidFill>
                  <a:schemeClr val="accent6">
                    <a:lumMod val="50000"/>
                  </a:schemeClr>
                </a:solidFill>
              </a:rPr>
              <a:t>Comments</a:t>
            </a:r>
          </a:p>
          <a:p>
            <a:r>
              <a:rPr lang="en-US" sz="800" b="1">
                <a:solidFill>
                  <a:schemeClr val="accent6">
                    <a:lumMod val="50000"/>
                  </a:schemeClr>
                </a:solidFill>
              </a:rPr>
              <a:t>  </a:t>
            </a:r>
          </a:p>
          <a:p>
            <a:r>
              <a:rPr lang="en-US" sz="800"/>
              <a:t>For groundness I went back to Max Tokens 128 to constraint the output to just what I found relevant.</a:t>
            </a:r>
          </a:p>
          <a:p>
            <a:pPr lvl="0">
              <a:buSzPts val="1400"/>
            </a:pPr>
            <a:r>
              <a:rPr lang="en-US" sz="800">
                <a:solidFill>
                  <a:schemeClr val="accent6">
                    <a:lumMod val="50000"/>
                  </a:schemeClr>
                </a:solidFill>
              </a:rPr>
              <a:t>.</a:t>
            </a:r>
          </a:p>
          <a:p>
            <a:r>
              <a:rPr lang="en-US" sz="800"/>
              <a:t>.</a:t>
            </a:r>
          </a:p>
          <a:p>
            <a:endParaRPr lang="en-US" sz="800">
              <a:solidFill>
                <a:schemeClr val="accent6">
                  <a:lumMod val="50000"/>
                </a:schemeClr>
              </a:solidFill>
            </a:endParaRPr>
          </a:p>
        </p:txBody>
      </p:sp>
      <p:sp>
        <p:nvSpPr>
          <p:cNvPr id="4" name="TextBox 3">
            <a:extLst>
              <a:ext uri="{FF2B5EF4-FFF2-40B4-BE49-F238E27FC236}">
                <a16:creationId xmlns:a16="http://schemas.microsoft.com/office/drawing/2014/main" id="{898C2B9B-5540-BA37-CA3A-0D1FC034296B}"/>
              </a:ext>
            </a:extLst>
          </p:cNvPr>
          <p:cNvSpPr txBox="1"/>
          <p:nvPr/>
        </p:nvSpPr>
        <p:spPr>
          <a:xfrm>
            <a:off x="4439437" y="1212545"/>
            <a:ext cx="4294194" cy="2123658"/>
          </a:xfrm>
          <a:prstGeom prst="roundRect">
            <a:avLst>
              <a:gd name="adj" fmla="val 1119"/>
            </a:avLst>
          </a:prstGeom>
          <a:noFill/>
          <a:ln>
            <a:solidFill>
              <a:schemeClr val="accent1">
                <a:lumMod val="60000"/>
                <a:lumOff val="40000"/>
              </a:schemeClr>
            </a:solidFill>
          </a:ln>
        </p:spPr>
        <p:txBody>
          <a:bodyPr wrap="square" rtlCol="0">
            <a:spAutoFit/>
          </a:bodyPr>
          <a:lstStyle/>
          <a:p>
            <a:r>
              <a:rPr lang="en-US" sz="1200" b="1"/>
              <a:t>Relevance</a:t>
            </a:r>
          </a:p>
          <a:p>
            <a:r>
              <a:rPr lang="en-US" sz="800" b="1">
                <a:solidFill>
                  <a:schemeClr val="accent3">
                    <a:lumMod val="50000"/>
                  </a:schemeClr>
                </a:solidFill>
              </a:rPr>
              <a:t>Parameters: </a:t>
            </a:r>
          </a:p>
          <a:p>
            <a:r>
              <a:rPr lang="en-US" sz="800" b="1">
                <a:solidFill>
                  <a:schemeClr val="tx1"/>
                </a:solidFill>
              </a:rPr>
              <a:t>TOP_K = 50</a:t>
            </a:r>
          </a:p>
          <a:p>
            <a:r>
              <a:rPr lang="en-US" sz="800" b="1">
                <a:solidFill>
                  <a:schemeClr val="tx1"/>
                </a:solidFill>
              </a:rPr>
              <a:t>Temperature = 0</a:t>
            </a:r>
          </a:p>
          <a:p>
            <a:r>
              <a:rPr lang="en-US" sz="800" b="1">
                <a:solidFill>
                  <a:schemeClr val="tx1"/>
                </a:solidFill>
              </a:rPr>
              <a:t>TOP_P=.95</a:t>
            </a:r>
          </a:p>
          <a:p>
            <a:r>
              <a:rPr lang="en-US" sz="800" b="1">
                <a:solidFill>
                  <a:schemeClr val="tx1"/>
                </a:solidFill>
              </a:rPr>
              <a:t>Max Tokens = 128</a:t>
            </a: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a:p>
            <a:r>
              <a:rPr lang="en-US" sz="800" b="1">
                <a:solidFill>
                  <a:schemeClr val="accent3">
                    <a:lumMod val="50000"/>
                  </a:schemeClr>
                </a:solidFill>
              </a:rPr>
              <a:t>Comments</a:t>
            </a:r>
          </a:p>
          <a:p>
            <a:endParaRPr lang="en-US" sz="800" b="1">
              <a:solidFill>
                <a:schemeClr val="accent3">
                  <a:lumMod val="50000"/>
                </a:schemeClr>
              </a:solidFill>
            </a:endParaRPr>
          </a:p>
          <a:p>
            <a:r>
              <a:rPr lang="en-US" sz="800" b="1">
                <a:solidFill>
                  <a:schemeClr val="accent3">
                    <a:lumMod val="50000"/>
                  </a:schemeClr>
                </a:solidFill>
              </a:rPr>
              <a:t>For Relevance I also used Max Tokens 128 to constraint the output to just what I found about relent.  </a:t>
            </a:r>
          </a:p>
          <a:p>
            <a:endParaRPr lang="en-US" sz="800" b="1">
              <a:solidFill>
                <a:schemeClr val="accent3">
                  <a:lumMod val="50000"/>
                </a:schemeClr>
              </a:solidFill>
            </a:endParaRPr>
          </a:p>
          <a:p>
            <a:endParaRPr lang="en-US" sz="800" b="1">
              <a:solidFill>
                <a:schemeClr val="accent3">
                  <a:lumMod val="50000"/>
                </a:schemeClr>
              </a:solidFill>
            </a:endParaRPr>
          </a:p>
          <a:p>
            <a:endParaRPr lang="en-US" sz="800" b="1">
              <a:solidFill>
                <a:schemeClr val="accent3">
                  <a:lumMod val="50000"/>
                </a:schemeClr>
              </a:solidFill>
            </a:endParaRPr>
          </a:p>
        </p:txBody>
      </p:sp>
      <p:sp>
        <p:nvSpPr>
          <p:cNvPr id="5" name="Google Shape;252;p52">
            <a:extLst>
              <a:ext uri="{FF2B5EF4-FFF2-40B4-BE49-F238E27FC236}">
                <a16:creationId xmlns:a16="http://schemas.microsoft.com/office/drawing/2014/main" id="{59FD1810-88E1-0FFE-5E78-8DE1A8E8BFD9}"/>
              </a:ext>
            </a:extLst>
          </p:cNvPr>
          <p:cNvSpPr txBox="1"/>
          <p:nvPr/>
        </p:nvSpPr>
        <p:spPr>
          <a:xfrm>
            <a:off x="173367" y="3365967"/>
            <a:ext cx="8560264" cy="2361693"/>
          </a:xfrm>
          <a:prstGeom prst="roundRect">
            <a:avLst>
              <a:gd name="adj" fmla="val 1850"/>
            </a:avLst>
          </a:prstGeom>
          <a:noFill/>
          <a:ln>
            <a:solidFill>
              <a:schemeClr val="accent1">
                <a:lumMod val="60000"/>
                <a:lumOff val="40000"/>
              </a:schemeClr>
            </a:solidFill>
          </a:ln>
        </p:spPr>
        <p:txBody>
          <a:bodyPr spcFirstLastPara="1" wrap="square" lIns="91425" tIns="91425" rIns="91425" bIns="91425" anchor="t" anchorCtr="0">
            <a:spAutoFit/>
          </a:bodyPr>
          <a:lstStyle/>
          <a:p>
            <a:pPr lvl="0">
              <a:buSzPts val="1400"/>
            </a:pPr>
            <a:r>
              <a:rPr lang="en" sz="1000" b="1">
                <a:solidFill>
                  <a:schemeClr val="accent6">
                    <a:lumMod val="50000"/>
                  </a:schemeClr>
                </a:solidFill>
                <a:latin typeface="Montserrat"/>
                <a:ea typeface="Montserrat"/>
                <a:cs typeface="Montserrat"/>
                <a:sym typeface="Montserrat"/>
              </a:rPr>
              <a:t>General Comments</a:t>
            </a:r>
          </a:p>
          <a:p>
            <a:pPr lvl="0">
              <a:buSzPts val="1400"/>
            </a:pPr>
            <a:r>
              <a:rPr lang="en-US" sz="1000">
                <a:solidFill>
                  <a:schemeClr val="tx1"/>
                </a:solidFill>
                <a:latin typeface="Montserrat"/>
                <a:ea typeface="Montserrat"/>
                <a:cs typeface="Montserrat"/>
                <a:sym typeface="Montserrat"/>
              </a:rPr>
              <a:t>General Comments / Verdict</a:t>
            </a:r>
          </a:p>
          <a:p>
            <a:pPr lvl="0">
              <a:buSzPts val="1400"/>
            </a:pPr>
            <a:endParaRPr lang="en-US" sz="1000">
              <a:solidFill>
                <a:schemeClr val="tx1"/>
              </a:solidFill>
              <a:latin typeface="Montserrat"/>
              <a:ea typeface="Montserrat"/>
              <a:cs typeface="Montserrat"/>
              <a:sym typeface="Montserrat"/>
            </a:endParaRPr>
          </a:p>
          <a:p>
            <a:pPr lvl="0">
              <a:buSzPts val="1400"/>
            </a:pPr>
            <a:r>
              <a:rPr lang="en-US" sz="1000">
                <a:solidFill>
                  <a:schemeClr val="tx1"/>
                </a:solidFill>
                <a:latin typeface="Montserrat"/>
                <a:ea typeface="Montserrat"/>
                <a:cs typeface="Montserrat"/>
                <a:sym typeface="Montserrat"/>
              </a:rPr>
              <a:t>  Temperature = 0 for evaluation is a deliberate design choice: unlike response generation, evaluation requires consistency,</a:t>
            </a:r>
          </a:p>
          <a:p>
            <a:pPr lvl="0">
              <a:buSzPts val="1400"/>
            </a:pPr>
            <a:r>
              <a:rPr lang="en-US" sz="1000">
                <a:solidFill>
                  <a:schemeClr val="tx1"/>
                </a:solidFill>
                <a:latin typeface="Montserrat"/>
                <a:ea typeface="Montserrat"/>
                <a:cs typeface="Montserrat"/>
                <a:sym typeface="Montserrat"/>
              </a:rPr>
              <a:t>  not creativity. The LLM-as-Judge approach with strict medical prompt engineering proved highly effective.</a:t>
            </a:r>
          </a:p>
          <a:p>
            <a:pPr lvl="0">
              <a:buSzPts val="1400"/>
            </a:pPr>
            <a:endParaRPr lang="en-US" sz="1000">
              <a:solidFill>
                <a:schemeClr val="tx1"/>
              </a:solidFill>
              <a:latin typeface="Montserrat"/>
              <a:ea typeface="Montserrat"/>
              <a:cs typeface="Montserrat"/>
              <a:sym typeface="Montserrat"/>
            </a:endParaRPr>
          </a:p>
          <a:p>
            <a:pPr lvl="0">
              <a:buSzPts val="1400"/>
            </a:pPr>
            <a:r>
              <a:rPr lang="en-US" sz="1000">
                <a:solidFill>
                  <a:schemeClr val="tx1"/>
                </a:solidFill>
                <a:latin typeface="Montserrat"/>
                <a:ea typeface="Montserrat"/>
                <a:cs typeface="Montserrat"/>
                <a:sym typeface="Montserrat"/>
              </a:rPr>
              <a:t>  Important caveat: A Groundedness Score of 5/5 means the answer is fully supported by the retrieved context — not that the</a:t>
            </a:r>
          </a:p>
          <a:p>
            <a:pPr lvl="0">
              <a:buSzPts val="1400"/>
            </a:pPr>
            <a:r>
              <a:rPr lang="en-US" sz="1000">
                <a:solidFill>
                  <a:schemeClr val="tx1"/>
                </a:solidFill>
                <a:latin typeface="Montserrat"/>
                <a:ea typeface="Montserrat"/>
                <a:cs typeface="Montserrat"/>
                <a:sym typeface="Montserrat"/>
              </a:rPr>
              <a:t>  answer is clinically correct in absolute terms. The ceiling on RAG quality is therefore bounded by the coverage and accuracy</a:t>
            </a:r>
          </a:p>
          <a:p>
            <a:pPr lvl="0">
              <a:buSzPts val="1400"/>
            </a:pPr>
            <a:r>
              <a:rPr lang="en-US" sz="1000">
                <a:solidFill>
                  <a:schemeClr val="tx1"/>
                </a:solidFill>
                <a:latin typeface="Montserrat"/>
                <a:ea typeface="Montserrat"/>
                <a:cs typeface="Montserrat"/>
                <a:sym typeface="Montserrat"/>
              </a:rPr>
              <a:t>   of the source corpus (The Merck Manual). If a relevant topic is absent or poorly covered in the knowledge base, the system</a:t>
            </a:r>
          </a:p>
          <a:p>
            <a:pPr lvl="0">
              <a:buSzPts val="1400"/>
            </a:pPr>
            <a:r>
              <a:rPr lang="en-US" sz="1000">
                <a:solidFill>
                  <a:schemeClr val="tx1"/>
                </a:solidFill>
                <a:latin typeface="Montserrat"/>
                <a:ea typeface="Montserrat"/>
                <a:cs typeface="Montserrat"/>
                <a:sym typeface="Montserrat"/>
              </a:rPr>
              <a:t>  will score well on groundedness while still giving an incomplete answer to a clinician.</a:t>
            </a:r>
          </a:p>
          <a:p>
            <a:pPr lvl="0">
              <a:buSzPts val="1400"/>
            </a:pPr>
            <a:endParaRPr lang="en-US" sz="1000">
              <a:solidFill>
                <a:schemeClr val="tx1"/>
              </a:solidFill>
              <a:latin typeface="Montserrat"/>
              <a:ea typeface="Montserrat"/>
              <a:cs typeface="Montserrat"/>
              <a:sym typeface="Montserrat"/>
            </a:endParaRPr>
          </a:p>
          <a:p>
            <a:pPr lvl="0">
              <a:buSzPts val="1400"/>
            </a:pPr>
            <a:r>
              <a:rPr lang="en-US" sz="1000">
                <a:solidFill>
                  <a:schemeClr val="tx1"/>
                </a:solidFill>
                <a:latin typeface="Montserrat"/>
                <a:ea typeface="Montserrat"/>
                <a:cs typeface="Montserrat"/>
                <a:sym typeface="Montserrat"/>
              </a:rPr>
              <a:t>  Verdict: The evaluation confirms the RAG system meets both factual traceability (groundedness) and clinical usefulness</a:t>
            </a:r>
          </a:p>
          <a:p>
            <a:pPr lvl="0">
              <a:buSzPts val="1400"/>
            </a:pPr>
            <a:r>
              <a:rPr lang="en-US" sz="1000">
                <a:solidFill>
                  <a:schemeClr val="tx1"/>
                </a:solidFill>
                <a:latin typeface="Montserrat"/>
                <a:ea typeface="Montserrat"/>
                <a:cs typeface="Montserrat"/>
                <a:sym typeface="Montserrat"/>
              </a:rPr>
              <a:t>  (relevance) standards for all tested queries. The LLM-as-Judge methodology is a scalable, low-cost approach to quality</a:t>
            </a:r>
          </a:p>
          <a:p>
            <a:pPr lvl="0">
              <a:buSzPts val="1400"/>
            </a:pPr>
            <a:r>
              <a:rPr lang="en-US" sz="1000">
                <a:solidFill>
                  <a:schemeClr val="tx1"/>
                </a:solidFill>
                <a:latin typeface="Montserrat"/>
                <a:ea typeface="Montserrat"/>
                <a:cs typeface="Montserrat"/>
                <a:sym typeface="Montserrat"/>
              </a:rPr>
              <a:t>  assurance in medical AI, suitable as a first-pass filter before human expert review.</a:t>
            </a:r>
            <a:endParaRPr lang="en" sz="1000">
              <a:solidFill>
                <a:schemeClr val="tx1"/>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7"/>
          <p:cNvSpPr/>
          <p:nvPr/>
        </p:nvSpPr>
        <p:spPr>
          <a:xfrm>
            <a:off x="0" y="4071600"/>
            <a:ext cx="9162600" cy="78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buSzPts val="1400"/>
            </a:pPr>
            <a:endParaRPr/>
          </a:p>
        </p:txBody>
      </p:sp>
      <p:sp>
        <p:nvSpPr>
          <p:cNvPr id="322" name="Google Shape;322;p57"/>
          <p:cNvSpPr txBox="1"/>
          <p:nvPr/>
        </p:nvSpPr>
        <p:spPr>
          <a:xfrm>
            <a:off x="32525" y="4155225"/>
            <a:ext cx="4418700" cy="615600"/>
          </a:xfrm>
          <a:prstGeom prst="rect">
            <a:avLst/>
          </a:prstGeom>
          <a:noFill/>
          <a:ln>
            <a:noFill/>
          </a:ln>
        </p:spPr>
        <p:txBody>
          <a:bodyPr spcFirstLastPara="1" wrap="square" lIns="91425" tIns="91425" rIns="91425" bIns="91425" anchor="t" anchorCtr="0">
            <a:spAutoFit/>
          </a:bodyPr>
          <a:lstStyle/>
          <a:p>
            <a:pPr>
              <a:buSzPts val="2800"/>
            </a:pPr>
            <a:r>
              <a:rPr lang="en" sz="2800" b="1">
                <a:solidFill>
                  <a:schemeClr val="lt1"/>
                </a:solidFill>
                <a:latin typeface="Nunito"/>
                <a:ea typeface="Nunito"/>
                <a:cs typeface="Nunito"/>
                <a:sym typeface="Nunito"/>
              </a:rPr>
              <a:t>APPENDIX</a:t>
            </a:r>
            <a:endParaRPr sz="2800" b="1">
              <a:solidFill>
                <a:schemeClr val="lt1"/>
              </a:solidFill>
              <a:latin typeface="Nunito"/>
              <a:ea typeface="Nunito"/>
              <a:cs typeface="Nunito"/>
              <a:sym typeface="Nuni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8"/>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r>
              <a:rPr lang="en" sz="2400">
                <a:solidFill>
                  <a:srgbClr val="0E39A9"/>
                </a:solidFill>
              </a:rPr>
              <a:t>Data Background and Contents</a:t>
            </a:r>
            <a:endParaRPr sz="2400">
              <a:solidFill>
                <a:srgbClr val="0E39A9"/>
              </a:solidFill>
            </a:endParaRPr>
          </a:p>
        </p:txBody>
      </p:sp>
      <p:sp>
        <p:nvSpPr>
          <p:cNvPr id="328" name="Google Shape;328;p58"/>
          <p:cNvSpPr/>
          <p:nvPr/>
        </p:nvSpPr>
        <p:spPr>
          <a:xfrm>
            <a:off x="403421" y="19663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329" name="Google Shape;329;p58"/>
          <p:cNvSpPr txBox="1"/>
          <p:nvPr/>
        </p:nvSpPr>
        <p:spPr>
          <a:xfrm>
            <a:off x="691800" y="1857701"/>
            <a:ext cx="60330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Please mention the data background and contents</a:t>
            </a:r>
            <a:endParaRPr>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9"/>
          <p:cNvSpPr txBox="1">
            <a:spLocks noGrp="1"/>
          </p:cNvSpPr>
          <p:nvPr>
            <p:ph type="title"/>
          </p:nvPr>
        </p:nvSpPr>
        <p:spPr>
          <a:xfrm>
            <a:off x="202550" y="917929"/>
            <a:ext cx="8520600" cy="572700"/>
          </a:xfrm>
          <a:prstGeom prst="rect">
            <a:avLst/>
          </a:prstGeom>
          <a:noFill/>
          <a:ln>
            <a:noFill/>
          </a:ln>
        </p:spPr>
        <p:txBody>
          <a:bodyPr spcFirstLastPara="1" wrap="square" lIns="91425" tIns="91425" rIns="91425" bIns="91425" anchor="t" anchorCtr="0">
            <a:noAutofit/>
          </a:bodyPr>
          <a:lstStyle/>
          <a:p>
            <a:r>
              <a:rPr lang="en" sz="2400">
                <a:solidFill>
                  <a:schemeClr val="lt2"/>
                </a:solidFill>
              </a:rPr>
              <a:t>Slide header</a:t>
            </a:r>
            <a:endParaRPr>
              <a:solidFill>
                <a:srgbClr val="000000"/>
              </a:solidFill>
            </a:endParaRPr>
          </a:p>
        </p:txBody>
      </p:sp>
      <p:sp>
        <p:nvSpPr>
          <p:cNvPr id="335" name="Google Shape;335;p59"/>
          <p:cNvSpPr/>
          <p:nvPr/>
        </p:nvSpPr>
        <p:spPr>
          <a:xfrm>
            <a:off x="403421" y="19663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a:buSzPts val="1500"/>
            </a:pPr>
            <a:endParaRPr>
              <a:latin typeface="Nunito"/>
              <a:ea typeface="Nunito"/>
              <a:cs typeface="Nunito"/>
              <a:sym typeface="Nunito"/>
            </a:endParaRPr>
          </a:p>
        </p:txBody>
      </p:sp>
      <p:sp>
        <p:nvSpPr>
          <p:cNvPr id="336" name="Google Shape;336;p59"/>
          <p:cNvSpPr txBox="1"/>
          <p:nvPr/>
        </p:nvSpPr>
        <p:spPr>
          <a:xfrm>
            <a:off x="691800" y="1857701"/>
            <a:ext cx="6033000" cy="50780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
                <a:latin typeface="Montserrat"/>
                <a:ea typeface="Montserrat"/>
                <a:cs typeface="Montserrat"/>
                <a:sym typeface="Montserrat"/>
              </a:rPr>
              <a:t>Please add any other pointers (if needed)</a:t>
            </a:r>
            <a:endParaRPr>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60"/>
          <p:cNvSpPr txBox="1">
            <a:spLocks noGrp="1"/>
          </p:cNvSpPr>
          <p:nvPr>
            <p:ph type="title"/>
          </p:nvPr>
        </p:nvSpPr>
        <p:spPr>
          <a:xfrm>
            <a:off x="70129" y="7960519"/>
            <a:ext cx="15008700" cy="697800"/>
          </a:xfrm>
          <a:prstGeom prst="rect">
            <a:avLst/>
          </a:prstGeom>
          <a:noFill/>
          <a:ln>
            <a:noFill/>
          </a:ln>
        </p:spPr>
        <p:txBody>
          <a:bodyPr spcFirstLastPara="1" wrap="square" lIns="0" tIns="12850" rIns="0" bIns="0" anchor="t" anchorCtr="0">
            <a:noAutofit/>
          </a:bodyPr>
          <a:lstStyle/>
          <a:p>
            <a:endParaRPr/>
          </a:p>
        </p:txBody>
      </p:sp>
      <p:sp>
        <p:nvSpPr>
          <p:cNvPr id="344" name="Google Shape;344;p60"/>
          <p:cNvSpPr txBox="1">
            <a:spLocks noGrp="1"/>
          </p:cNvSpPr>
          <p:nvPr>
            <p:ph type="sldNum" idx="4294967295"/>
          </p:nvPr>
        </p:nvSpPr>
        <p:spPr>
          <a:xfrm>
            <a:off x="8556784" y="5378501"/>
            <a:ext cx="548700" cy="393600"/>
          </a:xfrm>
          <a:prstGeom prst="rect">
            <a:avLst/>
          </a:prstGeom>
          <a:noFill/>
          <a:ln>
            <a:noFill/>
          </a:ln>
        </p:spPr>
        <p:txBody>
          <a:bodyPr spcFirstLastPara="1" wrap="square" lIns="91425" tIns="91425" rIns="91425" bIns="91425" anchor="ctr" anchorCtr="0">
            <a:noAutofit/>
          </a:bodyPr>
          <a:lstStyle/>
          <a:p>
            <a:fld id="{00000000-1234-1234-1234-123412341234}" type="slidenum">
              <a:rPr lang="en"/>
              <a:pPr/>
              <a:t>38</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3047</TotalTime>
  <Words>11604</Words>
  <Application>Microsoft Office PowerPoint</Application>
  <PresentationFormat>Custom</PresentationFormat>
  <Paragraphs>758</Paragraphs>
  <Slides>38</Slides>
  <Notes>38</Notes>
  <HiddenSlides>1</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38</vt:i4>
      </vt:variant>
    </vt:vector>
  </HeadingPairs>
  <TitlesOfParts>
    <vt:vector size="49" baseType="lpstr">
      <vt:lpstr>Arial</vt:lpstr>
      <vt:lpstr>Aptos</vt:lpstr>
      <vt:lpstr>Century Gothic</vt:lpstr>
      <vt:lpstr>Nunito</vt:lpstr>
      <vt:lpstr>Nunito ExtraBold</vt:lpstr>
      <vt:lpstr>Calibri</vt:lpstr>
      <vt:lpstr>Nunito SemiBold</vt:lpstr>
      <vt:lpstr>Montserrat</vt:lpstr>
      <vt:lpstr>Simple Light</vt:lpstr>
      <vt:lpstr>Just Logo</vt:lpstr>
      <vt:lpstr>Just Logo</vt:lpstr>
      <vt:lpstr>PowerPoint Presentation</vt:lpstr>
      <vt:lpstr>Contents / Agenda</vt:lpstr>
      <vt:lpstr>Executive Summary</vt:lpstr>
      <vt:lpstr>Business Problem Overview and Solution Approach</vt:lpstr>
      <vt:lpstr>Business Problem Overview and Solution Approach</vt:lpstr>
      <vt:lpstr>Question Answering using LLM</vt:lpstr>
      <vt:lpstr>Question Answering using LLM</vt:lpstr>
      <vt:lpstr>Question Answering using LLM</vt:lpstr>
      <vt:lpstr>Question Answering using LLM</vt:lpstr>
      <vt:lpstr>Question Answering using LLM</vt:lpstr>
      <vt:lpstr>Question Answering using LLM</vt:lpstr>
      <vt:lpstr>PowerPoint Presentation</vt:lpstr>
      <vt:lpstr>PowerPoint Presentation</vt:lpstr>
      <vt:lpstr>Question Answering using LLM with Prompt Engineering</vt:lpstr>
      <vt:lpstr>Question Answering using LLM with Prompt Engineering</vt:lpstr>
      <vt:lpstr>Question Answering using LLM with Prompt Engineering</vt:lpstr>
      <vt:lpstr>Question Answering using LLM with Prompt Engineering</vt:lpstr>
      <vt:lpstr>Question Answering using LLM with Prompt Engineering</vt:lpstr>
      <vt:lpstr>Data Preparation for RAG</vt:lpstr>
      <vt:lpstr>Question Answering using RAG</vt:lpstr>
      <vt:lpstr>PowerPoint Presentation</vt:lpstr>
      <vt:lpstr>Question Answering using RAG</vt:lpstr>
      <vt:lpstr>Question Answering using RAG</vt:lpstr>
      <vt:lpstr>Question Answering using RAG</vt:lpstr>
      <vt:lpstr>Question Answering using RAG</vt:lpstr>
      <vt:lpstr>Question Answering using RAG</vt:lpstr>
      <vt:lpstr>Question Answering using RAG Parameters and Comments</vt:lpstr>
      <vt:lpstr>Output Evaluation</vt:lpstr>
      <vt:lpstr>PowerPoint Presentation</vt:lpstr>
      <vt:lpstr>Output Evaluation</vt:lpstr>
      <vt:lpstr>Output Evaluation</vt:lpstr>
      <vt:lpstr>Output Evaluation</vt:lpstr>
      <vt:lpstr>Output Evaluation</vt:lpstr>
      <vt:lpstr>PowerPoint Presentation</vt:lpstr>
      <vt:lpstr>PowerPoint Presentation</vt:lpstr>
      <vt:lpstr>Data Background and Contents</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Araujo</cp:lastModifiedBy>
  <cp:revision>19</cp:revision>
  <dcterms:modified xsi:type="dcterms:W3CDTF">2026-05-02T14:46:00Z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2026-04-27T04:24:06Z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d2d8a8d6-353b-4bbc-8cf1-b5097e5f59a4</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Simple Light:3\Just Logo:3\Just Logo:3</vt:lpwstr>
  </property>
  <property fmtid="{D5CDD505-2E9C-101B-9397-08002B2CF9AE}" pid="11" name="ClassificationContentMarkingHeaderText">
    <vt:lpwstr>NATO UNCLASSIFIED</vt:lpwstr>
  </property>
</Properties>
</file>