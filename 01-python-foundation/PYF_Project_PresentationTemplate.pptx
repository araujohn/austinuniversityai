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 id="2147483669" r:id="rId2"/>
  </p:sldMasterIdLst>
  <p:notesMasterIdLst>
    <p:notesMasterId r:id="rId32"/>
  </p:notesMasterIdLst>
  <p:sldIdLst>
    <p:sldId id="256" r:id="rId3"/>
    <p:sldId id="257" r:id="rId4"/>
    <p:sldId id="267" r:id="rId5"/>
    <p:sldId id="258" r:id="rId6"/>
    <p:sldId id="266" r:id="rId7"/>
    <p:sldId id="259" r:id="rId8"/>
    <p:sldId id="260" r:id="rId9"/>
    <p:sldId id="271" r:id="rId10"/>
    <p:sldId id="268" r:id="rId11"/>
    <p:sldId id="272" r:id="rId12"/>
    <p:sldId id="274" r:id="rId13"/>
    <p:sldId id="275" r:id="rId14"/>
    <p:sldId id="276" r:id="rId15"/>
    <p:sldId id="278" r:id="rId16"/>
    <p:sldId id="279" r:id="rId17"/>
    <p:sldId id="280" r:id="rId18"/>
    <p:sldId id="282" r:id="rId19"/>
    <p:sldId id="281" r:id="rId20"/>
    <p:sldId id="283" r:id="rId21"/>
    <p:sldId id="284" r:id="rId22"/>
    <p:sldId id="285" r:id="rId23"/>
    <p:sldId id="286" r:id="rId24"/>
    <p:sldId id="287" r:id="rId25"/>
    <p:sldId id="277" r:id="rId26"/>
    <p:sldId id="273" r:id="rId27"/>
    <p:sldId id="262" r:id="rId28"/>
    <p:sldId id="263" r:id="rId29"/>
    <p:sldId id="264" r:id="rId30"/>
    <p:sldId id="265" r:id="rId31"/>
  </p:sldIdLst>
  <p:sldSz cx="9144000" cy="5143500" type="screen16x9"/>
  <p:notesSz cx="6858000" cy="9144000"/>
  <p:embeddedFontLst>
    <p:embeddedFont>
      <p:font typeface="Aptos Narrow" panose="020B0004020202020204" pitchFamily="34" charset="0"/>
      <p:regular r:id="rId33"/>
      <p:bold r:id="rId34"/>
      <p:italic r:id="rId35"/>
      <p:boldItalic r:id="rId36"/>
    </p:embeddedFont>
    <p:embeddedFont>
      <p:font typeface="Nunito" pitchFamily="2" charset="0"/>
      <p:regular r:id="rId37"/>
      <p:bold r:id="rId38"/>
      <p:italic r:id="rId39"/>
      <p:boldItalic r:id="rId40"/>
    </p:embeddedFont>
    <p:embeddedFont>
      <p:font typeface="Nunito ExtraBold" pitchFamily="2" charset="0"/>
      <p:bold r:id="rId41"/>
      <p:boldItalic r:id="rId42"/>
    </p:embeddedFont>
    <p:embeddedFont>
      <p:font typeface="Nunito SemiBold"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782736A0-77D1-4656-9361-C53F3D9491BC}">
          <p14:sldIdLst>
            <p14:sldId id="256"/>
            <p14:sldId id="257"/>
            <p14:sldId id="267"/>
            <p14:sldId id="258"/>
            <p14:sldId id="266"/>
            <p14:sldId id="259"/>
            <p14:sldId id="260"/>
          </p14:sldIdLst>
        </p14:section>
        <p14:section name="Question 1 to 5" id="{6FF7CE2B-34F7-43D6-A7A5-E8BF3AD735C6}">
          <p14:sldIdLst>
            <p14:sldId id="271"/>
            <p14:sldId id="268"/>
            <p14:sldId id="272"/>
          </p14:sldIdLst>
        </p14:section>
        <p14:section name="Question 6 to 11" id="{81BB0B72-E89E-4F59-833E-A1CF2AAC9295}">
          <p14:sldIdLst>
            <p14:sldId id="274"/>
            <p14:sldId id="275"/>
            <p14:sldId id="276"/>
            <p14:sldId id="278"/>
            <p14:sldId id="279"/>
            <p14:sldId id="280"/>
            <p14:sldId id="282"/>
            <p14:sldId id="281"/>
            <p14:sldId id="283"/>
            <p14:sldId id="284"/>
            <p14:sldId id="285"/>
            <p14:sldId id="286"/>
            <p14:sldId id="287"/>
            <p14:sldId id="277"/>
            <p14:sldId id="273"/>
            <p14:sldId id="262"/>
            <p14:sldId id="263"/>
            <p14:sldId id="264"/>
            <p14:sldId id="265"/>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BA267F-57BB-4B82-9B38-EB87E1CD43B7}">
  <a:tblStyle styleId="{60BA267F-57BB-4B82-9B38-EB87E1CD43B7}"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00" d="100"/>
          <a:sy n="200" d="100"/>
        </p:scale>
        <p:origin x="60" y="-51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7.fntdata"/><Relationship Id="rId21" Type="http://schemas.openxmlformats.org/officeDocument/2006/relationships/slide" Target="slides/slide19.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4.fntdata"/><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1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8.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B62DA38-7A28-7869-8827-C621357577B7}"/>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415C507E-FF2F-2259-1458-3D8D3217BA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31758905-E1F0-A568-0665-201D0443FAD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99029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FBD2A0A-E662-9B83-4F94-C93BF35EE190}"/>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3B14AE0D-9FBE-4AFC-B3FE-F4B3DB16D0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8D9D1827-D47E-04E0-ECE0-CC1B3B5FDD3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64327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25500dede0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3EA75D3C-FF54-0994-4282-2BE8A504CB14}"/>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5265FC63-6CA6-E2EB-AA5A-4C4C933B2C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A7BCBEAD-6098-BD48-0433-EBFC1D383E4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64946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B85C6A42-D906-E939-AD6B-E8007A082A0B}"/>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8B08F377-3375-2D55-ED5A-674F1C7ED0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1BC1F208-B81E-2F71-F942-0AB8C491DA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88775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97789361-33FD-8E6B-67C6-E0746AB7C47E}"/>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5F3DC322-64FA-5EFD-B7F5-E42F2BB651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264201DB-03D6-3828-C2FE-88D00C22D50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163099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698ECE10-04C4-034E-0ED2-8680C6DF974B}"/>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45AF4570-9360-6B60-CC41-29056F7168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DA4A569F-58C0-0FD1-BDB4-05EDC5D96F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834329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9B067EBF-EEB6-D74F-B63E-F52D40BEC366}"/>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A38D509F-B6C6-BFEB-487F-2CC9A44060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8D9DC87E-1E75-3001-FEDC-3E9C7D5BD8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208248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C7D3E153-4B68-68F8-69DE-A2EBF7A31609}"/>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E2A3A790-E837-83BC-9AB5-6CE1055EDF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2B6711C5-441B-F714-22E9-E1BD66D19C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97532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593E600C-6D99-5D23-57E2-2C97CCE16B10}"/>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30460CEF-8140-1086-D97A-458D7429A2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7AFF2DAD-7EDF-8920-ACA8-68E2C6A4B8B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62303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723FBC69-F9CC-73C2-DD92-2D52E1647BCC}"/>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2107CF65-AEA8-1C4F-4376-AEE40C422E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BF8D4A4C-A0CD-83C7-B26B-70544853B25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3372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4181E761-569F-CA50-0661-59F804A48BAF}"/>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73F01CB3-9450-404D-9845-7B830A62A0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D7A126A0-670C-4E91-8AF1-56395BD656B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061907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3B7012C9-6028-737F-DD0E-FDC2F4F924E7}"/>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5E855843-451E-1483-90C2-FDF662C8C9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D65A1278-9A79-3D8D-BBA6-B1AD39130C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931885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1D080017-83FC-5628-AD0D-990D61E6407E}"/>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65C52410-FA4F-4249-B566-35CC4DA3E0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9064C0D5-6B66-D093-99C0-3855C3C30EC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041840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F4200B16-4F53-6438-D386-F1D21069C67D}"/>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03410053-22B5-5F74-1B5F-B121ADF294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70947B42-E38D-56F5-005D-02D7F621B4A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534302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CAE07A64-156F-F259-7AB2-1BFD73C1B717}"/>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B86BE272-EC83-A383-5DC6-DBB9DAD195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23022AD9-3DC5-46A4-DDEA-332C2BCA22A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25483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F331C50B-C81E-B67A-1524-077431681ECB}"/>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CDE03E5E-7C67-A207-5701-E6E8DEF534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AB3C2BEA-3FFB-B7EC-E5AD-4936F37A971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79378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E8403BEE-969E-D4AD-BCC1-5BF14B6598B2}"/>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04850393-7346-CA03-E80D-B490239922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7CC9C337-5072-AC21-018A-F6E5022FF7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797853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7F80D8C7-15F6-CBD6-76D4-A6C9CF03E3E1}"/>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694203A8-BF81-8475-06C7-9F7470DF7B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B886BBB6-747A-FDC9-8785-5B041712A9D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317560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32264DDF-1189-C8C9-CC4C-E2861821955D}"/>
            </a:ext>
          </a:extLst>
        </p:cNvPr>
        <p:cNvGrpSpPr/>
        <p:nvPr/>
      </p:nvGrpSpPr>
      <p:grpSpPr>
        <a:xfrm>
          <a:off x="0" y="0"/>
          <a:ext cx="0" cy="0"/>
          <a:chOff x="0" y="0"/>
          <a:chExt cx="0" cy="0"/>
        </a:xfrm>
      </p:grpSpPr>
      <p:sp>
        <p:nvSpPr>
          <p:cNvPr id="127" name="Google Shape;127;g125500dede0_0_9:notes">
            <a:extLst>
              <a:ext uri="{FF2B5EF4-FFF2-40B4-BE49-F238E27FC236}">
                <a16:creationId xmlns:a16="http://schemas.microsoft.com/office/drawing/2014/main" id="{A1E53555-E93C-FB69-1458-E57DE1ED4D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500dede0_0_9:notes">
            <a:extLst>
              <a:ext uri="{FF2B5EF4-FFF2-40B4-BE49-F238E27FC236}">
                <a16:creationId xmlns:a16="http://schemas.microsoft.com/office/drawing/2014/main" id="{BFA16929-3DD7-A894-82F5-41AE2A30534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637705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9F7196F6-DDE5-460D-6C21-76CC37C3AEDA}"/>
            </a:ext>
          </a:extLst>
        </p:cNvPr>
        <p:cNvGrpSpPr/>
        <p:nvPr/>
      </p:nvGrpSpPr>
      <p:grpSpPr>
        <a:xfrm>
          <a:off x="0" y="0"/>
          <a:ext cx="0" cy="0"/>
          <a:chOff x="0" y="0"/>
          <a:chExt cx="0" cy="0"/>
        </a:xfrm>
      </p:grpSpPr>
      <p:sp>
        <p:nvSpPr>
          <p:cNvPr id="133" name="Google Shape;133;g125500dede0_0_19:notes">
            <a:extLst>
              <a:ext uri="{FF2B5EF4-FFF2-40B4-BE49-F238E27FC236}">
                <a16:creationId xmlns:a16="http://schemas.microsoft.com/office/drawing/2014/main" id="{AD263902-885A-ADA8-906F-717B7C6FFD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125500dede0_0_19:notes">
            <a:extLst>
              <a:ext uri="{FF2B5EF4-FFF2-40B4-BE49-F238E27FC236}">
                <a16:creationId xmlns:a16="http://schemas.microsoft.com/office/drawing/2014/main" id="{31E26FB8-5731-A3B4-99D0-3DF2F3B14C9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01759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125500dede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125500dede0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29</a:t>
            </a:fld>
            <a:endParaRPr sz="1200" b="0" i="0" u="none" strike="noStrike" cap="none">
              <a:solidFill>
                <a:schemeClr val="dk1"/>
              </a:solidFill>
              <a:latin typeface="Calibri"/>
              <a:ea typeface="Calibri"/>
              <a:cs typeface="Calibri"/>
              <a:sym typeface="Calibri"/>
            </a:endParaRPr>
          </a:p>
        </p:txBody>
      </p:sp>
      <p:sp>
        <p:nvSpPr>
          <p:cNvPr id="159" name="Google Shape;159;p11: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6" name="Google Shape;16;p2"/>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 name="Google Shape;19;p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20" name="Google Shape;20;p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p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p5"/>
          <p:cNvGraphicFramePr/>
          <p:nvPr/>
        </p:nvGraphicFramePr>
        <p:xfrm>
          <a:off x="201942" y="833662"/>
          <a:ext cx="3000000" cy="3000000"/>
        </p:xfrm>
        <a:graphic>
          <a:graphicData uri="http://schemas.openxmlformats.org/drawingml/2006/table">
            <a:tbl>
              <a:tblPr firstRow="1" bandRow="1">
                <a:noFill/>
                <a:tableStyleId>{60BA267F-57BB-4B82-9B38-EB87E1CD43B7}</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p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p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p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p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p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p11"/>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p11" descr="A close up of a logo&#10;&#10;Description automatically generated"/>
          <p:cNvPicPr preferRelativeResize="0"/>
          <p:nvPr/>
        </p:nvPicPr>
        <p:blipFill rotWithShape="1">
          <a:blip r:embed="rId2">
            <a:alphaModFix/>
          </a:blip>
          <a:srcRect l="42816" t="18358" r="37295" b="19150"/>
          <a:stretch/>
        </p:blipFill>
        <p:spPr>
          <a:xfrm>
            <a:off x="6052536" y="514443"/>
            <a:ext cx="2095112" cy="3703320"/>
          </a:xfrm>
          <a:prstGeom prst="rect">
            <a:avLst/>
          </a:prstGeom>
          <a:noFill/>
          <a:ln>
            <a:noFill/>
          </a:ln>
        </p:spPr>
      </p:pic>
      <p:sp>
        <p:nvSpPr>
          <p:cNvPr id="50" name="Google Shape;50;p11"/>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p11"/>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p11"/>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62"/>
        <p:cNvGrpSpPr/>
        <p:nvPr/>
      </p:nvGrpSpPr>
      <p:grpSpPr>
        <a:xfrm>
          <a:off x="0" y="0"/>
          <a:ext cx="0" cy="0"/>
          <a:chOff x="0" y="0"/>
          <a:chExt cx="0" cy="0"/>
        </a:xfrm>
      </p:grpSpPr>
      <p:sp>
        <p:nvSpPr>
          <p:cNvPr id="63" name="Google Shape;63;p13"/>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64" name="Google Shape;64;p13" descr="A close up of a logo&#10;&#10;Description automatically generated"/>
          <p:cNvPicPr preferRelativeResize="0"/>
          <p:nvPr/>
        </p:nvPicPr>
        <p:blipFill rotWithShape="1">
          <a:blip r:embed="rId2">
            <a:alphaModFix/>
          </a:blip>
          <a:srcRect l="42816" t="18358" r="37295" b="19150"/>
          <a:stretch/>
        </p:blipFill>
        <p:spPr>
          <a:xfrm>
            <a:off x="6052536" y="514443"/>
            <a:ext cx="2095112" cy="3703320"/>
          </a:xfrm>
          <a:prstGeom prst="rect">
            <a:avLst/>
          </a:prstGeom>
          <a:noFill/>
          <a:ln>
            <a:noFill/>
          </a:ln>
        </p:spPr>
      </p:pic>
      <p:sp>
        <p:nvSpPr>
          <p:cNvPr id="65" name="Google Shape;65;p13"/>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66" name="Google Shape;66;p13"/>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67" name="Google Shape;67;p13"/>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8"/>
        <p:cNvGrpSpPr/>
        <p:nvPr/>
      </p:nvGrpSpPr>
      <p:grpSpPr>
        <a:xfrm>
          <a:off x="0" y="0"/>
          <a:ext cx="0" cy="0"/>
          <a:chOff x="0" y="0"/>
          <a:chExt cx="0" cy="0"/>
        </a:xfrm>
      </p:grpSpPr>
      <p:sp>
        <p:nvSpPr>
          <p:cNvPr id="69" name="Google Shape;69;p14"/>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70" name="Google Shape;70;p14"/>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1"/>
        <p:cNvGrpSpPr/>
        <p:nvPr/>
      </p:nvGrpSpPr>
      <p:grpSpPr>
        <a:xfrm>
          <a:off x="0" y="0"/>
          <a:ext cx="0" cy="0"/>
          <a:chOff x="0" y="0"/>
          <a:chExt cx="0" cy="0"/>
        </a:xfrm>
      </p:grpSpPr>
      <p:sp>
        <p:nvSpPr>
          <p:cNvPr id="72" name="Google Shape;72;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73" name="Google Shape;73;p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6" name="Google Shape;76;p1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77" name="Google Shape;77;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80" name="Google Shape;80;p17"/>
          <p:cNvGraphicFramePr/>
          <p:nvPr/>
        </p:nvGraphicFramePr>
        <p:xfrm>
          <a:off x="201942" y="833662"/>
          <a:ext cx="3000000" cy="3000000"/>
        </p:xfrm>
        <a:graphic>
          <a:graphicData uri="http://schemas.openxmlformats.org/drawingml/2006/table">
            <a:tbl>
              <a:tblPr firstRow="1" bandRow="1">
                <a:noFill/>
                <a:tableStyleId>{60BA267F-57BB-4B82-9B38-EB87E1CD43B7}</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81" name="Google Shape;81;p1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4" name="Google Shape;84;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5" name="Google Shape;85;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6" name="Google Shape;86;p1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
        <p:cNvGrpSpPr/>
        <p:nvPr/>
      </p:nvGrpSpPr>
      <p:grpSpPr>
        <a:xfrm>
          <a:off x="0" y="0"/>
          <a:ext cx="0" cy="0"/>
          <a:chOff x="0" y="0"/>
          <a:chExt cx="0" cy="0"/>
        </a:xfrm>
      </p:grpSpPr>
      <p:sp>
        <p:nvSpPr>
          <p:cNvPr id="88" name="Google Shape;88;p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9" name="Google Shape;89;p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92" name="Google Shape;92;p2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6" name="Google Shape;96;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7" name="Google Shape;97;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98" name="Google Shape;98;p2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p2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p1"/>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p1"/>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p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p1"/>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1" name="Google Shape;11;p1"/>
          <p:cNvGrpSpPr/>
          <p:nvPr/>
        </p:nvGrpSpPr>
        <p:grpSpPr>
          <a:xfrm>
            <a:off x="6593" y="10"/>
            <a:ext cx="175500" cy="709221"/>
            <a:chOff x="6593" y="10"/>
            <a:chExt cx="175500" cy="709221"/>
          </a:xfrm>
        </p:grpSpPr>
        <p:sp>
          <p:nvSpPr>
            <p:cNvPr id="12" name="Google Shape;12;p1"/>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
        <p:cNvGrpSpPr/>
        <p:nvPr/>
      </p:nvGrpSpPr>
      <p:grpSpPr>
        <a:xfrm>
          <a:off x="0" y="0"/>
          <a:ext cx="0" cy="0"/>
          <a:chOff x="0" y="0"/>
          <a:chExt cx="0" cy="0"/>
        </a:xfrm>
      </p:grpSpPr>
      <p:sp>
        <p:nvSpPr>
          <p:cNvPr id="54" name="Google Shape;54;p1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55" name="Google Shape;55;p12"/>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6" name="Google Shape;56;p12"/>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7" name="Google Shape;57;p1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8" name="Google Shape;58;p12"/>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59" name="Google Shape;59;p12"/>
          <p:cNvGrpSpPr/>
          <p:nvPr/>
        </p:nvGrpSpPr>
        <p:grpSpPr>
          <a:xfrm>
            <a:off x="6593" y="10"/>
            <a:ext cx="175500" cy="709221"/>
            <a:chOff x="6593" y="10"/>
            <a:chExt cx="175500" cy="709221"/>
          </a:xfrm>
        </p:grpSpPr>
        <p:sp>
          <p:nvSpPr>
            <p:cNvPr id="60" name="Google Shape;60;p12"/>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12"/>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3E7BC9E6-C2ED-A8EB-901D-D38286FE0217}"/>
              </a:ext>
            </a:extLst>
          </p:cNvPr>
          <p:cNvSpPr txBox="1"/>
          <p:nvPr userDrawn="1">
            <p:extLst>
              <p:ext uri="{1162E1C5-73C7-4A58-AE30-91384D911F3F}">
                <p184:classification xmlns:p184="http://schemas.microsoft.com/office/powerpoint/2018/4/main" val="hdr"/>
              </p:ext>
            </p:extLst>
          </p:nvPr>
        </p:nvSpPr>
        <p:spPr>
          <a:xfrm>
            <a:off x="3983800" y="63500"/>
            <a:ext cx="1201737"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NATO UNCLASSIFIED</a:t>
            </a: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Lst>
  <mc:AlternateContent xmlns:mc="http://schemas.openxmlformats.org/markup-compatibility/2006" xmlns:p14="http://schemas.microsoft.com/office/powerpoint/2010/main">
    <mc:Choice Requires="p14">
      <p:transition p14:dur="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3"/>
          <p:cNvSpPr txBox="1">
            <a:spLocks noGrp="1"/>
          </p:cNvSpPr>
          <p:nvPr>
            <p:ph type="ctrTitle"/>
          </p:nvPr>
        </p:nvSpPr>
        <p:spPr>
          <a:xfrm>
            <a:off x="1158150" y="793898"/>
            <a:ext cx="6827700" cy="1199852"/>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800"/>
              <a:buNone/>
            </a:pPr>
            <a:r>
              <a:rPr lang="en" sz="3600"/>
              <a:t>A strategy to boost rating and drive new customers</a:t>
            </a:r>
            <a:endParaRPr sz="3600"/>
          </a:p>
        </p:txBody>
      </p:sp>
      <p:sp>
        <p:nvSpPr>
          <p:cNvPr id="106" name="Google Shape;106;p23"/>
          <p:cNvSpPr txBox="1">
            <a:spLocks noGrp="1"/>
          </p:cNvSpPr>
          <p:nvPr>
            <p:ph type="ctrTitle"/>
          </p:nvPr>
        </p:nvSpPr>
        <p:spPr>
          <a:xfrm>
            <a:off x="900223" y="2038574"/>
            <a:ext cx="7903535" cy="1051955"/>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800"/>
              <a:buNone/>
            </a:pPr>
            <a:r>
              <a:rPr lang="en" sz="3200" b="0"/>
              <a:t>FoodHub aggregator online food delivery</a:t>
            </a:r>
            <a:br>
              <a:rPr lang="en" sz="1600" b="0"/>
            </a:br>
            <a:r>
              <a:rPr lang="en" sz="1600" b="0"/>
              <a:t>Austin University – Post Graduate Program in Artificial Intelligence</a:t>
            </a:r>
            <a:endParaRPr sz="1600" b="0"/>
          </a:p>
        </p:txBody>
      </p:sp>
      <p:sp>
        <p:nvSpPr>
          <p:cNvPr id="107" name="Google Shape;107;p23"/>
          <p:cNvSpPr txBox="1">
            <a:spLocks noGrp="1"/>
          </p:cNvSpPr>
          <p:nvPr>
            <p:ph type="ctrTitle"/>
          </p:nvPr>
        </p:nvSpPr>
        <p:spPr>
          <a:xfrm>
            <a:off x="1013637" y="4260110"/>
            <a:ext cx="6827700" cy="290727"/>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1100" b="0"/>
              <a:t>12/07/2025</a:t>
            </a:r>
            <a:endParaRPr sz="1100" b="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Contents / Agenda</a:t>
            </a:r>
            <a:endParaRPr>
              <a:solidFill>
                <a:srgbClr val="000000"/>
              </a:solidFill>
            </a:endParaRPr>
          </a:p>
        </p:txBody>
      </p:sp>
      <p:sp>
        <p:nvSpPr>
          <p:cNvPr id="113" name="Google Shape;113;p24"/>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Executive Summary</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Business Problem Overview and Solution Approach</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Data Overview</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EDA - Univariate Analysis</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EDA - Multivariate Analysis</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Appendix</a:t>
            </a:r>
            <a:endParaRPr sz="1400">
              <a:solidFill>
                <a:srgbClr val="000000"/>
              </a:solidFill>
            </a:endParaRPr>
          </a:p>
          <a:p>
            <a:pPr marL="0" lvl="0" indent="0" algn="l" rtl="0">
              <a:lnSpc>
                <a:spcPct val="115000"/>
              </a:lnSpc>
              <a:spcBef>
                <a:spcPts val="1000"/>
              </a:spcBef>
              <a:spcAft>
                <a:spcPts val="1000"/>
              </a:spcAft>
              <a:buNone/>
            </a:pPr>
            <a:endParaRPr sz="1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8085468-08A7-6624-3E9B-4DA75D0BB46B}"/>
            </a:ext>
          </a:extLst>
        </p:cNvPr>
        <p:cNvGrpSpPr/>
        <p:nvPr/>
      </p:nvGrpSpPr>
      <p:grpSpPr>
        <a:xfrm>
          <a:off x="0" y="0"/>
          <a:ext cx="0" cy="0"/>
          <a:chOff x="0" y="0"/>
          <a:chExt cx="0" cy="0"/>
        </a:xfrm>
      </p:grpSpPr>
      <p:sp>
        <p:nvSpPr>
          <p:cNvPr id="118" name="Google Shape;118;p25">
            <a:extLst>
              <a:ext uri="{FF2B5EF4-FFF2-40B4-BE49-F238E27FC236}">
                <a16:creationId xmlns:a16="http://schemas.microsoft.com/office/drawing/2014/main" id="{435803F4-84BD-7D54-C991-C3CEF678449C}"/>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lvl="0" algn="l" rtl="0">
              <a:lnSpc>
                <a:spcPct val="100000"/>
              </a:lnSpc>
              <a:spcBef>
                <a:spcPts val="0"/>
              </a:spcBef>
              <a:spcAft>
                <a:spcPts val="0"/>
              </a:spcAft>
              <a:buSzPts val="2200"/>
            </a:pPr>
            <a:r>
              <a:rPr lang="en">
                <a:solidFill>
                  <a:srgbClr val="000000"/>
                </a:solidFill>
              </a:rPr>
              <a:t>Executive Summary - Opening </a:t>
            </a:r>
            <a:endParaRPr>
              <a:solidFill>
                <a:srgbClr val="000000"/>
              </a:solidFill>
            </a:endParaRPr>
          </a:p>
        </p:txBody>
      </p:sp>
      <p:sp>
        <p:nvSpPr>
          <p:cNvPr id="119" name="Google Shape;119;p25">
            <a:extLst>
              <a:ext uri="{FF2B5EF4-FFF2-40B4-BE49-F238E27FC236}">
                <a16:creationId xmlns:a16="http://schemas.microsoft.com/office/drawing/2014/main" id="{D553E500-41DF-28DD-AF67-565C9D6CECA4}"/>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endParaRPr lang="en-US" sz="1100" b="1"/>
          </a:p>
          <a:p>
            <a:pPr marL="133350" indent="0">
              <a:buNone/>
            </a:pPr>
            <a:r>
              <a:rPr lang="en-US" sz="1100"/>
              <a:t>Usually, when we talk about customer satisfaction in food delivery, we obsess over </a:t>
            </a:r>
            <a:r>
              <a:rPr lang="en-US" sz="1100" b="1"/>
              <a:t>speed</a:t>
            </a:r>
            <a:r>
              <a:rPr lang="en-US" sz="1100"/>
              <a:t>: </a:t>
            </a:r>
            <a:r>
              <a:rPr lang="en-US" sz="1100" i="1"/>
              <a:t>'How can we shave two minutes off delivery time?'</a:t>
            </a:r>
            <a:r>
              <a:rPr lang="en-US" sz="1100"/>
              <a:t> or </a:t>
            </a:r>
            <a:r>
              <a:rPr lang="en-US" sz="1100" i="1"/>
              <a:t>'How can we get the food out of the kitchen faster?</a:t>
            </a:r>
            <a:endParaRPr lang="en-US" sz="1100" b="1"/>
          </a:p>
          <a:p>
            <a:pPr marL="133350" indent="0">
              <a:buNone/>
            </a:pPr>
            <a:endParaRPr lang="en-US" sz="1100" b="1"/>
          </a:p>
          <a:p>
            <a:pPr marL="133350" indent="0">
              <a:buNone/>
            </a:pPr>
            <a:r>
              <a:rPr lang="en-US" sz="1100" b="1"/>
              <a:t>However, our analysis of the latest dataset reveals a critical paradox:</a:t>
            </a:r>
            <a:r>
              <a:rPr lang="en-US" sz="1100"/>
              <a:t> Our operations are actually running with incredible consistency. Our delivery times are stable, and our kitchen prep is standardized. But, statistically speaking, </a:t>
            </a:r>
            <a:r>
              <a:rPr lang="en-US" sz="1100" b="1"/>
              <a:t>speed is no longer moving the needle on our customer ratings.</a:t>
            </a:r>
            <a:r>
              <a:rPr lang="en-US" sz="1100"/>
              <a:t> A delivery that arrives in 24 minutes gets the exact same rating as one that arrives in 28.</a:t>
            </a:r>
          </a:p>
          <a:p>
            <a:pPr marL="133350" indent="0">
              <a:buNone/>
            </a:pPr>
            <a:endParaRPr lang="en-US" sz="1100"/>
          </a:p>
          <a:p>
            <a:pPr marL="133350" indent="0">
              <a:buNone/>
            </a:pPr>
            <a:endParaRPr lang="en-US" sz="1100"/>
          </a:p>
          <a:p>
            <a:pPr marL="133350" indent="0">
              <a:buNone/>
            </a:pPr>
            <a:r>
              <a:rPr lang="en-US" sz="1100"/>
              <a:t>Instead, the data points to a new driver: </a:t>
            </a:r>
            <a:r>
              <a:rPr lang="en-US" sz="1100" b="1"/>
              <a:t>Perceived Value.</a:t>
            </a:r>
            <a:r>
              <a:rPr lang="en-US" sz="1100"/>
              <a:t> We found that our highest satisfaction scores come exclusively from our highest-priced orders—specifically within our Premium segments like French and Southern cuisine. Conversely, our 'budget' options are where we see satisfaction dropping.</a:t>
            </a:r>
          </a:p>
          <a:p>
            <a:pPr marL="139700" lvl="0" indent="0" algn="l" rtl="0">
              <a:lnSpc>
                <a:spcPct val="115000"/>
              </a:lnSpc>
              <a:spcBef>
                <a:spcPts val="1000"/>
              </a:spcBef>
              <a:spcAft>
                <a:spcPts val="0"/>
              </a:spcAft>
              <a:buClr>
                <a:srgbClr val="000000"/>
              </a:buClr>
              <a:buSzPts val="1400"/>
              <a:buNone/>
            </a:pPr>
            <a:endParaRPr lang="en-US" sz="1100">
              <a:solidFill>
                <a:srgbClr val="000000"/>
              </a:solidFill>
            </a:endParaRPr>
          </a:p>
        </p:txBody>
      </p:sp>
    </p:spTree>
    <p:extLst>
      <p:ext uri="{BB962C8B-B14F-4D97-AF65-F5344CB8AC3E}">
        <p14:creationId xmlns:p14="http://schemas.microsoft.com/office/powerpoint/2010/main" val="2234854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lvl="0" algn="l" rtl="0">
              <a:lnSpc>
                <a:spcPct val="100000"/>
              </a:lnSpc>
              <a:spcBef>
                <a:spcPts val="0"/>
              </a:spcBef>
              <a:spcAft>
                <a:spcPts val="0"/>
              </a:spcAft>
              <a:buSzPts val="2200"/>
            </a:pPr>
            <a:r>
              <a:rPr lang="en">
                <a:solidFill>
                  <a:srgbClr val="000000"/>
                </a:solidFill>
              </a:rPr>
              <a:t>Executive Summary - Conclusions </a:t>
            </a:r>
            <a:endParaRPr>
              <a:solidFill>
                <a:srgbClr val="000000"/>
              </a:solidFill>
            </a:endParaRPr>
          </a:p>
        </p:txBody>
      </p:sp>
      <p:sp>
        <p:nvSpPr>
          <p:cNvPr id="119" name="Google Shape;119;p2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3350" indent="0">
              <a:buNone/>
            </a:pPr>
            <a:r>
              <a:rPr lang="en-US" sz="1100" b="1">
                <a:solidFill>
                  <a:srgbClr val="000000"/>
                </a:solidFill>
              </a:rPr>
              <a:t>Conclusions</a:t>
            </a:r>
          </a:p>
          <a:p>
            <a:pPr marL="133350" indent="0">
              <a:buNone/>
            </a:pPr>
            <a:r>
              <a:rPr lang="en-US" sz="1200"/>
              <a:t>The FoodHub business is solid; it has a consistent process to prepare and deliver the food to customers on time and with quality. The FoodHub has 5-star ratings on more than 50% of its reviews and an overall rating of 4.34. It shows that customers are overall satisfied with the food quality and delivery. </a:t>
            </a:r>
          </a:p>
          <a:p>
            <a:pPr marL="133350" indent="0">
              <a:buNone/>
            </a:pPr>
            <a:endParaRPr lang="en-US" sz="1200"/>
          </a:p>
          <a:p>
            <a:pPr marL="133350" indent="0">
              <a:buNone/>
            </a:pPr>
            <a:r>
              <a:rPr lang="en-US" sz="1200"/>
              <a:t>There is a clear positive correlation between Cost and rating. Customers ordering more expensive means, such as French and Southern, tend to give 5-star ratings. On the other hand, orders with low rate and unrated are basically low price orders. High price is usually associated with higher satisfaction.</a:t>
            </a:r>
          </a:p>
          <a:p>
            <a:pPr marL="133350" indent="0">
              <a:buNone/>
            </a:pPr>
            <a:endParaRPr lang="en-US" sz="1200"/>
          </a:p>
          <a:p>
            <a:pPr marL="133350" indent="0">
              <a:buNone/>
            </a:pPr>
            <a:r>
              <a:rPr lang="en-US" sz="1200"/>
              <a:t>Korean, Vietnamese, and Japanese food are the most affordable ranging average $12-$14 and driving the majority of the orders. The French food is the most expensive(median &gt; $20) overall. It propels high ratings, probably as the result, perception, or marketing of the food quality. </a:t>
            </a:r>
          </a:p>
          <a:p>
            <a:pPr marL="133350" indent="0">
              <a:buNone/>
            </a:pPr>
            <a:endParaRPr lang="en-US" sz="1200"/>
          </a:p>
          <a:p>
            <a:pPr marL="133350" indent="0">
              <a:buNone/>
            </a:pPr>
            <a:r>
              <a:rPr lang="en-US" sz="1200"/>
              <a:t>Though the Korean food is generally fast to prepare, according to the multi-variable cuisine vs preparation time. There is a particular subset that suffers from significant delays(32,33 ) minutes, which are statistical outliers. </a:t>
            </a:r>
          </a:p>
          <a:p>
            <a:pPr marL="133350" indent="0">
              <a:buNone/>
            </a:pPr>
            <a:br>
              <a:rPr lang="en-US" sz="1200"/>
            </a:br>
            <a:endParaRPr lang="en-US" sz="1200"/>
          </a:p>
          <a:p>
            <a:pPr marL="139700" lvl="0" indent="0" algn="l" rtl="0">
              <a:lnSpc>
                <a:spcPct val="115000"/>
              </a:lnSpc>
              <a:spcBef>
                <a:spcPts val="1000"/>
              </a:spcBef>
              <a:spcAft>
                <a:spcPts val="0"/>
              </a:spcAft>
              <a:buClr>
                <a:srgbClr val="000000"/>
              </a:buClr>
              <a:buSzPts val="1400"/>
              <a:buNone/>
            </a:pPr>
            <a:endParaRPr lang="en-US" sz="11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6BC127D-4B60-A4CF-F9A2-C06085E73F0C}"/>
            </a:ext>
          </a:extLst>
        </p:cNvPr>
        <p:cNvGrpSpPr/>
        <p:nvPr/>
      </p:nvGrpSpPr>
      <p:grpSpPr>
        <a:xfrm>
          <a:off x="0" y="0"/>
          <a:ext cx="0" cy="0"/>
          <a:chOff x="0" y="0"/>
          <a:chExt cx="0" cy="0"/>
        </a:xfrm>
      </p:grpSpPr>
      <p:sp>
        <p:nvSpPr>
          <p:cNvPr id="118" name="Google Shape;118;p25">
            <a:extLst>
              <a:ext uri="{FF2B5EF4-FFF2-40B4-BE49-F238E27FC236}">
                <a16:creationId xmlns:a16="http://schemas.microsoft.com/office/drawing/2014/main" id="{54860147-80A2-E854-1E6F-4C4CC9BC4350}"/>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lvl="0" algn="l" rtl="0">
              <a:lnSpc>
                <a:spcPct val="100000"/>
              </a:lnSpc>
              <a:spcBef>
                <a:spcPts val="0"/>
              </a:spcBef>
              <a:spcAft>
                <a:spcPts val="0"/>
              </a:spcAft>
              <a:buSzPts val="2200"/>
            </a:pPr>
            <a:r>
              <a:rPr lang="en">
                <a:solidFill>
                  <a:srgbClr val="000000"/>
                </a:solidFill>
              </a:rPr>
              <a:t>Executive Summary - Recommendations</a:t>
            </a:r>
            <a:endParaRPr>
              <a:solidFill>
                <a:srgbClr val="000000"/>
              </a:solidFill>
            </a:endParaRPr>
          </a:p>
        </p:txBody>
      </p:sp>
      <p:sp>
        <p:nvSpPr>
          <p:cNvPr id="119" name="Google Shape;119;p25">
            <a:extLst>
              <a:ext uri="{FF2B5EF4-FFF2-40B4-BE49-F238E27FC236}">
                <a16:creationId xmlns:a16="http://schemas.microsoft.com/office/drawing/2014/main" id="{C03CC2B8-4D2E-329D-A9FE-77FE0441AFB5}"/>
              </a:ext>
            </a:extLst>
          </p:cNvPr>
          <p:cNvSpPr txBox="1">
            <a:spLocks noGrp="1"/>
          </p:cNvSpPr>
          <p:nvPr>
            <p:ph type="body" idx="1"/>
          </p:nvPr>
        </p:nvSpPr>
        <p:spPr>
          <a:xfrm>
            <a:off x="147950" y="708716"/>
            <a:ext cx="8629800" cy="4320484"/>
          </a:xfrm>
          <a:prstGeom prst="rect">
            <a:avLst/>
          </a:prstGeom>
          <a:noFill/>
          <a:ln>
            <a:noFill/>
          </a:ln>
        </p:spPr>
        <p:txBody>
          <a:bodyPr spcFirstLastPara="1" wrap="square" lIns="91425" tIns="91425" rIns="91425" bIns="91425" anchor="t" anchorCtr="0">
            <a:noAutofit/>
          </a:bodyPr>
          <a:lstStyle/>
          <a:p>
            <a:pPr marL="133350" indent="0">
              <a:buNone/>
            </a:pPr>
            <a:r>
              <a:rPr lang="en-US" sz="1050" b="1"/>
              <a:t>Based on rates and price correlation</a:t>
            </a:r>
          </a:p>
          <a:p>
            <a:pPr marL="133350" indent="0">
              <a:buNone/>
            </a:pPr>
            <a:r>
              <a:rPr lang="en-US" sz="1050"/>
              <a:t>The low-cost orders are associated with lower rates or no ratings. The entry-level menus may be lacking quality or size. </a:t>
            </a:r>
          </a:p>
          <a:p>
            <a:pPr marL="133350" indent="0">
              <a:buNone/>
            </a:pPr>
            <a:r>
              <a:rPr lang="en-US" sz="1050"/>
              <a:t>Proposal: </a:t>
            </a:r>
          </a:p>
          <a:p>
            <a:pPr marL="133350" indent="0">
              <a:buNone/>
            </a:pPr>
            <a:r>
              <a:rPr lang="en-US" sz="1050"/>
              <a:t>        Review and possibly increase portion sizes</a:t>
            </a:r>
          </a:p>
          <a:p>
            <a:pPr marL="133350" indent="0">
              <a:buNone/>
            </a:pPr>
            <a:r>
              <a:rPr lang="en-US" sz="1050"/>
              <a:t>        Change or remove the menu with options that would better suit your audience(Vegan, Youth, Older)</a:t>
            </a:r>
          </a:p>
          <a:p>
            <a:pPr marL="133350" indent="0">
              <a:buNone/>
            </a:pPr>
            <a:r>
              <a:rPr lang="en-US" sz="1050"/>
              <a:t>        Review the food presentation</a:t>
            </a:r>
          </a:p>
          <a:p>
            <a:pPr marL="133350" indent="0">
              <a:buNone/>
            </a:pPr>
            <a:r>
              <a:rPr lang="en-US" sz="1050" b="1"/>
              <a:t>The delivery logistics</a:t>
            </a:r>
          </a:p>
          <a:p>
            <a:pPr marL="133350" indent="0">
              <a:buNone/>
            </a:pPr>
            <a:r>
              <a:rPr lang="en-US" sz="1050"/>
              <a:t>Given that the delivery logistics are not affecting the overall rate of the experience, as inferred from the data, since delivery time was not rated separately, restaurants should focus on improving the quality of the food, presentation, and portions. Considering optimizing for faster delivery will not drive customer satisfaction.</a:t>
            </a:r>
          </a:p>
          <a:p>
            <a:pPr marL="133350" indent="0">
              <a:buNone/>
            </a:pPr>
            <a:r>
              <a:rPr lang="en-US" sz="1050"/>
              <a:t> </a:t>
            </a:r>
          </a:p>
          <a:p>
            <a:pPr marL="133350" indent="0">
              <a:buNone/>
            </a:pPr>
            <a:r>
              <a:rPr lang="en-US" sz="1050" b="1"/>
              <a:t>Low-engagement customers</a:t>
            </a:r>
          </a:p>
          <a:p>
            <a:pPr marL="133350" indent="0">
              <a:buNone/>
            </a:pPr>
            <a:r>
              <a:rPr lang="en-US" sz="1050"/>
              <a:t>Given that more than 700 customers did not rate the experience, it would be interesting to implement a post-order incentive (e.g., rate your experience and get 10% back on your next order). Urated orders are also associated with cheaper orders; getting feedback may be particularly important for determining whether the lower rate for more affordable food persists. </a:t>
            </a:r>
          </a:p>
          <a:p>
            <a:pPr marL="133350" indent="0">
              <a:buNone/>
            </a:pPr>
            <a:endParaRPr lang="en-US" sz="1050"/>
          </a:p>
          <a:p>
            <a:pPr marL="133350" indent="0">
              <a:buNone/>
            </a:pPr>
            <a:r>
              <a:rPr lang="en-US" sz="1050" b="1"/>
              <a:t>Marketing</a:t>
            </a:r>
            <a:r>
              <a:rPr lang="en-US" sz="1050"/>
              <a:t> </a:t>
            </a:r>
          </a:p>
          <a:p>
            <a:pPr marL="133350" indent="0">
              <a:buNone/>
            </a:pPr>
            <a:r>
              <a:rPr lang="en-US" sz="1050"/>
              <a:t>Outside of American, Japanese, Italian, Chinese, Mexican, and Indian, the other restaurants received fewer than 30 orders in the period. FoodHub should focus its marketing to expand the offer to communities represented by the other cuisine type. The approach can increase the overall number of orders and customers. </a:t>
            </a:r>
          </a:p>
          <a:p>
            <a:pPr marL="133350" indent="0">
              <a:buNone/>
            </a:pPr>
            <a:endParaRPr lang="en-US" sz="1050"/>
          </a:p>
          <a:p>
            <a:pPr marL="133350" indent="0">
              <a:buNone/>
            </a:pPr>
            <a:r>
              <a:rPr lang="en-US" sz="1050"/>
              <a:t>Restaurants such as Five Guys are not doing well; they probably cater to the youth community. Campaigns to address the youth community may also lead to new customers(e.g., University promotions)</a:t>
            </a:r>
          </a:p>
          <a:p>
            <a:pPr marL="139700" indent="0">
              <a:spcBef>
                <a:spcPts val="1000"/>
              </a:spcBef>
              <a:buClr>
                <a:srgbClr val="000000"/>
              </a:buClr>
              <a:buSzPts val="1400"/>
              <a:buNone/>
            </a:pPr>
            <a:endParaRPr lang="en-US" sz="1000">
              <a:solidFill>
                <a:srgbClr val="000000"/>
              </a:solidFill>
            </a:endParaRPr>
          </a:p>
        </p:txBody>
      </p:sp>
    </p:spTree>
    <p:extLst>
      <p:ext uri="{BB962C8B-B14F-4D97-AF65-F5344CB8AC3E}">
        <p14:creationId xmlns:p14="http://schemas.microsoft.com/office/powerpoint/2010/main" val="550913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Business Problem Overview and Solution Approach</a:t>
            </a:r>
            <a:endParaRPr>
              <a:solidFill>
                <a:srgbClr val="000000"/>
              </a:solidFill>
            </a:endParaRPr>
          </a:p>
        </p:txBody>
      </p:sp>
      <p:sp>
        <p:nvSpPr>
          <p:cNvPr id="125" name="Google Shape;125;p2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spcBef>
                <a:spcPts val="1000"/>
              </a:spcBef>
              <a:buClr>
                <a:srgbClr val="000000"/>
              </a:buClr>
              <a:buSzPts val="1400"/>
              <a:buNone/>
            </a:pPr>
            <a:r>
              <a:rPr lang="en-US" sz="1100" b="1"/>
              <a:t>Overview</a:t>
            </a:r>
            <a:endParaRPr lang="en-US" b="1"/>
          </a:p>
          <a:p>
            <a:pPr marL="139700" lvl="0" indent="0">
              <a:spcBef>
                <a:spcPts val="1000"/>
              </a:spcBef>
              <a:buClr>
                <a:srgbClr val="000000"/>
              </a:buClr>
              <a:buSzPts val="1400"/>
              <a:buNone/>
            </a:pPr>
            <a:r>
              <a:rPr lang="en-US" sz="1200"/>
              <a:t>The food aggregator company has stored the data of the different orders made by the registered customers in their online portal. They want to analyze the data to get a fair idea about the demand of different restaurants which will help them in enhancing their customer experience. Suppose you are hired as a Data Scientist in this company and the Data Science team has shared some of the key questions that need to be answered. Perform the data analysis to answer these questions and help the company improve its business. </a:t>
            </a:r>
            <a:r>
              <a:rPr lang="en" sz="1100">
                <a:solidFill>
                  <a:srgbClr val="000000"/>
                </a:solidFill>
              </a:rPr>
              <a:t>Please mention the solution approach / methodology</a:t>
            </a:r>
            <a:endParaRPr sz="1100">
              <a:solidFill>
                <a:srgbClr val="000000"/>
              </a:solidFill>
            </a:endParaRPr>
          </a:p>
          <a:p>
            <a:pPr marL="0" lvl="0" indent="0" algn="l" rtl="0">
              <a:lnSpc>
                <a:spcPct val="115000"/>
              </a:lnSpc>
              <a:spcBef>
                <a:spcPts val="1000"/>
              </a:spcBef>
              <a:spcAft>
                <a:spcPts val="0"/>
              </a:spcAft>
              <a:buNone/>
            </a:pPr>
            <a:r>
              <a:rPr lang="en-US" sz="1400">
                <a:solidFill>
                  <a:srgbClr val="000000"/>
                </a:solidFill>
              </a:rPr>
              <a:t>   </a:t>
            </a:r>
            <a:r>
              <a:rPr lang="en-US" sz="1100" b="1">
                <a:solidFill>
                  <a:srgbClr val="000000"/>
                </a:solidFill>
              </a:rPr>
              <a:t>Approach</a:t>
            </a:r>
          </a:p>
          <a:p>
            <a:pPr marL="133350" indent="0">
              <a:buNone/>
            </a:pPr>
            <a:r>
              <a:rPr lang="en-US" sz="1200" b="1"/>
              <a:t>Approach &amp; Methodology</a:t>
            </a:r>
            <a:endParaRPr lang="en-US" sz="1200"/>
          </a:p>
          <a:p>
            <a:pPr marL="133350" indent="0">
              <a:buNone/>
            </a:pPr>
            <a:r>
              <a:rPr lang="en-US" sz="1200" b="1"/>
              <a:t>Objective:</a:t>
            </a:r>
            <a:r>
              <a:rPr lang="en-US" sz="1200"/>
              <a:t> To diagnose root causes of customer satisfaction variance and identify revenue optimization opportunities.</a:t>
            </a:r>
          </a:p>
          <a:p>
            <a:pPr marL="133350" indent="0">
              <a:buNone/>
            </a:pPr>
            <a:r>
              <a:rPr lang="en-US" sz="1200" b="1"/>
              <a:t>Methodology:</a:t>
            </a:r>
            <a:r>
              <a:rPr lang="en-US" sz="1200"/>
              <a:t> Applied </a:t>
            </a:r>
            <a:r>
              <a:rPr lang="en-US" sz="1200" b="1"/>
              <a:t>Exploratory Data Analysis (EDA)</a:t>
            </a:r>
            <a:r>
              <a:rPr lang="en-US" sz="1200"/>
              <a:t> to decode the operational dataset.</a:t>
            </a:r>
          </a:p>
          <a:p>
            <a:pPr marL="133350" indent="0">
              <a:buNone/>
            </a:pPr>
            <a:r>
              <a:rPr lang="en-US" sz="1200" b="1"/>
              <a:t>Techniques:</a:t>
            </a:r>
          </a:p>
          <a:p>
            <a:pPr marL="401638" indent="0">
              <a:buNone/>
            </a:pPr>
            <a:r>
              <a:rPr lang="en-US" sz="1100" b="1"/>
              <a:t>Univariate Analysis:</a:t>
            </a:r>
            <a:r>
              <a:rPr lang="en-US" sz="1100"/>
              <a:t> Audited individual performance metrics (Cost, Time, Ratings) for consistency and outliers</a:t>
            </a:r>
          </a:p>
          <a:p>
            <a:pPr marL="401638" indent="0">
              <a:buNone/>
            </a:pPr>
            <a:r>
              <a:rPr lang="en-US" sz="1100" b="1"/>
              <a:t>Multivariate Analysis:</a:t>
            </a:r>
            <a:r>
              <a:rPr lang="en-US" sz="1100"/>
              <a:t> Examined the correlations between operational variables to isolate the true drivers of 5-star ratings.</a:t>
            </a:r>
          </a:p>
          <a:p>
            <a:pPr marL="0" lvl="0" indent="0" algn="l" rtl="0">
              <a:lnSpc>
                <a:spcPct val="115000"/>
              </a:lnSpc>
              <a:spcBef>
                <a:spcPts val="1000"/>
              </a:spcBef>
              <a:spcAft>
                <a:spcPts val="0"/>
              </a:spcAft>
              <a:buNone/>
            </a:pPr>
            <a:endParaRPr sz="1100" b="1">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C8B4564-EF3F-D7C1-3B81-004E53699169}"/>
              </a:ext>
            </a:extLst>
          </p:cNvPr>
          <p:cNvSpPr/>
          <p:nvPr/>
        </p:nvSpPr>
        <p:spPr>
          <a:xfrm>
            <a:off x="420127" y="2952299"/>
            <a:ext cx="7469659" cy="1901922"/>
          </a:xfrm>
          <a:prstGeom prst="roundRect">
            <a:avLst>
              <a:gd name="adj" fmla="val 2350"/>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a:solidFill>
                  <a:srgbClr val="002060"/>
                </a:solidFill>
              </a:rPr>
              <a:t>(1898, 9)</a:t>
            </a:r>
          </a:p>
          <a:p>
            <a:endParaRPr lang="en-US" sz="400">
              <a:solidFill>
                <a:srgbClr val="002060"/>
              </a:solidFill>
            </a:endParaRPr>
          </a:p>
          <a:p>
            <a:r>
              <a:rPr lang="en-US" sz="500" b="1">
                <a:solidFill>
                  <a:srgbClr val="002060"/>
                </a:solidFill>
              </a:rPr>
              <a:t>&lt;class 'pandas.core.frame.DataFrame'&gt;</a:t>
            </a:r>
          </a:p>
          <a:p>
            <a:r>
              <a:rPr lang="en-US" sz="500" b="1">
                <a:solidFill>
                  <a:srgbClr val="002060"/>
                </a:solidFill>
              </a:rPr>
              <a:t>RangeIndex: 1898 entries, 0 to 1897</a:t>
            </a:r>
          </a:p>
          <a:p>
            <a:r>
              <a:rPr lang="en-US" sz="500" b="1">
                <a:solidFill>
                  <a:srgbClr val="002060"/>
                </a:solidFill>
              </a:rPr>
              <a:t>Data columns (total 9 columns):</a:t>
            </a:r>
          </a:p>
          <a:p>
            <a:r>
              <a:rPr lang="en-US" sz="500" b="1">
                <a:solidFill>
                  <a:srgbClr val="002060"/>
                </a:solidFill>
              </a:rPr>
              <a:t> #   Column                 Non-Null Count  Dtype  </a:t>
            </a:r>
          </a:p>
          <a:p>
            <a:r>
              <a:rPr lang="en-US" sz="500" b="1">
                <a:solidFill>
                  <a:srgbClr val="002060"/>
                </a:solidFill>
              </a:rPr>
              <a:t>---  ------                 --------------  -----  </a:t>
            </a:r>
          </a:p>
          <a:p>
            <a:r>
              <a:rPr lang="en-US" sz="500" b="1">
                <a:solidFill>
                  <a:srgbClr val="002060"/>
                </a:solidFill>
              </a:rPr>
              <a:t> 0   order_id               1898 non-null   int64  </a:t>
            </a:r>
          </a:p>
          <a:p>
            <a:r>
              <a:rPr lang="en-US" sz="500" b="1">
                <a:solidFill>
                  <a:srgbClr val="002060"/>
                </a:solidFill>
              </a:rPr>
              <a:t> 1   customer_id            1898 non-null   int64  </a:t>
            </a:r>
          </a:p>
          <a:p>
            <a:r>
              <a:rPr lang="en-US" sz="500" b="1">
                <a:solidFill>
                  <a:srgbClr val="002060"/>
                </a:solidFill>
              </a:rPr>
              <a:t> 2   restaurant_name        1898 non-null   object </a:t>
            </a:r>
          </a:p>
          <a:p>
            <a:r>
              <a:rPr lang="en-US" sz="500" b="1">
                <a:solidFill>
                  <a:srgbClr val="002060"/>
                </a:solidFill>
              </a:rPr>
              <a:t> 3   cuisine_type           1898 non-null   object </a:t>
            </a:r>
          </a:p>
          <a:p>
            <a:r>
              <a:rPr lang="en-US" sz="500" b="1">
                <a:solidFill>
                  <a:srgbClr val="002060"/>
                </a:solidFill>
              </a:rPr>
              <a:t> 4   cost_of_the_order      1898 non-null   float64</a:t>
            </a:r>
          </a:p>
          <a:p>
            <a:r>
              <a:rPr lang="en-US" sz="500" b="1">
                <a:solidFill>
                  <a:srgbClr val="002060"/>
                </a:solidFill>
              </a:rPr>
              <a:t> 5   day_of_the_week        1898 non-null   object </a:t>
            </a:r>
          </a:p>
          <a:p>
            <a:r>
              <a:rPr lang="en-US" sz="500" b="1">
                <a:solidFill>
                  <a:srgbClr val="002060"/>
                </a:solidFill>
              </a:rPr>
              <a:t> 6   rating                 1898 non-null   object </a:t>
            </a:r>
          </a:p>
          <a:p>
            <a:r>
              <a:rPr lang="en-US" sz="500" b="1">
                <a:solidFill>
                  <a:srgbClr val="002060"/>
                </a:solidFill>
              </a:rPr>
              <a:t> 7   food_preparation_time  1898 non-null   int64  </a:t>
            </a:r>
          </a:p>
          <a:p>
            <a:r>
              <a:rPr lang="en-US" sz="500" b="1">
                <a:solidFill>
                  <a:srgbClr val="002060"/>
                </a:solidFill>
              </a:rPr>
              <a:t> 8   delivery_time          1898 non-null   int64  </a:t>
            </a:r>
          </a:p>
          <a:p>
            <a:r>
              <a:rPr lang="en-US" sz="500" b="1">
                <a:solidFill>
                  <a:srgbClr val="002060"/>
                </a:solidFill>
              </a:rPr>
              <a:t>dtypes: float64(1), int64(4), object(4)</a:t>
            </a:r>
          </a:p>
          <a:p>
            <a:r>
              <a:rPr lang="en-US" sz="500" b="1">
                <a:solidFill>
                  <a:srgbClr val="002060"/>
                </a:solidFill>
              </a:rPr>
              <a:t>memory usage: 133.6+ KB</a:t>
            </a:r>
            <a:endParaRPr lang="en-US" sz="400">
              <a:solidFill>
                <a:srgbClr val="002060"/>
              </a:solidFill>
            </a:endParaRPr>
          </a:p>
        </p:txBody>
      </p:sp>
      <p:sp>
        <p:nvSpPr>
          <p:cNvPr id="130" name="Google Shape;130;p2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Overview</a:t>
            </a:r>
            <a:endParaRPr>
              <a:solidFill>
                <a:srgbClr val="000000"/>
              </a:solidFill>
            </a:endParaRPr>
          </a:p>
        </p:txBody>
      </p:sp>
      <p:sp>
        <p:nvSpPr>
          <p:cNvPr id="131" name="Google Shape;131;p27"/>
          <p:cNvSpPr txBox="1">
            <a:spLocks noGrp="1"/>
          </p:cNvSpPr>
          <p:nvPr>
            <p:ph type="body" idx="1"/>
          </p:nvPr>
        </p:nvSpPr>
        <p:spPr>
          <a:xfrm>
            <a:off x="202550" y="718350"/>
            <a:ext cx="8629800" cy="4304672"/>
          </a:xfrm>
          <a:prstGeom prst="rect">
            <a:avLst/>
          </a:prstGeom>
          <a:noFill/>
          <a:ln>
            <a:noFill/>
          </a:ln>
        </p:spPr>
        <p:txBody>
          <a:bodyPr spcFirstLastPara="1" wrap="square" lIns="91425" tIns="91425" rIns="91425" bIns="91425" anchor="t" anchorCtr="0">
            <a:noAutofit/>
          </a:bodyPr>
          <a:lstStyle/>
          <a:p>
            <a:pPr marL="139700" indent="0">
              <a:lnSpc>
                <a:spcPct val="100000"/>
              </a:lnSpc>
              <a:spcBef>
                <a:spcPts val="300"/>
              </a:spcBef>
              <a:buClr>
                <a:srgbClr val="000000"/>
              </a:buClr>
              <a:buSzPts val="1400"/>
              <a:buNone/>
            </a:pPr>
            <a:r>
              <a:rPr lang="en-US" sz="1400" b="1">
                <a:solidFill>
                  <a:srgbClr val="000000"/>
                </a:solidFill>
              </a:rPr>
              <a:t>Question 1 - </a:t>
            </a:r>
            <a:r>
              <a:rPr lang="en-US" b="1"/>
              <a:t>How many rows and columns are present in the data? [0.5 mark]</a:t>
            </a:r>
          </a:p>
          <a:p>
            <a:pPr marL="139700" indent="0">
              <a:lnSpc>
                <a:spcPct val="100000"/>
              </a:lnSpc>
              <a:spcBef>
                <a:spcPts val="300"/>
              </a:spcBef>
              <a:buClr>
                <a:srgbClr val="000000"/>
              </a:buClr>
              <a:buSzPts val="1400"/>
              <a:buNone/>
            </a:pPr>
            <a:endParaRPr lang="en-US"/>
          </a:p>
        </p:txBody>
      </p:sp>
      <p:sp>
        <p:nvSpPr>
          <p:cNvPr id="2" name="Rectangle: Rounded Corners 1">
            <a:extLst>
              <a:ext uri="{FF2B5EF4-FFF2-40B4-BE49-F238E27FC236}">
                <a16:creationId xmlns:a16="http://schemas.microsoft.com/office/drawing/2014/main" id="{8A4B1686-B5AB-20B9-B48E-B42BF6CEA5D5}"/>
              </a:ext>
            </a:extLst>
          </p:cNvPr>
          <p:cNvSpPr/>
          <p:nvPr/>
        </p:nvSpPr>
        <p:spPr>
          <a:xfrm>
            <a:off x="5254708" y="3055070"/>
            <a:ext cx="2421924" cy="1445740"/>
          </a:xfrm>
          <a:prstGeom prst="roundRect">
            <a:avLst>
              <a:gd name="adj" fmla="val 4274"/>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b="1">
                <a:solidFill>
                  <a:srgbClr val="002060"/>
                </a:solidFill>
              </a:rPr>
              <a:t>The 9 columns follow a basic pattern for column types. It uses int64 for integer numbers and Object to represent String or mixed data types.</a:t>
            </a:r>
            <a:endParaRPr lang="en-US" sz="800">
              <a:solidFill>
                <a:srgbClr val="002060"/>
              </a:solidFill>
            </a:endParaRPr>
          </a:p>
          <a:p>
            <a:endParaRPr lang="en-US" sz="800" b="1">
              <a:solidFill>
                <a:srgbClr val="002060"/>
              </a:solidFill>
            </a:endParaRPr>
          </a:p>
          <a:p>
            <a:r>
              <a:rPr lang="en-US" sz="800" b="1">
                <a:solidFill>
                  <a:srgbClr val="002060"/>
                </a:solidFill>
              </a:rPr>
              <a:t>The cost is represented as a float, as it should, because it allows fractions of dolar representations. </a:t>
            </a:r>
            <a:endParaRPr lang="en-US" sz="800">
              <a:solidFill>
                <a:srgbClr val="002060"/>
              </a:solidFill>
            </a:endParaRPr>
          </a:p>
          <a:p>
            <a:endParaRPr lang="en-US" sz="800" b="1">
              <a:solidFill>
                <a:srgbClr val="002060"/>
              </a:solidFill>
            </a:endParaRPr>
          </a:p>
          <a:p>
            <a:r>
              <a:rPr lang="en-US" sz="800" b="1">
                <a:solidFill>
                  <a:srgbClr val="002060"/>
                </a:solidFill>
              </a:rPr>
              <a:t>There are 4 Strings/Objects, 4 integers, and 1 Float number</a:t>
            </a:r>
            <a:endParaRPr lang="en-US" sz="800">
              <a:solidFill>
                <a:srgbClr val="002060"/>
              </a:solidFill>
            </a:endParaRPr>
          </a:p>
          <a:p>
            <a:endParaRPr lang="en-US" sz="800">
              <a:solidFill>
                <a:srgbClr val="002060"/>
              </a:solidFill>
            </a:endParaRPr>
          </a:p>
        </p:txBody>
      </p:sp>
      <p:sp>
        <p:nvSpPr>
          <p:cNvPr id="5" name="Rectangle: Rounded Corners 4">
            <a:extLst>
              <a:ext uri="{FF2B5EF4-FFF2-40B4-BE49-F238E27FC236}">
                <a16:creationId xmlns:a16="http://schemas.microsoft.com/office/drawing/2014/main" id="{C43F9860-958D-C5D3-C2C9-0F8500B082F4}"/>
              </a:ext>
            </a:extLst>
          </p:cNvPr>
          <p:cNvSpPr/>
          <p:nvPr/>
        </p:nvSpPr>
        <p:spPr>
          <a:xfrm>
            <a:off x="420129" y="1105927"/>
            <a:ext cx="7469659" cy="392559"/>
          </a:xfrm>
          <a:prstGeom prst="roundRect">
            <a:avLst>
              <a:gd name="adj" fmla="val 14810"/>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a:solidFill>
                  <a:srgbClr val="002060"/>
                </a:solidFill>
              </a:rPr>
              <a:t># Check the shape of the dataset</a:t>
            </a:r>
          </a:p>
          <a:p>
            <a:r>
              <a:rPr lang="en-US" sz="600">
                <a:solidFill>
                  <a:srgbClr val="002060"/>
                </a:solidFill>
              </a:rPr>
              <a:t>df.shape ## Fill in the blank</a:t>
            </a:r>
          </a:p>
          <a:p>
            <a:endParaRPr lang="en-US" sz="200">
              <a:solidFill>
                <a:srgbClr val="002060"/>
              </a:solidFill>
            </a:endParaRPr>
          </a:p>
        </p:txBody>
      </p:sp>
      <p:sp>
        <p:nvSpPr>
          <p:cNvPr id="6" name="Rectangle: Rounded Corners 5">
            <a:extLst>
              <a:ext uri="{FF2B5EF4-FFF2-40B4-BE49-F238E27FC236}">
                <a16:creationId xmlns:a16="http://schemas.microsoft.com/office/drawing/2014/main" id="{7765C3C9-18AB-64D6-14E8-816D36E6E288}"/>
              </a:ext>
            </a:extLst>
          </p:cNvPr>
          <p:cNvSpPr/>
          <p:nvPr/>
        </p:nvSpPr>
        <p:spPr>
          <a:xfrm>
            <a:off x="420128" y="1540490"/>
            <a:ext cx="7469659" cy="628118"/>
          </a:xfrm>
          <a:prstGeom prst="roundRect">
            <a:avLst>
              <a:gd name="adj" fmla="val 2350"/>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a:solidFill>
                  <a:srgbClr val="002060"/>
                </a:solidFill>
              </a:rPr>
              <a:t>(1898, 9)</a:t>
            </a:r>
          </a:p>
          <a:p>
            <a:endParaRPr lang="en-US" sz="800">
              <a:solidFill>
                <a:srgbClr val="002060"/>
              </a:solidFill>
            </a:endParaRPr>
          </a:p>
          <a:p>
            <a:r>
              <a:rPr lang="en-US" sz="900" b="1">
                <a:solidFill>
                  <a:srgbClr val="002060"/>
                </a:solidFill>
              </a:rPr>
              <a:t>The .csv file contains 1898 rows and 9 columns. It is a moderately sized dataset suitable for analysis and allow for fast processing.</a:t>
            </a:r>
            <a:endParaRPr lang="en-US" sz="900">
              <a:solidFill>
                <a:srgbClr val="002060"/>
              </a:solidFill>
            </a:endParaRPr>
          </a:p>
          <a:p>
            <a:endParaRPr lang="en-US" sz="800">
              <a:solidFill>
                <a:srgbClr val="002060"/>
              </a:solidFill>
            </a:endParaRPr>
          </a:p>
        </p:txBody>
      </p:sp>
      <p:sp>
        <p:nvSpPr>
          <p:cNvPr id="8" name="TextBox 7">
            <a:extLst>
              <a:ext uri="{FF2B5EF4-FFF2-40B4-BE49-F238E27FC236}">
                <a16:creationId xmlns:a16="http://schemas.microsoft.com/office/drawing/2014/main" id="{3F720E17-D379-2805-C958-FB3C6B18EFBF}"/>
              </a:ext>
            </a:extLst>
          </p:cNvPr>
          <p:cNvSpPr txBox="1"/>
          <p:nvPr/>
        </p:nvSpPr>
        <p:spPr>
          <a:xfrm>
            <a:off x="202550" y="2231536"/>
            <a:ext cx="7735331" cy="307777"/>
          </a:xfrm>
          <a:prstGeom prst="rect">
            <a:avLst/>
          </a:prstGeom>
          <a:noFill/>
        </p:spPr>
        <p:txBody>
          <a:bodyPr wrap="square">
            <a:spAutoFit/>
          </a:bodyPr>
          <a:lstStyle/>
          <a:p>
            <a:pPr marL="139700" lvl="0" indent="0">
              <a:lnSpc>
                <a:spcPct val="100000"/>
              </a:lnSpc>
              <a:spcBef>
                <a:spcPts val="300"/>
              </a:spcBef>
              <a:buClr>
                <a:srgbClr val="000000"/>
              </a:buClr>
              <a:buSzPts val="1400"/>
              <a:buNone/>
            </a:pPr>
            <a:r>
              <a:rPr lang="en-US" sz="1400" b="1">
                <a:solidFill>
                  <a:srgbClr val="000000"/>
                </a:solidFill>
              </a:rPr>
              <a:t>Question 2 - What are the data types of the different columns in the dataset? [0.5 mark]</a:t>
            </a:r>
          </a:p>
        </p:txBody>
      </p:sp>
      <p:sp>
        <p:nvSpPr>
          <p:cNvPr id="9" name="Rectangle: Rounded Corners 8">
            <a:extLst>
              <a:ext uri="{FF2B5EF4-FFF2-40B4-BE49-F238E27FC236}">
                <a16:creationId xmlns:a16="http://schemas.microsoft.com/office/drawing/2014/main" id="{DCB78F68-2E78-2BA3-868D-6F02E24E5896}"/>
              </a:ext>
            </a:extLst>
          </p:cNvPr>
          <p:cNvSpPr/>
          <p:nvPr/>
        </p:nvSpPr>
        <p:spPr>
          <a:xfrm>
            <a:off x="420128" y="2517736"/>
            <a:ext cx="7469659" cy="392559"/>
          </a:xfrm>
          <a:prstGeom prst="roundRect">
            <a:avLst>
              <a:gd name="adj" fmla="val 14810"/>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a:solidFill>
                  <a:srgbClr val="002060"/>
                </a:solidFill>
              </a:rPr>
              <a:t>df.info()</a:t>
            </a:r>
          </a:p>
          <a:p>
            <a:endParaRPr lang="en-US" sz="20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9515C23E-FEE2-A86C-94B7-37BF518B9E2C}"/>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AF1E7EAE-D547-D1DD-4B06-7D3D2B861CA6}"/>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Overview</a:t>
            </a:r>
            <a:endParaRPr>
              <a:solidFill>
                <a:srgbClr val="000000"/>
              </a:solidFill>
            </a:endParaRPr>
          </a:p>
        </p:txBody>
      </p:sp>
      <p:sp>
        <p:nvSpPr>
          <p:cNvPr id="131" name="Google Shape;131;p27">
            <a:extLst>
              <a:ext uri="{FF2B5EF4-FFF2-40B4-BE49-F238E27FC236}">
                <a16:creationId xmlns:a16="http://schemas.microsoft.com/office/drawing/2014/main" id="{6DC713AA-9C73-3619-1D63-60718AF6DE4D}"/>
              </a:ext>
            </a:extLst>
          </p:cNvPr>
          <p:cNvSpPr txBox="1">
            <a:spLocks noGrp="1"/>
          </p:cNvSpPr>
          <p:nvPr>
            <p:ph type="body" idx="1"/>
          </p:nvPr>
        </p:nvSpPr>
        <p:spPr>
          <a:xfrm>
            <a:off x="202550" y="718350"/>
            <a:ext cx="8629800" cy="4304672"/>
          </a:xfrm>
          <a:prstGeom prst="rect">
            <a:avLst/>
          </a:prstGeom>
          <a:noFill/>
          <a:ln>
            <a:noFill/>
          </a:ln>
        </p:spPr>
        <p:txBody>
          <a:bodyPr spcFirstLastPara="1" wrap="square" lIns="91425" tIns="91425" rIns="91425" bIns="91425" anchor="t" anchorCtr="0">
            <a:noAutofit/>
          </a:bodyPr>
          <a:lstStyle/>
          <a:p>
            <a:pPr marL="139700" indent="0">
              <a:lnSpc>
                <a:spcPct val="100000"/>
              </a:lnSpc>
              <a:spcBef>
                <a:spcPts val="300"/>
              </a:spcBef>
              <a:buClr>
                <a:srgbClr val="000000"/>
              </a:buClr>
              <a:buSzPts val="1400"/>
              <a:buNone/>
            </a:pPr>
            <a:r>
              <a:rPr lang="en-US" sz="1200" b="1">
                <a:solidFill>
                  <a:srgbClr val="000000"/>
                </a:solidFill>
              </a:rPr>
              <a:t>Question 3 - </a:t>
            </a:r>
            <a:r>
              <a:rPr lang="en-US" sz="1100" b="1">
                <a:solidFill>
                  <a:srgbClr val="000000"/>
                </a:solidFill>
              </a:rPr>
              <a:t>Are there any missing values in the data? If yes, treat them using an appropriate method.  [1 Mark]</a:t>
            </a:r>
            <a:endParaRPr lang="en-US" sz="1200"/>
          </a:p>
        </p:txBody>
      </p:sp>
      <p:sp>
        <p:nvSpPr>
          <p:cNvPr id="5" name="Rectangle: Rounded Corners 4">
            <a:extLst>
              <a:ext uri="{FF2B5EF4-FFF2-40B4-BE49-F238E27FC236}">
                <a16:creationId xmlns:a16="http://schemas.microsoft.com/office/drawing/2014/main" id="{FC0B6283-39EB-FBFD-03F9-4F87B1B9A86F}"/>
              </a:ext>
            </a:extLst>
          </p:cNvPr>
          <p:cNvSpPr/>
          <p:nvPr/>
        </p:nvSpPr>
        <p:spPr>
          <a:xfrm>
            <a:off x="420129" y="1105927"/>
            <a:ext cx="7469659" cy="1180073"/>
          </a:xfrm>
          <a:prstGeom prst="roundRect">
            <a:avLst>
              <a:gd name="adj" fmla="val 1721"/>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a:solidFill>
                  <a:srgbClr val="002060"/>
                </a:solidFill>
              </a:rPr>
              <a:t># Checking for missing values in the data</a:t>
            </a:r>
          </a:p>
          <a:p>
            <a:r>
              <a:rPr lang="en-US" sz="600">
                <a:solidFill>
                  <a:srgbClr val="002060"/>
                </a:solidFill>
              </a:rPr>
              <a:t>def check_missing_values(dataframe):</a:t>
            </a:r>
          </a:p>
          <a:p>
            <a:r>
              <a:rPr lang="en-US" sz="600">
                <a:solidFill>
                  <a:srgbClr val="002060"/>
                </a:solidFill>
              </a:rPr>
              <a:t>    ''' returns te missing values in each column of the dataframe'''</a:t>
            </a:r>
          </a:p>
          <a:p>
            <a:r>
              <a:rPr lang="en-US" sz="600">
                <a:solidFill>
                  <a:srgbClr val="002060"/>
                </a:solidFill>
              </a:rPr>
              <a:t>    return dataframe.isnull().sum()</a:t>
            </a:r>
          </a:p>
          <a:p>
            <a:br>
              <a:rPr lang="en-US" sz="600">
                <a:solidFill>
                  <a:srgbClr val="002060"/>
                </a:solidFill>
              </a:rPr>
            </a:br>
            <a:endParaRPr lang="en-US" sz="600">
              <a:solidFill>
                <a:srgbClr val="002060"/>
              </a:solidFill>
            </a:endParaRPr>
          </a:p>
          <a:p>
            <a:r>
              <a:rPr lang="en-US" sz="600">
                <a:solidFill>
                  <a:srgbClr val="002060"/>
                </a:solidFill>
              </a:rPr>
              <a:t>missing_values = check_missing_values(df)</a:t>
            </a:r>
          </a:p>
          <a:p>
            <a:br>
              <a:rPr lang="en-US" sz="600">
                <a:solidFill>
                  <a:srgbClr val="002060"/>
                </a:solidFill>
              </a:rPr>
            </a:br>
            <a:endParaRPr lang="en-US" sz="600">
              <a:solidFill>
                <a:srgbClr val="002060"/>
              </a:solidFill>
            </a:endParaRPr>
          </a:p>
          <a:p>
            <a:r>
              <a:rPr lang="en-US" sz="600">
                <a:solidFill>
                  <a:srgbClr val="002060"/>
                </a:solidFill>
              </a:rPr>
              <a:t>print (f"Missing Values of each column:\n{missing_values}")</a:t>
            </a:r>
          </a:p>
          <a:p>
            <a:r>
              <a:rPr lang="en-US" sz="600">
                <a:solidFill>
                  <a:srgbClr val="002060"/>
                </a:solidFill>
              </a:rPr>
              <a:t>  #Write the appropriate function to print the sum of null values for each column</a:t>
            </a:r>
          </a:p>
          <a:p>
            <a:endParaRPr lang="en-US" sz="100">
              <a:solidFill>
                <a:srgbClr val="002060"/>
              </a:solidFill>
            </a:endParaRPr>
          </a:p>
        </p:txBody>
      </p:sp>
      <p:sp>
        <p:nvSpPr>
          <p:cNvPr id="6" name="Rectangle: Rounded Corners 5">
            <a:extLst>
              <a:ext uri="{FF2B5EF4-FFF2-40B4-BE49-F238E27FC236}">
                <a16:creationId xmlns:a16="http://schemas.microsoft.com/office/drawing/2014/main" id="{A6F3F4BF-C1B7-9D79-14FD-07FF61212344}"/>
              </a:ext>
            </a:extLst>
          </p:cNvPr>
          <p:cNvSpPr/>
          <p:nvPr/>
        </p:nvSpPr>
        <p:spPr>
          <a:xfrm>
            <a:off x="420129" y="2341604"/>
            <a:ext cx="7469659" cy="2230396"/>
          </a:xfrm>
          <a:prstGeom prst="roundRect">
            <a:avLst>
              <a:gd name="adj" fmla="val 2350"/>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lvl="1">
              <a:buSzPts val="1400"/>
            </a:pPr>
            <a:r>
              <a:rPr lang="en-US" sz="700" b="1">
                <a:solidFill>
                  <a:srgbClr val="002060"/>
                </a:solidFill>
              </a:rPr>
              <a:t>Missing Values of each column:</a:t>
            </a:r>
          </a:p>
          <a:p>
            <a:pPr marL="457200" lvl="1">
              <a:buSzPts val="1400"/>
            </a:pPr>
            <a:r>
              <a:rPr lang="en-US" sz="700" b="1">
                <a:solidFill>
                  <a:srgbClr val="002060"/>
                </a:solidFill>
              </a:rPr>
              <a:t>order_id                 	0</a:t>
            </a:r>
          </a:p>
          <a:p>
            <a:pPr marL="457200" lvl="1">
              <a:buSzPts val="1400"/>
            </a:pPr>
            <a:r>
              <a:rPr lang="en-US" sz="700" b="1">
                <a:solidFill>
                  <a:srgbClr val="002060"/>
                </a:solidFill>
              </a:rPr>
              <a:t>customer_id             	0</a:t>
            </a:r>
          </a:p>
          <a:p>
            <a:pPr marL="457200" lvl="1">
              <a:buSzPts val="1400"/>
            </a:pPr>
            <a:r>
              <a:rPr lang="en-US" sz="700" b="1">
                <a:solidFill>
                  <a:srgbClr val="002060"/>
                </a:solidFill>
              </a:rPr>
              <a:t>restaurant_name         	0</a:t>
            </a:r>
          </a:p>
          <a:p>
            <a:pPr marL="457200" lvl="1">
              <a:buSzPts val="1400"/>
            </a:pPr>
            <a:r>
              <a:rPr lang="en-US" sz="700" b="1">
                <a:solidFill>
                  <a:srgbClr val="002060"/>
                </a:solidFill>
              </a:rPr>
              <a:t>cuisine_type             	0</a:t>
            </a:r>
          </a:p>
          <a:p>
            <a:pPr marL="457200" lvl="1">
              <a:buSzPts val="1400"/>
            </a:pPr>
            <a:r>
              <a:rPr lang="en-US" sz="700" b="1">
                <a:solidFill>
                  <a:srgbClr val="002060"/>
                </a:solidFill>
              </a:rPr>
              <a:t>cost_of_the_order        	0</a:t>
            </a:r>
          </a:p>
          <a:p>
            <a:pPr marL="457200" lvl="1">
              <a:buSzPts val="1400"/>
            </a:pPr>
            <a:r>
              <a:rPr lang="en-US" sz="700" b="1">
                <a:solidFill>
                  <a:srgbClr val="002060"/>
                </a:solidFill>
              </a:rPr>
              <a:t>day_of_the_week          	0</a:t>
            </a:r>
          </a:p>
          <a:p>
            <a:pPr marL="457200" lvl="1">
              <a:buSzPts val="1400"/>
            </a:pPr>
            <a:r>
              <a:rPr lang="en-US" sz="700" b="1">
                <a:solidFill>
                  <a:srgbClr val="002060"/>
                </a:solidFill>
              </a:rPr>
              <a:t>rating                   	0</a:t>
            </a:r>
          </a:p>
          <a:p>
            <a:pPr marL="457200" lvl="1">
              <a:buSzPts val="1400"/>
            </a:pPr>
            <a:r>
              <a:rPr lang="en-US" sz="700" b="1">
                <a:solidFill>
                  <a:srgbClr val="002060"/>
                </a:solidFill>
              </a:rPr>
              <a:t>food_preparation_time    	0</a:t>
            </a:r>
          </a:p>
          <a:p>
            <a:pPr marL="457200" lvl="1">
              <a:buSzPts val="1400"/>
            </a:pPr>
            <a:r>
              <a:rPr lang="en-US" sz="700" b="1">
                <a:solidFill>
                  <a:srgbClr val="002060"/>
                </a:solidFill>
              </a:rPr>
              <a:t>delivery_time            	0</a:t>
            </a:r>
          </a:p>
          <a:p>
            <a:pPr marL="457200" lvl="1">
              <a:buSzPts val="1400"/>
            </a:pPr>
            <a:r>
              <a:rPr lang="en-US" sz="700" b="1">
                <a:solidFill>
                  <a:srgbClr val="002060"/>
                </a:solidFill>
              </a:rPr>
              <a:t>dtype: int64int64</a:t>
            </a:r>
          </a:p>
          <a:p>
            <a:endParaRPr lang="en-US" sz="800">
              <a:solidFill>
                <a:srgbClr val="002060"/>
              </a:solidFill>
            </a:endParaRPr>
          </a:p>
        </p:txBody>
      </p:sp>
      <p:sp>
        <p:nvSpPr>
          <p:cNvPr id="3" name="Rectangle: Rounded Corners 2">
            <a:extLst>
              <a:ext uri="{FF2B5EF4-FFF2-40B4-BE49-F238E27FC236}">
                <a16:creationId xmlns:a16="http://schemas.microsoft.com/office/drawing/2014/main" id="{A3C68209-1EEB-8A2F-4FE2-55C04596A612}"/>
              </a:ext>
            </a:extLst>
          </p:cNvPr>
          <p:cNvSpPr/>
          <p:nvPr/>
        </p:nvSpPr>
        <p:spPr>
          <a:xfrm>
            <a:off x="4517450" y="2715071"/>
            <a:ext cx="2866768" cy="1034976"/>
          </a:xfrm>
          <a:prstGeom prst="roundRect">
            <a:avLst>
              <a:gd name="adj" fmla="val 4274"/>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800" b="1">
              <a:solidFill>
                <a:srgbClr val="002060"/>
              </a:solidFill>
            </a:endParaRPr>
          </a:p>
          <a:p>
            <a:endParaRPr lang="en-US" sz="800" b="1">
              <a:solidFill>
                <a:srgbClr val="002060"/>
              </a:solidFill>
            </a:endParaRPr>
          </a:p>
          <a:p>
            <a:pPr lvl="3"/>
            <a:r>
              <a:rPr lang="en-US" sz="800" b="1">
                <a:solidFill>
                  <a:srgbClr val="002060"/>
                </a:solidFill>
              </a:rPr>
              <a:t>   There are no columns with null values</a:t>
            </a:r>
          </a:p>
          <a:p>
            <a:r>
              <a:rPr lang="en-US" sz="800" b="1">
                <a:solidFill>
                  <a:srgbClr val="002060"/>
                </a:solidFill>
              </a:rPr>
              <a:t>   The dataset is whole in complete</a:t>
            </a:r>
          </a:p>
        </p:txBody>
      </p:sp>
    </p:spTree>
    <p:extLst>
      <p:ext uri="{BB962C8B-B14F-4D97-AF65-F5344CB8AC3E}">
        <p14:creationId xmlns:p14="http://schemas.microsoft.com/office/powerpoint/2010/main" val="2188344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A9167BE0-9AF8-F8B3-8A50-53A553AFA51A}"/>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AC4817B2-C4F5-5831-A266-F18586C51DF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Overview</a:t>
            </a:r>
            <a:endParaRPr>
              <a:solidFill>
                <a:srgbClr val="000000"/>
              </a:solidFill>
            </a:endParaRPr>
          </a:p>
        </p:txBody>
      </p:sp>
      <p:sp>
        <p:nvSpPr>
          <p:cNvPr id="131" name="Google Shape;131;p27">
            <a:extLst>
              <a:ext uri="{FF2B5EF4-FFF2-40B4-BE49-F238E27FC236}">
                <a16:creationId xmlns:a16="http://schemas.microsoft.com/office/drawing/2014/main" id="{2C119558-012F-2E81-EA07-8EABE86A1351}"/>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9700" indent="0">
              <a:lnSpc>
                <a:spcPct val="100000"/>
              </a:lnSpc>
              <a:spcBef>
                <a:spcPts val="300"/>
              </a:spcBef>
              <a:buClr>
                <a:srgbClr val="000000"/>
              </a:buClr>
              <a:buSzPts val="1400"/>
              <a:buNone/>
            </a:pPr>
            <a:r>
              <a:rPr lang="en-US" sz="1400" b="1">
                <a:solidFill>
                  <a:srgbClr val="000000"/>
                </a:solidFill>
              </a:rPr>
              <a:t>Question 4 - </a:t>
            </a:r>
            <a:r>
              <a:rPr lang="en-US" sz="800" b="1"/>
              <a:t>Check the statistical summary of the data. What is the minimum, average, and maximum time it takes for food to be prepared once an order is placed? [2 marks]</a:t>
            </a:r>
            <a:endParaRPr lang="en-US" sz="800"/>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b="1">
              <a:solidFill>
                <a:srgbClr val="000000"/>
              </a:solidFill>
            </a:endParaRPr>
          </a:p>
        </p:txBody>
      </p:sp>
      <p:sp>
        <p:nvSpPr>
          <p:cNvPr id="2" name="Rectangle: Rounded Corners 1">
            <a:extLst>
              <a:ext uri="{FF2B5EF4-FFF2-40B4-BE49-F238E27FC236}">
                <a16:creationId xmlns:a16="http://schemas.microsoft.com/office/drawing/2014/main" id="{E985EC0B-6279-3783-7819-DBBDB3576A6A}"/>
              </a:ext>
            </a:extLst>
          </p:cNvPr>
          <p:cNvSpPr/>
          <p:nvPr/>
        </p:nvSpPr>
        <p:spPr>
          <a:xfrm>
            <a:off x="420129" y="1056504"/>
            <a:ext cx="7469659" cy="234546"/>
          </a:xfrm>
          <a:prstGeom prst="roundRect">
            <a:avLst>
              <a:gd name="adj" fmla="val 14810"/>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a:solidFill>
                  <a:srgbClr val="002060"/>
                </a:solidFill>
              </a:rPr>
              <a:t>df.describe()</a:t>
            </a:r>
          </a:p>
          <a:p>
            <a:endParaRPr lang="en-US" sz="800">
              <a:solidFill>
                <a:srgbClr val="002060"/>
              </a:solidFill>
            </a:endParaRPr>
          </a:p>
        </p:txBody>
      </p:sp>
      <p:sp>
        <p:nvSpPr>
          <p:cNvPr id="3" name="Rectangle: Rounded Corners 2">
            <a:extLst>
              <a:ext uri="{FF2B5EF4-FFF2-40B4-BE49-F238E27FC236}">
                <a16:creationId xmlns:a16="http://schemas.microsoft.com/office/drawing/2014/main" id="{B30A87C7-41A5-E8DB-7BE4-E5C4A0C55554}"/>
              </a:ext>
            </a:extLst>
          </p:cNvPr>
          <p:cNvSpPr/>
          <p:nvPr/>
        </p:nvSpPr>
        <p:spPr>
          <a:xfrm>
            <a:off x="420128" y="1351040"/>
            <a:ext cx="7469659" cy="1926822"/>
          </a:xfrm>
          <a:prstGeom prst="roundRect">
            <a:avLst>
              <a:gd name="adj" fmla="val 2350"/>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800">
              <a:solidFill>
                <a:srgbClr val="002060"/>
              </a:solidFill>
            </a:endParaRPr>
          </a:p>
        </p:txBody>
      </p:sp>
      <p:graphicFrame>
        <p:nvGraphicFramePr>
          <p:cNvPr id="5" name="Table 4">
            <a:extLst>
              <a:ext uri="{FF2B5EF4-FFF2-40B4-BE49-F238E27FC236}">
                <a16:creationId xmlns:a16="http://schemas.microsoft.com/office/drawing/2014/main" id="{D3628606-5986-AFDF-3115-B2ECB51262E8}"/>
              </a:ext>
            </a:extLst>
          </p:cNvPr>
          <p:cNvGraphicFramePr>
            <a:graphicFrameLocks noGrp="1"/>
          </p:cNvGraphicFramePr>
          <p:nvPr>
            <p:extLst>
              <p:ext uri="{D42A27DB-BD31-4B8C-83A1-F6EECF244321}">
                <p14:modId xmlns:p14="http://schemas.microsoft.com/office/powerpoint/2010/main" val="1727268976"/>
              </p:ext>
            </p:extLst>
          </p:nvPr>
        </p:nvGraphicFramePr>
        <p:xfrm>
          <a:off x="516926" y="1428626"/>
          <a:ext cx="6705600" cy="1771650"/>
        </p:xfrm>
        <a:graphic>
          <a:graphicData uri="http://schemas.openxmlformats.org/drawingml/2006/table">
            <a:tbl>
              <a:tblPr/>
              <a:tblGrid>
                <a:gridCol w="1117600">
                  <a:extLst>
                    <a:ext uri="{9D8B030D-6E8A-4147-A177-3AD203B41FA5}">
                      <a16:colId xmlns:a16="http://schemas.microsoft.com/office/drawing/2014/main" val="2378900448"/>
                    </a:ext>
                  </a:extLst>
                </a:gridCol>
                <a:gridCol w="1117600">
                  <a:extLst>
                    <a:ext uri="{9D8B030D-6E8A-4147-A177-3AD203B41FA5}">
                      <a16:colId xmlns:a16="http://schemas.microsoft.com/office/drawing/2014/main" val="2956991615"/>
                    </a:ext>
                  </a:extLst>
                </a:gridCol>
                <a:gridCol w="1117600">
                  <a:extLst>
                    <a:ext uri="{9D8B030D-6E8A-4147-A177-3AD203B41FA5}">
                      <a16:colId xmlns:a16="http://schemas.microsoft.com/office/drawing/2014/main" val="457355167"/>
                    </a:ext>
                  </a:extLst>
                </a:gridCol>
                <a:gridCol w="1117600">
                  <a:extLst>
                    <a:ext uri="{9D8B030D-6E8A-4147-A177-3AD203B41FA5}">
                      <a16:colId xmlns:a16="http://schemas.microsoft.com/office/drawing/2014/main" val="2923297969"/>
                    </a:ext>
                  </a:extLst>
                </a:gridCol>
                <a:gridCol w="1117600">
                  <a:extLst>
                    <a:ext uri="{9D8B030D-6E8A-4147-A177-3AD203B41FA5}">
                      <a16:colId xmlns:a16="http://schemas.microsoft.com/office/drawing/2014/main" val="2348356355"/>
                    </a:ext>
                  </a:extLst>
                </a:gridCol>
                <a:gridCol w="1117600">
                  <a:extLst>
                    <a:ext uri="{9D8B030D-6E8A-4147-A177-3AD203B41FA5}">
                      <a16:colId xmlns:a16="http://schemas.microsoft.com/office/drawing/2014/main" val="3994403329"/>
                    </a:ext>
                  </a:extLst>
                </a:gridCol>
              </a:tblGrid>
              <a:tr h="300990">
                <a:tc>
                  <a:txBody>
                    <a:bodyPr/>
                    <a:lstStyle/>
                    <a:p>
                      <a:pPr algn="ctr" fontAlgn="ctr">
                        <a:buNone/>
                      </a:pPr>
                      <a:r>
                        <a:rPr lang="en-US" sz="1000" b="1" i="0" u="none" strike="noStrike">
                          <a:solidFill>
                            <a:srgbClr val="000000"/>
                          </a:solidFill>
                          <a:effectLst/>
                          <a:latin typeface="Aptos Narrow" panose="020B0004020202020204" pitchFamily="34" charset="0"/>
                        </a:rPr>
                        <a:t> </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Aptos Narrow" panose="020B0004020202020204" pitchFamily="34" charset="0"/>
                        </a:rPr>
                        <a:t>order_id</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Aptos Narrow" panose="020B0004020202020204" pitchFamily="34" charset="0"/>
                        </a:rPr>
                        <a:t>customer_id</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Aptos Narrow" panose="020B0004020202020204" pitchFamily="34" charset="0"/>
                        </a:rPr>
                        <a:t>cost_of_the_order</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Aptos Narrow" panose="020B0004020202020204" pitchFamily="34" charset="0"/>
                        </a:rPr>
                        <a:t>food_preparation_time</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Aptos Narrow" panose="020B0004020202020204" pitchFamily="34" charset="0"/>
                        </a:rPr>
                        <a:t>delivery_time</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0166613"/>
                  </a:ext>
                </a:extLst>
              </a:tr>
              <a:tr h="182880">
                <a:tc>
                  <a:txBody>
                    <a:bodyPr/>
                    <a:lstStyle/>
                    <a:p>
                      <a:pPr algn="ctr" fontAlgn="ctr">
                        <a:buNone/>
                      </a:pPr>
                      <a:r>
                        <a:rPr lang="en-US" sz="1000" b="1" i="0" u="none" strike="noStrike">
                          <a:solidFill>
                            <a:srgbClr val="000000"/>
                          </a:solidFill>
                          <a:effectLst/>
                          <a:latin typeface="Aptos Narrow" panose="020B0004020202020204" pitchFamily="34" charset="0"/>
                        </a:rPr>
                        <a:t>count</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1.90E+03</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1898</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1898</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1898</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1898</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4437456"/>
                  </a:ext>
                </a:extLst>
              </a:tr>
              <a:tr h="182880">
                <a:tc>
                  <a:txBody>
                    <a:bodyPr/>
                    <a:lstStyle/>
                    <a:p>
                      <a:pPr algn="ctr" fontAlgn="ctr">
                        <a:buNone/>
                      </a:pPr>
                      <a:r>
                        <a:rPr lang="en-US" sz="1000" b="1" i="0" u="none" strike="noStrike">
                          <a:solidFill>
                            <a:srgbClr val="000000"/>
                          </a:solidFill>
                          <a:effectLst/>
                          <a:latin typeface="Aptos Narrow" panose="020B0004020202020204" pitchFamily="34" charset="0"/>
                        </a:rPr>
                        <a:t>mean</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1.48E+06</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171168.4784</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16.498851</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27.37197</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24.161749</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8340365"/>
                  </a:ext>
                </a:extLst>
              </a:tr>
              <a:tr h="182880">
                <a:tc>
                  <a:txBody>
                    <a:bodyPr/>
                    <a:lstStyle/>
                    <a:p>
                      <a:pPr algn="ctr" fontAlgn="ctr">
                        <a:buNone/>
                      </a:pPr>
                      <a:r>
                        <a:rPr lang="en-US" sz="1000" b="1" i="0" u="none" strike="noStrike">
                          <a:solidFill>
                            <a:srgbClr val="000000"/>
                          </a:solidFill>
                          <a:effectLst/>
                          <a:latin typeface="Aptos Narrow" panose="020B0004020202020204" pitchFamily="34" charset="0"/>
                        </a:rPr>
                        <a:t>std</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5.48E+02</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113698.1397</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7.483812</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4.632481</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4.972637</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8968276"/>
                  </a:ext>
                </a:extLst>
              </a:tr>
              <a:tr h="182880">
                <a:tc>
                  <a:txBody>
                    <a:bodyPr/>
                    <a:lstStyle/>
                    <a:p>
                      <a:pPr algn="ctr" fontAlgn="ctr">
                        <a:buNone/>
                      </a:pPr>
                      <a:r>
                        <a:rPr lang="en-US" sz="1000" b="1" i="0" u="none" strike="noStrike">
                          <a:solidFill>
                            <a:srgbClr val="000000"/>
                          </a:solidFill>
                          <a:effectLst/>
                          <a:latin typeface="Aptos Narrow" panose="020B0004020202020204" pitchFamily="34" charset="0"/>
                        </a:rPr>
                        <a:t>min</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1.48E+06</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1311</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4.47</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20</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15</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0566321"/>
                  </a:ext>
                </a:extLst>
              </a:tr>
              <a:tr h="182880">
                <a:tc>
                  <a:txBody>
                    <a:bodyPr/>
                    <a:lstStyle/>
                    <a:p>
                      <a:pPr algn="ctr" fontAlgn="ctr">
                        <a:buNone/>
                      </a:pPr>
                      <a:r>
                        <a:rPr lang="en-US" sz="1000" b="1" i="0" u="none" strike="noStrike">
                          <a:solidFill>
                            <a:srgbClr val="000000"/>
                          </a:solidFill>
                          <a:effectLst/>
                          <a:latin typeface="Aptos Narrow" panose="020B0004020202020204" pitchFamily="34" charset="0"/>
                        </a:rPr>
                        <a:t>25%</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1.48E+06</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77787.75</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12.08</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23</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20</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5865976"/>
                  </a:ext>
                </a:extLst>
              </a:tr>
              <a:tr h="182880">
                <a:tc>
                  <a:txBody>
                    <a:bodyPr/>
                    <a:lstStyle/>
                    <a:p>
                      <a:pPr algn="ctr" fontAlgn="ctr">
                        <a:buNone/>
                      </a:pPr>
                      <a:r>
                        <a:rPr lang="en-US" sz="1000" b="1" i="0" u="none" strike="noStrike">
                          <a:solidFill>
                            <a:srgbClr val="000000"/>
                          </a:solidFill>
                          <a:effectLst/>
                          <a:latin typeface="Aptos Narrow" panose="020B0004020202020204" pitchFamily="34" charset="0"/>
                        </a:rPr>
                        <a:t>50%</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1.48E+06</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128600</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14.14</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27</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25</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848647"/>
                  </a:ext>
                </a:extLst>
              </a:tr>
              <a:tr h="182880">
                <a:tc>
                  <a:txBody>
                    <a:bodyPr/>
                    <a:lstStyle/>
                    <a:p>
                      <a:pPr algn="ctr" fontAlgn="ctr">
                        <a:buNone/>
                      </a:pPr>
                      <a:r>
                        <a:rPr lang="en-US" sz="1000" b="1" i="0" u="none" strike="noStrike">
                          <a:solidFill>
                            <a:srgbClr val="000000"/>
                          </a:solidFill>
                          <a:effectLst/>
                          <a:latin typeface="Aptos Narrow" panose="020B0004020202020204" pitchFamily="34" charset="0"/>
                        </a:rPr>
                        <a:t>75%</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1.48E+06</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270525</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22.2975</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31</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28</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9462504"/>
                  </a:ext>
                </a:extLst>
              </a:tr>
              <a:tr h="182880">
                <a:tc>
                  <a:txBody>
                    <a:bodyPr/>
                    <a:lstStyle/>
                    <a:p>
                      <a:pPr algn="ctr" fontAlgn="ctr">
                        <a:buNone/>
                      </a:pPr>
                      <a:r>
                        <a:rPr lang="en-US" sz="1000" b="1" i="0" u="none" strike="noStrike">
                          <a:solidFill>
                            <a:srgbClr val="000000"/>
                          </a:solidFill>
                          <a:effectLst/>
                          <a:latin typeface="Aptos Narrow" panose="020B0004020202020204" pitchFamily="34" charset="0"/>
                        </a:rPr>
                        <a:t>max</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1.48E+06</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405334</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35.41</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35</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000" b="0" i="0" u="none" strike="noStrike">
                          <a:solidFill>
                            <a:srgbClr val="000000"/>
                          </a:solidFill>
                          <a:effectLst/>
                          <a:latin typeface="Aptos Narrow" panose="020B0004020202020204" pitchFamily="34" charset="0"/>
                        </a:rPr>
                        <a:t>33</a:t>
                      </a: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5723431"/>
                  </a:ext>
                </a:extLst>
              </a:tr>
            </a:tbl>
          </a:graphicData>
        </a:graphic>
      </p:graphicFrame>
      <p:sp>
        <p:nvSpPr>
          <p:cNvPr id="6" name="Rectangle: Rounded Corners 5">
            <a:extLst>
              <a:ext uri="{FF2B5EF4-FFF2-40B4-BE49-F238E27FC236}">
                <a16:creationId xmlns:a16="http://schemas.microsoft.com/office/drawing/2014/main" id="{8F358F8E-E36F-270A-DC93-A3F938D17ED6}"/>
              </a:ext>
            </a:extLst>
          </p:cNvPr>
          <p:cNvSpPr/>
          <p:nvPr/>
        </p:nvSpPr>
        <p:spPr>
          <a:xfrm>
            <a:off x="5023019" y="3249435"/>
            <a:ext cx="2866768" cy="1034976"/>
          </a:xfrm>
          <a:prstGeom prst="roundRect">
            <a:avLst>
              <a:gd name="adj" fmla="val 4274"/>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700" b="1">
                <a:solidFill>
                  <a:srgbClr val="002060"/>
                </a:solidFill>
              </a:rPr>
              <a:t>####</a:t>
            </a:r>
            <a:endParaRPr lang="en-US" sz="700">
              <a:solidFill>
                <a:srgbClr val="002060"/>
              </a:solidFill>
            </a:endParaRPr>
          </a:p>
          <a:p>
            <a:r>
              <a:rPr lang="en-US" sz="700" b="1">
                <a:solidFill>
                  <a:srgbClr val="002060"/>
                </a:solidFill>
              </a:rPr>
              <a:t>#### The minimum time to prepare the food was 20.00 Min</a:t>
            </a:r>
            <a:endParaRPr lang="en-US" sz="700">
              <a:solidFill>
                <a:srgbClr val="002060"/>
              </a:solidFill>
            </a:endParaRPr>
          </a:p>
          <a:p>
            <a:r>
              <a:rPr lang="en-US" sz="700" b="1">
                <a:solidFill>
                  <a:srgbClr val="002060"/>
                </a:solidFill>
              </a:rPr>
              <a:t>#### The average time to prepare the food was 27.37 Min</a:t>
            </a:r>
            <a:endParaRPr lang="en-US" sz="700">
              <a:solidFill>
                <a:srgbClr val="002060"/>
              </a:solidFill>
            </a:endParaRPr>
          </a:p>
          <a:p>
            <a:r>
              <a:rPr lang="en-US" sz="700" b="1">
                <a:solidFill>
                  <a:srgbClr val="002060"/>
                </a:solidFill>
              </a:rPr>
              <a:t>#### The max time to prepare the food was     35.00 Min</a:t>
            </a:r>
            <a:endParaRPr lang="en-US" sz="700">
              <a:solidFill>
                <a:srgbClr val="002060"/>
              </a:solidFill>
            </a:endParaRPr>
          </a:p>
          <a:p>
            <a:r>
              <a:rPr lang="en-US" sz="700" b="1">
                <a:solidFill>
                  <a:srgbClr val="002060"/>
                </a:solidFill>
              </a:rPr>
              <a:t>####</a:t>
            </a:r>
            <a:endParaRPr lang="en-US" sz="700">
              <a:solidFill>
                <a:srgbClr val="002060"/>
              </a:solidFill>
            </a:endParaRPr>
          </a:p>
          <a:p>
            <a:endParaRPr lang="en-US" sz="100" b="1">
              <a:solidFill>
                <a:srgbClr val="002060"/>
              </a:solidFill>
            </a:endParaRPr>
          </a:p>
        </p:txBody>
      </p:sp>
    </p:spTree>
    <p:extLst>
      <p:ext uri="{BB962C8B-B14F-4D97-AF65-F5344CB8AC3E}">
        <p14:creationId xmlns:p14="http://schemas.microsoft.com/office/powerpoint/2010/main" val="13908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8D9D90E3-ED78-66FE-5109-5CC3B9990284}"/>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3BFD41E7-7C8F-9A3F-D80E-C236D2F12AA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Overview</a:t>
            </a:r>
            <a:endParaRPr>
              <a:solidFill>
                <a:srgbClr val="000000"/>
              </a:solidFill>
            </a:endParaRPr>
          </a:p>
        </p:txBody>
      </p:sp>
      <p:sp>
        <p:nvSpPr>
          <p:cNvPr id="131" name="Google Shape;131;p27">
            <a:extLst>
              <a:ext uri="{FF2B5EF4-FFF2-40B4-BE49-F238E27FC236}">
                <a16:creationId xmlns:a16="http://schemas.microsoft.com/office/drawing/2014/main" id="{884EBF74-6D42-FA3B-C1E8-EB757CB1A74E}"/>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9700" indent="0">
              <a:lnSpc>
                <a:spcPct val="100000"/>
              </a:lnSpc>
              <a:spcBef>
                <a:spcPts val="300"/>
              </a:spcBef>
              <a:buClr>
                <a:srgbClr val="000000"/>
              </a:buClr>
              <a:buSzPts val="1400"/>
              <a:buNone/>
            </a:pPr>
            <a:r>
              <a:rPr lang="en-US" sz="1400" b="1">
                <a:solidFill>
                  <a:srgbClr val="000000"/>
                </a:solidFill>
              </a:rPr>
              <a:t>Question 5 - </a:t>
            </a:r>
            <a:r>
              <a:rPr lang="en-US" b="1"/>
              <a:t>How many orders are not rated? [1 mark]</a:t>
            </a:r>
            <a:endParaRPr lang="en-US"/>
          </a:p>
          <a:p>
            <a:pPr marL="139700" indent="0">
              <a:lnSpc>
                <a:spcPct val="100000"/>
              </a:lnSpc>
              <a:spcBef>
                <a:spcPts val="300"/>
              </a:spcBef>
              <a:buClr>
                <a:srgbClr val="000000"/>
              </a:buClr>
              <a:buSzPts val="1400"/>
              <a:buNone/>
            </a:pPr>
            <a:r>
              <a:rPr lang="en-US" sz="1400" b="1">
                <a:solidFill>
                  <a:srgbClr val="000000"/>
                </a:solidFill>
              </a:rPr>
              <a:t> </a:t>
            </a: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b="1">
              <a:solidFill>
                <a:srgbClr val="000000"/>
              </a:solidFill>
            </a:endParaRPr>
          </a:p>
        </p:txBody>
      </p:sp>
      <p:sp>
        <p:nvSpPr>
          <p:cNvPr id="2" name="Rectangle: Rounded Corners 1">
            <a:extLst>
              <a:ext uri="{FF2B5EF4-FFF2-40B4-BE49-F238E27FC236}">
                <a16:creationId xmlns:a16="http://schemas.microsoft.com/office/drawing/2014/main" id="{6486300D-6E6B-0119-81DC-9FBBE8F45911}"/>
              </a:ext>
            </a:extLst>
          </p:cNvPr>
          <p:cNvSpPr/>
          <p:nvPr/>
        </p:nvSpPr>
        <p:spPr>
          <a:xfrm>
            <a:off x="420129" y="1056504"/>
            <a:ext cx="7469659" cy="572700"/>
          </a:xfrm>
          <a:prstGeom prst="roundRect">
            <a:avLst>
              <a:gd name="adj" fmla="val 6534"/>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a:solidFill>
                  <a:srgbClr val="002060"/>
                </a:solidFill>
              </a:rPr>
              <a:t>#df['rating'].value_counts()['Not given'] ## Complete the code</a:t>
            </a:r>
          </a:p>
          <a:p>
            <a:br>
              <a:rPr lang="en-US" sz="600">
                <a:solidFill>
                  <a:srgbClr val="002060"/>
                </a:solidFill>
              </a:rPr>
            </a:br>
            <a:r>
              <a:rPr lang="en-US" sz="600">
                <a:solidFill>
                  <a:srgbClr val="002060"/>
                </a:solidFill>
              </a:rPr>
              <a:t># disregard of capitalization</a:t>
            </a:r>
          </a:p>
          <a:p>
            <a:r>
              <a:rPr lang="en-US" sz="600">
                <a:solidFill>
                  <a:srgbClr val="002060"/>
                </a:solidFill>
              </a:rPr>
              <a:t>count = (df['rating'].str.lower() == 'not given').sum()</a:t>
            </a:r>
          </a:p>
          <a:p>
            <a:r>
              <a:rPr lang="en-US" sz="600">
                <a:solidFill>
                  <a:srgbClr val="002060"/>
                </a:solidFill>
              </a:rPr>
              <a:t>print(f"Number of 'Not given' ratings: {count}")</a:t>
            </a:r>
          </a:p>
          <a:p>
            <a:endParaRPr lang="en-US" sz="100">
              <a:solidFill>
                <a:srgbClr val="002060"/>
              </a:solidFill>
            </a:endParaRPr>
          </a:p>
        </p:txBody>
      </p:sp>
      <p:sp>
        <p:nvSpPr>
          <p:cNvPr id="3" name="Rectangle: Rounded Corners 2">
            <a:extLst>
              <a:ext uri="{FF2B5EF4-FFF2-40B4-BE49-F238E27FC236}">
                <a16:creationId xmlns:a16="http://schemas.microsoft.com/office/drawing/2014/main" id="{5B7B9AED-29DA-86FA-64E1-4E29E0D8A023}"/>
              </a:ext>
            </a:extLst>
          </p:cNvPr>
          <p:cNvSpPr/>
          <p:nvPr/>
        </p:nvSpPr>
        <p:spPr>
          <a:xfrm>
            <a:off x="420129" y="1666875"/>
            <a:ext cx="7469659" cy="1334762"/>
          </a:xfrm>
          <a:prstGeom prst="roundRect">
            <a:avLst>
              <a:gd name="adj" fmla="val 2350"/>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a:solidFill>
                  <a:srgbClr val="002060"/>
                </a:solidFill>
              </a:rPr>
              <a:t>Number of 'Not given' ratings: 736 </a:t>
            </a:r>
          </a:p>
          <a:p>
            <a:br>
              <a:rPr lang="en-US" sz="1100">
                <a:solidFill>
                  <a:srgbClr val="002060"/>
                </a:solidFill>
              </a:rPr>
            </a:br>
            <a:endParaRPr lang="en-US" sz="600">
              <a:solidFill>
                <a:srgbClr val="002060"/>
              </a:solidFill>
            </a:endParaRPr>
          </a:p>
        </p:txBody>
      </p:sp>
      <p:sp>
        <p:nvSpPr>
          <p:cNvPr id="9" name="Rectangle: Rounded Corners 8">
            <a:extLst>
              <a:ext uri="{FF2B5EF4-FFF2-40B4-BE49-F238E27FC236}">
                <a16:creationId xmlns:a16="http://schemas.microsoft.com/office/drawing/2014/main" id="{13CE6B09-D665-1766-DA8B-E4C2E2DB2BC4}"/>
              </a:ext>
            </a:extLst>
          </p:cNvPr>
          <p:cNvSpPr/>
          <p:nvPr/>
        </p:nvSpPr>
        <p:spPr>
          <a:xfrm>
            <a:off x="5023020" y="3001637"/>
            <a:ext cx="2866768" cy="1034976"/>
          </a:xfrm>
          <a:prstGeom prst="roundRect">
            <a:avLst>
              <a:gd name="adj" fmla="val 4274"/>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50" b="1">
                <a:solidFill>
                  <a:srgbClr val="002060"/>
                </a:solidFill>
              </a:rPr>
              <a:t>736 orders were not rated out of 1898, meaning 39% of the orders were not rate</a:t>
            </a:r>
            <a:endParaRPr lang="en-US" sz="1050">
              <a:solidFill>
                <a:srgbClr val="002060"/>
              </a:solidFill>
            </a:endParaRPr>
          </a:p>
          <a:p>
            <a:endParaRPr lang="en-US" sz="100" b="1">
              <a:solidFill>
                <a:srgbClr val="002060"/>
              </a:solidFill>
            </a:endParaRPr>
          </a:p>
        </p:txBody>
      </p:sp>
    </p:spTree>
    <p:extLst>
      <p:ext uri="{BB962C8B-B14F-4D97-AF65-F5344CB8AC3E}">
        <p14:creationId xmlns:p14="http://schemas.microsoft.com/office/powerpoint/2010/main" val="989807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CA6A3AED-677B-FCDC-90B1-56CA4C4FD024}"/>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376E03A3-614D-E47E-92D4-D692A3525511}"/>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sp>
        <p:nvSpPr>
          <p:cNvPr id="131" name="Google Shape;131;p27">
            <a:extLst>
              <a:ext uri="{FF2B5EF4-FFF2-40B4-BE49-F238E27FC236}">
                <a16:creationId xmlns:a16="http://schemas.microsoft.com/office/drawing/2014/main" id="{624A3745-82CF-925C-CCA5-20C2512CC1F9}"/>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3350" indent="0">
              <a:buNone/>
            </a:pPr>
            <a:r>
              <a:rPr lang="en-US" sz="1400" b="1">
                <a:solidFill>
                  <a:srgbClr val="000000"/>
                </a:solidFill>
              </a:rPr>
              <a:t>Question 6 - </a:t>
            </a:r>
            <a:r>
              <a:rPr lang="en-US" sz="700" b="1"/>
              <a:t>Explore all the variables and provide observations on their distributions. (Generally</a:t>
            </a:r>
            <a:r>
              <a:rPr lang="en-US" sz="100" b="1"/>
              <a:t>, </a:t>
            </a:r>
            <a:r>
              <a:rPr lang="en-US" sz="700" b="1"/>
              <a:t>histograms, boxplots, countplots, etc. are used for </a:t>
            </a:r>
            <a:r>
              <a:rPr lang="en-US" sz="900" b="1"/>
              <a:t>univariate exploration.) [9 marks]</a:t>
            </a:r>
            <a:endParaRPr lang="en-US"/>
          </a:p>
          <a:p>
            <a:pPr marL="139700" indent="0">
              <a:lnSpc>
                <a:spcPct val="100000"/>
              </a:lnSpc>
              <a:spcBef>
                <a:spcPts val="300"/>
              </a:spcBef>
              <a:buClr>
                <a:srgbClr val="000000"/>
              </a:buClr>
              <a:buSzPts val="1400"/>
              <a:buNone/>
            </a:pPr>
            <a:r>
              <a:rPr lang="en-US" sz="1400" b="1">
                <a:solidFill>
                  <a:srgbClr val="000000"/>
                </a:solidFill>
              </a:rPr>
              <a:t> </a:t>
            </a: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b="1">
              <a:solidFill>
                <a:srgbClr val="000000"/>
              </a:solidFill>
            </a:endParaRPr>
          </a:p>
        </p:txBody>
      </p:sp>
      <p:sp>
        <p:nvSpPr>
          <p:cNvPr id="2" name="Rectangle: Rounded Corners 1">
            <a:extLst>
              <a:ext uri="{FF2B5EF4-FFF2-40B4-BE49-F238E27FC236}">
                <a16:creationId xmlns:a16="http://schemas.microsoft.com/office/drawing/2014/main" id="{A0F90610-C037-9B83-1345-50D31B5C2B8B}"/>
              </a:ext>
            </a:extLst>
          </p:cNvPr>
          <p:cNvSpPr/>
          <p:nvPr/>
        </p:nvSpPr>
        <p:spPr>
          <a:xfrm>
            <a:off x="420129" y="1081119"/>
            <a:ext cx="7469659" cy="3773102"/>
          </a:xfrm>
          <a:prstGeom prst="roundRect">
            <a:avLst>
              <a:gd name="adj" fmla="val 1683"/>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00">
              <a:solidFill>
                <a:srgbClr val="002060"/>
              </a:solidFill>
            </a:endParaRPr>
          </a:p>
        </p:txBody>
      </p:sp>
      <p:sp>
        <p:nvSpPr>
          <p:cNvPr id="9" name="Rectangle: Rounded Corners 8">
            <a:extLst>
              <a:ext uri="{FF2B5EF4-FFF2-40B4-BE49-F238E27FC236}">
                <a16:creationId xmlns:a16="http://schemas.microsoft.com/office/drawing/2014/main" id="{B848FAAC-9810-4943-4C77-D1FCCE1BD223}"/>
              </a:ext>
            </a:extLst>
          </p:cNvPr>
          <p:cNvSpPr/>
          <p:nvPr/>
        </p:nvSpPr>
        <p:spPr>
          <a:xfrm>
            <a:off x="5778653" y="1619250"/>
            <a:ext cx="1727113" cy="2245913"/>
          </a:xfrm>
          <a:prstGeom prst="roundRect">
            <a:avLst>
              <a:gd name="adj" fmla="val 4274"/>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solidFill>
                  <a:srgbClr val="002060"/>
                </a:solidFill>
              </a:rPr>
              <a:t>Out of 1898 customer orders there are 1200 unique customers, from 178 Restaurantes providing 14 Cuisine Types. </a:t>
            </a:r>
            <a:endParaRPr lang="en-US" sz="1050">
              <a:solidFill>
                <a:srgbClr val="002060"/>
              </a:solidFill>
            </a:endParaRPr>
          </a:p>
          <a:p>
            <a:endParaRPr lang="en-US" sz="100" b="1">
              <a:solidFill>
                <a:srgbClr val="002060"/>
              </a:solidFill>
            </a:endParaRPr>
          </a:p>
        </p:txBody>
      </p:sp>
      <p:pic>
        <p:nvPicPr>
          <p:cNvPr id="5" name="Picture 4">
            <a:extLst>
              <a:ext uri="{FF2B5EF4-FFF2-40B4-BE49-F238E27FC236}">
                <a16:creationId xmlns:a16="http://schemas.microsoft.com/office/drawing/2014/main" id="{C1B727EC-0719-EC6F-59E5-16FD905BCBB5}"/>
              </a:ext>
            </a:extLst>
          </p:cNvPr>
          <p:cNvPicPr>
            <a:picLocks noChangeAspect="1"/>
          </p:cNvPicPr>
          <p:nvPr/>
        </p:nvPicPr>
        <p:blipFill>
          <a:blip r:embed="rId3"/>
          <a:stretch>
            <a:fillRect/>
          </a:stretch>
        </p:blipFill>
        <p:spPr>
          <a:xfrm>
            <a:off x="478482" y="1183593"/>
            <a:ext cx="5068878" cy="3400425"/>
          </a:xfrm>
          <a:prstGeom prst="roundRect">
            <a:avLst>
              <a:gd name="adj" fmla="val 2521"/>
            </a:avLst>
          </a:prstGeom>
        </p:spPr>
      </p:pic>
    </p:spTree>
    <p:extLst>
      <p:ext uri="{BB962C8B-B14F-4D97-AF65-F5344CB8AC3E}">
        <p14:creationId xmlns:p14="http://schemas.microsoft.com/office/powerpoint/2010/main" val="1364076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43301DB3-1B34-2E87-AC5C-FCE99BFFD36F}"/>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F5852C83-8F14-1D63-56AB-279AD60320F8}"/>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sp>
        <p:nvSpPr>
          <p:cNvPr id="131" name="Google Shape;131;p27">
            <a:extLst>
              <a:ext uri="{FF2B5EF4-FFF2-40B4-BE49-F238E27FC236}">
                <a16:creationId xmlns:a16="http://schemas.microsoft.com/office/drawing/2014/main" id="{64AB85C2-1C70-8D77-7101-DFE8961010F5}"/>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3350" indent="0">
              <a:buNone/>
            </a:pPr>
            <a:r>
              <a:rPr lang="en-US" sz="1400" b="1">
                <a:solidFill>
                  <a:srgbClr val="000000"/>
                </a:solidFill>
              </a:rPr>
              <a:t>Question 6 - </a:t>
            </a:r>
            <a:r>
              <a:rPr lang="en-US" sz="700" b="1"/>
              <a:t>Explore all the variables and provide observations on their distributions. (Generally</a:t>
            </a:r>
            <a:r>
              <a:rPr lang="en-US" sz="100" b="1"/>
              <a:t>, </a:t>
            </a:r>
            <a:r>
              <a:rPr lang="en-US" sz="700" b="1"/>
              <a:t>histograms, boxplots, countplots, etc. are used for </a:t>
            </a:r>
            <a:r>
              <a:rPr lang="en-US" sz="900" b="1"/>
              <a:t>univariate exploration.) [9 marks]</a:t>
            </a:r>
            <a:endParaRPr lang="en-US"/>
          </a:p>
          <a:p>
            <a:pPr marL="139700" indent="0">
              <a:lnSpc>
                <a:spcPct val="100000"/>
              </a:lnSpc>
              <a:spcBef>
                <a:spcPts val="300"/>
              </a:spcBef>
              <a:buClr>
                <a:srgbClr val="000000"/>
              </a:buClr>
              <a:buSzPts val="1400"/>
              <a:buNone/>
            </a:pPr>
            <a:r>
              <a:rPr lang="en-US" sz="1400" b="1">
                <a:solidFill>
                  <a:srgbClr val="000000"/>
                </a:solidFill>
              </a:rPr>
              <a:t> </a:t>
            </a: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b="1">
              <a:solidFill>
                <a:srgbClr val="000000"/>
              </a:solidFill>
            </a:endParaRPr>
          </a:p>
        </p:txBody>
      </p:sp>
      <p:sp>
        <p:nvSpPr>
          <p:cNvPr id="2" name="Rectangle: Rounded Corners 1">
            <a:extLst>
              <a:ext uri="{FF2B5EF4-FFF2-40B4-BE49-F238E27FC236}">
                <a16:creationId xmlns:a16="http://schemas.microsoft.com/office/drawing/2014/main" id="{78EF118C-7C17-7190-6C80-4B31DB851FCA}"/>
              </a:ext>
            </a:extLst>
          </p:cNvPr>
          <p:cNvSpPr/>
          <p:nvPr/>
        </p:nvSpPr>
        <p:spPr>
          <a:xfrm>
            <a:off x="420129" y="1081119"/>
            <a:ext cx="7469659" cy="3773102"/>
          </a:xfrm>
          <a:prstGeom prst="roundRect">
            <a:avLst>
              <a:gd name="adj" fmla="val 1683"/>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00">
              <a:solidFill>
                <a:srgbClr val="002060"/>
              </a:solidFill>
            </a:endParaRPr>
          </a:p>
        </p:txBody>
      </p:sp>
      <p:pic>
        <p:nvPicPr>
          <p:cNvPr id="4" name="Picture 3">
            <a:extLst>
              <a:ext uri="{FF2B5EF4-FFF2-40B4-BE49-F238E27FC236}">
                <a16:creationId xmlns:a16="http://schemas.microsoft.com/office/drawing/2014/main" id="{C8329E21-8FC1-D50C-4FF4-F94780064285}"/>
              </a:ext>
            </a:extLst>
          </p:cNvPr>
          <p:cNvPicPr>
            <a:picLocks noChangeAspect="1"/>
          </p:cNvPicPr>
          <p:nvPr/>
        </p:nvPicPr>
        <p:blipFill>
          <a:blip r:embed="rId3"/>
          <a:stretch>
            <a:fillRect/>
          </a:stretch>
        </p:blipFill>
        <p:spPr>
          <a:xfrm>
            <a:off x="571500" y="1151217"/>
            <a:ext cx="4704814" cy="3558896"/>
          </a:xfrm>
          <a:prstGeom prst="roundRect">
            <a:avLst>
              <a:gd name="adj" fmla="val 876"/>
            </a:avLst>
          </a:prstGeom>
        </p:spPr>
      </p:pic>
      <p:sp>
        <p:nvSpPr>
          <p:cNvPr id="6" name="Rectangle: Rounded Corners 5">
            <a:extLst>
              <a:ext uri="{FF2B5EF4-FFF2-40B4-BE49-F238E27FC236}">
                <a16:creationId xmlns:a16="http://schemas.microsoft.com/office/drawing/2014/main" id="{749AD89A-B9A9-EC97-01C8-2FA1BF252F80}"/>
              </a:ext>
            </a:extLst>
          </p:cNvPr>
          <p:cNvSpPr/>
          <p:nvPr/>
        </p:nvSpPr>
        <p:spPr>
          <a:xfrm>
            <a:off x="5367339" y="1619250"/>
            <a:ext cx="2419350" cy="2443131"/>
          </a:xfrm>
          <a:prstGeom prst="roundRect">
            <a:avLst>
              <a:gd name="adj" fmla="val 4274"/>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1">
                <a:solidFill>
                  <a:srgbClr val="002060"/>
                </a:solidFill>
              </a:rPr>
              <a:t>The restaurants that most sell are americans and japaneses, followed by Italians and chinese. </a:t>
            </a:r>
            <a:endParaRPr lang="en-US" sz="800">
              <a:solidFill>
                <a:srgbClr val="002060"/>
              </a:solidFill>
            </a:endParaRPr>
          </a:p>
          <a:p>
            <a:r>
              <a:rPr lang="en-US" sz="800" b="1">
                <a:solidFill>
                  <a:srgbClr val="002060"/>
                </a:solidFill>
              </a:rPr>
              <a:t>It appears that customer do not prefer  Vietnameses, spanishes, and koreans, considering the orders. Despite, there are more Korean restaurants than vietnamese and sourthern. </a:t>
            </a:r>
            <a:endParaRPr lang="en-US" sz="800">
              <a:solidFill>
                <a:srgbClr val="002060"/>
              </a:solidFill>
            </a:endParaRPr>
          </a:p>
          <a:p>
            <a:br>
              <a:rPr lang="en-US" sz="800">
                <a:solidFill>
                  <a:srgbClr val="002060"/>
                </a:solidFill>
              </a:rPr>
            </a:br>
            <a:endParaRPr lang="en-US" sz="800">
              <a:solidFill>
                <a:srgbClr val="002060"/>
              </a:solidFill>
            </a:endParaRPr>
          </a:p>
          <a:p>
            <a:endParaRPr lang="en-US" sz="100" b="1">
              <a:solidFill>
                <a:srgbClr val="002060"/>
              </a:solidFill>
            </a:endParaRPr>
          </a:p>
        </p:txBody>
      </p:sp>
    </p:spTree>
    <p:extLst>
      <p:ext uri="{BB962C8B-B14F-4D97-AF65-F5344CB8AC3E}">
        <p14:creationId xmlns:p14="http://schemas.microsoft.com/office/powerpoint/2010/main" val="2395819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3AFB31FA-F7E4-43E7-1C80-BB0C7C993EA8}"/>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F75F0DA6-7EA8-82E9-F54F-90E3AA5D3671}"/>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sp>
        <p:nvSpPr>
          <p:cNvPr id="131" name="Google Shape;131;p27">
            <a:extLst>
              <a:ext uri="{FF2B5EF4-FFF2-40B4-BE49-F238E27FC236}">
                <a16:creationId xmlns:a16="http://schemas.microsoft.com/office/drawing/2014/main" id="{2E0B6098-76F4-1DB4-8FED-147DAA8801E8}"/>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3350" indent="0">
              <a:buNone/>
            </a:pPr>
            <a:r>
              <a:rPr lang="en-US" sz="1400" b="1">
                <a:solidFill>
                  <a:srgbClr val="000000"/>
                </a:solidFill>
              </a:rPr>
              <a:t>Question 6 - </a:t>
            </a:r>
            <a:r>
              <a:rPr lang="en-US" sz="700" b="1"/>
              <a:t>Explore all the variables and provide observations on their distributions. (Generally</a:t>
            </a:r>
            <a:r>
              <a:rPr lang="en-US" sz="100" b="1"/>
              <a:t>, </a:t>
            </a:r>
            <a:r>
              <a:rPr lang="en-US" sz="700" b="1"/>
              <a:t>histograms, boxplots, countplots, etc. are used for </a:t>
            </a:r>
            <a:r>
              <a:rPr lang="en-US" sz="900" b="1"/>
              <a:t>univariate exploration.) [9 marks]</a:t>
            </a:r>
            <a:endParaRPr lang="en-US"/>
          </a:p>
          <a:p>
            <a:pPr marL="139700" indent="0">
              <a:lnSpc>
                <a:spcPct val="100000"/>
              </a:lnSpc>
              <a:spcBef>
                <a:spcPts val="300"/>
              </a:spcBef>
              <a:buClr>
                <a:srgbClr val="000000"/>
              </a:buClr>
              <a:buSzPts val="1400"/>
              <a:buNone/>
            </a:pPr>
            <a:r>
              <a:rPr lang="en-US" sz="1400" b="1">
                <a:solidFill>
                  <a:srgbClr val="000000"/>
                </a:solidFill>
              </a:rPr>
              <a:t> </a:t>
            </a: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b="1">
              <a:solidFill>
                <a:srgbClr val="000000"/>
              </a:solidFill>
            </a:endParaRPr>
          </a:p>
        </p:txBody>
      </p:sp>
      <p:sp>
        <p:nvSpPr>
          <p:cNvPr id="2" name="Rectangle: Rounded Corners 1">
            <a:extLst>
              <a:ext uri="{FF2B5EF4-FFF2-40B4-BE49-F238E27FC236}">
                <a16:creationId xmlns:a16="http://schemas.microsoft.com/office/drawing/2014/main" id="{8A5B1BA9-D554-7E8B-DFFB-2D9E939B28C0}"/>
              </a:ext>
            </a:extLst>
          </p:cNvPr>
          <p:cNvSpPr/>
          <p:nvPr/>
        </p:nvSpPr>
        <p:spPr>
          <a:xfrm>
            <a:off x="311650" y="1123005"/>
            <a:ext cx="7469659" cy="3773102"/>
          </a:xfrm>
          <a:prstGeom prst="roundRect">
            <a:avLst>
              <a:gd name="adj" fmla="val 1683"/>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00">
              <a:solidFill>
                <a:srgbClr val="002060"/>
              </a:solidFill>
            </a:endParaRPr>
          </a:p>
        </p:txBody>
      </p:sp>
      <p:pic>
        <p:nvPicPr>
          <p:cNvPr id="6" name="Picture 5">
            <a:extLst>
              <a:ext uri="{FF2B5EF4-FFF2-40B4-BE49-F238E27FC236}">
                <a16:creationId xmlns:a16="http://schemas.microsoft.com/office/drawing/2014/main" id="{56E7442D-1BD2-67CD-7653-C82D08244B51}"/>
              </a:ext>
            </a:extLst>
          </p:cNvPr>
          <p:cNvPicPr>
            <a:picLocks noChangeAspect="1"/>
          </p:cNvPicPr>
          <p:nvPr/>
        </p:nvPicPr>
        <p:blipFill>
          <a:blip r:embed="rId3"/>
          <a:stretch>
            <a:fillRect/>
          </a:stretch>
        </p:blipFill>
        <p:spPr>
          <a:xfrm>
            <a:off x="439528" y="1230289"/>
            <a:ext cx="4077922" cy="3194861"/>
          </a:xfrm>
          <a:prstGeom prst="roundRect">
            <a:avLst>
              <a:gd name="adj" fmla="val 1760"/>
            </a:avLst>
          </a:prstGeom>
        </p:spPr>
      </p:pic>
    </p:spTree>
    <p:extLst>
      <p:ext uri="{BB962C8B-B14F-4D97-AF65-F5344CB8AC3E}">
        <p14:creationId xmlns:p14="http://schemas.microsoft.com/office/powerpoint/2010/main" val="2755610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F23EF209-B6C9-D567-8D0E-8EDA2C3298C6}"/>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640DBE07-E280-5CD6-956E-D8893CB4AF1F}"/>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sp>
        <p:nvSpPr>
          <p:cNvPr id="131" name="Google Shape;131;p27">
            <a:extLst>
              <a:ext uri="{FF2B5EF4-FFF2-40B4-BE49-F238E27FC236}">
                <a16:creationId xmlns:a16="http://schemas.microsoft.com/office/drawing/2014/main" id="{52EDA3B9-43FD-E6F8-A7D4-66ED6F401021}"/>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3350" indent="0">
              <a:buNone/>
            </a:pPr>
            <a:r>
              <a:rPr lang="en-US" sz="1400" b="1">
                <a:solidFill>
                  <a:srgbClr val="000000"/>
                </a:solidFill>
              </a:rPr>
              <a:t>Question 6 - </a:t>
            </a:r>
            <a:r>
              <a:rPr lang="en-US" sz="700" b="1"/>
              <a:t>Explore all the variables and provide observations on their distributions. (Generally</a:t>
            </a:r>
            <a:r>
              <a:rPr lang="en-US" sz="100" b="1"/>
              <a:t>, </a:t>
            </a:r>
            <a:r>
              <a:rPr lang="en-US" sz="700" b="1"/>
              <a:t>histograms, boxplots, countplots, etc. are used for </a:t>
            </a:r>
            <a:r>
              <a:rPr lang="en-US" sz="900" b="1"/>
              <a:t>univariate exploration.) [9 marks]</a:t>
            </a:r>
            <a:endParaRPr lang="en-US"/>
          </a:p>
          <a:p>
            <a:pPr marL="139700" indent="0">
              <a:lnSpc>
                <a:spcPct val="100000"/>
              </a:lnSpc>
              <a:spcBef>
                <a:spcPts val="300"/>
              </a:spcBef>
              <a:buClr>
                <a:srgbClr val="000000"/>
              </a:buClr>
              <a:buSzPts val="1400"/>
              <a:buNone/>
            </a:pPr>
            <a:r>
              <a:rPr lang="en-US" sz="1400" b="1">
                <a:solidFill>
                  <a:srgbClr val="000000"/>
                </a:solidFill>
              </a:rPr>
              <a:t> </a:t>
            </a: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b="1">
              <a:solidFill>
                <a:srgbClr val="000000"/>
              </a:solidFill>
            </a:endParaRPr>
          </a:p>
        </p:txBody>
      </p:sp>
      <p:sp>
        <p:nvSpPr>
          <p:cNvPr id="2" name="Rectangle: Rounded Corners 1">
            <a:extLst>
              <a:ext uri="{FF2B5EF4-FFF2-40B4-BE49-F238E27FC236}">
                <a16:creationId xmlns:a16="http://schemas.microsoft.com/office/drawing/2014/main" id="{18E6C897-D565-D16C-7315-EB1518DE932E}"/>
              </a:ext>
            </a:extLst>
          </p:cNvPr>
          <p:cNvSpPr/>
          <p:nvPr/>
        </p:nvSpPr>
        <p:spPr>
          <a:xfrm>
            <a:off x="405842" y="1081119"/>
            <a:ext cx="7469659" cy="3773102"/>
          </a:xfrm>
          <a:prstGeom prst="roundRect">
            <a:avLst>
              <a:gd name="adj" fmla="val 1683"/>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00">
              <a:solidFill>
                <a:srgbClr val="002060"/>
              </a:solidFill>
            </a:endParaRPr>
          </a:p>
        </p:txBody>
      </p:sp>
      <p:sp>
        <p:nvSpPr>
          <p:cNvPr id="3" name="Rectangle: Rounded Corners 2">
            <a:extLst>
              <a:ext uri="{FF2B5EF4-FFF2-40B4-BE49-F238E27FC236}">
                <a16:creationId xmlns:a16="http://schemas.microsoft.com/office/drawing/2014/main" id="{25D97220-B80D-A1D4-A1F8-E69FD65826FB}"/>
              </a:ext>
            </a:extLst>
          </p:cNvPr>
          <p:cNvSpPr/>
          <p:nvPr/>
        </p:nvSpPr>
        <p:spPr>
          <a:xfrm>
            <a:off x="5086352" y="1606153"/>
            <a:ext cx="2419350" cy="2443131"/>
          </a:xfrm>
          <a:prstGeom prst="roundRect">
            <a:avLst>
              <a:gd name="adj" fmla="val 4274"/>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rgbClr val="002060"/>
                </a:solidFill>
              </a:rPr>
              <a:t>The typical order cost is around 14. While the costs range from roughly 5 to 35</a:t>
            </a:r>
          </a:p>
          <a:p>
            <a:r>
              <a:rPr lang="en-US" sz="800">
                <a:solidFill>
                  <a:srgbClr val="002060"/>
                </a:solidFill>
              </a:rPr>
              <a:t>Most people tend to buy cheap below 14</a:t>
            </a:r>
          </a:p>
          <a:p>
            <a:r>
              <a:rPr lang="en-US" sz="800">
                <a:solidFill>
                  <a:srgbClr val="002060"/>
                </a:solidFill>
              </a:rPr>
              <a:t>The bulk revenue comes from orders from 12 to 22/23 dolars </a:t>
            </a:r>
          </a:p>
          <a:p>
            <a:r>
              <a:rPr lang="en-US" sz="800">
                <a:solidFill>
                  <a:srgbClr val="002060"/>
                </a:solidFill>
              </a:rPr>
              <a:t>There are no visible outliers represented may be for the fact there are no party orders</a:t>
            </a:r>
          </a:p>
          <a:p>
            <a:r>
              <a:rPr lang="en-US" sz="800">
                <a:solidFill>
                  <a:srgbClr val="002060"/>
                </a:solidFill>
              </a:rPr>
              <a:t>The higher orders are around 35/36 dolares, probably from families. </a:t>
            </a:r>
          </a:p>
          <a:p>
            <a:br>
              <a:rPr lang="en-US" sz="200">
                <a:solidFill>
                  <a:srgbClr val="002060"/>
                </a:solidFill>
              </a:rPr>
            </a:br>
            <a:endParaRPr lang="en-US" sz="200">
              <a:solidFill>
                <a:srgbClr val="002060"/>
              </a:solidFill>
            </a:endParaRPr>
          </a:p>
          <a:p>
            <a:endParaRPr lang="en-US" sz="100" b="1">
              <a:solidFill>
                <a:srgbClr val="002060"/>
              </a:solidFill>
            </a:endParaRPr>
          </a:p>
        </p:txBody>
      </p:sp>
      <p:pic>
        <p:nvPicPr>
          <p:cNvPr id="6" name="Picture 5">
            <a:extLst>
              <a:ext uri="{FF2B5EF4-FFF2-40B4-BE49-F238E27FC236}">
                <a16:creationId xmlns:a16="http://schemas.microsoft.com/office/drawing/2014/main" id="{D52A94AD-7502-0AE1-9F2E-863FFFADFEFD}"/>
              </a:ext>
            </a:extLst>
          </p:cNvPr>
          <p:cNvPicPr>
            <a:picLocks noChangeAspect="1"/>
          </p:cNvPicPr>
          <p:nvPr/>
        </p:nvPicPr>
        <p:blipFill>
          <a:blip r:embed="rId3"/>
          <a:stretch>
            <a:fillRect/>
          </a:stretch>
        </p:blipFill>
        <p:spPr>
          <a:xfrm>
            <a:off x="664769" y="1252942"/>
            <a:ext cx="3798081" cy="3009496"/>
          </a:xfrm>
          <a:prstGeom prst="roundRect">
            <a:avLst>
              <a:gd name="adj" fmla="val 1633"/>
            </a:avLst>
          </a:prstGeom>
        </p:spPr>
      </p:pic>
    </p:spTree>
    <p:extLst>
      <p:ext uri="{BB962C8B-B14F-4D97-AF65-F5344CB8AC3E}">
        <p14:creationId xmlns:p14="http://schemas.microsoft.com/office/powerpoint/2010/main" val="2738255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7F8D1B83-BCE5-0AC0-800F-B1F3ABFD6A58}"/>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175ACABE-9659-7EAE-1F25-5D965202FDDC}"/>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sp>
        <p:nvSpPr>
          <p:cNvPr id="131" name="Google Shape;131;p27">
            <a:extLst>
              <a:ext uri="{FF2B5EF4-FFF2-40B4-BE49-F238E27FC236}">
                <a16:creationId xmlns:a16="http://schemas.microsoft.com/office/drawing/2014/main" id="{8524FC6F-26A9-E0DF-C6EA-C790FA2EF552}"/>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3350" indent="0">
              <a:buNone/>
            </a:pPr>
            <a:r>
              <a:rPr lang="en-US" sz="1400" b="1">
                <a:solidFill>
                  <a:srgbClr val="000000"/>
                </a:solidFill>
              </a:rPr>
              <a:t>Question 6 - </a:t>
            </a:r>
            <a:r>
              <a:rPr lang="en-US" sz="700" b="1"/>
              <a:t>Explore all the variables and provide observations on their distributions. (Generally</a:t>
            </a:r>
            <a:r>
              <a:rPr lang="en-US" sz="100" b="1"/>
              <a:t>, </a:t>
            </a:r>
            <a:r>
              <a:rPr lang="en-US" sz="700" b="1"/>
              <a:t>histograms, boxplots, countplots, etc. are used for </a:t>
            </a:r>
            <a:r>
              <a:rPr lang="en-US" sz="900" b="1"/>
              <a:t>univariate exploration.) [9 marks]</a:t>
            </a:r>
            <a:endParaRPr lang="en-US"/>
          </a:p>
          <a:p>
            <a:pPr marL="139700" indent="0">
              <a:lnSpc>
                <a:spcPct val="100000"/>
              </a:lnSpc>
              <a:spcBef>
                <a:spcPts val="300"/>
              </a:spcBef>
              <a:buClr>
                <a:srgbClr val="000000"/>
              </a:buClr>
              <a:buSzPts val="1400"/>
              <a:buNone/>
            </a:pPr>
            <a:r>
              <a:rPr lang="en-US" sz="1400" b="1">
                <a:solidFill>
                  <a:srgbClr val="000000"/>
                </a:solidFill>
              </a:rPr>
              <a:t> </a:t>
            </a: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b="1">
              <a:solidFill>
                <a:srgbClr val="000000"/>
              </a:solidFill>
            </a:endParaRPr>
          </a:p>
        </p:txBody>
      </p:sp>
      <p:sp>
        <p:nvSpPr>
          <p:cNvPr id="2" name="Rectangle: Rounded Corners 1">
            <a:extLst>
              <a:ext uri="{FF2B5EF4-FFF2-40B4-BE49-F238E27FC236}">
                <a16:creationId xmlns:a16="http://schemas.microsoft.com/office/drawing/2014/main" id="{2A371BE0-3352-55CD-C719-6A4B0CF4C034}"/>
              </a:ext>
            </a:extLst>
          </p:cNvPr>
          <p:cNvSpPr/>
          <p:nvPr/>
        </p:nvSpPr>
        <p:spPr>
          <a:xfrm>
            <a:off x="405842" y="1081119"/>
            <a:ext cx="7469659" cy="3773102"/>
          </a:xfrm>
          <a:prstGeom prst="roundRect">
            <a:avLst>
              <a:gd name="adj" fmla="val 1683"/>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00">
              <a:solidFill>
                <a:srgbClr val="002060"/>
              </a:solidFill>
            </a:endParaRPr>
          </a:p>
        </p:txBody>
      </p:sp>
      <p:sp>
        <p:nvSpPr>
          <p:cNvPr id="3" name="Rectangle: Rounded Corners 2">
            <a:extLst>
              <a:ext uri="{FF2B5EF4-FFF2-40B4-BE49-F238E27FC236}">
                <a16:creationId xmlns:a16="http://schemas.microsoft.com/office/drawing/2014/main" id="{42188B07-549F-D35A-4E21-C3163FE23FDC}"/>
              </a:ext>
            </a:extLst>
          </p:cNvPr>
          <p:cNvSpPr/>
          <p:nvPr/>
        </p:nvSpPr>
        <p:spPr>
          <a:xfrm>
            <a:off x="6068040" y="1606153"/>
            <a:ext cx="1685310" cy="2443131"/>
          </a:xfrm>
          <a:prstGeom prst="roundRect">
            <a:avLst>
              <a:gd name="adj" fmla="val 4274"/>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rgbClr val="002060"/>
                </a:solidFill>
              </a:rPr>
              <a:t>Most customers buy on weekends as opposed to weekdays. Probably, because people want to enjoy the weekend out. </a:t>
            </a:r>
            <a:br>
              <a:rPr lang="en-US" sz="200">
                <a:solidFill>
                  <a:srgbClr val="002060"/>
                </a:solidFill>
              </a:rPr>
            </a:br>
            <a:endParaRPr lang="en-US" sz="200">
              <a:solidFill>
                <a:srgbClr val="002060"/>
              </a:solidFill>
            </a:endParaRPr>
          </a:p>
          <a:p>
            <a:endParaRPr lang="en-US" sz="100" b="1">
              <a:solidFill>
                <a:srgbClr val="002060"/>
              </a:solidFill>
            </a:endParaRPr>
          </a:p>
        </p:txBody>
      </p:sp>
      <p:pic>
        <p:nvPicPr>
          <p:cNvPr id="5" name="Picture 4">
            <a:extLst>
              <a:ext uri="{FF2B5EF4-FFF2-40B4-BE49-F238E27FC236}">
                <a16:creationId xmlns:a16="http://schemas.microsoft.com/office/drawing/2014/main" id="{0E017A30-E2D5-1D79-7B88-DD208946B245}"/>
              </a:ext>
            </a:extLst>
          </p:cNvPr>
          <p:cNvPicPr>
            <a:picLocks noChangeAspect="1"/>
          </p:cNvPicPr>
          <p:nvPr/>
        </p:nvPicPr>
        <p:blipFill>
          <a:blip r:embed="rId3"/>
          <a:stretch>
            <a:fillRect/>
          </a:stretch>
        </p:blipFill>
        <p:spPr>
          <a:xfrm>
            <a:off x="498584" y="1291050"/>
            <a:ext cx="5366164" cy="3042825"/>
          </a:xfrm>
          <a:prstGeom prst="roundRect">
            <a:avLst>
              <a:gd name="adj" fmla="val 3207"/>
            </a:avLst>
          </a:prstGeom>
        </p:spPr>
      </p:pic>
    </p:spTree>
    <p:extLst>
      <p:ext uri="{BB962C8B-B14F-4D97-AF65-F5344CB8AC3E}">
        <p14:creationId xmlns:p14="http://schemas.microsoft.com/office/powerpoint/2010/main" val="1998964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368BAC2C-26C6-422C-3C5D-8B5C8BE09B16}"/>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E40FD3D4-1D3D-BDFD-36C1-D5B8BAD9E599}"/>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sp>
        <p:nvSpPr>
          <p:cNvPr id="131" name="Google Shape;131;p27">
            <a:extLst>
              <a:ext uri="{FF2B5EF4-FFF2-40B4-BE49-F238E27FC236}">
                <a16:creationId xmlns:a16="http://schemas.microsoft.com/office/drawing/2014/main" id="{3A6FB5D6-C11A-5CD2-2F0B-AD26038394F4}"/>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3350" indent="0">
              <a:buNone/>
            </a:pPr>
            <a:r>
              <a:rPr lang="en-US" sz="1400" b="1">
                <a:solidFill>
                  <a:srgbClr val="000000"/>
                </a:solidFill>
              </a:rPr>
              <a:t>Question 6 - </a:t>
            </a:r>
            <a:r>
              <a:rPr lang="en-US" sz="700" b="1"/>
              <a:t>Explore all the variables and provide observations on their distributions. (Generally</a:t>
            </a:r>
            <a:r>
              <a:rPr lang="en-US" sz="100" b="1"/>
              <a:t>, </a:t>
            </a:r>
            <a:r>
              <a:rPr lang="en-US" sz="700" b="1"/>
              <a:t>histograms, boxplots, countplots, etc. are used for </a:t>
            </a:r>
            <a:r>
              <a:rPr lang="en-US" sz="900" b="1"/>
              <a:t>univariate exploration.) [9 marks]</a:t>
            </a:r>
            <a:endParaRPr lang="en-US"/>
          </a:p>
          <a:p>
            <a:pPr marL="139700" indent="0">
              <a:lnSpc>
                <a:spcPct val="100000"/>
              </a:lnSpc>
              <a:spcBef>
                <a:spcPts val="300"/>
              </a:spcBef>
              <a:buClr>
                <a:srgbClr val="000000"/>
              </a:buClr>
              <a:buSzPts val="1400"/>
              <a:buNone/>
            </a:pPr>
            <a:r>
              <a:rPr lang="en-US" sz="1400" b="1">
                <a:solidFill>
                  <a:srgbClr val="000000"/>
                </a:solidFill>
              </a:rPr>
              <a:t> </a:t>
            </a: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b="1">
              <a:solidFill>
                <a:srgbClr val="000000"/>
              </a:solidFill>
            </a:endParaRPr>
          </a:p>
        </p:txBody>
      </p:sp>
      <p:sp>
        <p:nvSpPr>
          <p:cNvPr id="2" name="Rectangle: Rounded Corners 1">
            <a:extLst>
              <a:ext uri="{FF2B5EF4-FFF2-40B4-BE49-F238E27FC236}">
                <a16:creationId xmlns:a16="http://schemas.microsoft.com/office/drawing/2014/main" id="{7A838DD1-5B4A-ADC5-F87C-821EBD1D19E8}"/>
              </a:ext>
            </a:extLst>
          </p:cNvPr>
          <p:cNvSpPr/>
          <p:nvPr/>
        </p:nvSpPr>
        <p:spPr>
          <a:xfrm>
            <a:off x="405842" y="1081119"/>
            <a:ext cx="7469659" cy="3773102"/>
          </a:xfrm>
          <a:prstGeom prst="roundRect">
            <a:avLst>
              <a:gd name="adj" fmla="val 1683"/>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00">
              <a:solidFill>
                <a:srgbClr val="002060"/>
              </a:solidFill>
            </a:endParaRPr>
          </a:p>
        </p:txBody>
      </p:sp>
      <p:sp>
        <p:nvSpPr>
          <p:cNvPr id="3" name="Rectangle: Rounded Corners 2">
            <a:extLst>
              <a:ext uri="{FF2B5EF4-FFF2-40B4-BE49-F238E27FC236}">
                <a16:creationId xmlns:a16="http://schemas.microsoft.com/office/drawing/2014/main" id="{8E8B3711-15D4-0861-456F-F1E5F2E30528}"/>
              </a:ext>
            </a:extLst>
          </p:cNvPr>
          <p:cNvSpPr/>
          <p:nvPr/>
        </p:nvSpPr>
        <p:spPr>
          <a:xfrm>
            <a:off x="6068040" y="1606153"/>
            <a:ext cx="1685310" cy="2443131"/>
          </a:xfrm>
          <a:prstGeom prst="roundRect">
            <a:avLst>
              <a:gd name="adj" fmla="val 4274"/>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rgbClr val="002060"/>
                </a:solidFill>
              </a:rPr>
              <a:t>People do not rate all the time. It may happen because of the familiarity with technology or the rush of the day. It seems we do not have bad restaurants or food rated 1 and 2. Most restaurants are well rated 4 and 5. While some restaurants are average they are not the majority. </a:t>
            </a:r>
            <a:br>
              <a:rPr lang="en-US" sz="200">
                <a:solidFill>
                  <a:srgbClr val="002060"/>
                </a:solidFill>
              </a:rPr>
            </a:br>
            <a:endParaRPr lang="en-US" sz="200">
              <a:solidFill>
                <a:srgbClr val="002060"/>
              </a:solidFill>
            </a:endParaRPr>
          </a:p>
          <a:p>
            <a:endParaRPr lang="en-US" sz="100" b="1">
              <a:solidFill>
                <a:srgbClr val="002060"/>
              </a:solidFill>
            </a:endParaRPr>
          </a:p>
        </p:txBody>
      </p:sp>
      <p:pic>
        <p:nvPicPr>
          <p:cNvPr id="6" name="Picture 5">
            <a:extLst>
              <a:ext uri="{FF2B5EF4-FFF2-40B4-BE49-F238E27FC236}">
                <a16:creationId xmlns:a16="http://schemas.microsoft.com/office/drawing/2014/main" id="{63EB7FE0-C574-2D6D-8B12-86369330B9D4}"/>
              </a:ext>
            </a:extLst>
          </p:cNvPr>
          <p:cNvPicPr>
            <a:picLocks noChangeAspect="1"/>
          </p:cNvPicPr>
          <p:nvPr/>
        </p:nvPicPr>
        <p:blipFill>
          <a:blip r:embed="rId3"/>
          <a:stretch>
            <a:fillRect/>
          </a:stretch>
        </p:blipFill>
        <p:spPr>
          <a:xfrm>
            <a:off x="485775" y="1187054"/>
            <a:ext cx="5286376" cy="3561232"/>
          </a:xfrm>
          <a:prstGeom prst="roundRect">
            <a:avLst>
              <a:gd name="adj" fmla="val 2893"/>
            </a:avLst>
          </a:prstGeom>
        </p:spPr>
      </p:pic>
    </p:spTree>
    <p:extLst>
      <p:ext uri="{BB962C8B-B14F-4D97-AF65-F5344CB8AC3E}">
        <p14:creationId xmlns:p14="http://schemas.microsoft.com/office/powerpoint/2010/main" val="660273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8E3CC296-F0D2-AD95-F8C7-5828F3256E34}"/>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A9F379CF-5AF9-F893-0825-41EDA07C7A5A}"/>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sp>
        <p:nvSpPr>
          <p:cNvPr id="131" name="Google Shape;131;p27">
            <a:extLst>
              <a:ext uri="{FF2B5EF4-FFF2-40B4-BE49-F238E27FC236}">
                <a16:creationId xmlns:a16="http://schemas.microsoft.com/office/drawing/2014/main" id="{7CE220AF-C762-AFC0-9A30-BA17CD91774A}"/>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3350" indent="0">
              <a:buNone/>
            </a:pPr>
            <a:r>
              <a:rPr lang="en-US" sz="1400" b="1">
                <a:solidFill>
                  <a:srgbClr val="000000"/>
                </a:solidFill>
              </a:rPr>
              <a:t>Question 6 - </a:t>
            </a:r>
            <a:r>
              <a:rPr lang="en-US" sz="700" b="1"/>
              <a:t>Explore all the variables and provide observations on their distributions. (Generally</a:t>
            </a:r>
            <a:r>
              <a:rPr lang="en-US" sz="100" b="1"/>
              <a:t>, </a:t>
            </a:r>
            <a:r>
              <a:rPr lang="en-US" sz="700" b="1"/>
              <a:t>histograms, boxplots, countplots, etc. are used for </a:t>
            </a:r>
            <a:r>
              <a:rPr lang="en-US" sz="900" b="1"/>
              <a:t>univariate exploration.) [9 marks]</a:t>
            </a:r>
            <a:endParaRPr lang="en-US"/>
          </a:p>
          <a:p>
            <a:pPr marL="139700" indent="0">
              <a:lnSpc>
                <a:spcPct val="100000"/>
              </a:lnSpc>
              <a:spcBef>
                <a:spcPts val="300"/>
              </a:spcBef>
              <a:buClr>
                <a:srgbClr val="000000"/>
              </a:buClr>
              <a:buSzPts val="1400"/>
              <a:buNone/>
            </a:pPr>
            <a:r>
              <a:rPr lang="en-US" sz="1400" b="1">
                <a:solidFill>
                  <a:srgbClr val="000000"/>
                </a:solidFill>
              </a:rPr>
              <a:t> </a:t>
            </a: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b="1">
              <a:solidFill>
                <a:srgbClr val="000000"/>
              </a:solidFill>
            </a:endParaRPr>
          </a:p>
        </p:txBody>
      </p:sp>
      <p:sp>
        <p:nvSpPr>
          <p:cNvPr id="2" name="Rectangle: Rounded Corners 1">
            <a:extLst>
              <a:ext uri="{FF2B5EF4-FFF2-40B4-BE49-F238E27FC236}">
                <a16:creationId xmlns:a16="http://schemas.microsoft.com/office/drawing/2014/main" id="{41694E7D-C9D2-82E2-02B8-790648CBA07D}"/>
              </a:ext>
            </a:extLst>
          </p:cNvPr>
          <p:cNvSpPr/>
          <p:nvPr/>
        </p:nvSpPr>
        <p:spPr>
          <a:xfrm>
            <a:off x="405842" y="1081119"/>
            <a:ext cx="7469659" cy="3773102"/>
          </a:xfrm>
          <a:prstGeom prst="roundRect">
            <a:avLst>
              <a:gd name="adj" fmla="val 1683"/>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00">
              <a:solidFill>
                <a:srgbClr val="002060"/>
              </a:solidFill>
            </a:endParaRPr>
          </a:p>
        </p:txBody>
      </p:sp>
      <p:sp>
        <p:nvSpPr>
          <p:cNvPr id="3" name="Rectangle: Rounded Corners 2">
            <a:extLst>
              <a:ext uri="{FF2B5EF4-FFF2-40B4-BE49-F238E27FC236}">
                <a16:creationId xmlns:a16="http://schemas.microsoft.com/office/drawing/2014/main" id="{DAA80BC8-BDBB-A9C6-095F-5BBD1B11ABC1}"/>
              </a:ext>
            </a:extLst>
          </p:cNvPr>
          <p:cNvSpPr/>
          <p:nvPr/>
        </p:nvSpPr>
        <p:spPr>
          <a:xfrm>
            <a:off x="6068040" y="1606153"/>
            <a:ext cx="1685310" cy="2443131"/>
          </a:xfrm>
          <a:prstGeom prst="roundRect">
            <a:avLst>
              <a:gd name="adj" fmla="val 4274"/>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rgbClr val="002060"/>
                </a:solidFill>
              </a:rPr>
              <a:t>Around 25% of the food took less than 23 min to prepare, being the minimun 20 min  </a:t>
            </a:r>
          </a:p>
          <a:p>
            <a:r>
              <a:rPr lang="en-US" sz="800">
                <a:solidFill>
                  <a:srgbClr val="002060"/>
                </a:solidFill>
              </a:rPr>
              <a:t>50% of the food took from 23 to 33 min to prepare. </a:t>
            </a:r>
          </a:p>
          <a:p>
            <a:endParaRPr lang="en-US" sz="800">
              <a:solidFill>
                <a:srgbClr val="002060"/>
              </a:solidFill>
            </a:endParaRPr>
          </a:p>
          <a:p>
            <a:r>
              <a:rPr lang="en-US" sz="800">
                <a:solidFill>
                  <a:srgbClr val="002060"/>
                </a:solidFill>
              </a:rPr>
              <a:t>Overall the preparation time for all restaurants/cuisines are the same. Deeper looking at the average, min, and max of all the restaurants there are no outliers. Restaurants probably try to be closer to preparation time of other restaurants to stay competitive.</a:t>
            </a:r>
            <a:br>
              <a:rPr lang="en-US" sz="200">
                <a:solidFill>
                  <a:srgbClr val="002060"/>
                </a:solidFill>
              </a:rPr>
            </a:br>
            <a:endParaRPr lang="en-US" sz="200">
              <a:solidFill>
                <a:srgbClr val="002060"/>
              </a:solidFill>
            </a:endParaRPr>
          </a:p>
          <a:p>
            <a:endParaRPr lang="en-US" sz="100" b="1">
              <a:solidFill>
                <a:srgbClr val="002060"/>
              </a:solidFill>
            </a:endParaRPr>
          </a:p>
        </p:txBody>
      </p:sp>
      <p:pic>
        <p:nvPicPr>
          <p:cNvPr id="6" name="Picture 5">
            <a:extLst>
              <a:ext uri="{FF2B5EF4-FFF2-40B4-BE49-F238E27FC236}">
                <a16:creationId xmlns:a16="http://schemas.microsoft.com/office/drawing/2014/main" id="{3F9C8CEE-1913-7134-BF01-BB61AA3E3B3F}"/>
              </a:ext>
            </a:extLst>
          </p:cNvPr>
          <p:cNvPicPr>
            <a:picLocks noChangeAspect="1"/>
          </p:cNvPicPr>
          <p:nvPr/>
        </p:nvPicPr>
        <p:blipFill>
          <a:blip r:embed="rId3"/>
          <a:stretch>
            <a:fillRect/>
          </a:stretch>
        </p:blipFill>
        <p:spPr>
          <a:xfrm>
            <a:off x="823913" y="1267742"/>
            <a:ext cx="4287278" cy="3386461"/>
          </a:xfrm>
          <a:prstGeom prst="roundRect">
            <a:avLst>
              <a:gd name="adj" fmla="val 1057"/>
            </a:avLst>
          </a:prstGeom>
        </p:spPr>
      </p:pic>
      <p:pic>
        <p:nvPicPr>
          <p:cNvPr id="5" name="Picture 4">
            <a:extLst>
              <a:ext uri="{FF2B5EF4-FFF2-40B4-BE49-F238E27FC236}">
                <a16:creationId xmlns:a16="http://schemas.microsoft.com/office/drawing/2014/main" id="{6F3C6972-7020-ED28-4F25-F8D7ECBEED1A}"/>
              </a:ext>
            </a:extLst>
          </p:cNvPr>
          <p:cNvPicPr>
            <a:picLocks noChangeAspect="1"/>
          </p:cNvPicPr>
          <p:nvPr/>
        </p:nvPicPr>
        <p:blipFill>
          <a:blip r:embed="rId4"/>
          <a:stretch>
            <a:fillRect/>
          </a:stretch>
        </p:blipFill>
        <p:spPr>
          <a:xfrm>
            <a:off x="3257871" y="3735768"/>
            <a:ext cx="3235475" cy="1065311"/>
          </a:xfrm>
          <a:prstGeom prst="roundRect">
            <a:avLst>
              <a:gd name="adj" fmla="val 2808"/>
            </a:avLst>
          </a:prstGeom>
        </p:spPr>
      </p:pic>
    </p:spTree>
    <p:extLst>
      <p:ext uri="{BB962C8B-B14F-4D97-AF65-F5344CB8AC3E}">
        <p14:creationId xmlns:p14="http://schemas.microsoft.com/office/powerpoint/2010/main" val="1257628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B14D3073-046C-3BA6-AAF1-D18239550EE9}"/>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67F31A9A-1E21-2241-F2C1-3A5B39C6D1F3}"/>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sp>
        <p:nvSpPr>
          <p:cNvPr id="131" name="Google Shape;131;p27">
            <a:extLst>
              <a:ext uri="{FF2B5EF4-FFF2-40B4-BE49-F238E27FC236}">
                <a16:creationId xmlns:a16="http://schemas.microsoft.com/office/drawing/2014/main" id="{546F950F-8A4D-8178-AA21-306D366B886D}"/>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3350" indent="0">
              <a:buNone/>
            </a:pPr>
            <a:r>
              <a:rPr lang="en-US" sz="1400" b="1">
                <a:solidFill>
                  <a:srgbClr val="000000"/>
                </a:solidFill>
              </a:rPr>
              <a:t>Question 6 - </a:t>
            </a:r>
            <a:r>
              <a:rPr lang="en-US" sz="700" b="1"/>
              <a:t>Explore all the variables and provide observations on their distributions. (Generally</a:t>
            </a:r>
            <a:r>
              <a:rPr lang="en-US" sz="100" b="1"/>
              <a:t>, </a:t>
            </a:r>
            <a:r>
              <a:rPr lang="en-US" sz="700" b="1"/>
              <a:t>histograms, boxplots, countplots, etc. are used for </a:t>
            </a:r>
            <a:r>
              <a:rPr lang="en-US" sz="900" b="1"/>
              <a:t>univariate exploration.) [9 marks]</a:t>
            </a:r>
            <a:endParaRPr lang="en-US"/>
          </a:p>
          <a:p>
            <a:pPr marL="139700" indent="0">
              <a:lnSpc>
                <a:spcPct val="100000"/>
              </a:lnSpc>
              <a:spcBef>
                <a:spcPts val="300"/>
              </a:spcBef>
              <a:buClr>
                <a:srgbClr val="000000"/>
              </a:buClr>
              <a:buSzPts val="1400"/>
              <a:buNone/>
            </a:pPr>
            <a:r>
              <a:rPr lang="en-US" sz="1400" b="1">
                <a:solidFill>
                  <a:srgbClr val="000000"/>
                </a:solidFill>
              </a:rPr>
              <a:t> </a:t>
            </a: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b="1">
              <a:solidFill>
                <a:srgbClr val="000000"/>
              </a:solidFill>
            </a:endParaRPr>
          </a:p>
        </p:txBody>
      </p:sp>
      <p:sp>
        <p:nvSpPr>
          <p:cNvPr id="2" name="Rectangle: Rounded Corners 1">
            <a:extLst>
              <a:ext uri="{FF2B5EF4-FFF2-40B4-BE49-F238E27FC236}">
                <a16:creationId xmlns:a16="http://schemas.microsoft.com/office/drawing/2014/main" id="{B9D2D00E-9C9B-62EB-D720-505259C5CA75}"/>
              </a:ext>
            </a:extLst>
          </p:cNvPr>
          <p:cNvSpPr/>
          <p:nvPr/>
        </p:nvSpPr>
        <p:spPr>
          <a:xfrm>
            <a:off x="405842" y="1081119"/>
            <a:ext cx="7469659" cy="3773102"/>
          </a:xfrm>
          <a:prstGeom prst="roundRect">
            <a:avLst>
              <a:gd name="adj" fmla="val 1683"/>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00">
              <a:solidFill>
                <a:srgbClr val="002060"/>
              </a:solidFill>
            </a:endParaRPr>
          </a:p>
        </p:txBody>
      </p:sp>
      <p:sp>
        <p:nvSpPr>
          <p:cNvPr id="3" name="Rectangle: Rounded Corners 2">
            <a:extLst>
              <a:ext uri="{FF2B5EF4-FFF2-40B4-BE49-F238E27FC236}">
                <a16:creationId xmlns:a16="http://schemas.microsoft.com/office/drawing/2014/main" id="{1A3E1C8A-6688-4C40-3927-9089BC096208}"/>
              </a:ext>
            </a:extLst>
          </p:cNvPr>
          <p:cNvSpPr/>
          <p:nvPr/>
        </p:nvSpPr>
        <p:spPr>
          <a:xfrm>
            <a:off x="6068040" y="1606153"/>
            <a:ext cx="1685310" cy="2443131"/>
          </a:xfrm>
          <a:prstGeom prst="roundRect">
            <a:avLst>
              <a:gd name="adj" fmla="val 4274"/>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a:solidFill>
                  <a:srgbClr val="002060"/>
                </a:solidFill>
              </a:rPr>
              <a:t>The fastest delivery time is 15 min  </a:t>
            </a:r>
          </a:p>
          <a:p>
            <a:r>
              <a:rPr lang="en-US" sz="700">
                <a:solidFill>
                  <a:srgbClr val="002060"/>
                </a:solidFill>
              </a:rPr>
              <a:t>The common delivery is 25 min  </a:t>
            </a:r>
          </a:p>
          <a:p>
            <a:r>
              <a:rPr lang="en-US" sz="700">
                <a:solidFill>
                  <a:srgbClr val="002060"/>
                </a:solidFill>
              </a:rPr>
              <a:t>The longest delivery is 33 min.   </a:t>
            </a:r>
          </a:p>
          <a:p>
            <a:r>
              <a:rPr lang="en-US" sz="700">
                <a:solidFill>
                  <a:srgbClr val="002060"/>
                </a:solidFill>
              </a:rPr>
              <a:t>Because the median line is slightly closer to the right side of the box. It implies that   </a:t>
            </a:r>
          </a:p>
          <a:p>
            <a:r>
              <a:rPr lang="en-US" sz="700">
                <a:solidFill>
                  <a:srgbClr val="002060"/>
                </a:solidFill>
              </a:rPr>
              <a:t>most deliveries are around 25-28 min.  </a:t>
            </a:r>
          </a:p>
          <a:p>
            <a:r>
              <a:rPr lang="en-US" sz="700">
                <a:solidFill>
                  <a:srgbClr val="002060"/>
                </a:solidFill>
              </a:rPr>
              <a:t>Looking from the left skew to the mid skew we can infer that there are more fast deliveries than slow. </a:t>
            </a:r>
          </a:p>
          <a:p>
            <a:endParaRPr lang="en-US" sz="700">
              <a:solidFill>
                <a:srgbClr val="002060"/>
              </a:solidFill>
            </a:endParaRPr>
          </a:p>
          <a:p>
            <a:r>
              <a:rPr lang="en-US" sz="700">
                <a:solidFill>
                  <a:srgbClr val="002060"/>
                </a:solidFill>
              </a:rPr>
              <a:t>Considering cost of order and delivery time it is fair to say the low cost (14) is delivered in average time. </a:t>
            </a:r>
          </a:p>
          <a:p>
            <a:r>
              <a:rPr lang="en-US" sz="700">
                <a:solidFill>
                  <a:srgbClr val="002060"/>
                </a:solidFill>
              </a:rPr>
              <a:t>The logistic is predictable for all restaurants types. It may be a good place to improve in the future to attract more customers.</a:t>
            </a:r>
            <a:endParaRPr lang="en-US" sz="200" b="1">
              <a:solidFill>
                <a:srgbClr val="002060"/>
              </a:solidFill>
            </a:endParaRPr>
          </a:p>
        </p:txBody>
      </p:sp>
      <p:pic>
        <p:nvPicPr>
          <p:cNvPr id="8" name="Picture 7">
            <a:extLst>
              <a:ext uri="{FF2B5EF4-FFF2-40B4-BE49-F238E27FC236}">
                <a16:creationId xmlns:a16="http://schemas.microsoft.com/office/drawing/2014/main" id="{F14F8A8F-1C17-3E90-EA76-CA094B7D448B}"/>
              </a:ext>
            </a:extLst>
          </p:cNvPr>
          <p:cNvPicPr>
            <a:picLocks noChangeAspect="1"/>
          </p:cNvPicPr>
          <p:nvPr/>
        </p:nvPicPr>
        <p:blipFill>
          <a:blip r:embed="rId3"/>
          <a:stretch>
            <a:fillRect/>
          </a:stretch>
        </p:blipFill>
        <p:spPr>
          <a:xfrm>
            <a:off x="600039" y="1187534"/>
            <a:ext cx="4511152" cy="3560272"/>
          </a:xfrm>
          <a:prstGeom prst="roundRect">
            <a:avLst>
              <a:gd name="adj" fmla="val 1953"/>
            </a:avLst>
          </a:prstGeom>
        </p:spPr>
      </p:pic>
    </p:spTree>
    <p:extLst>
      <p:ext uri="{BB962C8B-B14F-4D97-AF65-F5344CB8AC3E}">
        <p14:creationId xmlns:p14="http://schemas.microsoft.com/office/powerpoint/2010/main" val="856842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BA131A84-2214-0B44-B86D-E515A1E0265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37F1026-49BC-4EB3-1A70-26B04805782D}"/>
              </a:ext>
            </a:extLst>
          </p:cNvPr>
          <p:cNvSpPr/>
          <p:nvPr/>
        </p:nvSpPr>
        <p:spPr>
          <a:xfrm>
            <a:off x="405842" y="1081119"/>
            <a:ext cx="7469659" cy="3773102"/>
          </a:xfrm>
          <a:prstGeom prst="roundRect">
            <a:avLst>
              <a:gd name="adj" fmla="val 1683"/>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00">
              <a:solidFill>
                <a:srgbClr val="002060"/>
              </a:solidFill>
            </a:endParaRPr>
          </a:p>
        </p:txBody>
      </p:sp>
      <p:sp>
        <p:nvSpPr>
          <p:cNvPr id="3" name="Rectangle: Rounded Corners 2">
            <a:extLst>
              <a:ext uri="{FF2B5EF4-FFF2-40B4-BE49-F238E27FC236}">
                <a16:creationId xmlns:a16="http://schemas.microsoft.com/office/drawing/2014/main" id="{43D312BF-6B5E-653F-AEC5-B23EE92503C2}"/>
              </a:ext>
            </a:extLst>
          </p:cNvPr>
          <p:cNvSpPr/>
          <p:nvPr/>
        </p:nvSpPr>
        <p:spPr>
          <a:xfrm>
            <a:off x="5033963" y="1619250"/>
            <a:ext cx="3343275" cy="2443131"/>
          </a:xfrm>
          <a:prstGeom prst="roundRect">
            <a:avLst>
              <a:gd name="adj" fmla="val 1545"/>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b="1">
                <a:solidFill>
                  <a:srgbClr val="002060"/>
                </a:solidFill>
              </a:rPr>
              <a:t>The five restaurants in terms of orders are </a:t>
            </a:r>
          </a:p>
          <a:p>
            <a:r>
              <a:rPr lang="en-US" sz="600">
                <a:solidFill>
                  <a:srgbClr val="002060"/>
                </a:solidFill>
              </a:rPr>
              <a:t>restaurant_name            		cuisine_type</a:t>
            </a:r>
          </a:p>
          <a:p>
            <a:r>
              <a:rPr lang="en-US" sz="600">
                <a:solidFill>
                  <a:srgbClr val="002060"/>
                </a:solidFill>
              </a:rPr>
              <a:t>Shake Shack                		American        	219</a:t>
            </a:r>
          </a:p>
          <a:p>
            <a:r>
              <a:rPr lang="en-US" sz="600">
                <a:solidFill>
                  <a:srgbClr val="002060"/>
                </a:solidFill>
              </a:rPr>
              <a:t>Blue Ribbon Sushi          		Japanese        	119</a:t>
            </a:r>
          </a:p>
          <a:p>
            <a:r>
              <a:rPr lang="en-US" sz="600">
                <a:solidFill>
                  <a:srgbClr val="002060"/>
                </a:solidFill>
              </a:rPr>
              <a:t>The Meatball Shop          		Italian         	112</a:t>
            </a:r>
          </a:p>
          <a:p>
            <a:r>
              <a:rPr lang="en-US" sz="600">
                <a:solidFill>
                  <a:srgbClr val="002060"/>
                </a:solidFill>
              </a:rPr>
              <a:t>Blue Ribbon Fried Chicken  	American         	96</a:t>
            </a:r>
          </a:p>
          <a:p>
            <a:r>
              <a:rPr lang="en-US" sz="600">
                <a:solidFill>
                  <a:srgbClr val="002060"/>
                </a:solidFill>
              </a:rPr>
              <a:t>Parm                       		Italian          	68</a:t>
            </a:r>
            <a:endParaRPr lang="en-US" sz="500" b="1">
              <a:solidFill>
                <a:srgbClr val="002060"/>
              </a:solidFill>
            </a:endParaRPr>
          </a:p>
        </p:txBody>
      </p:sp>
      <p:sp>
        <p:nvSpPr>
          <p:cNvPr id="130" name="Google Shape;130;p27">
            <a:extLst>
              <a:ext uri="{FF2B5EF4-FFF2-40B4-BE49-F238E27FC236}">
                <a16:creationId xmlns:a16="http://schemas.microsoft.com/office/drawing/2014/main" id="{4913B523-D1F0-B14A-EBB2-B8EDA6F731CC}"/>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sp>
        <p:nvSpPr>
          <p:cNvPr id="131" name="Google Shape;131;p27">
            <a:extLst>
              <a:ext uri="{FF2B5EF4-FFF2-40B4-BE49-F238E27FC236}">
                <a16:creationId xmlns:a16="http://schemas.microsoft.com/office/drawing/2014/main" id="{7FA7393E-EC98-7FDF-A2DC-A9EF535C211C}"/>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3350" indent="0">
              <a:buNone/>
            </a:pPr>
            <a:r>
              <a:rPr lang="en-US" sz="1400" b="1">
                <a:solidFill>
                  <a:srgbClr val="000000"/>
                </a:solidFill>
              </a:rPr>
              <a:t>Question 7 - </a:t>
            </a:r>
            <a:r>
              <a:rPr lang="en-US" b="1"/>
              <a:t>Which are the top 5 restaurants in terms of the number of orders received? [1 mark]</a:t>
            </a:r>
            <a:endParaRPr lang="en-US"/>
          </a:p>
          <a:p>
            <a:pPr marL="139700" indent="0">
              <a:lnSpc>
                <a:spcPct val="100000"/>
              </a:lnSpc>
              <a:spcBef>
                <a:spcPts val="300"/>
              </a:spcBef>
              <a:buClr>
                <a:srgbClr val="000000"/>
              </a:buClr>
              <a:buSzPts val="1400"/>
              <a:buNone/>
            </a:pPr>
            <a:r>
              <a:rPr lang="en-US" sz="1400" b="1">
                <a:solidFill>
                  <a:srgbClr val="000000"/>
                </a:solidFill>
              </a:rPr>
              <a:t> </a:t>
            </a: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b="1">
              <a:solidFill>
                <a:srgbClr val="000000"/>
              </a:solidFill>
            </a:endParaRPr>
          </a:p>
        </p:txBody>
      </p:sp>
      <p:pic>
        <p:nvPicPr>
          <p:cNvPr id="5" name="Picture 4">
            <a:extLst>
              <a:ext uri="{FF2B5EF4-FFF2-40B4-BE49-F238E27FC236}">
                <a16:creationId xmlns:a16="http://schemas.microsoft.com/office/drawing/2014/main" id="{CF962E6F-AC5F-EA6C-6506-A932077BC400}"/>
              </a:ext>
            </a:extLst>
          </p:cNvPr>
          <p:cNvPicPr>
            <a:picLocks noChangeAspect="1"/>
          </p:cNvPicPr>
          <p:nvPr/>
        </p:nvPicPr>
        <p:blipFill>
          <a:blip r:embed="rId3">
            <a:alphaModFix amt="76000"/>
          </a:blip>
          <a:stretch>
            <a:fillRect/>
          </a:stretch>
        </p:blipFill>
        <p:spPr>
          <a:xfrm>
            <a:off x="588822" y="1365594"/>
            <a:ext cx="5706615" cy="2950441"/>
          </a:xfrm>
          <a:prstGeom prst="roundRect">
            <a:avLst>
              <a:gd name="adj" fmla="val 2139"/>
            </a:avLst>
          </a:prstGeom>
        </p:spPr>
      </p:pic>
    </p:spTree>
    <p:extLst>
      <p:ext uri="{BB962C8B-B14F-4D97-AF65-F5344CB8AC3E}">
        <p14:creationId xmlns:p14="http://schemas.microsoft.com/office/powerpoint/2010/main" val="451275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CDF4D6CE-817C-A455-ADFA-4FBE1D471FFA}"/>
            </a:ext>
          </a:extLst>
        </p:cNvPr>
        <p:cNvGrpSpPr/>
        <p:nvPr/>
      </p:nvGrpSpPr>
      <p:grpSpPr>
        <a:xfrm>
          <a:off x="0" y="0"/>
          <a:ext cx="0" cy="0"/>
          <a:chOff x="0" y="0"/>
          <a:chExt cx="0" cy="0"/>
        </a:xfrm>
      </p:grpSpPr>
      <p:sp>
        <p:nvSpPr>
          <p:cNvPr id="131" name="Google Shape;131;p27">
            <a:extLst>
              <a:ext uri="{FF2B5EF4-FFF2-40B4-BE49-F238E27FC236}">
                <a16:creationId xmlns:a16="http://schemas.microsoft.com/office/drawing/2014/main" id="{0E67FE15-8948-E753-1B53-46A1FBFAC0E2}"/>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3350" indent="0">
              <a:buNone/>
            </a:pPr>
            <a:r>
              <a:rPr lang="en-US" sz="1400" b="1">
                <a:solidFill>
                  <a:srgbClr val="000000"/>
                </a:solidFill>
              </a:rPr>
              <a:t>Question 8 - </a:t>
            </a:r>
            <a:r>
              <a:rPr lang="en-US" b="1"/>
              <a:t>Which is the most popular cuisine on weekends? [1 mark]</a:t>
            </a:r>
            <a:endParaRPr lang="en-US"/>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a:solidFill>
                <a:srgbClr val="000000"/>
              </a:solidFill>
            </a:endParaRPr>
          </a:p>
        </p:txBody>
      </p:sp>
      <p:sp>
        <p:nvSpPr>
          <p:cNvPr id="2" name="Rectangle: Rounded Corners 1">
            <a:extLst>
              <a:ext uri="{FF2B5EF4-FFF2-40B4-BE49-F238E27FC236}">
                <a16:creationId xmlns:a16="http://schemas.microsoft.com/office/drawing/2014/main" id="{A306EC5E-437D-625E-ECB0-5C8D32FA27A7}"/>
              </a:ext>
            </a:extLst>
          </p:cNvPr>
          <p:cNvSpPr/>
          <p:nvPr/>
        </p:nvSpPr>
        <p:spPr>
          <a:xfrm>
            <a:off x="405842" y="1081119"/>
            <a:ext cx="7469659" cy="3773102"/>
          </a:xfrm>
          <a:prstGeom prst="roundRect">
            <a:avLst>
              <a:gd name="adj" fmla="val 1683"/>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00">
              <a:solidFill>
                <a:srgbClr val="002060"/>
              </a:solidFill>
            </a:endParaRPr>
          </a:p>
        </p:txBody>
      </p:sp>
      <p:sp>
        <p:nvSpPr>
          <p:cNvPr id="3" name="Rectangle: Rounded Corners 2">
            <a:extLst>
              <a:ext uri="{FF2B5EF4-FFF2-40B4-BE49-F238E27FC236}">
                <a16:creationId xmlns:a16="http://schemas.microsoft.com/office/drawing/2014/main" id="{1D16CD12-61B2-FF6E-7210-C5684619D79D}"/>
              </a:ext>
            </a:extLst>
          </p:cNvPr>
          <p:cNvSpPr/>
          <p:nvPr/>
        </p:nvSpPr>
        <p:spPr>
          <a:xfrm>
            <a:off x="5014913" y="1619250"/>
            <a:ext cx="3343275" cy="2443131"/>
          </a:xfrm>
          <a:prstGeom prst="roundRect">
            <a:avLst>
              <a:gd name="adj" fmla="val 1545"/>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b="1">
                <a:solidFill>
                  <a:srgbClr val="002060"/>
                </a:solidFill>
              </a:rPr>
              <a:t>The most popular is American with 415 orders </a:t>
            </a:r>
          </a:p>
          <a:p>
            <a:r>
              <a:rPr lang="en-US" sz="700" b="1">
                <a:solidFill>
                  <a:srgbClr val="002060"/>
                </a:solidFill>
              </a:rPr>
              <a:t>American          		415</a:t>
            </a:r>
          </a:p>
          <a:p>
            <a:r>
              <a:rPr lang="en-US" sz="700" b="1">
                <a:solidFill>
                  <a:srgbClr val="002060"/>
                </a:solidFill>
              </a:rPr>
              <a:t>Japanese          		335</a:t>
            </a:r>
          </a:p>
          <a:p>
            <a:r>
              <a:rPr lang="en-US" sz="700" b="1">
                <a:solidFill>
                  <a:srgbClr val="002060"/>
                </a:solidFill>
              </a:rPr>
              <a:t>Italian           		207</a:t>
            </a:r>
          </a:p>
          <a:p>
            <a:r>
              <a:rPr lang="en-US" sz="700" b="1">
                <a:solidFill>
                  <a:srgbClr val="002060"/>
                </a:solidFill>
              </a:rPr>
              <a:t>Chinese           		163</a:t>
            </a:r>
          </a:p>
          <a:p>
            <a:r>
              <a:rPr lang="en-US" sz="700" b="1">
                <a:solidFill>
                  <a:srgbClr val="002060"/>
                </a:solidFill>
              </a:rPr>
              <a:t>Mexican           		 53</a:t>
            </a:r>
          </a:p>
          <a:p>
            <a:r>
              <a:rPr lang="en-US" sz="700" b="1">
                <a:solidFill>
                  <a:srgbClr val="002060"/>
                </a:solidFill>
              </a:rPr>
              <a:t>Indian             		49</a:t>
            </a:r>
          </a:p>
          <a:p>
            <a:r>
              <a:rPr lang="en-US" sz="700" b="1">
                <a:solidFill>
                  <a:srgbClr val="002060"/>
                </a:solidFill>
              </a:rPr>
              <a:t>Mediterranean      		32</a:t>
            </a:r>
          </a:p>
          <a:p>
            <a:r>
              <a:rPr lang="en-US" sz="700" b="1">
                <a:solidFill>
                  <a:srgbClr val="002060"/>
                </a:solidFill>
              </a:rPr>
              <a:t>Middle Eastern     		32</a:t>
            </a:r>
          </a:p>
          <a:p>
            <a:r>
              <a:rPr lang="en-US" sz="700" b="1">
                <a:solidFill>
                  <a:srgbClr val="002060"/>
                </a:solidFill>
              </a:rPr>
              <a:t>Thai               		15</a:t>
            </a:r>
          </a:p>
          <a:p>
            <a:r>
              <a:rPr lang="en-US" sz="700" b="1">
                <a:solidFill>
                  <a:srgbClr val="002060"/>
                </a:solidFill>
              </a:rPr>
              <a:t>French             		13</a:t>
            </a:r>
          </a:p>
          <a:p>
            <a:r>
              <a:rPr lang="en-US" sz="700" b="1">
                <a:solidFill>
                  <a:srgbClr val="002060"/>
                </a:solidFill>
              </a:rPr>
              <a:t>Korean             		11</a:t>
            </a:r>
          </a:p>
          <a:p>
            <a:r>
              <a:rPr lang="en-US" sz="700" b="1">
                <a:solidFill>
                  <a:srgbClr val="002060"/>
                </a:solidFill>
              </a:rPr>
              <a:t>Southern          		 11</a:t>
            </a:r>
          </a:p>
          <a:p>
            <a:r>
              <a:rPr lang="en-US" sz="700" b="1">
                <a:solidFill>
                  <a:srgbClr val="002060"/>
                </a:solidFill>
              </a:rPr>
              <a:t>Spanish            		11</a:t>
            </a:r>
          </a:p>
          <a:p>
            <a:r>
              <a:rPr lang="en-US" sz="700" b="1">
                <a:solidFill>
                  <a:srgbClr val="002060"/>
                </a:solidFill>
              </a:rPr>
              <a:t>Vietnamese          		4</a:t>
            </a:r>
          </a:p>
          <a:p>
            <a:r>
              <a:rPr lang="en-US" sz="700" b="1">
                <a:solidFill>
                  <a:srgbClr val="002060"/>
                </a:solidFill>
              </a:rPr>
              <a:t>Name: cuisine_type, dtype: int64</a:t>
            </a:r>
          </a:p>
        </p:txBody>
      </p:sp>
      <p:sp>
        <p:nvSpPr>
          <p:cNvPr id="130" name="Google Shape;130;p27">
            <a:extLst>
              <a:ext uri="{FF2B5EF4-FFF2-40B4-BE49-F238E27FC236}">
                <a16:creationId xmlns:a16="http://schemas.microsoft.com/office/drawing/2014/main" id="{D7A07BBD-C99B-B2E2-12B7-541E55E93448}"/>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pic>
        <p:nvPicPr>
          <p:cNvPr id="6" name="Picture 5">
            <a:extLst>
              <a:ext uri="{FF2B5EF4-FFF2-40B4-BE49-F238E27FC236}">
                <a16:creationId xmlns:a16="http://schemas.microsoft.com/office/drawing/2014/main" id="{51069172-1C9C-F373-D47B-4D43634C95DF}"/>
              </a:ext>
            </a:extLst>
          </p:cNvPr>
          <p:cNvPicPr>
            <a:picLocks noChangeAspect="1"/>
          </p:cNvPicPr>
          <p:nvPr/>
        </p:nvPicPr>
        <p:blipFill>
          <a:blip r:embed="rId3"/>
          <a:stretch>
            <a:fillRect/>
          </a:stretch>
        </p:blipFill>
        <p:spPr>
          <a:xfrm>
            <a:off x="496946" y="1615281"/>
            <a:ext cx="4479867" cy="1659048"/>
          </a:xfrm>
          <a:prstGeom prst="roundRect">
            <a:avLst>
              <a:gd name="adj" fmla="val 3175"/>
            </a:avLst>
          </a:prstGeom>
        </p:spPr>
      </p:pic>
    </p:spTree>
    <p:extLst>
      <p:ext uri="{BB962C8B-B14F-4D97-AF65-F5344CB8AC3E}">
        <p14:creationId xmlns:p14="http://schemas.microsoft.com/office/powerpoint/2010/main" val="2087404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EC9D1640-A3B2-AFE3-8A08-BFCB09EA0D74}"/>
            </a:ext>
          </a:extLst>
        </p:cNvPr>
        <p:cNvGrpSpPr/>
        <p:nvPr/>
      </p:nvGrpSpPr>
      <p:grpSpPr>
        <a:xfrm>
          <a:off x="0" y="0"/>
          <a:ext cx="0" cy="0"/>
          <a:chOff x="0" y="0"/>
          <a:chExt cx="0" cy="0"/>
        </a:xfrm>
      </p:grpSpPr>
      <p:sp>
        <p:nvSpPr>
          <p:cNvPr id="131" name="Google Shape;131;p27">
            <a:extLst>
              <a:ext uri="{FF2B5EF4-FFF2-40B4-BE49-F238E27FC236}">
                <a16:creationId xmlns:a16="http://schemas.microsoft.com/office/drawing/2014/main" id="{5C19778D-4C5A-8584-5BAC-582FDEB10216}"/>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3350" indent="0">
              <a:buNone/>
            </a:pPr>
            <a:r>
              <a:rPr lang="en-US" sz="1400" b="1">
                <a:solidFill>
                  <a:srgbClr val="000000"/>
                </a:solidFill>
              </a:rPr>
              <a:t>Question 9 - </a:t>
            </a:r>
            <a:r>
              <a:rPr lang="en-US" b="1"/>
              <a:t>What percentage of the orders cost more than 20 dollars? [2 marks]</a:t>
            </a:r>
            <a:endParaRPr lang="en-US"/>
          </a:p>
          <a:p>
            <a:pPr marL="133350" indent="0">
              <a:buNone/>
            </a:pPr>
            <a:r>
              <a:rPr lang="en-US" b="1"/>
              <a:t>]</a:t>
            </a:r>
            <a:endParaRPr lang="en-US"/>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a:solidFill>
                <a:srgbClr val="000000"/>
              </a:solidFill>
            </a:endParaRPr>
          </a:p>
        </p:txBody>
      </p:sp>
      <p:sp>
        <p:nvSpPr>
          <p:cNvPr id="2" name="Rectangle: Rounded Corners 1">
            <a:extLst>
              <a:ext uri="{FF2B5EF4-FFF2-40B4-BE49-F238E27FC236}">
                <a16:creationId xmlns:a16="http://schemas.microsoft.com/office/drawing/2014/main" id="{39B09B17-CE06-2717-D441-2943B02ECF64}"/>
              </a:ext>
            </a:extLst>
          </p:cNvPr>
          <p:cNvSpPr/>
          <p:nvPr/>
        </p:nvSpPr>
        <p:spPr>
          <a:xfrm>
            <a:off x="405842" y="1081119"/>
            <a:ext cx="7469659" cy="3773102"/>
          </a:xfrm>
          <a:prstGeom prst="roundRect">
            <a:avLst>
              <a:gd name="adj" fmla="val 1683"/>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00">
              <a:solidFill>
                <a:srgbClr val="002060"/>
              </a:solidFill>
            </a:endParaRPr>
          </a:p>
        </p:txBody>
      </p:sp>
      <p:sp>
        <p:nvSpPr>
          <p:cNvPr id="3" name="Rectangle: Rounded Corners 2">
            <a:extLst>
              <a:ext uri="{FF2B5EF4-FFF2-40B4-BE49-F238E27FC236}">
                <a16:creationId xmlns:a16="http://schemas.microsoft.com/office/drawing/2014/main" id="{738DD32E-965F-4F63-19B8-74290EA6E5C4}"/>
              </a:ext>
            </a:extLst>
          </p:cNvPr>
          <p:cNvSpPr/>
          <p:nvPr/>
        </p:nvSpPr>
        <p:spPr>
          <a:xfrm>
            <a:off x="6057900" y="1622868"/>
            <a:ext cx="1600201" cy="1897763"/>
          </a:xfrm>
          <a:prstGeom prst="roundRect">
            <a:avLst>
              <a:gd name="adj" fmla="val 1545"/>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a:solidFill>
                  <a:srgbClr val="002060"/>
                </a:solidFill>
              </a:rPr>
              <a:t>The number of total orders that cost above 20 dollars is: 555</a:t>
            </a:r>
          </a:p>
          <a:p>
            <a:r>
              <a:rPr lang="en-US" sz="700">
                <a:solidFill>
                  <a:srgbClr val="002060"/>
                </a:solidFill>
              </a:rPr>
              <a:t>  </a:t>
            </a:r>
          </a:p>
          <a:p>
            <a:r>
              <a:rPr lang="en-US" sz="700">
                <a:solidFill>
                  <a:srgbClr val="002060"/>
                </a:solidFill>
              </a:rPr>
              <a:t>Percentage of orders above 20 dollars: 29.24 % </a:t>
            </a:r>
          </a:p>
        </p:txBody>
      </p:sp>
      <p:sp>
        <p:nvSpPr>
          <p:cNvPr id="130" name="Google Shape;130;p27">
            <a:extLst>
              <a:ext uri="{FF2B5EF4-FFF2-40B4-BE49-F238E27FC236}">
                <a16:creationId xmlns:a16="http://schemas.microsoft.com/office/drawing/2014/main" id="{2CC6A683-5970-23F2-299F-723FBB07E196}"/>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pic>
        <p:nvPicPr>
          <p:cNvPr id="5" name="Picture 4">
            <a:extLst>
              <a:ext uri="{FF2B5EF4-FFF2-40B4-BE49-F238E27FC236}">
                <a16:creationId xmlns:a16="http://schemas.microsoft.com/office/drawing/2014/main" id="{EC360363-7F1F-D5F7-BB52-1E256D69CD30}"/>
              </a:ext>
            </a:extLst>
          </p:cNvPr>
          <p:cNvPicPr>
            <a:picLocks noChangeAspect="1"/>
          </p:cNvPicPr>
          <p:nvPr/>
        </p:nvPicPr>
        <p:blipFill>
          <a:blip r:embed="rId3"/>
          <a:stretch>
            <a:fillRect/>
          </a:stretch>
        </p:blipFill>
        <p:spPr>
          <a:xfrm>
            <a:off x="597045" y="1567839"/>
            <a:ext cx="5327505" cy="1462454"/>
          </a:xfrm>
          <a:prstGeom prst="roundRect">
            <a:avLst>
              <a:gd name="adj" fmla="val 2990"/>
            </a:avLst>
          </a:prstGeom>
        </p:spPr>
      </p:pic>
    </p:spTree>
    <p:extLst>
      <p:ext uri="{BB962C8B-B14F-4D97-AF65-F5344CB8AC3E}">
        <p14:creationId xmlns:p14="http://schemas.microsoft.com/office/powerpoint/2010/main" val="2595219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DE3C8FB3-36B6-B221-A157-6B2F7B0EEEB3}"/>
            </a:ext>
          </a:extLst>
        </p:cNvPr>
        <p:cNvGrpSpPr/>
        <p:nvPr/>
      </p:nvGrpSpPr>
      <p:grpSpPr>
        <a:xfrm>
          <a:off x="0" y="0"/>
          <a:ext cx="0" cy="0"/>
          <a:chOff x="0" y="0"/>
          <a:chExt cx="0" cy="0"/>
        </a:xfrm>
      </p:grpSpPr>
      <p:sp>
        <p:nvSpPr>
          <p:cNvPr id="131" name="Google Shape;131;p27">
            <a:extLst>
              <a:ext uri="{FF2B5EF4-FFF2-40B4-BE49-F238E27FC236}">
                <a16:creationId xmlns:a16="http://schemas.microsoft.com/office/drawing/2014/main" id="{20FE6D0B-53AA-0301-EC12-E1821F209288}"/>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3350" indent="0">
              <a:buNone/>
            </a:pPr>
            <a:r>
              <a:rPr lang="en-US" sz="1400" b="1">
                <a:solidFill>
                  <a:srgbClr val="000000"/>
                </a:solidFill>
              </a:rPr>
              <a:t>Question 10 - </a:t>
            </a:r>
            <a:r>
              <a:rPr lang="en-US" b="1"/>
              <a:t>What percentage of the orders cost more than 20 dollars? [2 marks]</a:t>
            </a:r>
            <a:endParaRPr lang="en-US"/>
          </a:p>
          <a:p>
            <a:pPr marL="133350" indent="0">
              <a:buNone/>
            </a:pPr>
            <a:r>
              <a:rPr lang="en-US" b="1"/>
              <a:t>]</a:t>
            </a:r>
            <a:endParaRPr lang="en-US"/>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a:solidFill>
                <a:srgbClr val="000000"/>
              </a:solidFill>
            </a:endParaRPr>
          </a:p>
        </p:txBody>
      </p:sp>
      <p:sp>
        <p:nvSpPr>
          <p:cNvPr id="2" name="Rectangle: Rounded Corners 1">
            <a:extLst>
              <a:ext uri="{FF2B5EF4-FFF2-40B4-BE49-F238E27FC236}">
                <a16:creationId xmlns:a16="http://schemas.microsoft.com/office/drawing/2014/main" id="{DAFC1BB0-336A-11B4-A7B9-42FA3B6FD273}"/>
              </a:ext>
            </a:extLst>
          </p:cNvPr>
          <p:cNvSpPr/>
          <p:nvPr/>
        </p:nvSpPr>
        <p:spPr>
          <a:xfrm>
            <a:off x="405842" y="1081119"/>
            <a:ext cx="7469659" cy="3773102"/>
          </a:xfrm>
          <a:prstGeom prst="roundRect">
            <a:avLst>
              <a:gd name="adj" fmla="val 1683"/>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00">
              <a:solidFill>
                <a:srgbClr val="002060"/>
              </a:solidFill>
            </a:endParaRPr>
          </a:p>
        </p:txBody>
      </p:sp>
      <p:sp>
        <p:nvSpPr>
          <p:cNvPr id="3" name="Rectangle: Rounded Corners 2">
            <a:extLst>
              <a:ext uri="{FF2B5EF4-FFF2-40B4-BE49-F238E27FC236}">
                <a16:creationId xmlns:a16="http://schemas.microsoft.com/office/drawing/2014/main" id="{B5B6B21C-D1A9-2DB4-0A5B-D7FB6DFC7A4F}"/>
              </a:ext>
            </a:extLst>
          </p:cNvPr>
          <p:cNvSpPr/>
          <p:nvPr/>
        </p:nvSpPr>
        <p:spPr>
          <a:xfrm>
            <a:off x="6057900" y="1622868"/>
            <a:ext cx="1600201" cy="1897763"/>
          </a:xfrm>
          <a:prstGeom prst="roundRect">
            <a:avLst>
              <a:gd name="adj" fmla="val 1545"/>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a:solidFill>
                  <a:srgbClr val="002060"/>
                </a:solidFill>
              </a:rPr>
              <a:t>The number of total orders that cost above 20 dollars is: 555</a:t>
            </a:r>
          </a:p>
          <a:p>
            <a:r>
              <a:rPr lang="en-US" sz="700">
                <a:solidFill>
                  <a:srgbClr val="002060"/>
                </a:solidFill>
              </a:rPr>
              <a:t>  </a:t>
            </a:r>
          </a:p>
          <a:p>
            <a:r>
              <a:rPr lang="en-US" sz="700">
                <a:solidFill>
                  <a:srgbClr val="002060"/>
                </a:solidFill>
              </a:rPr>
              <a:t>Percentage of orders above 20 dollars: 29.24 % </a:t>
            </a:r>
          </a:p>
        </p:txBody>
      </p:sp>
      <p:sp>
        <p:nvSpPr>
          <p:cNvPr id="130" name="Google Shape;130;p27">
            <a:extLst>
              <a:ext uri="{FF2B5EF4-FFF2-40B4-BE49-F238E27FC236}">
                <a16:creationId xmlns:a16="http://schemas.microsoft.com/office/drawing/2014/main" id="{9570D979-883A-21ED-E68F-185E663F9625}"/>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pic>
        <p:nvPicPr>
          <p:cNvPr id="5" name="Picture 4">
            <a:extLst>
              <a:ext uri="{FF2B5EF4-FFF2-40B4-BE49-F238E27FC236}">
                <a16:creationId xmlns:a16="http://schemas.microsoft.com/office/drawing/2014/main" id="{DD9D0FFF-F6D0-90AA-FF66-3103588EB6CB}"/>
              </a:ext>
            </a:extLst>
          </p:cNvPr>
          <p:cNvPicPr>
            <a:picLocks noChangeAspect="1"/>
          </p:cNvPicPr>
          <p:nvPr/>
        </p:nvPicPr>
        <p:blipFill>
          <a:blip r:embed="rId3"/>
          <a:stretch>
            <a:fillRect/>
          </a:stretch>
        </p:blipFill>
        <p:spPr>
          <a:xfrm>
            <a:off x="597045" y="1567839"/>
            <a:ext cx="5327505" cy="1462454"/>
          </a:xfrm>
          <a:prstGeom prst="roundRect">
            <a:avLst>
              <a:gd name="adj" fmla="val 2990"/>
            </a:avLst>
          </a:prstGeom>
        </p:spPr>
      </p:pic>
    </p:spTree>
    <p:extLst>
      <p:ext uri="{BB962C8B-B14F-4D97-AF65-F5344CB8AC3E}">
        <p14:creationId xmlns:p14="http://schemas.microsoft.com/office/powerpoint/2010/main" val="4119935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E26CA955-6261-526B-1B19-19013BC4793A}"/>
            </a:ext>
          </a:extLst>
        </p:cNvPr>
        <p:cNvGrpSpPr/>
        <p:nvPr/>
      </p:nvGrpSpPr>
      <p:grpSpPr>
        <a:xfrm>
          <a:off x="0" y="0"/>
          <a:ext cx="0" cy="0"/>
          <a:chOff x="0" y="0"/>
          <a:chExt cx="0" cy="0"/>
        </a:xfrm>
      </p:grpSpPr>
      <p:sp>
        <p:nvSpPr>
          <p:cNvPr id="131" name="Google Shape;131;p27">
            <a:extLst>
              <a:ext uri="{FF2B5EF4-FFF2-40B4-BE49-F238E27FC236}">
                <a16:creationId xmlns:a16="http://schemas.microsoft.com/office/drawing/2014/main" id="{A4F9C482-0C91-BFF2-C984-B0398A0D1E9F}"/>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3350" indent="0">
              <a:buNone/>
            </a:pPr>
            <a:r>
              <a:rPr lang="en-US" sz="1400" b="1">
                <a:solidFill>
                  <a:srgbClr val="000000"/>
                </a:solidFill>
              </a:rPr>
              <a:t>Question 9 - </a:t>
            </a:r>
            <a:r>
              <a:rPr lang="en-US" b="1"/>
              <a:t>What percentage of the orders cost more than 20 dollars? [2 marks]</a:t>
            </a:r>
            <a:endParaRPr lang="en-US"/>
          </a:p>
          <a:p>
            <a:pPr marL="133350" indent="0">
              <a:buNone/>
            </a:pPr>
            <a:r>
              <a:rPr lang="en-US" b="1"/>
              <a:t>]</a:t>
            </a:r>
            <a:endParaRPr lang="en-US"/>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a:solidFill>
                <a:srgbClr val="000000"/>
              </a:solidFill>
            </a:endParaRPr>
          </a:p>
        </p:txBody>
      </p:sp>
      <p:sp>
        <p:nvSpPr>
          <p:cNvPr id="2" name="Rectangle: Rounded Corners 1">
            <a:extLst>
              <a:ext uri="{FF2B5EF4-FFF2-40B4-BE49-F238E27FC236}">
                <a16:creationId xmlns:a16="http://schemas.microsoft.com/office/drawing/2014/main" id="{7BC2E22F-567B-0DE0-9D64-F5A6B5D41775}"/>
              </a:ext>
            </a:extLst>
          </p:cNvPr>
          <p:cNvSpPr/>
          <p:nvPr/>
        </p:nvSpPr>
        <p:spPr>
          <a:xfrm>
            <a:off x="405842" y="1081119"/>
            <a:ext cx="7469659" cy="3773102"/>
          </a:xfrm>
          <a:prstGeom prst="roundRect">
            <a:avLst>
              <a:gd name="adj" fmla="val 1683"/>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00">
              <a:solidFill>
                <a:srgbClr val="002060"/>
              </a:solidFill>
            </a:endParaRPr>
          </a:p>
        </p:txBody>
      </p:sp>
      <p:sp>
        <p:nvSpPr>
          <p:cNvPr id="3" name="Rectangle: Rounded Corners 2">
            <a:extLst>
              <a:ext uri="{FF2B5EF4-FFF2-40B4-BE49-F238E27FC236}">
                <a16:creationId xmlns:a16="http://schemas.microsoft.com/office/drawing/2014/main" id="{68D2D874-8B39-FFDD-4D10-E81EEBBD1059}"/>
              </a:ext>
            </a:extLst>
          </p:cNvPr>
          <p:cNvSpPr/>
          <p:nvPr/>
        </p:nvSpPr>
        <p:spPr>
          <a:xfrm>
            <a:off x="6057900" y="1622868"/>
            <a:ext cx="1600201" cy="1897763"/>
          </a:xfrm>
          <a:prstGeom prst="roundRect">
            <a:avLst>
              <a:gd name="adj" fmla="val 1545"/>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a:solidFill>
                  <a:srgbClr val="002060"/>
                </a:solidFill>
              </a:rPr>
              <a:t>The number of total orders that cost above 20 dollars is: 555</a:t>
            </a:r>
          </a:p>
          <a:p>
            <a:r>
              <a:rPr lang="en-US" sz="700">
                <a:solidFill>
                  <a:srgbClr val="002060"/>
                </a:solidFill>
              </a:rPr>
              <a:t>  </a:t>
            </a:r>
          </a:p>
          <a:p>
            <a:r>
              <a:rPr lang="en-US" sz="700">
                <a:solidFill>
                  <a:srgbClr val="002060"/>
                </a:solidFill>
              </a:rPr>
              <a:t>Percentage of orders above 20 dollars: 29.24 % </a:t>
            </a:r>
          </a:p>
        </p:txBody>
      </p:sp>
      <p:sp>
        <p:nvSpPr>
          <p:cNvPr id="130" name="Google Shape;130;p27">
            <a:extLst>
              <a:ext uri="{FF2B5EF4-FFF2-40B4-BE49-F238E27FC236}">
                <a16:creationId xmlns:a16="http://schemas.microsoft.com/office/drawing/2014/main" id="{6A0E8B75-C89F-FD9B-8D5B-DC5CE4CF8E56}"/>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pic>
        <p:nvPicPr>
          <p:cNvPr id="5" name="Picture 4">
            <a:extLst>
              <a:ext uri="{FF2B5EF4-FFF2-40B4-BE49-F238E27FC236}">
                <a16:creationId xmlns:a16="http://schemas.microsoft.com/office/drawing/2014/main" id="{8FA242BE-A4E9-8C1A-6505-45E5CBA008F2}"/>
              </a:ext>
            </a:extLst>
          </p:cNvPr>
          <p:cNvPicPr>
            <a:picLocks noChangeAspect="1"/>
          </p:cNvPicPr>
          <p:nvPr/>
        </p:nvPicPr>
        <p:blipFill>
          <a:blip r:embed="rId3"/>
          <a:stretch>
            <a:fillRect/>
          </a:stretch>
        </p:blipFill>
        <p:spPr>
          <a:xfrm>
            <a:off x="597045" y="1567839"/>
            <a:ext cx="5327505" cy="1462454"/>
          </a:xfrm>
          <a:prstGeom prst="roundRect">
            <a:avLst>
              <a:gd name="adj" fmla="val 2990"/>
            </a:avLst>
          </a:prstGeom>
        </p:spPr>
      </p:pic>
    </p:spTree>
    <p:extLst>
      <p:ext uri="{BB962C8B-B14F-4D97-AF65-F5344CB8AC3E}">
        <p14:creationId xmlns:p14="http://schemas.microsoft.com/office/powerpoint/2010/main" val="3805622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1FEE49BD-9C72-9C64-2F24-577A25676EAB}"/>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B9F5E801-B7F7-0B08-0DE2-F1382CA3A5E2}"/>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sp>
        <p:nvSpPr>
          <p:cNvPr id="131" name="Google Shape;131;p27">
            <a:extLst>
              <a:ext uri="{FF2B5EF4-FFF2-40B4-BE49-F238E27FC236}">
                <a16:creationId xmlns:a16="http://schemas.microsoft.com/office/drawing/2014/main" id="{8F3DA167-88FC-369C-3233-6CB8D55358FD}"/>
              </a:ext>
            </a:extLst>
          </p:cNvPr>
          <p:cNvSpPr txBox="1">
            <a:spLocks noGrp="1"/>
          </p:cNvSpPr>
          <p:nvPr>
            <p:ph type="body" idx="1"/>
          </p:nvPr>
        </p:nvSpPr>
        <p:spPr>
          <a:xfrm>
            <a:off x="202550" y="718350"/>
            <a:ext cx="8629800" cy="4187282"/>
          </a:xfrm>
          <a:prstGeom prst="rect">
            <a:avLst/>
          </a:prstGeom>
          <a:noFill/>
          <a:ln>
            <a:noFill/>
          </a:ln>
        </p:spPr>
        <p:txBody>
          <a:bodyPr spcFirstLastPara="1" wrap="square" lIns="91425" tIns="91425" rIns="91425" bIns="91425" anchor="t" anchorCtr="0">
            <a:noAutofit/>
          </a:bodyPr>
          <a:lstStyle/>
          <a:p>
            <a:pPr marL="133350" indent="0">
              <a:buNone/>
            </a:pPr>
            <a:r>
              <a:rPr lang="en-US" sz="1400" b="1">
                <a:solidFill>
                  <a:srgbClr val="000000"/>
                </a:solidFill>
              </a:rPr>
              <a:t>Question 6 - </a:t>
            </a:r>
            <a:r>
              <a:rPr lang="en-US" sz="700" b="1"/>
              <a:t>Explore all the variables and provide observations on their distributions. (Generally</a:t>
            </a:r>
            <a:r>
              <a:rPr lang="en-US" sz="100" b="1"/>
              <a:t>, </a:t>
            </a:r>
            <a:r>
              <a:rPr lang="en-US" sz="700" b="1"/>
              <a:t>histograms, boxplots, countplots, etc. are used for </a:t>
            </a:r>
            <a:r>
              <a:rPr lang="en-US" sz="900" b="1"/>
              <a:t>univariate exploration.) [9 marks]</a:t>
            </a:r>
            <a:endParaRPr lang="en-US"/>
          </a:p>
          <a:p>
            <a:pPr marL="139700" indent="0">
              <a:lnSpc>
                <a:spcPct val="100000"/>
              </a:lnSpc>
              <a:spcBef>
                <a:spcPts val="300"/>
              </a:spcBef>
              <a:buClr>
                <a:srgbClr val="000000"/>
              </a:buClr>
              <a:buSzPts val="1400"/>
              <a:buNone/>
            </a:pPr>
            <a:r>
              <a:rPr lang="en-US" sz="1400" b="1">
                <a:solidFill>
                  <a:srgbClr val="000000"/>
                </a:solidFill>
              </a:rPr>
              <a:t> </a:t>
            </a: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139700" lvl="0" indent="0">
              <a:lnSpc>
                <a:spcPct val="100000"/>
              </a:lnSpc>
              <a:spcBef>
                <a:spcPts val="300"/>
              </a:spcBef>
              <a:buClr>
                <a:srgbClr val="000000"/>
              </a:buClr>
              <a:buSzPts val="1400"/>
              <a:buNone/>
            </a:pPr>
            <a:endParaRPr lang="en-US" sz="1400" b="1">
              <a:solidFill>
                <a:srgbClr val="000000"/>
              </a:solidFill>
            </a:endParaRPr>
          </a:p>
          <a:p>
            <a:pPr marL="457200" lvl="2" indent="0">
              <a:lnSpc>
                <a:spcPct val="100000"/>
              </a:lnSpc>
              <a:spcBef>
                <a:spcPts val="0"/>
              </a:spcBef>
              <a:buClr>
                <a:srgbClr val="000000"/>
              </a:buClr>
              <a:buSzPts val="1400"/>
              <a:buNone/>
            </a:pPr>
            <a:endParaRPr lang="en-US" sz="700" b="1">
              <a:solidFill>
                <a:srgbClr val="000000"/>
              </a:solidFill>
            </a:endParaRPr>
          </a:p>
        </p:txBody>
      </p:sp>
      <p:sp>
        <p:nvSpPr>
          <p:cNvPr id="2" name="Rectangle: Rounded Corners 1">
            <a:extLst>
              <a:ext uri="{FF2B5EF4-FFF2-40B4-BE49-F238E27FC236}">
                <a16:creationId xmlns:a16="http://schemas.microsoft.com/office/drawing/2014/main" id="{00ACCBD8-6984-D18A-9BFC-D6EACBF583C7}"/>
              </a:ext>
            </a:extLst>
          </p:cNvPr>
          <p:cNvSpPr/>
          <p:nvPr/>
        </p:nvSpPr>
        <p:spPr>
          <a:xfrm>
            <a:off x="420129" y="1081119"/>
            <a:ext cx="7469659" cy="3773102"/>
          </a:xfrm>
          <a:prstGeom prst="roundRect">
            <a:avLst>
              <a:gd name="adj" fmla="val 1683"/>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00">
              <a:solidFill>
                <a:srgbClr val="002060"/>
              </a:solidFill>
            </a:endParaRPr>
          </a:p>
        </p:txBody>
      </p:sp>
    </p:spTree>
    <p:extLst>
      <p:ext uri="{BB962C8B-B14F-4D97-AF65-F5344CB8AC3E}">
        <p14:creationId xmlns:p14="http://schemas.microsoft.com/office/powerpoint/2010/main" val="2496533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5CD246BE-C9EC-A83F-321A-67C84B9C16C0}"/>
            </a:ext>
          </a:extLst>
        </p:cNvPr>
        <p:cNvGrpSpPr/>
        <p:nvPr/>
      </p:nvGrpSpPr>
      <p:grpSpPr>
        <a:xfrm>
          <a:off x="0" y="0"/>
          <a:ext cx="0" cy="0"/>
          <a:chOff x="0" y="0"/>
          <a:chExt cx="0" cy="0"/>
        </a:xfrm>
      </p:grpSpPr>
      <p:sp>
        <p:nvSpPr>
          <p:cNvPr id="136" name="Google Shape;136;p28">
            <a:extLst>
              <a:ext uri="{FF2B5EF4-FFF2-40B4-BE49-F238E27FC236}">
                <a16:creationId xmlns:a16="http://schemas.microsoft.com/office/drawing/2014/main" id="{0A3D8F39-6F71-508D-EFA7-5C800E4ED35C}"/>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Univariate Analysis</a:t>
            </a:r>
            <a:endParaRPr>
              <a:solidFill>
                <a:srgbClr val="000000"/>
              </a:solidFill>
            </a:endParaRPr>
          </a:p>
        </p:txBody>
      </p:sp>
      <p:sp>
        <p:nvSpPr>
          <p:cNvPr id="137" name="Google Shape;137;p28">
            <a:extLst>
              <a:ext uri="{FF2B5EF4-FFF2-40B4-BE49-F238E27FC236}">
                <a16:creationId xmlns:a16="http://schemas.microsoft.com/office/drawing/2014/main" id="{C93D55CE-10DA-BE5F-3C48-753387D3EF97}"/>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Please mention regarding univariate analysis for all columns</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Please add answers for all question from 6 till 11</a:t>
            </a:r>
            <a:endParaRPr sz="1400">
              <a:solidFill>
                <a:srgbClr val="000000"/>
              </a:solidFill>
            </a:endParaRPr>
          </a:p>
          <a:p>
            <a:pPr marL="0" lvl="0" indent="0" algn="l" rtl="0">
              <a:spcBef>
                <a:spcPts val="1000"/>
              </a:spcBef>
              <a:spcAft>
                <a:spcPts val="0"/>
              </a:spcAft>
              <a:buNone/>
            </a:pPr>
            <a:endParaRPr sz="1400">
              <a:solidFill>
                <a:srgbClr val="000000"/>
              </a:solidFill>
            </a:endParaRPr>
          </a:p>
          <a:p>
            <a:pPr marL="0" lvl="0" indent="0" algn="l" rtl="0">
              <a:spcBef>
                <a:spcPts val="1000"/>
              </a:spcBef>
              <a:spcAft>
                <a:spcPts val="1000"/>
              </a:spcAft>
              <a:buClr>
                <a:srgbClr val="000000"/>
              </a:buClr>
              <a:buSzPts val="1500"/>
              <a:buFont typeface="Arial"/>
              <a:buNone/>
            </a:pPr>
            <a:r>
              <a:rPr lang="en" sz="1200" b="1" i="1">
                <a:solidFill>
                  <a:srgbClr val="000000"/>
                </a:solidFill>
              </a:rPr>
              <a:t>Note</a:t>
            </a:r>
            <a:r>
              <a:rPr lang="en" sz="1200" i="1">
                <a:solidFill>
                  <a:srgbClr val="000000"/>
                </a:solidFill>
              </a:rPr>
              <a:t>: You can use more than one slide if needed </a:t>
            </a:r>
            <a:endParaRPr sz="1400">
              <a:solidFill>
                <a:srgbClr val="000000"/>
              </a:solidFill>
            </a:endParaRPr>
          </a:p>
        </p:txBody>
      </p:sp>
    </p:spTree>
    <p:extLst>
      <p:ext uri="{BB962C8B-B14F-4D97-AF65-F5344CB8AC3E}">
        <p14:creationId xmlns:p14="http://schemas.microsoft.com/office/powerpoint/2010/main" val="21023964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Multivariate Analysis</a:t>
            </a:r>
            <a:endParaRPr>
              <a:solidFill>
                <a:srgbClr val="000000"/>
              </a:solidFill>
            </a:endParaRPr>
          </a:p>
        </p:txBody>
      </p:sp>
      <p:sp>
        <p:nvSpPr>
          <p:cNvPr id="143" name="Google Shape;143;p29"/>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Please mention regarding multivariate analysis between various columns</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Please add answers for all question from 12 till 16</a:t>
            </a:r>
            <a:endParaRPr sz="1400">
              <a:solidFill>
                <a:srgbClr val="000000"/>
              </a:solidFill>
            </a:endParaRPr>
          </a:p>
          <a:p>
            <a:pPr marL="0" lvl="0" indent="0" algn="l" rtl="0">
              <a:spcBef>
                <a:spcPts val="1000"/>
              </a:spcBef>
              <a:spcAft>
                <a:spcPts val="0"/>
              </a:spcAft>
              <a:buNone/>
            </a:pPr>
            <a:endParaRPr sz="1400">
              <a:solidFill>
                <a:srgbClr val="000000"/>
              </a:solidFill>
            </a:endParaRPr>
          </a:p>
          <a:p>
            <a:pPr marL="0" lvl="0" indent="0" algn="l" rtl="0">
              <a:spcBef>
                <a:spcPts val="1000"/>
              </a:spcBef>
              <a:spcAft>
                <a:spcPts val="1000"/>
              </a:spcAft>
              <a:buClr>
                <a:srgbClr val="000000"/>
              </a:buClr>
              <a:buSzPts val="1500"/>
              <a:buFont typeface="Arial"/>
              <a:buNone/>
            </a:pPr>
            <a:r>
              <a:rPr lang="en" sz="1200" b="1" i="1">
                <a:solidFill>
                  <a:srgbClr val="000000"/>
                </a:solidFill>
              </a:rPr>
              <a:t>Note</a:t>
            </a:r>
            <a:r>
              <a:rPr lang="en" sz="1200" i="1">
                <a:solidFill>
                  <a:srgbClr val="000000"/>
                </a:solidFill>
              </a:rPr>
              <a:t>: You can use more than one slide if needed </a:t>
            </a:r>
            <a:endParaRPr sz="1400">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0"/>
          <p:cNvSpPr txBox="1">
            <a:spLocks noGrp="1"/>
          </p:cNvSpPr>
          <p:nvPr>
            <p:ph type="ctrTitle"/>
          </p:nvPr>
        </p:nvSpPr>
        <p:spPr>
          <a:xfrm>
            <a:off x="0" y="2820425"/>
            <a:ext cx="9144000" cy="581700"/>
          </a:xfrm>
          <a:prstGeom prst="rect">
            <a:avLst/>
          </a:prstGeom>
          <a:solidFill>
            <a:srgbClr val="0000FF"/>
          </a:solid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300">
                <a:solidFill>
                  <a:schemeClr val="lt1"/>
                </a:solidFill>
              </a:rPr>
              <a:t>APPENDIX</a:t>
            </a:r>
            <a:endParaRPr sz="3300">
              <a:solidFill>
                <a:schemeClr val="l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3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Slide Header</a:t>
            </a:r>
            <a:endParaRPr>
              <a:solidFill>
                <a:srgbClr val="000000"/>
              </a:solidFill>
            </a:endParaRPr>
          </a:p>
        </p:txBody>
      </p:sp>
      <p:sp>
        <p:nvSpPr>
          <p:cNvPr id="154" name="Google Shape;154;p31"/>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rgbClr val="000000"/>
              </a:buClr>
              <a:buSzPts val="1400"/>
              <a:buChar char="●"/>
            </a:pPr>
            <a:r>
              <a:rPr lang="en" sz="1400">
                <a:solidFill>
                  <a:schemeClr val="dk1"/>
                </a:solidFill>
              </a:rPr>
              <a:t>Please add any other pointers (if needed)</a:t>
            </a:r>
            <a:endParaRPr sz="14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2"/>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162" name="Google Shape;162;p32"/>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29</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2793</Words>
  <Application>Microsoft Office PowerPoint</Application>
  <PresentationFormat>On-screen Show (16:9)</PresentationFormat>
  <Paragraphs>348</Paragraphs>
  <Slides>29</Slides>
  <Notes>29</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29</vt:i4>
      </vt:variant>
    </vt:vector>
  </HeadingPairs>
  <TitlesOfParts>
    <vt:vector size="38" baseType="lpstr">
      <vt:lpstr>Arial</vt:lpstr>
      <vt:lpstr>Nunito ExtraBold</vt:lpstr>
      <vt:lpstr>Nunito SemiBold</vt:lpstr>
      <vt:lpstr>Aptos</vt:lpstr>
      <vt:lpstr>Aptos Narrow</vt:lpstr>
      <vt:lpstr>Nunito</vt:lpstr>
      <vt:lpstr>Calibri</vt:lpstr>
      <vt:lpstr>Just Logo</vt:lpstr>
      <vt:lpstr>Just Logo</vt:lpstr>
      <vt:lpstr>A strategy to boost rating and drive new customers</vt:lpstr>
      <vt:lpstr>Contents / Agenda</vt:lpstr>
      <vt:lpstr>Executive Summary - Opening </vt:lpstr>
      <vt:lpstr>Executive Summary - Conclusions </vt:lpstr>
      <vt:lpstr>Executive Summary - Recommendations</vt:lpstr>
      <vt:lpstr>Business Problem Overview and Solution Approach</vt:lpstr>
      <vt:lpstr>Data Overview</vt:lpstr>
      <vt:lpstr>Data Overview</vt:lpstr>
      <vt:lpstr>Data Overview</vt:lpstr>
      <vt:lpstr>Data Overview</vt:lpstr>
      <vt:lpstr>Univariate Analysis</vt:lpstr>
      <vt:lpstr>Univariate Analysis</vt:lpstr>
      <vt:lpstr>Univariate Analysis</vt:lpstr>
      <vt:lpstr>Univariate Analysis</vt:lpstr>
      <vt:lpstr>Univariate Analysis</vt:lpstr>
      <vt:lpstr>Univariate Analysis</vt:lpstr>
      <vt:lpstr>Univariate Analysis</vt:lpstr>
      <vt:lpstr>Univariate Analysis</vt:lpstr>
      <vt:lpstr>Univariate Analysis</vt:lpstr>
      <vt:lpstr>Univariate Analysis</vt:lpstr>
      <vt:lpstr>Univariate Analysis</vt:lpstr>
      <vt:lpstr>Univariate Analysis</vt:lpstr>
      <vt:lpstr>Univariate Analysis</vt:lpstr>
      <vt:lpstr>Univariate Analysis</vt:lpstr>
      <vt:lpstr>Univariate Analysis</vt:lpstr>
      <vt:lpstr>Multivariate Analysis</vt:lpstr>
      <vt:lpstr>APPENDIX</vt:lpstr>
      <vt:lpstr>Slide Header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John Araujo</cp:lastModifiedBy>
  <cp:revision>2</cp:revision>
  <dcterms:modified xsi:type="dcterms:W3CDTF">2025-12-08T06:01:22Z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1172fb5-86d0-42cb-ba27-645bef134c04_Enabled">
    <vt:lpwstr>true</vt:lpwstr>
  </property>
  <property fmtid="{D5CDD505-2E9C-101B-9397-08002B2CF9AE}" pid="3" name="MSIP_Label_81172fb5-86d0-42cb-ba27-645bef134c04_SetDate">
    <vt:lpwstr>2025-12-08T05:53:00Z</vt:lpwstr>
  </property>
  <property fmtid="{D5CDD505-2E9C-101B-9397-08002B2CF9AE}" pid="4" name="MSIP_Label_81172fb5-86d0-42cb-ba27-645bef134c04_Method">
    <vt:lpwstr>Standard</vt:lpwstr>
  </property>
  <property fmtid="{D5CDD505-2E9C-101B-9397-08002B2CF9AE}" pid="5" name="MSIP_Label_81172fb5-86d0-42cb-ba27-645bef134c04_Name">
    <vt:lpwstr>NATO Unclassified</vt:lpwstr>
  </property>
  <property fmtid="{D5CDD505-2E9C-101B-9397-08002B2CF9AE}" pid="6" name="MSIP_Label_81172fb5-86d0-42cb-ba27-645bef134c04_SiteId">
    <vt:lpwstr>4e058d4f-695c-4815-91b9-3bea0bf19c06</vt:lpwstr>
  </property>
  <property fmtid="{D5CDD505-2E9C-101B-9397-08002B2CF9AE}" pid="7" name="MSIP_Label_81172fb5-86d0-42cb-ba27-645bef134c04_ActionId">
    <vt:lpwstr>c84dc7d6-6b90-416d-a9cf-afb057ad10e2</vt:lpwstr>
  </property>
  <property fmtid="{D5CDD505-2E9C-101B-9397-08002B2CF9AE}" pid="8" name="MSIP_Label_81172fb5-86d0-42cb-ba27-645bef134c04_ContentBits">
    <vt:lpwstr>1</vt:lpwstr>
  </property>
  <property fmtid="{D5CDD505-2E9C-101B-9397-08002B2CF9AE}" pid="9" name="MSIP_Label_81172fb5-86d0-42cb-ba27-645bef134c04_Tag">
    <vt:lpwstr>10, 3, 0, 1</vt:lpwstr>
  </property>
  <property fmtid="{D5CDD505-2E9C-101B-9397-08002B2CF9AE}" pid="10" name="ClassificationContentMarkingHeaderLocations">
    <vt:lpwstr>Just Logo:3\Just Logo:3</vt:lpwstr>
  </property>
  <property fmtid="{D5CDD505-2E9C-101B-9397-08002B2CF9AE}" pid="11" name="ClassificationContentMarkingHeaderText">
    <vt:lpwstr>NATO UNCLASSIFIED</vt:lpwstr>
  </property>
</Properties>
</file>