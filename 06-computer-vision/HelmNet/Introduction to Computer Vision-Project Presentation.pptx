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Lst>
  <p:notesMasterIdLst>
    <p:notesMasterId r:id="rId19"/>
  </p:notesMasterIdLst>
  <p:sldIdLst>
    <p:sldId id="256" r:id="rId3"/>
    <p:sldId id="257" r:id="rId4"/>
    <p:sldId id="258" r:id="rId5"/>
    <p:sldId id="271" r:id="rId6"/>
    <p:sldId id="273" r:id="rId7"/>
    <p:sldId id="272" r:id="rId8"/>
    <p:sldId id="274" r:id="rId9"/>
    <p:sldId id="260" r:id="rId10"/>
    <p:sldId id="275" r:id="rId11"/>
    <p:sldId id="262" r:id="rId12"/>
    <p:sldId id="263" r:id="rId13"/>
    <p:sldId id="277" r:id="rId14"/>
    <p:sldId id="278" r:id="rId15"/>
    <p:sldId id="279" r:id="rId16"/>
    <p:sldId id="267" r:id="rId17"/>
    <p:sldId id="270" r:id="rId18"/>
  </p:sldIdLst>
  <p:sldSz cx="9144000" cy="5143500" type="screen16x9"/>
  <p:notesSz cx="6858000" cy="9144000"/>
  <p:embeddedFontLst>
    <p:embeddedFont>
      <p:font typeface="Century Gothic" panose="020B0502020202020204" pitchFamily="34" charset="0"/>
      <p:regular r:id="rId20"/>
      <p:bold r:id="rId21"/>
      <p:italic r:id="rId22"/>
      <p:boldItalic r:id="rId23"/>
    </p:embeddedFont>
    <p:embeddedFont>
      <p:font typeface="Consolas" panose="020B0609020204030204" pitchFamily="49" charset="0"/>
      <p:regular r:id="rId24"/>
      <p:bold r:id="rId25"/>
      <p:italic r:id="rId26"/>
      <p:boldItalic r:id="rId27"/>
    </p:embeddedFont>
    <p:embeddedFont>
      <p:font typeface="Montserrat" panose="00000500000000000000" pitchFamily="2" charset="0"/>
      <p:regular r:id="rId28"/>
      <p:bold r:id="rId29"/>
      <p:italic r:id="rId30"/>
      <p:boldItalic r:id="rId31"/>
    </p:embeddedFont>
    <p:embeddedFont>
      <p:font typeface="Nunito" pitchFamily="2" charset="0"/>
      <p:regular r:id="rId32"/>
      <p:bold r:id="rId33"/>
      <p:italic r:id="rId34"/>
      <p:boldItalic r:id="rId35"/>
    </p:embeddedFont>
    <p:embeddedFont>
      <p:font typeface="Nunito ExtraBold" pitchFamily="2" charset="0"/>
      <p:bold r:id="rId36"/>
      <p:boldItalic r:id="rId37"/>
    </p:embeddedFont>
    <p:embeddedFont>
      <p:font typeface="Nunito SemiBold"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8D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AB2CEF9-AD9A-4CD0-8B78-EF9934C6BECD}">
  <a:tblStyle styleId="{BAB2CEF9-AD9A-4CD0-8B78-EF9934C6BECD}"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810" autoAdjust="0"/>
  </p:normalViewPr>
  <p:slideViewPr>
    <p:cSldViewPr snapToGrid="0">
      <p:cViewPr varScale="1">
        <p:scale>
          <a:sx n="136" d="100"/>
          <a:sy n="136" d="100"/>
        </p:scale>
        <p:origin x="126" y="65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0" Type="http://schemas.openxmlformats.org/officeDocument/2006/relationships/font" Target="fonts/font1.fntdata"/><Relationship Id="rId41"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1" name="Google Shape;17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87727B6B-9FA7-2194-87DF-9E31E1AB0480}"/>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57404EBD-A57D-5B98-15C3-8F8E82807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4:notes">
            <a:extLst>
              <a:ext uri="{FF2B5EF4-FFF2-40B4-BE49-F238E27FC236}">
                <a16:creationId xmlns:a16="http://schemas.microsoft.com/office/drawing/2014/main" id="{63BEB88E-298D-610D-57BE-64EC9DF5A9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46613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98F83953-4A68-CECE-851F-FED68BD1C4CC}"/>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9DE7CF56-81F0-472E-4490-95B000EB26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4:notes">
            <a:extLst>
              <a:ext uri="{FF2B5EF4-FFF2-40B4-BE49-F238E27FC236}">
                <a16:creationId xmlns:a16="http://schemas.microsoft.com/office/drawing/2014/main" id="{F3B5DF63-F31B-3846-7A1A-ECE08481E0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80181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BBB5D085-FDB5-00FC-16D0-DAC7BBB78759}"/>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37CE8223-D578-BA13-0A0B-7E6EACD1E9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4:notes">
            <a:extLst>
              <a:ext uri="{FF2B5EF4-FFF2-40B4-BE49-F238E27FC236}">
                <a16:creationId xmlns:a16="http://schemas.microsoft.com/office/drawing/2014/main" id="{50EBB8DC-CFE3-72A2-95DA-7B23D14B57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98805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F6A35C64-268B-ECD6-D87F-C1676CB3F3E7}"/>
            </a:ext>
          </a:extLst>
        </p:cNvPr>
        <p:cNvGrpSpPr/>
        <p:nvPr/>
      </p:nvGrpSpPr>
      <p:grpSpPr>
        <a:xfrm>
          <a:off x="0" y="0"/>
          <a:ext cx="0" cy="0"/>
          <a:chOff x="0" y="0"/>
          <a:chExt cx="0" cy="0"/>
        </a:xfrm>
      </p:grpSpPr>
      <p:sp>
        <p:nvSpPr>
          <p:cNvPr id="198" name="Google Shape;198;p4:notes">
            <a:extLst>
              <a:ext uri="{FF2B5EF4-FFF2-40B4-BE49-F238E27FC236}">
                <a16:creationId xmlns:a16="http://schemas.microsoft.com/office/drawing/2014/main" id="{739FF6A0-D7D8-29F7-EFCB-4562AA1C2D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4:notes">
            <a:extLst>
              <a:ext uri="{FF2B5EF4-FFF2-40B4-BE49-F238E27FC236}">
                <a16:creationId xmlns:a16="http://schemas.microsoft.com/office/drawing/2014/main" id="{2CAE6764-312E-E62C-FB17-EC337BFCFE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08459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a:extLst>
            <a:ext uri="{FF2B5EF4-FFF2-40B4-BE49-F238E27FC236}">
              <a16:creationId xmlns:a16="http://schemas.microsoft.com/office/drawing/2014/main" id="{0F3B7667-F002-DE49-7EFE-D4DA7C333FA9}"/>
            </a:ext>
          </a:extLst>
        </p:cNvPr>
        <p:cNvGrpSpPr/>
        <p:nvPr/>
      </p:nvGrpSpPr>
      <p:grpSpPr>
        <a:xfrm>
          <a:off x="0" y="0"/>
          <a:ext cx="0" cy="0"/>
          <a:chOff x="0" y="0"/>
          <a:chExt cx="0" cy="0"/>
        </a:xfrm>
      </p:grpSpPr>
      <p:sp>
        <p:nvSpPr>
          <p:cNvPr id="207" name="Google Shape;207;p5:notes">
            <a:extLst>
              <a:ext uri="{FF2B5EF4-FFF2-40B4-BE49-F238E27FC236}">
                <a16:creationId xmlns:a16="http://schemas.microsoft.com/office/drawing/2014/main" id="{E6748C2B-300A-A13F-C1D4-95DCAC2560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5:notes">
            <a:extLst>
              <a:ext uri="{FF2B5EF4-FFF2-40B4-BE49-F238E27FC236}">
                <a16:creationId xmlns:a16="http://schemas.microsoft.com/office/drawing/2014/main" id="{244C7E74-C113-6F7B-ED23-0070194C579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1035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98F5BCAD-0569-BEF7-5512-EA148EA57C26}"/>
            </a:ext>
          </a:extLst>
        </p:cNvPr>
        <p:cNvGrpSpPr/>
        <p:nvPr/>
      </p:nvGrpSpPr>
      <p:grpSpPr>
        <a:xfrm>
          <a:off x="0" y="0"/>
          <a:ext cx="0" cy="0"/>
          <a:chOff x="0" y="0"/>
          <a:chExt cx="0" cy="0"/>
        </a:xfrm>
      </p:grpSpPr>
      <p:sp>
        <p:nvSpPr>
          <p:cNvPr id="231" name="Google Shape;231;p8:notes">
            <a:extLst>
              <a:ext uri="{FF2B5EF4-FFF2-40B4-BE49-F238E27FC236}">
                <a16:creationId xmlns:a16="http://schemas.microsoft.com/office/drawing/2014/main" id="{71EAFB68-66EA-6196-21B1-42CE99346E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a:extLst>
              <a:ext uri="{FF2B5EF4-FFF2-40B4-BE49-F238E27FC236}">
                <a16:creationId xmlns:a16="http://schemas.microsoft.com/office/drawing/2014/main" id="{C2676BEE-27F3-5A0D-5DB4-D7BE2384CD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8755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A00E10D0-E80A-55A5-AB79-FC3F5568E096}"/>
            </a:ext>
          </a:extLst>
        </p:cNvPr>
        <p:cNvGrpSpPr/>
        <p:nvPr/>
      </p:nvGrpSpPr>
      <p:grpSpPr>
        <a:xfrm>
          <a:off x="0" y="0"/>
          <a:ext cx="0" cy="0"/>
          <a:chOff x="0" y="0"/>
          <a:chExt cx="0" cy="0"/>
        </a:xfrm>
      </p:grpSpPr>
      <p:sp>
        <p:nvSpPr>
          <p:cNvPr id="231" name="Google Shape;231;p8:notes">
            <a:extLst>
              <a:ext uri="{FF2B5EF4-FFF2-40B4-BE49-F238E27FC236}">
                <a16:creationId xmlns:a16="http://schemas.microsoft.com/office/drawing/2014/main" id="{7F80D6B3-1264-37BE-5B34-A41A521C9F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a:extLst>
              <a:ext uri="{FF2B5EF4-FFF2-40B4-BE49-F238E27FC236}">
                <a16:creationId xmlns:a16="http://schemas.microsoft.com/office/drawing/2014/main" id="{556DD710-76FB-1D30-C638-437A8CBEC5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5753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1210D0EB-54AC-F624-9F8F-7F91224BC5D9}"/>
            </a:ext>
          </a:extLst>
        </p:cNvPr>
        <p:cNvGrpSpPr/>
        <p:nvPr/>
      </p:nvGrpSpPr>
      <p:grpSpPr>
        <a:xfrm>
          <a:off x="0" y="0"/>
          <a:ext cx="0" cy="0"/>
          <a:chOff x="0" y="0"/>
          <a:chExt cx="0" cy="0"/>
        </a:xfrm>
      </p:grpSpPr>
      <p:sp>
        <p:nvSpPr>
          <p:cNvPr id="231" name="Google Shape;231;p8:notes">
            <a:extLst>
              <a:ext uri="{FF2B5EF4-FFF2-40B4-BE49-F238E27FC236}">
                <a16:creationId xmlns:a16="http://schemas.microsoft.com/office/drawing/2014/main" id="{3C5E9CCB-3002-F0FD-78E7-D2F99EE6EA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8:notes">
            <a:extLst>
              <a:ext uri="{FF2B5EF4-FFF2-40B4-BE49-F238E27FC236}">
                <a16:creationId xmlns:a16="http://schemas.microsoft.com/office/drawing/2014/main" id="{606F5084-2D7E-C577-2EA2-59875E6969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32775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2" name="Google Shape;2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16</a:t>
            </a:fld>
            <a:endParaRPr sz="1200" b="0" i="0" u="none" strike="noStrike" cap="none">
              <a:solidFill>
                <a:schemeClr val="dk1"/>
              </a:solidFill>
              <a:latin typeface="Calibri"/>
              <a:ea typeface="Calibri"/>
              <a:cs typeface="Calibri"/>
              <a:sym typeface="Calibri"/>
            </a:endParaRPr>
          </a:p>
        </p:txBody>
      </p:sp>
      <p:sp>
        <p:nvSpPr>
          <p:cNvPr id="300" name="Google Shape;300;p1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6" name="Google Shape;16;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7" name="Google Shape;17;p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3"/>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20" name="Google Shape;20;p3"/>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p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p5"/>
          <p:cNvGraphicFramePr/>
          <p:nvPr/>
        </p:nvGraphicFramePr>
        <p:xfrm>
          <a:off x="201942" y="833662"/>
          <a:ext cx="3000000" cy="3000000"/>
        </p:xfrm>
        <a:graphic>
          <a:graphicData uri="http://schemas.openxmlformats.org/drawingml/2006/table">
            <a:tbl>
              <a:tblPr firstRow="1" bandRow="1">
                <a:noFill/>
                <a:tableStyleId>{BAB2CEF9-AD9A-4CD0-8B78-EF9934C6BECD}</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p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p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p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p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p11"/>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p11"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50" name="Google Shape;50;p11"/>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p11"/>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p11"/>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
        <p:cNvGrpSpPr/>
        <p:nvPr/>
      </p:nvGrpSpPr>
      <p:grpSpPr>
        <a:xfrm>
          <a:off x="0" y="0"/>
          <a:ext cx="0" cy="0"/>
          <a:chOff x="0" y="0"/>
          <a:chExt cx="0" cy="0"/>
        </a:xfrm>
      </p:grpSpPr>
      <p:sp>
        <p:nvSpPr>
          <p:cNvPr id="54" name="Google Shape;54;p12"/>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55" name="Google Shape;55;p12"/>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56" name="Google Shape;56;p12"/>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7" name="Google Shape;57;p12"/>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8" name="Google Shape;58;p12"/>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9"/>
        <p:cNvGrpSpPr/>
        <p:nvPr/>
      </p:nvGrpSpPr>
      <p:grpSpPr>
        <a:xfrm>
          <a:off x="0" y="0"/>
          <a:ext cx="0" cy="0"/>
          <a:chOff x="0" y="0"/>
          <a:chExt cx="0" cy="0"/>
        </a:xfrm>
      </p:grpSpPr>
      <p:sp>
        <p:nvSpPr>
          <p:cNvPr id="60" name="Google Shape;60;p13"/>
          <p:cNvSpPr txBox="1">
            <a:spLocks noGrp="1"/>
          </p:cNvSpPr>
          <p:nvPr>
            <p:ph type="dt" idx="10"/>
          </p:nvPr>
        </p:nvSpPr>
        <p:spPr>
          <a:xfrm>
            <a:off x="457200" y="4857749"/>
            <a:ext cx="21336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1" name="Google Shape;61;p13"/>
          <p:cNvSpPr txBox="1">
            <a:spLocks noGrp="1"/>
          </p:cNvSpPr>
          <p:nvPr>
            <p:ph type="ftr" idx="11"/>
          </p:nvPr>
        </p:nvSpPr>
        <p:spPr>
          <a:xfrm>
            <a:off x="2640596" y="4857749"/>
            <a:ext cx="55077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2" name="Google Shape;62;p13"/>
          <p:cNvSpPr txBox="1">
            <a:spLocks noGrp="1"/>
          </p:cNvSpPr>
          <p:nvPr>
            <p:ph type="sldNum" idx="12"/>
          </p:nvPr>
        </p:nvSpPr>
        <p:spPr>
          <a:xfrm>
            <a:off x="8204396" y="4857749"/>
            <a:ext cx="733800" cy="2058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5" name="Google Shape;65;p14"/>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66" name="Google Shape;66;p14"/>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7" name="Google Shape;67;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 name="Google Shape;68;p14"/>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1" name="Google Shape;71;p15"/>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3" name="Google Shape;73;p15"/>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p16"/>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7" name="Google Shape;77;p1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78" name="Google Shape;78;p16"/>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90424" y="497078"/>
            <a:ext cx="8363100" cy="452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800" b="0"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1" name="Google Shape;81;p17"/>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2" name="Google Shape;82;p1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3" name="Google Shape;83;p17"/>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84"/>
        <p:cNvGrpSpPr/>
        <p:nvPr/>
      </p:nvGrpSpPr>
      <p:grpSpPr>
        <a:xfrm>
          <a:off x="0" y="0"/>
          <a:ext cx="0" cy="0"/>
          <a:chOff x="0" y="0"/>
          <a:chExt cx="0" cy="0"/>
        </a:xfrm>
      </p:grpSpPr>
      <p:sp>
        <p:nvSpPr>
          <p:cNvPr id="85" name="Google Shape;85;p18"/>
          <p:cNvSpPr txBox="1">
            <a:spLocks noGrp="1"/>
          </p:cNvSpPr>
          <p:nvPr>
            <p:ph type="ctrTitle"/>
          </p:nvPr>
        </p:nvSpPr>
        <p:spPr>
          <a:xfrm>
            <a:off x="2938259" y="1851799"/>
            <a:ext cx="3267600" cy="818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5200" b="0" i="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6" name="Google Shape;86;p18"/>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a:endParaRPr/>
          </a:p>
        </p:txBody>
      </p:sp>
      <p:sp>
        <p:nvSpPr>
          <p:cNvPr id="87" name="Google Shape;87;p18"/>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8" name="Google Shape;88;p1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9" name="Google Shape;89;p18"/>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92" name="Google Shape;92;p19"/>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1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4" name="Google Shape;94;p19"/>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95"/>
        <p:cNvGrpSpPr/>
        <p:nvPr/>
      </p:nvGrpSpPr>
      <p:grpSpPr>
        <a:xfrm>
          <a:off x="0" y="0"/>
          <a:ext cx="0" cy="0"/>
          <a:chOff x="0" y="0"/>
          <a:chExt cx="0" cy="0"/>
        </a:xfrm>
      </p:grpSpPr>
      <p:sp>
        <p:nvSpPr>
          <p:cNvPr id="96" name="Google Shape;96;p20"/>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7" name="Google Shape;97;p2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8" name="Google Shape;98;p20"/>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1" name="Google Shape;101;p21"/>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02" name="Google Shape;102;p21"/>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03" name="Google Shape;103;p2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4" name="Google Shape;104;p2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5" name="Google Shape;105;p21"/>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08" name="Google Shape;108;p22"/>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9" name="Google Shape;109;p22"/>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0" name="Google Shape;110;p22"/>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11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112"/>
        <p:cNvGrpSpPr/>
        <p:nvPr/>
      </p:nvGrpSpPr>
      <p:grpSpPr>
        <a:xfrm>
          <a:off x="0" y="0"/>
          <a:ext cx="0" cy="0"/>
          <a:chOff x="0" y="0"/>
          <a:chExt cx="0" cy="0"/>
        </a:xfrm>
      </p:grpSpPr>
      <p:sp>
        <p:nvSpPr>
          <p:cNvPr id="113" name="Google Shape;113;p24"/>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23"/>
        <p:cNvGrpSpPr/>
        <p:nvPr/>
      </p:nvGrpSpPr>
      <p:grpSpPr>
        <a:xfrm>
          <a:off x="0" y="0"/>
          <a:ext cx="0" cy="0"/>
          <a:chOff x="0" y="0"/>
          <a:chExt cx="0" cy="0"/>
        </a:xfrm>
      </p:grpSpPr>
      <p:sp>
        <p:nvSpPr>
          <p:cNvPr id="124" name="Google Shape;124;p26"/>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25" name="Google Shape;125;p26"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126" name="Google Shape;126;p26"/>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27" name="Google Shape;127;p26"/>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Power Ahead!</a:t>
            </a:r>
            <a:endParaRPr sz="3300" b="0" i="0" u="none" strike="noStrike" cap="none">
              <a:solidFill>
                <a:schemeClr val="lt1"/>
              </a:solidFill>
              <a:latin typeface="Nunito ExtraBold"/>
              <a:ea typeface="Nunito ExtraBold"/>
              <a:cs typeface="Nunito ExtraBold"/>
              <a:sym typeface="Nunito ExtraBold"/>
            </a:endParaRPr>
          </a:p>
        </p:txBody>
      </p:sp>
      <p:pic>
        <p:nvPicPr>
          <p:cNvPr id="128" name="Google Shape;128;p26"/>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9"/>
        <p:cNvGrpSpPr/>
        <p:nvPr/>
      </p:nvGrpSpPr>
      <p:grpSpPr>
        <a:xfrm>
          <a:off x="0" y="0"/>
          <a:ext cx="0" cy="0"/>
          <a:chOff x="0" y="0"/>
          <a:chExt cx="0" cy="0"/>
        </a:xfrm>
      </p:grpSpPr>
      <p:sp>
        <p:nvSpPr>
          <p:cNvPr id="130" name="Google Shape;130;p27"/>
          <p:cNvSpPr txBox="1">
            <a:spLocks noGrp="1"/>
          </p:cNvSpPr>
          <p:nvPr>
            <p:ph type="ctrTitle"/>
          </p:nvPr>
        </p:nvSpPr>
        <p:spPr>
          <a:xfrm>
            <a:off x="1260908" y="717750"/>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31" name="Google Shape;131;p27"/>
          <p:cNvSpPr txBox="1">
            <a:spLocks noGrp="1"/>
          </p:cNvSpPr>
          <p:nvPr>
            <p:ph type="subTitle" idx="1"/>
          </p:nvPr>
        </p:nvSpPr>
        <p:spPr>
          <a:xfrm>
            <a:off x="1260902" y="2770350"/>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2"/>
        <p:cNvGrpSpPr/>
        <p:nvPr/>
      </p:nvGrpSpPr>
      <p:grpSpPr>
        <a:xfrm>
          <a:off x="0" y="0"/>
          <a:ext cx="0" cy="0"/>
          <a:chOff x="0" y="0"/>
          <a:chExt cx="0" cy="0"/>
        </a:xfrm>
      </p:grpSpPr>
      <p:sp>
        <p:nvSpPr>
          <p:cNvPr id="133" name="Google Shape;133;p2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34" name="Google Shape;134;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5"/>
        <p:cNvGrpSpPr/>
        <p:nvPr/>
      </p:nvGrpSpPr>
      <p:grpSpPr>
        <a:xfrm>
          <a:off x="0" y="0"/>
          <a:ext cx="0" cy="0"/>
          <a:chOff x="0" y="0"/>
          <a:chExt cx="0" cy="0"/>
        </a:xfrm>
      </p:grpSpPr>
      <p:sp>
        <p:nvSpPr>
          <p:cNvPr id="136" name="Google Shape;136;p2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7" name="Google Shape;137;p2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38" name="Google Shape;138;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41" name="Google Shape;141;p30"/>
          <p:cNvGraphicFramePr/>
          <p:nvPr/>
        </p:nvGraphicFramePr>
        <p:xfrm>
          <a:off x="201942" y="833662"/>
          <a:ext cx="3000000" cy="3000000"/>
        </p:xfrm>
        <a:graphic>
          <a:graphicData uri="http://schemas.openxmlformats.org/drawingml/2006/table">
            <a:tbl>
              <a:tblPr firstRow="1" bandRow="1">
                <a:noFill/>
                <a:tableStyleId>{BAB2CEF9-AD9A-4CD0-8B78-EF9934C6BECD}</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42" name="Google Shape;142;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3"/>
        <p:cNvGrpSpPr/>
        <p:nvPr/>
      </p:nvGrpSpPr>
      <p:grpSpPr>
        <a:xfrm>
          <a:off x="0" y="0"/>
          <a:ext cx="0" cy="0"/>
          <a:chOff x="0" y="0"/>
          <a:chExt cx="0" cy="0"/>
        </a:xfrm>
      </p:grpSpPr>
      <p:sp>
        <p:nvSpPr>
          <p:cNvPr id="144" name="Google Shape;144;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45" name="Google Shape;145;p3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6" name="Google Shape;146;p3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47" name="Google Shape;147;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8"/>
        <p:cNvGrpSpPr/>
        <p:nvPr/>
      </p:nvGrpSpPr>
      <p:grpSpPr>
        <a:xfrm>
          <a:off x="0" y="0"/>
          <a:ext cx="0" cy="0"/>
          <a:chOff x="0" y="0"/>
          <a:chExt cx="0" cy="0"/>
        </a:xfrm>
      </p:grpSpPr>
      <p:sp>
        <p:nvSpPr>
          <p:cNvPr id="149" name="Google Shape;149;p3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50" name="Google Shape;150;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51"/>
        <p:cNvGrpSpPr/>
        <p:nvPr/>
      </p:nvGrpSpPr>
      <p:grpSpPr>
        <a:xfrm>
          <a:off x="0" y="0"/>
          <a:ext cx="0" cy="0"/>
          <a:chOff x="0" y="0"/>
          <a:chExt cx="0" cy="0"/>
        </a:xfrm>
      </p:grpSpPr>
      <p:sp>
        <p:nvSpPr>
          <p:cNvPr id="152" name="Google Shape;152;p3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53" name="Google Shape;15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4"/>
        <p:cNvGrpSpPr/>
        <p:nvPr/>
      </p:nvGrpSpPr>
      <p:grpSpPr>
        <a:xfrm>
          <a:off x="0" y="0"/>
          <a:ext cx="0" cy="0"/>
          <a:chOff x="0" y="0"/>
          <a:chExt cx="0" cy="0"/>
        </a:xfrm>
      </p:grpSpPr>
      <p:sp>
        <p:nvSpPr>
          <p:cNvPr id="155" name="Google Shape;155;p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57" name="Google Shape;157;p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8" name="Google Shape;158;p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59" name="Google Shape;159;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0"/>
        <p:cNvGrpSpPr/>
        <p:nvPr/>
      </p:nvGrpSpPr>
      <p:grpSpPr>
        <a:xfrm>
          <a:off x="0" y="0"/>
          <a:ext cx="0" cy="0"/>
          <a:chOff x="0" y="0"/>
          <a:chExt cx="0" cy="0"/>
        </a:xfrm>
      </p:grpSpPr>
      <p:sp>
        <p:nvSpPr>
          <p:cNvPr id="161" name="Google Shape;161;p3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image" Target="../media/image1.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theme" Target="../theme/theme2.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p1"/>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p1"/>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p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p1"/>
          <p:cNvPicPr preferRelativeResize="0"/>
          <p:nvPr/>
        </p:nvPicPr>
        <p:blipFill rotWithShape="1">
          <a:blip r:embed="rId25">
            <a:alphaModFix/>
          </a:blip>
          <a:srcRect/>
          <a:stretch/>
        </p:blipFill>
        <p:spPr>
          <a:xfrm>
            <a:off x="7669500" y="68264"/>
            <a:ext cx="1395476" cy="572701"/>
          </a:xfrm>
          <a:prstGeom prst="rect">
            <a:avLst/>
          </a:prstGeom>
          <a:noFill/>
          <a:ln>
            <a:noFill/>
          </a:ln>
        </p:spPr>
      </p:pic>
      <p:grpSp>
        <p:nvGrpSpPr>
          <p:cNvPr id="11" name="Google Shape;11;p1"/>
          <p:cNvGrpSpPr/>
          <p:nvPr/>
        </p:nvGrpSpPr>
        <p:grpSpPr>
          <a:xfrm>
            <a:off x="6593" y="10"/>
            <a:ext cx="175500" cy="709221"/>
            <a:chOff x="6593" y="10"/>
            <a:chExt cx="175500" cy="709221"/>
          </a:xfrm>
        </p:grpSpPr>
        <p:sp>
          <p:nvSpPr>
            <p:cNvPr id="12" name="Google Shape;12;p1"/>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1"/>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4"/>
        <p:cNvGrpSpPr/>
        <p:nvPr/>
      </p:nvGrpSpPr>
      <p:grpSpPr>
        <a:xfrm>
          <a:off x="0" y="0"/>
          <a:ext cx="0" cy="0"/>
          <a:chOff x="0" y="0"/>
          <a:chExt cx="0" cy="0"/>
        </a:xfrm>
      </p:grpSpPr>
      <p:sp>
        <p:nvSpPr>
          <p:cNvPr id="115" name="Google Shape;115;p2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16" name="Google Shape;116;p25"/>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17" name="Google Shape;117;p25"/>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18" name="Google Shape;118;p2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19" name="Google Shape;119;p25"/>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20" name="Google Shape;120;p25"/>
          <p:cNvGrpSpPr/>
          <p:nvPr/>
        </p:nvGrpSpPr>
        <p:grpSpPr>
          <a:xfrm>
            <a:off x="6593" y="10"/>
            <a:ext cx="175500" cy="709221"/>
            <a:chOff x="6593" y="10"/>
            <a:chExt cx="175500" cy="709221"/>
          </a:xfrm>
        </p:grpSpPr>
        <p:sp>
          <p:nvSpPr>
            <p:cNvPr id="121" name="Google Shape;121;p25"/>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25"/>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6"/>
          <p:cNvSpPr txBox="1"/>
          <p:nvPr/>
        </p:nvSpPr>
        <p:spPr>
          <a:xfrm>
            <a:off x="979026" y="1278376"/>
            <a:ext cx="6280177" cy="738633"/>
          </a:xfrm>
          <a:prstGeom prst="rect">
            <a:avLst/>
          </a:prstGeom>
          <a:noFill/>
          <a:ln>
            <a:noFill/>
          </a:ln>
        </p:spPr>
        <p:txBody>
          <a:bodyPr spcFirstLastPara="1" wrap="square" lIns="91425" tIns="91425" rIns="91425" bIns="91425" anchor="t" anchorCtr="0">
            <a:spAutoFit/>
          </a:bodyPr>
          <a:lstStyle/>
          <a:p>
            <a:pPr lvl="0" algn="ctr">
              <a:buSzPts val="4100"/>
            </a:pPr>
            <a:r>
              <a:rPr lang="en-US" sz="1800" b="1">
                <a:solidFill>
                  <a:schemeClr val="accent6">
                    <a:lumMod val="50000"/>
                  </a:schemeClr>
                </a:solidFill>
              </a:rPr>
              <a:t>Computer Vision for Industrial Safety: Binary Image Classification for Helmet Compliance Detection</a:t>
            </a:r>
            <a:endParaRPr sz="1800" b="1" i="0" u="none" strike="noStrike" cap="none">
              <a:solidFill>
                <a:schemeClr val="accent6">
                  <a:lumMod val="50000"/>
                </a:schemeClr>
              </a:solidFill>
              <a:latin typeface="Nunito"/>
              <a:ea typeface="Nunito"/>
              <a:cs typeface="Nunito"/>
              <a:sym typeface="Nunito"/>
            </a:endParaRPr>
          </a:p>
        </p:txBody>
      </p:sp>
      <p:sp>
        <p:nvSpPr>
          <p:cNvPr id="167" name="Google Shape;167;p36"/>
          <p:cNvSpPr txBox="1"/>
          <p:nvPr/>
        </p:nvSpPr>
        <p:spPr>
          <a:xfrm>
            <a:off x="1422608" y="2222327"/>
            <a:ext cx="5199300" cy="815578"/>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900"/>
              <a:buFont typeface="Arial"/>
              <a:buNone/>
            </a:pPr>
            <a:r>
              <a:rPr lang="en" sz="2900" b="1" i="0" u="none" strike="noStrike" cap="none">
                <a:solidFill>
                  <a:srgbClr val="0E39A9"/>
                </a:solidFill>
                <a:latin typeface="Nunito"/>
                <a:ea typeface="Nunito"/>
                <a:cs typeface="Nunito"/>
                <a:sym typeface="Nunito"/>
              </a:rPr>
              <a:t>Computer VisionHelmNet</a:t>
            </a:r>
          </a:p>
          <a:p>
            <a:pPr lvl="0" algn="ctr">
              <a:buSzPts val="2900"/>
            </a:pPr>
            <a:r>
              <a:rPr lang="en-US" sz="1200">
                <a:solidFill>
                  <a:srgbClr val="0E39A9"/>
                </a:solidFill>
                <a:latin typeface="Nunito"/>
                <a:ea typeface="Nunito"/>
                <a:cs typeface="Nunito"/>
                <a:sym typeface="Nunito"/>
              </a:rPr>
              <a:t>Austin University – Post Graduate Program in Artificial Intelligence</a:t>
            </a:r>
            <a:endParaRPr sz="1200" b="0" i="0" u="none" strike="noStrike" cap="none">
              <a:solidFill>
                <a:srgbClr val="0E39A9"/>
              </a:solidFill>
              <a:latin typeface="Nunito"/>
              <a:ea typeface="Nunito"/>
              <a:cs typeface="Nunito"/>
              <a:sym typeface="Nunito"/>
            </a:endParaRPr>
          </a:p>
        </p:txBody>
      </p:sp>
      <p:sp>
        <p:nvSpPr>
          <p:cNvPr id="168" name="Google Shape;168;p36"/>
          <p:cNvSpPr txBox="1"/>
          <p:nvPr/>
        </p:nvSpPr>
        <p:spPr>
          <a:xfrm>
            <a:off x="3652187" y="3771739"/>
            <a:ext cx="2519041" cy="353913"/>
          </a:xfrm>
          <a:prstGeom prst="rect">
            <a:avLst/>
          </a:prstGeom>
          <a:noFill/>
          <a:ln>
            <a:noFill/>
          </a:ln>
        </p:spPr>
        <p:txBody>
          <a:bodyPr spcFirstLastPara="1" wrap="square" lIns="91425" tIns="91425" rIns="91425" bIns="91425" anchor="t" anchorCtr="0">
            <a:spAutoFit/>
          </a:bodyPr>
          <a:lstStyle/>
          <a:p>
            <a:pPr>
              <a:buSzPts val="2200"/>
            </a:pPr>
            <a:r>
              <a:rPr lang="en" sz="1100">
                <a:solidFill>
                  <a:srgbClr val="0E39A9"/>
                </a:solidFill>
                <a:latin typeface="Nunito"/>
                <a:ea typeface="Nunito"/>
                <a:cs typeface="Nunito"/>
                <a:sym typeface="Nunito"/>
              </a:rPr>
              <a:t>2026-05-14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Contents / Agenda</a:t>
            </a:r>
            <a:endParaRPr sz="2400">
              <a:solidFill>
                <a:srgbClr val="0E39A9"/>
              </a:solidFill>
            </a:endParaRPr>
          </a:p>
        </p:txBody>
      </p:sp>
      <p:sp>
        <p:nvSpPr>
          <p:cNvPr id="174" name="Google Shape;174;p37"/>
          <p:cNvSpPr/>
          <p:nvPr/>
        </p:nvSpPr>
        <p:spPr>
          <a:xfrm>
            <a:off x="403421" y="13757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75" name="Google Shape;175;p37"/>
          <p:cNvSpPr txBox="1"/>
          <p:nvPr/>
        </p:nvSpPr>
        <p:spPr>
          <a:xfrm>
            <a:off x="691799" y="1251775"/>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Data Overview</a:t>
            </a:r>
            <a:endParaRPr sz="1400" b="0" i="0" u="none" strike="noStrike" cap="none">
              <a:solidFill>
                <a:srgbClr val="000000"/>
              </a:solidFill>
              <a:latin typeface="Montserrat"/>
              <a:ea typeface="Montserrat"/>
              <a:cs typeface="Montserrat"/>
              <a:sym typeface="Montserrat"/>
            </a:endParaRPr>
          </a:p>
        </p:txBody>
      </p:sp>
      <p:sp>
        <p:nvSpPr>
          <p:cNvPr id="176" name="Google Shape;176;p37"/>
          <p:cNvSpPr/>
          <p:nvPr/>
        </p:nvSpPr>
        <p:spPr>
          <a:xfrm>
            <a:off x="403421" y="17758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77" name="Google Shape;177;p37"/>
          <p:cNvSpPr txBox="1"/>
          <p:nvPr/>
        </p:nvSpPr>
        <p:spPr>
          <a:xfrm>
            <a:off x="691799" y="1672313"/>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Exploratory Data Analysis</a:t>
            </a:r>
            <a:endParaRPr sz="1400" b="0" i="0" u="none" strike="noStrike" cap="none">
              <a:solidFill>
                <a:srgbClr val="000000"/>
              </a:solidFill>
              <a:latin typeface="Montserrat"/>
              <a:ea typeface="Montserrat"/>
              <a:cs typeface="Montserrat"/>
              <a:sym typeface="Montserrat"/>
            </a:endParaRPr>
          </a:p>
        </p:txBody>
      </p:sp>
      <p:sp>
        <p:nvSpPr>
          <p:cNvPr id="178" name="Google Shape;178;p37"/>
          <p:cNvSpPr/>
          <p:nvPr/>
        </p:nvSpPr>
        <p:spPr>
          <a:xfrm>
            <a:off x="403421" y="22520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79" name="Google Shape;179;p37"/>
          <p:cNvSpPr txBox="1"/>
          <p:nvPr/>
        </p:nvSpPr>
        <p:spPr>
          <a:xfrm>
            <a:off x="691799" y="21434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Data Pre-processing</a:t>
            </a:r>
            <a:endParaRPr sz="1400" b="0" i="0" u="none" strike="noStrike" cap="none">
              <a:solidFill>
                <a:srgbClr val="000000"/>
              </a:solidFill>
              <a:latin typeface="Montserrat"/>
              <a:ea typeface="Montserrat"/>
              <a:cs typeface="Montserrat"/>
              <a:sym typeface="Montserrat"/>
            </a:endParaRPr>
          </a:p>
        </p:txBody>
      </p:sp>
      <p:sp>
        <p:nvSpPr>
          <p:cNvPr id="180" name="Google Shape;180;p37"/>
          <p:cNvSpPr/>
          <p:nvPr/>
        </p:nvSpPr>
        <p:spPr>
          <a:xfrm>
            <a:off x="403421" y="27092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1" name="Google Shape;181;p37"/>
          <p:cNvSpPr txBox="1"/>
          <p:nvPr/>
        </p:nvSpPr>
        <p:spPr>
          <a:xfrm>
            <a:off x="691799" y="26006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a:latin typeface="Montserrat"/>
                <a:ea typeface="Montserrat"/>
                <a:cs typeface="Montserrat"/>
                <a:sym typeface="Montserrat"/>
              </a:rPr>
              <a:t>Convolutional Neural Network (CNN) from Scratch</a:t>
            </a:r>
            <a:endParaRPr sz="1400" b="0" i="0" u="none" strike="noStrike" cap="none">
              <a:solidFill>
                <a:srgbClr val="000000"/>
              </a:solidFill>
              <a:latin typeface="Montserrat"/>
              <a:ea typeface="Montserrat"/>
              <a:cs typeface="Montserrat"/>
              <a:sym typeface="Montserrat"/>
            </a:endParaRPr>
          </a:p>
        </p:txBody>
      </p:sp>
      <p:sp>
        <p:nvSpPr>
          <p:cNvPr id="182" name="Google Shape;182;p37"/>
          <p:cNvSpPr/>
          <p:nvPr/>
        </p:nvSpPr>
        <p:spPr>
          <a:xfrm>
            <a:off x="403421" y="31664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3" name="Google Shape;183;p37"/>
          <p:cNvSpPr txBox="1"/>
          <p:nvPr/>
        </p:nvSpPr>
        <p:spPr>
          <a:xfrm>
            <a:off x="691799" y="30578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a:latin typeface="Montserrat"/>
                <a:ea typeface="Montserrat"/>
                <a:cs typeface="Montserrat"/>
                <a:sym typeface="Montserrat"/>
              </a:rPr>
              <a:t>Transfer Learning with VGG-16 (Base)</a:t>
            </a:r>
            <a:endParaRPr sz="1400" b="0" i="0" u="none" strike="noStrike" cap="none">
              <a:solidFill>
                <a:srgbClr val="000000"/>
              </a:solidFill>
              <a:latin typeface="Montserrat"/>
              <a:ea typeface="Montserrat"/>
              <a:cs typeface="Montserrat"/>
              <a:sym typeface="Montserrat"/>
            </a:endParaRPr>
          </a:p>
        </p:txBody>
      </p:sp>
      <p:sp>
        <p:nvSpPr>
          <p:cNvPr id="184" name="Google Shape;184;p37"/>
          <p:cNvSpPr/>
          <p:nvPr/>
        </p:nvSpPr>
        <p:spPr>
          <a:xfrm>
            <a:off x="403421" y="36236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5" name="Google Shape;185;p37"/>
          <p:cNvSpPr txBox="1"/>
          <p:nvPr/>
        </p:nvSpPr>
        <p:spPr>
          <a:xfrm>
            <a:off x="691799" y="35150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a:latin typeface="Montserrat"/>
                <a:ea typeface="Montserrat"/>
                <a:cs typeface="Montserrat"/>
                <a:sym typeface="Montserrat"/>
              </a:rPr>
              <a:t>Transfer Learning with VGG-16 (Base + FFNN)</a:t>
            </a:r>
            <a:endParaRPr sz="1400" b="0" i="0" u="none" strike="noStrike" cap="none">
              <a:solidFill>
                <a:srgbClr val="000000"/>
              </a:solidFill>
              <a:latin typeface="Montserrat"/>
              <a:ea typeface="Montserrat"/>
              <a:cs typeface="Montserrat"/>
              <a:sym typeface="Montserrat"/>
            </a:endParaRPr>
          </a:p>
        </p:txBody>
      </p:sp>
      <p:sp>
        <p:nvSpPr>
          <p:cNvPr id="186" name="Google Shape;186;p37"/>
          <p:cNvSpPr/>
          <p:nvPr/>
        </p:nvSpPr>
        <p:spPr>
          <a:xfrm>
            <a:off x="403421" y="40808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7" name="Google Shape;187;p37"/>
          <p:cNvSpPr txBox="1"/>
          <p:nvPr/>
        </p:nvSpPr>
        <p:spPr>
          <a:xfrm>
            <a:off x="691800" y="3972250"/>
            <a:ext cx="72465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a:latin typeface="Montserrat"/>
                <a:ea typeface="Montserrat"/>
                <a:cs typeface="Montserrat"/>
                <a:sym typeface="Montserrat"/>
              </a:rPr>
              <a:t>Transfer Learning with VGG-16 (Base + FFNN + Data Augmentation)</a:t>
            </a:r>
            <a:endParaRPr sz="1400" b="0" i="0" u="none" strike="noStrike" cap="none">
              <a:solidFill>
                <a:srgbClr val="000000"/>
              </a:solidFill>
              <a:latin typeface="Montserrat"/>
              <a:ea typeface="Montserrat"/>
              <a:cs typeface="Montserrat"/>
              <a:sym typeface="Montserrat"/>
            </a:endParaRPr>
          </a:p>
        </p:txBody>
      </p:sp>
      <p:sp>
        <p:nvSpPr>
          <p:cNvPr id="188" name="Google Shape;188;p37"/>
          <p:cNvSpPr/>
          <p:nvPr/>
        </p:nvSpPr>
        <p:spPr>
          <a:xfrm>
            <a:off x="403421" y="45380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189" name="Google Shape;189;p37"/>
          <p:cNvSpPr txBox="1"/>
          <p:nvPr/>
        </p:nvSpPr>
        <p:spPr>
          <a:xfrm>
            <a:off x="691799" y="44294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Model Performance Comparison and Final Model Selection</a:t>
            </a:r>
            <a:endParaRPr sz="1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8"/>
          <p:cNvSpPr txBox="1">
            <a:spLocks noGrp="1"/>
          </p:cNvSpPr>
          <p:nvPr>
            <p:ph type="title"/>
          </p:nvPr>
        </p:nvSpPr>
        <p:spPr>
          <a:xfrm>
            <a:off x="225453" y="3493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Executive Summary</a:t>
            </a:r>
            <a:endParaRPr sz="2400">
              <a:solidFill>
                <a:srgbClr val="0E39A9"/>
              </a:solidFill>
            </a:endParaRPr>
          </a:p>
        </p:txBody>
      </p:sp>
      <p:sp>
        <p:nvSpPr>
          <p:cNvPr id="8" name="TextBox 7">
            <a:extLst>
              <a:ext uri="{FF2B5EF4-FFF2-40B4-BE49-F238E27FC236}">
                <a16:creationId xmlns:a16="http://schemas.microsoft.com/office/drawing/2014/main" id="{109F777C-7F89-37FA-800A-4A5A9ACCC846}"/>
              </a:ext>
            </a:extLst>
          </p:cNvPr>
          <p:cNvSpPr txBox="1"/>
          <p:nvPr/>
        </p:nvSpPr>
        <p:spPr>
          <a:xfrm>
            <a:off x="225453" y="690592"/>
            <a:ext cx="8361779" cy="677585"/>
          </a:xfrm>
          <a:prstGeom prst="roundRect">
            <a:avLst>
              <a:gd name="adj" fmla="val 9443"/>
            </a:avLst>
          </a:prstGeom>
          <a:noFill/>
          <a:ln>
            <a:solidFill>
              <a:schemeClr val="accent6">
                <a:lumMod val="50000"/>
              </a:schemeClr>
            </a:solidFill>
          </a:ln>
        </p:spPr>
        <p:txBody>
          <a:bodyPr wrap="square">
            <a:spAutoFit/>
          </a:bodyPr>
          <a:lstStyle/>
          <a:p>
            <a:r>
              <a:rPr lang="en-US" sz="1200">
                <a:solidFill>
                  <a:schemeClr val="accent6">
                    <a:lumMod val="50000"/>
                  </a:schemeClr>
                </a:solidFill>
              </a:rPr>
              <a:t>We compared four models on </a:t>
            </a:r>
            <a:r>
              <a:rPr lang="en-US" sz="1200" b="1">
                <a:solidFill>
                  <a:schemeClr val="accent6">
                    <a:lumMod val="50000"/>
                  </a:schemeClr>
                </a:solidFill>
              </a:rPr>
              <a:t>4,125 worker photos</a:t>
            </a:r>
            <a:r>
              <a:rPr lang="en-US" sz="1200">
                <a:solidFill>
                  <a:schemeClr val="accent6">
                    <a:lumMod val="50000"/>
                  </a:schemeClr>
                </a:solidFill>
              </a:rPr>
              <a:t> (76.6% With Helmet / 23.4% Without). For a safety use case, </a:t>
            </a:r>
            <a:r>
              <a:rPr lang="en-US" sz="1200" b="1">
                <a:solidFill>
                  <a:schemeClr val="accent6">
                    <a:lumMod val="50000"/>
                  </a:schemeClr>
                </a:solidFill>
              </a:rPr>
              <a:t>Recall</a:t>
            </a:r>
            <a:r>
              <a:rPr lang="en-US" sz="1200">
                <a:solidFill>
                  <a:schemeClr val="accent6">
                    <a:lumMod val="50000"/>
                  </a:schemeClr>
                </a:solidFill>
              </a:rPr>
              <a:t> for the "Without Helmet" class is our critical metric. Failing to detect an unsafe worker (a false negative) carries the highest operational risk, making recall the ultimate measure of the model's safety value.</a:t>
            </a:r>
          </a:p>
        </p:txBody>
      </p:sp>
      <p:sp>
        <p:nvSpPr>
          <p:cNvPr id="13" name="TextBox 12">
            <a:extLst>
              <a:ext uri="{FF2B5EF4-FFF2-40B4-BE49-F238E27FC236}">
                <a16:creationId xmlns:a16="http://schemas.microsoft.com/office/drawing/2014/main" id="{1FCB7E36-BBA8-EA23-1785-DACD4984CA00}"/>
              </a:ext>
            </a:extLst>
          </p:cNvPr>
          <p:cNvSpPr txBox="1"/>
          <p:nvPr/>
        </p:nvSpPr>
        <p:spPr>
          <a:xfrm>
            <a:off x="238810" y="1402273"/>
            <a:ext cx="6094067" cy="2998768"/>
          </a:xfrm>
          <a:prstGeom prst="roundRect">
            <a:avLst>
              <a:gd name="adj" fmla="val 2632"/>
            </a:avLst>
          </a:prstGeom>
          <a:noFill/>
          <a:ln>
            <a:solidFill>
              <a:schemeClr val="accent6">
                <a:lumMod val="50000"/>
              </a:schemeClr>
            </a:solidFill>
          </a:ln>
        </p:spPr>
        <p:txBody>
          <a:bodyPr wrap="square">
            <a:spAutoFit/>
          </a:bodyPr>
          <a:lstStyle/>
          <a:p>
            <a:pPr>
              <a:buNone/>
            </a:pPr>
            <a:r>
              <a:rPr lang="en-US" sz="1100" b="1">
                <a:solidFill>
                  <a:schemeClr val="accent6">
                    <a:lumMod val="50000"/>
                  </a:schemeClr>
                </a:solidFill>
              </a:rPr>
              <a:t>Key Finding</a:t>
            </a:r>
          </a:p>
          <a:p>
            <a:pPr>
              <a:buNone/>
            </a:pPr>
            <a:r>
              <a:rPr lang="en-US" sz="1100" b="1">
                <a:solidFill>
                  <a:schemeClr val="accent6">
                    <a:lumMod val="50000"/>
                  </a:schemeClr>
                </a:solidFill>
              </a:rPr>
              <a:t>Model 1 wins on both recall and F1</a:t>
            </a:r>
          </a:p>
          <a:p>
            <a:pPr marL="171450" indent="-171450">
              <a:buFont typeface="Arial" panose="020B0604020202020204" pitchFamily="34" charset="0"/>
              <a:buChar char="•"/>
            </a:pPr>
            <a:r>
              <a:rPr lang="en-US" sz="1100">
                <a:solidFill>
                  <a:schemeClr val="accent6">
                    <a:lumMod val="50000"/>
                  </a:schemeClr>
                </a:solidFill>
              </a:rPr>
              <a:t>best at catching unsafe cases without flooding users with false alerts. Counter-intuitively, the simple CNN outperformed all VGG-16 transfer-learning variants, likely because it learned features specific to this dataset.</a:t>
            </a:r>
          </a:p>
          <a:p>
            <a:pPr>
              <a:buNone/>
            </a:pPr>
            <a:endParaRPr lang="en-US" sz="1100">
              <a:solidFill>
                <a:schemeClr val="accent6">
                  <a:lumMod val="50000"/>
                </a:schemeClr>
              </a:solidFill>
            </a:endParaRPr>
          </a:p>
          <a:p>
            <a:pPr>
              <a:buNone/>
            </a:pPr>
            <a:r>
              <a:rPr lang="en-US" sz="1100" b="1">
                <a:solidFill>
                  <a:schemeClr val="accent6">
                    <a:lumMod val="50000"/>
                  </a:schemeClr>
                </a:solidFill>
              </a:rPr>
              <a:t>Status &amp; Recommendation</a:t>
            </a:r>
          </a:p>
          <a:p>
            <a:pPr marL="171450" indent="-171450">
              <a:buFont typeface="Arial" panose="020B0604020202020204" pitchFamily="34" charset="0"/>
              <a:buChar char="•"/>
            </a:pPr>
            <a:r>
              <a:rPr lang="en-US" sz="1100">
                <a:solidFill>
                  <a:schemeClr val="accent6">
                    <a:lumMod val="50000"/>
                  </a:schemeClr>
                </a:solidFill>
              </a:rPr>
              <a:t>Model 1 catches ~85% of "Without Helmet" workers on the test set — strong as a </a:t>
            </a:r>
            <a:r>
              <a:rPr lang="en-US" sz="1100" b="1">
                <a:solidFill>
                  <a:schemeClr val="accent6">
                    <a:lumMod val="50000"/>
                  </a:schemeClr>
                </a:solidFill>
              </a:rPr>
              <a:t>prototype</a:t>
            </a:r>
            <a:r>
              <a:rPr lang="en-US" sz="1100">
                <a:solidFill>
                  <a:schemeClr val="accent6">
                    <a:lumMod val="50000"/>
                  </a:schemeClr>
                </a:solidFill>
              </a:rPr>
              <a:t>, not yet safety-grade. Before production:</a:t>
            </a:r>
          </a:p>
          <a:p>
            <a:pPr marL="457200" lvl="7">
              <a:buFont typeface="+mj-lt"/>
              <a:buAutoNum type="arabicPeriod"/>
            </a:pPr>
            <a:r>
              <a:rPr lang="en-US" sz="1100" b="1">
                <a:solidFill>
                  <a:schemeClr val="accent6">
                    <a:lumMod val="50000"/>
                  </a:schemeClr>
                </a:solidFill>
              </a:rPr>
              <a:t>Enrich Data </a:t>
            </a:r>
            <a:r>
              <a:rPr lang="en-US" sz="1100">
                <a:solidFill>
                  <a:schemeClr val="accent6">
                    <a:lumMod val="50000"/>
                  </a:schemeClr>
                </a:solidFill>
              </a:rPr>
              <a:t>- Collect more "Without Helmet" images.</a:t>
            </a:r>
          </a:p>
          <a:p>
            <a:pPr marL="457200" lvl="7">
              <a:buFont typeface="+mj-lt"/>
              <a:buAutoNum type="arabicPeriod"/>
            </a:pPr>
            <a:r>
              <a:rPr lang="en-US" sz="1100" b="1">
                <a:solidFill>
                  <a:schemeClr val="accent6">
                    <a:lumMod val="50000"/>
                  </a:schemeClr>
                </a:solidFill>
              </a:rPr>
              <a:t>Optimize Thresholds </a:t>
            </a:r>
            <a:r>
              <a:rPr lang="en-US" sz="1100">
                <a:solidFill>
                  <a:schemeClr val="accent6">
                    <a:lumMod val="50000"/>
                  </a:schemeClr>
                </a:solidFill>
              </a:rPr>
              <a:t>– Lower, from the decision threshold to raise recall.</a:t>
            </a:r>
          </a:p>
          <a:p>
            <a:pPr marL="457200" lvl="7">
              <a:buFont typeface="+mj-lt"/>
              <a:buAutoNum type="arabicPeriod"/>
            </a:pPr>
            <a:r>
              <a:rPr lang="en-US" sz="1100" b="1">
                <a:solidFill>
                  <a:schemeClr val="accent6">
                    <a:lumMod val="50000"/>
                  </a:schemeClr>
                </a:solidFill>
              </a:rPr>
              <a:t>Iterate</a:t>
            </a:r>
            <a:r>
              <a:rPr lang="en-US" sz="1100">
                <a:solidFill>
                  <a:schemeClr val="accent6">
                    <a:lumMod val="50000"/>
                  </a:schemeClr>
                </a:solidFill>
              </a:rPr>
              <a:t> - Try fine-tuning VGG-16's top layers.</a:t>
            </a:r>
          </a:p>
          <a:p>
            <a:pPr marL="457200" lvl="7">
              <a:buFont typeface="+mj-lt"/>
              <a:buAutoNum type="arabicPeriod"/>
            </a:pPr>
            <a:r>
              <a:rPr lang="en-US" sz="1100" b="1">
                <a:solidFill>
                  <a:schemeClr val="accent6">
                    <a:lumMod val="50000"/>
                  </a:schemeClr>
                </a:solidFill>
              </a:rPr>
              <a:t>Deploy</a:t>
            </a:r>
            <a:r>
              <a:rPr lang="en-US" sz="1100">
                <a:solidFill>
                  <a:schemeClr val="accent6">
                    <a:lumMod val="50000"/>
                  </a:schemeClr>
                </a:solidFill>
              </a:rPr>
              <a:t> with a human-in-the-loop for borderline cases. </a:t>
            </a:r>
          </a:p>
          <a:p>
            <a:pPr marL="457200" lvl="7">
              <a:buFont typeface="+mj-lt"/>
              <a:buAutoNum type="arabicPeriod"/>
            </a:pPr>
            <a:r>
              <a:rPr lang="en-US" sz="1100" b="1">
                <a:solidFill>
                  <a:schemeClr val="accent6">
                    <a:lumMod val="50000"/>
                  </a:schemeClr>
                </a:solidFill>
              </a:rPr>
              <a:t>Apply</a:t>
            </a:r>
            <a:r>
              <a:rPr lang="en-US" sz="1100">
                <a:solidFill>
                  <a:schemeClr val="accent6">
                    <a:lumMod val="50000"/>
                  </a:schemeClr>
                </a:solidFill>
              </a:rPr>
              <a:t> class weighting (class_weight={0: 3.3, 1: 1.0}) to penalize no-helmet misses more during training.</a:t>
            </a:r>
          </a:p>
          <a:p>
            <a:pPr marL="457200" lvl="7">
              <a:buFont typeface="+mj-lt"/>
              <a:buAutoNum type="arabicPeriod"/>
            </a:pPr>
            <a:r>
              <a:rPr lang="en-US" sz="1100">
                <a:solidFill>
                  <a:schemeClr val="accent6">
                    <a:lumMod val="50000"/>
                  </a:schemeClr>
                </a:solidFill>
              </a:rPr>
              <a:t>Lower – Classification Threshold to output from &gt; 0.5 to &gt; 0.35 makes the model more conservative converting some FP into true detection.</a:t>
            </a:r>
          </a:p>
        </p:txBody>
      </p:sp>
      <p:graphicFrame>
        <p:nvGraphicFramePr>
          <p:cNvPr id="10" name="Table 9">
            <a:extLst>
              <a:ext uri="{FF2B5EF4-FFF2-40B4-BE49-F238E27FC236}">
                <a16:creationId xmlns:a16="http://schemas.microsoft.com/office/drawing/2014/main" id="{7771D959-3992-55D2-2A1C-9508356D733F}"/>
              </a:ext>
            </a:extLst>
          </p:cNvPr>
          <p:cNvGraphicFramePr>
            <a:graphicFrameLocks noGrp="1"/>
          </p:cNvGraphicFramePr>
          <p:nvPr>
            <p:extLst>
              <p:ext uri="{D42A27DB-BD31-4B8C-83A1-F6EECF244321}">
                <p14:modId xmlns:p14="http://schemas.microsoft.com/office/powerpoint/2010/main" val="3806276850"/>
              </p:ext>
            </p:extLst>
          </p:nvPr>
        </p:nvGraphicFramePr>
        <p:xfrm>
          <a:off x="5858157" y="2218386"/>
          <a:ext cx="2729075" cy="1298350"/>
        </p:xfrm>
        <a:graphic>
          <a:graphicData uri="http://schemas.openxmlformats.org/drawingml/2006/table">
            <a:tbl>
              <a:tblPr firstRow="1">
                <a:tableStyleId>{93296810-A885-4BE3-A3E7-6D5BEEA58F35}</a:tableStyleId>
              </a:tblPr>
              <a:tblGrid>
                <a:gridCol w="1727200">
                  <a:extLst>
                    <a:ext uri="{9D8B030D-6E8A-4147-A177-3AD203B41FA5}">
                      <a16:colId xmlns:a16="http://schemas.microsoft.com/office/drawing/2014/main" val="2821958450"/>
                    </a:ext>
                  </a:extLst>
                </a:gridCol>
                <a:gridCol w="528320">
                  <a:extLst>
                    <a:ext uri="{9D8B030D-6E8A-4147-A177-3AD203B41FA5}">
                      <a16:colId xmlns:a16="http://schemas.microsoft.com/office/drawing/2014/main" val="456315717"/>
                    </a:ext>
                  </a:extLst>
                </a:gridCol>
                <a:gridCol w="473555">
                  <a:extLst>
                    <a:ext uri="{9D8B030D-6E8A-4147-A177-3AD203B41FA5}">
                      <a16:colId xmlns:a16="http://schemas.microsoft.com/office/drawing/2014/main" val="3468587552"/>
                    </a:ext>
                  </a:extLst>
                </a:gridCol>
              </a:tblGrid>
              <a:tr h="259670">
                <a:tc>
                  <a:txBody>
                    <a:bodyPr/>
                    <a:lstStyle/>
                    <a:p>
                      <a:pPr>
                        <a:buNone/>
                      </a:pPr>
                      <a:r>
                        <a:rPr lang="en-US" sz="800"/>
                        <a:t>Model</a:t>
                      </a:r>
                    </a:p>
                  </a:txBody>
                  <a:tcPr anchor="ctr"/>
                </a:tc>
                <a:tc>
                  <a:txBody>
                    <a:bodyPr/>
                    <a:lstStyle/>
                    <a:p>
                      <a:pPr>
                        <a:buNone/>
                      </a:pPr>
                      <a:r>
                        <a:rPr lang="en-US" sz="700"/>
                        <a:t>Recall</a:t>
                      </a:r>
                    </a:p>
                  </a:txBody>
                  <a:tcPr anchor="ctr"/>
                </a:tc>
                <a:tc>
                  <a:txBody>
                    <a:bodyPr/>
                    <a:lstStyle/>
                    <a:p>
                      <a:pPr>
                        <a:buNone/>
                      </a:pPr>
                      <a:r>
                        <a:rPr lang="en-US" sz="800"/>
                        <a:t>F1</a:t>
                      </a:r>
                    </a:p>
                  </a:txBody>
                  <a:tcPr anchor="ctr"/>
                </a:tc>
                <a:extLst>
                  <a:ext uri="{0D108BD9-81ED-4DB2-BD59-A6C34878D82A}">
                    <a16:rowId xmlns:a16="http://schemas.microsoft.com/office/drawing/2014/main" val="19884029"/>
                  </a:ext>
                </a:extLst>
              </a:tr>
              <a:tr h="259670">
                <a:tc>
                  <a:txBody>
                    <a:bodyPr/>
                    <a:lstStyle/>
                    <a:p>
                      <a:pPr>
                        <a:buNone/>
                      </a:pPr>
                      <a:r>
                        <a:rPr lang="en-US" sz="800" b="1"/>
                        <a:t>CNN from Scratch (Model 1)</a:t>
                      </a:r>
                      <a:endParaRPr lang="en-US" sz="800"/>
                    </a:p>
                  </a:txBody>
                  <a:tcPr anchor="ctr"/>
                </a:tc>
                <a:tc>
                  <a:txBody>
                    <a:bodyPr/>
                    <a:lstStyle/>
                    <a:p>
                      <a:pPr>
                        <a:buNone/>
                      </a:pPr>
                      <a:r>
                        <a:rPr lang="en-US" sz="700" b="1"/>
                        <a:t>0.860</a:t>
                      </a:r>
                      <a:endParaRPr lang="en-US" sz="700"/>
                    </a:p>
                  </a:txBody>
                  <a:tcPr anchor="ctr"/>
                </a:tc>
                <a:tc>
                  <a:txBody>
                    <a:bodyPr/>
                    <a:lstStyle/>
                    <a:p>
                      <a:pPr>
                        <a:buNone/>
                      </a:pPr>
                      <a:r>
                        <a:rPr lang="en-US" sz="800" b="1"/>
                        <a:t>0.880</a:t>
                      </a:r>
                      <a:endParaRPr lang="en-US" sz="800"/>
                    </a:p>
                  </a:txBody>
                  <a:tcPr anchor="ctr"/>
                </a:tc>
                <a:extLst>
                  <a:ext uri="{0D108BD9-81ED-4DB2-BD59-A6C34878D82A}">
                    <a16:rowId xmlns:a16="http://schemas.microsoft.com/office/drawing/2014/main" val="3206402134"/>
                  </a:ext>
                </a:extLst>
              </a:tr>
              <a:tr h="259670">
                <a:tc>
                  <a:txBody>
                    <a:bodyPr/>
                    <a:lstStyle/>
                    <a:p>
                      <a:pPr>
                        <a:buNone/>
                      </a:pPr>
                      <a:r>
                        <a:rPr lang="en-US" sz="800"/>
                        <a:t>VGG-16 Base (Model 2)</a:t>
                      </a:r>
                    </a:p>
                  </a:txBody>
                  <a:tcPr anchor="ctr"/>
                </a:tc>
                <a:tc>
                  <a:txBody>
                    <a:bodyPr/>
                    <a:lstStyle/>
                    <a:p>
                      <a:pPr>
                        <a:buNone/>
                      </a:pPr>
                      <a:r>
                        <a:rPr lang="en-US" sz="700"/>
                        <a:t>0.812</a:t>
                      </a:r>
                    </a:p>
                  </a:txBody>
                  <a:tcPr anchor="ctr"/>
                </a:tc>
                <a:tc>
                  <a:txBody>
                    <a:bodyPr/>
                    <a:lstStyle/>
                    <a:p>
                      <a:pPr>
                        <a:buNone/>
                      </a:pPr>
                      <a:r>
                        <a:rPr lang="en-US" sz="800"/>
                        <a:t>0.824</a:t>
                      </a:r>
                    </a:p>
                  </a:txBody>
                  <a:tcPr anchor="ctr"/>
                </a:tc>
                <a:extLst>
                  <a:ext uri="{0D108BD9-81ED-4DB2-BD59-A6C34878D82A}">
                    <a16:rowId xmlns:a16="http://schemas.microsoft.com/office/drawing/2014/main" val="3396138945"/>
                  </a:ext>
                </a:extLst>
              </a:tr>
              <a:tr h="259670">
                <a:tc>
                  <a:txBody>
                    <a:bodyPr/>
                    <a:lstStyle/>
                    <a:p>
                      <a:pPr>
                        <a:buNone/>
                      </a:pPr>
                      <a:r>
                        <a:rPr lang="en-US" sz="800"/>
                        <a:t>VGG-16 + FFNN (Model 3)</a:t>
                      </a:r>
                    </a:p>
                  </a:txBody>
                  <a:tcPr anchor="ctr"/>
                </a:tc>
                <a:tc>
                  <a:txBody>
                    <a:bodyPr/>
                    <a:lstStyle/>
                    <a:p>
                      <a:pPr>
                        <a:buNone/>
                      </a:pPr>
                      <a:r>
                        <a:rPr lang="en-US" sz="700"/>
                        <a:t>0.729</a:t>
                      </a:r>
                    </a:p>
                  </a:txBody>
                  <a:tcPr anchor="ctr"/>
                </a:tc>
                <a:tc>
                  <a:txBody>
                    <a:bodyPr/>
                    <a:lstStyle/>
                    <a:p>
                      <a:pPr>
                        <a:buNone/>
                      </a:pPr>
                      <a:r>
                        <a:rPr lang="en-US" sz="800"/>
                        <a:t>0.770</a:t>
                      </a:r>
                    </a:p>
                  </a:txBody>
                  <a:tcPr anchor="ctr"/>
                </a:tc>
                <a:extLst>
                  <a:ext uri="{0D108BD9-81ED-4DB2-BD59-A6C34878D82A}">
                    <a16:rowId xmlns:a16="http://schemas.microsoft.com/office/drawing/2014/main" val="3968537301"/>
                  </a:ext>
                </a:extLst>
              </a:tr>
              <a:tr h="259670">
                <a:tc>
                  <a:txBody>
                    <a:bodyPr/>
                    <a:lstStyle/>
                    <a:p>
                      <a:pPr>
                        <a:buNone/>
                      </a:pPr>
                      <a:r>
                        <a:rPr lang="nn-NO" sz="800"/>
                        <a:t>VGG-16 + FFNN + Aug (Model 4)</a:t>
                      </a:r>
                    </a:p>
                  </a:txBody>
                  <a:tcPr anchor="ctr"/>
                </a:tc>
                <a:tc>
                  <a:txBody>
                    <a:bodyPr/>
                    <a:lstStyle/>
                    <a:p>
                      <a:pPr>
                        <a:buNone/>
                      </a:pPr>
                      <a:r>
                        <a:rPr lang="en-US" sz="700"/>
                        <a:t>0.647</a:t>
                      </a:r>
                    </a:p>
                  </a:txBody>
                  <a:tcPr anchor="ctr"/>
                </a:tc>
                <a:tc>
                  <a:txBody>
                    <a:bodyPr/>
                    <a:lstStyle/>
                    <a:p>
                      <a:pPr>
                        <a:buNone/>
                      </a:pPr>
                      <a:r>
                        <a:rPr lang="en-US" sz="800"/>
                        <a:t>0.678</a:t>
                      </a:r>
                    </a:p>
                  </a:txBody>
                  <a:tcPr anchor="ctr"/>
                </a:tc>
                <a:extLst>
                  <a:ext uri="{0D108BD9-81ED-4DB2-BD59-A6C34878D82A}">
                    <a16:rowId xmlns:a16="http://schemas.microsoft.com/office/drawing/2014/main" val="125526104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0A6EEDE-78C0-5BCF-408B-8C2439CC30B4}"/>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DA5F5C63-0E03-FC75-3670-009B2F513BF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Business Problem Overview and Solution Approach</a:t>
            </a:r>
            <a:endParaRPr sz="2400">
              <a:solidFill>
                <a:srgbClr val="0E39A9"/>
              </a:solidFill>
            </a:endParaRPr>
          </a:p>
        </p:txBody>
      </p:sp>
      <p:sp>
        <p:nvSpPr>
          <p:cNvPr id="2" name="Rectangle: Rounded Corners 1">
            <a:extLst>
              <a:ext uri="{FF2B5EF4-FFF2-40B4-BE49-F238E27FC236}">
                <a16:creationId xmlns:a16="http://schemas.microsoft.com/office/drawing/2014/main" id="{AFE89B48-B1D7-D2D9-B552-78619A478F65}"/>
              </a:ext>
            </a:extLst>
          </p:cNvPr>
          <p:cNvSpPr/>
          <p:nvPr/>
        </p:nvSpPr>
        <p:spPr>
          <a:xfrm>
            <a:off x="256810" y="1378152"/>
            <a:ext cx="8686562" cy="3476069"/>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300">
                <a:solidFill>
                  <a:schemeClr val="accent6">
                    <a:lumMod val="50000"/>
                  </a:schemeClr>
                </a:solidFill>
              </a:rPr>
              <a:t>SafeGuard Corp operates in hazardous industrial environments where workers are exposed to safety risks from falling objects, machinery, and active construction or industrial activity. Safety helmets are a critical form of protection, but monitoring helmet compliance manually is difficult to scale across large worksites and multiple camera feeds.</a:t>
            </a:r>
          </a:p>
          <a:p>
            <a:endParaRPr lang="en-US" sz="1300">
              <a:solidFill>
                <a:schemeClr val="accent6">
                  <a:lumMod val="50000"/>
                </a:schemeClr>
              </a:solidFill>
            </a:endParaRPr>
          </a:p>
          <a:p>
            <a:r>
              <a:rPr lang="en-US" sz="1300">
                <a:solidFill>
                  <a:schemeClr val="accent6">
                    <a:lumMod val="50000"/>
                  </a:schemeClr>
                </a:solidFill>
              </a:rPr>
              <a:t>The business problem is that manual monitoring can be inconsistent, time-consuming, and prone to human error. As a result, workers who are not wearing helmets may go undetected, increasing the risk of workplace injury and non-compliance with safety procedures.</a:t>
            </a:r>
          </a:p>
          <a:p>
            <a:r>
              <a:rPr lang="en-US" sz="1300">
                <a:solidFill>
                  <a:schemeClr val="accent6">
                    <a:lumMod val="50000"/>
                  </a:schemeClr>
                </a:solidFill>
              </a:rPr>
              <a:t>As a data scientist at SafeGuard Corp, the objective is to develop an image classification model that can classify workplace images into two categories:</a:t>
            </a:r>
          </a:p>
          <a:p>
            <a:endParaRPr lang="en-US" sz="1300">
              <a:solidFill>
                <a:schemeClr val="accent6">
                  <a:lumMod val="50000"/>
                </a:schemeClr>
              </a:solidFill>
            </a:endParaRPr>
          </a:p>
          <a:p>
            <a:r>
              <a:rPr lang="en-US" sz="1300" b="1">
                <a:solidFill>
                  <a:schemeClr val="accent6">
                    <a:lumMod val="50000"/>
                  </a:schemeClr>
                </a:solidFill>
              </a:rPr>
              <a:t>With Helmet:</a:t>
            </a:r>
            <a:r>
              <a:rPr lang="en-US" sz="1300">
                <a:solidFill>
                  <a:schemeClr val="accent6">
                    <a:lumMod val="50000"/>
                  </a:schemeClr>
                </a:solidFill>
              </a:rPr>
              <a:t> Workers wearing safety helmets.</a:t>
            </a:r>
            <a:br>
              <a:rPr lang="en-US" sz="1300">
                <a:solidFill>
                  <a:schemeClr val="accent6">
                    <a:lumMod val="50000"/>
                  </a:schemeClr>
                </a:solidFill>
              </a:rPr>
            </a:br>
            <a:r>
              <a:rPr lang="en-US" sz="1300" b="1">
                <a:solidFill>
                  <a:schemeClr val="accent6">
                    <a:lumMod val="50000"/>
                  </a:schemeClr>
                </a:solidFill>
              </a:rPr>
              <a:t>Without Helmet:</a:t>
            </a:r>
            <a:r>
              <a:rPr lang="en-US" sz="1300">
                <a:solidFill>
                  <a:schemeClr val="accent6">
                    <a:lumMod val="50000"/>
                  </a:schemeClr>
                </a:solidFill>
              </a:rPr>
              <a:t> Workers not wearing safety helmets.</a:t>
            </a:r>
          </a:p>
          <a:p>
            <a:endParaRPr lang="en-US" sz="1300">
              <a:solidFill>
                <a:schemeClr val="accent6">
                  <a:lumMod val="50000"/>
                </a:schemeClr>
              </a:solidFill>
            </a:endParaRPr>
          </a:p>
          <a:p>
            <a:r>
              <a:rPr lang="en-US" sz="1300">
                <a:solidFill>
                  <a:schemeClr val="accent6">
                    <a:lumMod val="50000"/>
                  </a:schemeClr>
                </a:solidFill>
              </a:rPr>
              <a:t>This is a </a:t>
            </a:r>
            <a:r>
              <a:rPr lang="en-US" sz="1300" b="1">
                <a:solidFill>
                  <a:schemeClr val="accent6">
                    <a:lumMod val="50000"/>
                  </a:schemeClr>
                </a:solidFill>
              </a:rPr>
              <a:t>binary image classification problem</a:t>
            </a:r>
            <a:r>
              <a:rPr lang="en-US" sz="1300">
                <a:solidFill>
                  <a:schemeClr val="accent6">
                    <a:lumMod val="50000"/>
                  </a:schemeClr>
                </a:solidFill>
              </a:rPr>
              <a:t>. The goal is to prepare a model that can support a future automated safety monitoring system by identifying possible helmet non-compliance from images or video frames.</a:t>
            </a:r>
          </a:p>
        </p:txBody>
      </p:sp>
      <p:sp>
        <p:nvSpPr>
          <p:cNvPr id="3" name="Rectangle: Rounded Corners 2">
            <a:extLst>
              <a:ext uri="{FF2B5EF4-FFF2-40B4-BE49-F238E27FC236}">
                <a16:creationId xmlns:a16="http://schemas.microsoft.com/office/drawing/2014/main" id="{6E16E43D-23AD-3606-CB95-3A7CC59712BE}"/>
              </a:ext>
            </a:extLst>
          </p:cNvPr>
          <p:cNvSpPr/>
          <p:nvPr/>
        </p:nvSpPr>
        <p:spPr>
          <a:xfrm>
            <a:off x="256810" y="805451"/>
            <a:ext cx="8686562" cy="52411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Problem Overview</a:t>
            </a:r>
          </a:p>
        </p:txBody>
      </p:sp>
    </p:spTree>
    <p:extLst>
      <p:ext uri="{BB962C8B-B14F-4D97-AF65-F5344CB8AC3E}">
        <p14:creationId xmlns:p14="http://schemas.microsoft.com/office/powerpoint/2010/main" val="2167980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C7D1A7A0-4037-5ECE-2D23-78568F7F0911}"/>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0E3FF933-E189-389F-D13F-C3B5FCEC87E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Business Problem Overview and Solution Approach</a:t>
            </a:r>
            <a:endParaRPr sz="2400">
              <a:solidFill>
                <a:srgbClr val="0E39A9"/>
              </a:solidFill>
            </a:endParaRPr>
          </a:p>
        </p:txBody>
      </p:sp>
      <p:sp>
        <p:nvSpPr>
          <p:cNvPr id="2" name="Rectangle: Rounded Corners 1">
            <a:extLst>
              <a:ext uri="{FF2B5EF4-FFF2-40B4-BE49-F238E27FC236}">
                <a16:creationId xmlns:a16="http://schemas.microsoft.com/office/drawing/2014/main" id="{6F1657C1-CF5C-D265-D3BE-7D91D059298E}"/>
              </a:ext>
            </a:extLst>
          </p:cNvPr>
          <p:cNvSpPr/>
          <p:nvPr/>
        </p:nvSpPr>
        <p:spPr>
          <a:xfrm>
            <a:off x="256810" y="1378152"/>
            <a:ext cx="8686562" cy="3476069"/>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300">
                <a:solidFill>
                  <a:schemeClr val="accent6">
                    <a:lumMod val="50000"/>
                  </a:schemeClr>
                </a:solidFill>
              </a:rPr>
              <a:t>SafeGuard Corp operates in hazardous industrial environments where workers are exposed to safety risks from falling objects, machinery, and active construction or industrial activity. Safety helmets are a critical form of protection, but monitoring helmet compliance manually is difficult to scale across large worksites and multiple camera feeds.</a:t>
            </a:r>
          </a:p>
          <a:p>
            <a:endParaRPr lang="en-US" sz="1300">
              <a:solidFill>
                <a:schemeClr val="accent6">
                  <a:lumMod val="50000"/>
                </a:schemeClr>
              </a:solidFill>
            </a:endParaRPr>
          </a:p>
          <a:p>
            <a:r>
              <a:rPr lang="en-US" sz="1300">
                <a:solidFill>
                  <a:schemeClr val="accent6">
                    <a:lumMod val="50000"/>
                  </a:schemeClr>
                </a:solidFill>
              </a:rPr>
              <a:t>The business problem is that manual monitoring can be inconsistent, time-consuming, and prone to human error. As a result, workers who are not wearing helmets may go undetected, increasing the risk of workplace injury and non-compliance with safety procedures.</a:t>
            </a:r>
          </a:p>
          <a:p>
            <a:r>
              <a:rPr lang="en-US" sz="1300">
                <a:solidFill>
                  <a:schemeClr val="accent6">
                    <a:lumMod val="50000"/>
                  </a:schemeClr>
                </a:solidFill>
              </a:rPr>
              <a:t>As a data scientist at SafeGuard Corp, the objective is to develop an image classification model that can classify workplace images into two categories:</a:t>
            </a:r>
          </a:p>
          <a:p>
            <a:endParaRPr lang="en-US" sz="1300">
              <a:solidFill>
                <a:schemeClr val="accent6">
                  <a:lumMod val="50000"/>
                </a:schemeClr>
              </a:solidFill>
            </a:endParaRPr>
          </a:p>
          <a:p>
            <a:r>
              <a:rPr lang="en-US" sz="1300" b="1">
                <a:solidFill>
                  <a:schemeClr val="accent6">
                    <a:lumMod val="50000"/>
                  </a:schemeClr>
                </a:solidFill>
              </a:rPr>
              <a:t>With Helmet:</a:t>
            </a:r>
            <a:r>
              <a:rPr lang="en-US" sz="1300">
                <a:solidFill>
                  <a:schemeClr val="accent6">
                    <a:lumMod val="50000"/>
                  </a:schemeClr>
                </a:solidFill>
              </a:rPr>
              <a:t> Workers wearing safety helmets.</a:t>
            </a:r>
            <a:br>
              <a:rPr lang="en-US" sz="1300">
                <a:solidFill>
                  <a:schemeClr val="accent6">
                    <a:lumMod val="50000"/>
                  </a:schemeClr>
                </a:solidFill>
              </a:rPr>
            </a:br>
            <a:r>
              <a:rPr lang="en-US" sz="1300" b="1">
                <a:solidFill>
                  <a:schemeClr val="accent6">
                    <a:lumMod val="50000"/>
                  </a:schemeClr>
                </a:solidFill>
              </a:rPr>
              <a:t>Without Helmet:</a:t>
            </a:r>
            <a:r>
              <a:rPr lang="en-US" sz="1300">
                <a:solidFill>
                  <a:schemeClr val="accent6">
                    <a:lumMod val="50000"/>
                  </a:schemeClr>
                </a:solidFill>
              </a:rPr>
              <a:t> Workers not wearing safety helmets.</a:t>
            </a:r>
          </a:p>
          <a:p>
            <a:endParaRPr lang="en-US" sz="1300">
              <a:solidFill>
                <a:schemeClr val="accent6">
                  <a:lumMod val="50000"/>
                </a:schemeClr>
              </a:solidFill>
            </a:endParaRPr>
          </a:p>
          <a:p>
            <a:r>
              <a:rPr lang="en-US" sz="1300">
                <a:solidFill>
                  <a:schemeClr val="accent6">
                    <a:lumMod val="50000"/>
                  </a:schemeClr>
                </a:solidFill>
              </a:rPr>
              <a:t>This is a </a:t>
            </a:r>
            <a:r>
              <a:rPr lang="en-US" sz="1300" b="1">
                <a:solidFill>
                  <a:schemeClr val="accent6">
                    <a:lumMod val="50000"/>
                  </a:schemeClr>
                </a:solidFill>
              </a:rPr>
              <a:t>binary image classification problem</a:t>
            </a:r>
            <a:r>
              <a:rPr lang="en-US" sz="1300">
                <a:solidFill>
                  <a:schemeClr val="accent6">
                    <a:lumMod val="50000"/>
                  </a:schemeClr>
                </a:solidFill>
              </a:rPr>
              <a:t>. The goal is to prepare a model that can support a future automated safety monitoring system by identifying possible helmet non-compliance from images or video frames.</a:t>
            </a:r>
          </a:p>
        </p:txBody>
      </p:sp>
      <p:sp>
        <p:nvSpPr>
          <p:cNvPr id="3" name="Rectangle: Rounded Corners 2">
            <a:extLst>
              <a:ext uri="{FF2B5EF4-FFF2-40B4-BE49-F238E27FC236}">
                <a16:creationId xmlns:a16="http://schemas.microsoft.com/office/drawing/2014/main" id="{607CE3FC-349C-8F17-35B6-AC2BC0BABA81}"/>
              </a:ext>
            </a:extLst>
          </p:cNvPr>
          <p:cNvSpPr/>
          <p:nvPr/>
        </p:nvSpPr>
        <p:spPr>
          <a:xfrm>
            <a:off x="256810" y="805451"/>
            <a:ext cx="8686562" cy="52411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Problem Overview</a:t>
            </a:r>
          </a:p>
        </p:txBody>
      </p:sp>
    </p:spTree>
    <p:extLst>
      <p:ext uri="{BB962C8B-B14F-4D97-AF65-F5344CB8AC3E}">
        <p14:creationId xmlns:p14="http://schemas.microsoft.com/office/powerpoint/2010/main" val="1135253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823543AE-497C-3F5E-925A-057ECDE628DA}"/>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090C9CE3-176C-D82F-E389-79AC958087F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Business Problem Overview and Solution Approach</a:t>
            </a:r>
            <a:endParaRPr sz="2400">
              <a:solidFill>
                <a:srgbClr val="0E39A9"/>
              </a:solidFill>
            </a:endParaRPr>
          </a:p>
        </p:txBody>
      </p:sp>
      <p:sp>
        <p:nvSpPr>
          <p:cNvPr id="2" name="Rectangle: Rounded Corners 1">
            <a:extLst>
              <a:ext uri="{FF2B5EF4-FFF2-40B4-BE49-F238E27FC236}">
                <a16:creationId xmlns:a16="http://schemas.microsoft.com/office/drawing/2014/main" id="{B41EB380-511D-8EC7-753B-81AF6DEBB97F}"/>
              </a:ext>
            </a:extLst>
          </p:cNvPr>
          <p:cNvSpPr/>
          <p:nvPr/>
        </p:nvSpPr>
        <p:spPr>
          <a:xfrm>
            <a:off x="256810" y="1122505"/>
            <a:ext cx="8686562" cy="2005374"/>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Context</a:t>
            </a:r>
            <a:r>
              <a:rPr lang="en-US" sz="1100">
                <a:solidFill>
                  <a:schemeClr val="accent6">
                    <a:lumMod val="50000"/>
                  </a:schemeClr>
                </a:solidFill>
              </a:rPr>
              <a:t> </a:t>
            </a:r>
          </a:p>
          <a:p>
            <a:r>
              <a:rPr lang="en-US" sz="1100">
                <a:solidFill>
                  <a:schemeClr val="accent6">
                    <a:lumMod val="50000"/>
                  </a:schemeClr>
                </a:solidFill>
              </a:rPr>
              <a:t>Maintaining safety standards in high-risk industrial environments and construction sites is essential to mitigate severe head injuries and fatalities.</a:t>
            </a:r>
          </a:p>
          <a:p>
            <a:endParaRPr lang="en-US" sz="1100">
              <a:solidFill>
                <a:schemeClr val="accent6">
                  <a:lumMod val="50000"/>
                </a:schemeClr>
              </a:solidFill>
            </a:endParaRPr>
          </a:p>
          <a:p>
            <a:r>
              <a:rPr lang="en-US" sz="1100" b="1">
                <a:solidFill>
                  <a:schemeClr val="accent6">
                    <a:lumMod val="50000"/>
                  </a:schemeClr>
                </a:solidFill>
              </a:rPr>
              <a:t>Operational Inefficiencies</a:t>
            </a:r>
            <a:endParaRPr lang="en-US" sz="1100">
              <a:solidFill>
                <a:schemeClr val="accent6">
                  <a:lumMod val="50000"/>
                </a:schemeClr>
              </a:solidFill>
            </a:endParaRPr>
          </a:p>
          <a:p>
            <a:r>
              <a:rPr lang="en-US" sz="1100">
                <a:solidFill>
                  <a:schemeClr val="accent6">
                    <a:lumMod val="50000"/>
                  </a:schemeClr>
                </a:solidFill>
              </a:rPr>
              <a:t>Traditional manual compliance checks are highly prone to human error, fail to scale effectively, and cannot provide constant monitoring over massive sites.</a:t>
            </a:r>
          </a:p>
          <a:p>
            <a:endParaRPr lang="en-US" sz="1100">
              <a:solidFill>
                <a:schemeClr val="accent6">
                  <a:lumMod val="50000"/>
                </a:schemeClr>
              </a:solidFill>
            </a:endParaRPr>
          </a:p>
          <a:p>
            <a:r>
              <a:rPr lang="en-US" sz="1100" b="1">
                <a:solidFill>
                  <a:schemeClr val="accent6">
                    <a:lumMod val="50000"/>
                  </a:schemeClr>
                </a:solidFill>
              </a:rPr>
              <a:t>The Bottom Line</a:t>
            </a:r>
            <a:endParaRPr lang="en-US" sz="1100">
              <a:solidFill>
                <a:schemeClr val="accent6">
                  <a:lumMod val="50000"/>
                </a:schemeClr>
              </a:solidFill>
            </a:endParaRPr>
          </a:p>
          <a:p>
            <a:r>
              <a:rPr lang="en-US" sz="1100">
                <a:solidFill>
                  <a:schemeClr val="accent6">
                    <a:lumMod val="50000"/>
                  </a:schemeClr>
                </a:solidFill>
              </a:rPr>
              <a:t>Non-compliance significantly escalates corporate legal, financial, and operational risks. Automating safety verification provides non-stop, scalable monitoring to maximize regulatory compliance and protect workforce health.</a:t>
            </a:r>
          </a:p>
          <a:p>
            <a:r>
              <a:rPr lang="en-US" sz="1200">
                <a:solidFill>
                  <a:schemeClr val="accent6">
                    <a:lumMod val="50000"/>
                  </a:schemeClr>
                </a:solidFill>
              </a:rPr>
              <a:t>.</a:t>
            </a:r>
          </a:p>
        </p:txBody>
      </p:sp>
      <p:sp>
        <p:nvSpPr>
          <p:cNvPr id="3" name="Rectangle: Rounded Corners 2">
            <a:extLst>
              <a:ext uri="{FF2B5EF4-FFF2-40B4-BE49-F238E27FC236}">
                <a16:creationId xmlns:a16="http://schemas.microsoft.com/office/drawing/2014/main" id="{3869AFCF-47CC-4A9B-A947-238F98B9A08B}"/>
              </a:ext>
            </a:extLst>
          </p:cNvPr>
          <p:cNvSpPr/>
          <p:nvPr/>
        </p:nvSpPr>
        <p:spPr>
          <a:xfrm>
            <a:off x="256810" y="805451"/>
            <a:ext cx="8686562" cy="31705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Problem Overview</a:t>
            </a:r>
          </a:p>
        </p:txBody>
      </p:sp>
    </p:spTree>
    <p:extLst>
      <p:ext uri="{BB962C8B-B14F-4D97-AF65-F5344CB8AC3E}">
        <p14:creationId xmlns:p14="http://schemas.microsoft.com/office/powerpoint/2010/main" val="1725157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02D3B199-BBBB-0160-3029-48DFD39B55D9}"/>
            </a:ext>
          </a:extLst>
        </p:cNvPr>
        <p:cNvGrpSpPr/>
        <p:nvPr/>
      </p:nvGrpSpPr>
      <p:grpSpPr>
        <a:xfrm>
          <a:off x="0" y="0"/>
          <a:ext cx="0" cy="0"/>
          <a:chOff x="0" y="0"/>
          <a:chExt cx="0" cy="0"/>
        </a:xfrm>
      </p:grpSpPr>
      <p:sp>
        <p:nvSpPr>
          <p:cNvPr id="201" name="Google Shape;201;p39">
            <a:extLst>
              <a:ext uri="{FF2B5EF4-FFF2-40B4-BE49-F238E27FC236}">
                <a16:creationId xmlns:a16="http://schemas.microsoft.com/office/drawing/2014/main" id="{E05C92AC-B6A1-5235-2650-2F506400A7D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Business Problem Overview and Solution Approach</a:t>
            </a:r>
            <a:endParaRPr sz="2400">
              <a:solidFill>
                <a:srgbClr val="0E39A9"/>
              </a:solidFill>
            </a:endParaRPr>
          </a:p>
        </p:txBody>
      </p:sp>
      <p:sp>
        <p:nvSpPr>
          <p:cNvPr id="2" name="Rectangle: Rounded Corners 1">
            <a:extLst>
              <a:ext uri="{FF2B5EF4-FFF2-40B4-BE49-F238E27FC236}">
                <a16:creationId xmlns:a16="http://schemas.microsoft.com/office/drawing/2014/main" id="{22BDA9D6-779B-D667-CE99-B5B8E1F65F30}"/>
              </a:ext>
            </a:extLst>
          </p:cNvPr>
          <p:cNvSpPr/>
          <p:nvPr/>
        </p:nvSpPr>
        <p:spPr>
          <a:xfrm>
            <a:off x="256810" y="1122505"/>
            <a:ext cx="8686562" cy="2005374"/>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Context</a:t>
            </a:r>
            <a:r>
              <a:rPr lang="en-US" sz="1100">
                <a:solidFill>
                  <a:schemeClr val="accent6">
                    <a:lumMod val="50000"/>
                  </a:schemeClr>
                </a:solidFill>
              </a:rPr>
              <a:t> </a:t>
            </a:r>
          </a:p>
          <a:p>
            <a:r>
              <a:rPr lang="en-US" sz="1100">
                <a:solidFill>
                  <a:schemeClr val="accent6">
                    <a:lumMod val="50000"/>
                  </a:schemeClr>
                </a:solidFill>
              </a:rPr>
              <a:t>Maintaining safety standards in high-risk industrial environments and construction sites is essential to mitigate severe head injuries and fatalities.</a:t>
            </a:r>
          </a:p>
          <a:p>
            <a:endParaRPr lang="en-US" sz="1100">
              <a:solidFill>
                <a:schemeClr val="accent6">
                  <a:lumMod val="50000"/>
                </a:schemeClr>
              </a:solidFill>
            </a:endParaRPr>
          </a:p>
          <a:p>
            <a:r>
              <a:rPr lang="en-US" sz="1100" b="1">
                <a:solidFill>
                  <a:schemeClr val="accent6">
                    <a:lumMod val="50000"/>
                  </a:schemeClr>
                </a:solidFill>
              </a:rPr>
              <a:t>Operational Inefficiencies</a:t>
            </a:r>
            <a:endParaRPr lang="en-US" sz="1100">
              <a:solidFill>
                <a:schemeClr val="accent6">
                  <a:lumMod val="50000"/>
                </a:schemeClr>
              </a:solidFill>
            </a:endParaRPr>
          </a:p>
          <a:p>
            <a:r>
              <a:rPr lang="en-US" sz="1100">
                <a:solidFill>
                  <a:schemeClr val="accent6">
                    <a:lumMod val="50000"/>
                  </a:schemeClr>
                </a:solidFill>
              </a:rPr>
              <a:t>Traditional manual compliance checks are highly prone to human error, fail to scale effectively, and cannot provide constant monitoring over massive sites. It is impossible for humans supervisors to be every where in the </a:t>
            </a:r>
          </a:p>
          <a:p>
            <a:endParaRPr lang="en-US" sz="1100">
              <a:solidFill>
                <a:schemeClr val="accent6">
                  <a:lumMod val="50000"/>
                </a:schemeClr>
              </a:solidFill>
            </a:endParaRPr>
          </a:p>
          <a:p>
            <a:r>
              <a:rPr lang="en-US" sz="1100" b="1">
                <a:solidFill>
                  <a:schemeClr val="accent6">
                    <a:lumMod val="50000"/>
                  </a:schemeClr>
                </a:solidFill>
              </a:rPr>
              <a:t>The Bottom Line</a:t>
            </a:r>
            <a:endParaRPr lang="en-US" sz="1100">
              <a:solidFill>
                <a:schemeClr val="accent6">
                  <a:lumMod val="50000"/>
                </a:schemeClr>
              </a:solidFill>
            </a:endParaRPr>
          </a:p>
          <a:p>
            <a:r>
              <a:rPr lang="en-US" sz="1100">
                <a:solidFill>
                  <a:schemeClr val="accent6">
                    <a:lumMod val="50000"/>
                  </a:schemeClr>
                </a:solidFill>
              </a:rPr>
              <a:t>Non-compliance significantly escalates corporate legal, financial, and operational risks. Automating safety verification provides non-stop, scalable monitoring to maximize regulatory compliance and protect workforce health.</a:t>
            </a:r>
          </a:p>
          <a:p>
            <a:r>
              <a:rPr lang="en-US" sz="1200">
                <a:solidFill>
                  <a:schemeClr val="accent6">
                    <a:lumMod val="50000"/>
                  </a:schemeClr>
                </a:solidFill>
              </a:rPr>
              <a:t>.</a:t>
            </a:r>
          </a:p>
        </p:txBody>
      </p:sp>
      <p:sp>
        <p:nvSpPr>
          <p:cNvPr id="3" name="Rectangle: Rounded Corners 2">
            <a:extLst>
              <a:ext uri="{FF2B5EF4-FFF2-40B4-BE49-F238E27FC236}">
                <a16:creationId xmlns:a16="http://schemas.microsoft.com/office/drawing/2014/main" id="{EFBD72AF-5750-1F23-678D-06B6EC7487BC}"/>
              </a:ext>
            </a:extLst>
          </p:cNvPr>
          <p:cNvSpPr/>
          <p:nvPr/>
        </p:nvSpPr>
        <p:spPr>
          <a:xfrm>
            <a:off x="256810" y="805451"/>
            <a:ext cx="8686562" cy="31705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Problem Overview</a:t>
            </a:r>
          </a:p>
        </p:txBody>
      </p:sp>
      <p:sp>
        <p:nvSpPr>
          <p:cNvPr id="4" name="Rectangle: Rounded Corners 3">
            <a:extLst>
              <a:ext uri="{FF2B5EF4-FFF2-40B4-BE49-F238E27FC236}">
                <a16:creationId xmlns:a16="http://schemas.microsoft.com/office/drawing/2014/main" id="{8CE34200-A26A-C887-3566-7B32771F6673}"/>
              </a:ext>
            </a:extLst>
          </p:cNvPr>
          <p:cNvSpPr/>
          <p:nvPr/>
        </p:nvSpPr>
        <p:spPr>
          <a:xfrm>
            <a:off x="256810" y="3444933"/>
            <a:ext cx="8686562" cy="1051393"/>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a:solidFill>
                  <a:schemeClr val="accent6">
                    <a:lumMod val="50000"/>
                  </a:schemeClr>
                </a:solidFill>
              </a:rPr>
              <a:t>As a data scientist at SafeGuard Corp, I developed a binary image classification approach using a structured computer vision workflow. The methodology includes dataset exploration, image preprocessing, class imbalance analysis, baseline CNN development, transfer learning with VGG-16, model performance comparison, and final model selection based on safety-relevant metrics such as recall, precision, F1-score, and confusion matrix results.</a:t>
            </a:r>
            <a:r>
              <a:rPr lang="en-US" sz="1200">
                <a:solidFill>
                  <a:schemeClr val="accent6">
                    <a:lumMod val="50000"/>
                  </a:schemeClr>
                </a:solidFill>
              </a:rPr>
              <a:t> Recall as a lead indicator handles the class imbalance fairly, while accuracy may lead to heavy overfit, because the dataset exhibit a significant class imbalance.</a:t>
            </a:r>
          </a:p>
        </p:txBody>
      </p:sp>
      <p:sp>
        <p:nvSpPr>
          <p:cNvPr id="5" name="Rectangle: Rounded Corners 4">
            <a:extLst>
              <a:ext uri="{FF2B5EF4-FFF2-40B4-BE49-F238E27FC236}">
                <a16:creationId xmlns:a16="http://schemas.microsoft.com/office/drawing/2014/main" id="{1D5631C0-BCB0-97D4-F7E5-1658C0482BC9}"/>
              </a:ext>
            </a:extLst>
          </p:cNvPr>
          <p:cNvSpPr/>
          <p:nvPr/>
        </p:nvSpPr>
        <p:spPr>
          <a:xfrm>
            <a:off x="256810" y="3127879"/>
            <a:ext cx="8686562" cy="31705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Solution Approach</a:t>
            </a:r>
          </a:p>
        </p:txBody>
      </p:sp>
    </p:spTree>
    <p:extLst>
      <p:ext uri="{BB962C8B-B14F-4D97-AF65-F5344CB8AC3E}">
        <p14:creationId xmlns:p14="http://schemas.microsoft.com/office/powerpoint/2010/main" val="2470975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Overview</a:t>
            </a:r>
            <a:endParaRPr sz="2400">
              <a:solidFill>
                <a:srgbClr val="0E39A9"/>
              </a:solidFill>
            </a:endParaRPr>
          </a:p>
        </p:txBody>
      </p:sp>
      <p:sp>
        <p:nvSpPr>
          <p:cNvPr id="6" name="Rectangle: Rounded Corners 5">
            <a:extLst>
              <a:ext uri="{FF2B5EF4-FFF2-40B4-BE49-F238E27FC236}">
                <a16:creationId xmlns:a16="http://schemas.microsoft.com/office/drawing/2014/main" id="{2316F067-9B2E-78C5-A2CE-C2253D7D3F2A}"/>
              </a:ext>
            </a:extLst>
          </p:cNvPr>
          <p:cNvSpPr/>
          <p:nvPr/>
        </p:nvSpPr>
        <p:spPr>
          <a:xfrm>
            <a:off x="256810" y="1122504"/>
            <a:ext cx="8686562" cy="3124543"/>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Dataset Scale</a:t>
            </a:r>
            <a:r>
              <a:rPr lang="en-US" sz="1100">
                <a:solidFill>
                  <a:schemeClr val="accent6">
                    <a:lumMod val="50000"/>
                  </a:schemeClr>
                </a:solidFill>
              </a:rPr>
              <a:t> </a:t>
            </a:r>
          </a:p>
          <a:p>
            <a:pPr marL="171450" lvl="5" indent="-171450">
              <a:buFont typeface="Arial" panose="020B0604020202020204" pitchFamily="34" charset="0"/>
              <a:buChar char="•"/>
            </a:pPr>
            <a:r>
              <a:rPr lang="en-US" sz="1100">
                <a:solidFill>
                  <a:schemeClr val="accent6">
                    <a:lumMod val="50000"/>
                  </a:schemeClr>
                </a:solidFill>
              </a:rPr>
              <a:t>4,125 total field images at 200x200 pixels, 0-255</a:t>
            </a:r>
          </a:p>
          <a:p>
            <a:endParaRPr lang="en-US" sz="1100">
              <a:solidFill>
                <a:schemeClr val="accent6">
                  <a:lumMod val="50000"/>
                </a:schemeClr>
              </a:solidFill>
            </a:endParaRPr>
          </a:p>
          <a:p>
            <a:r>
              <a:rPr lang="en-US" sz="1100" b="1">
                <a:solidFill>
                  <a:schemeClr val="accent6">
                    <a:lumMod val="50000"/>
                  </a:schemeClr>
                </a:solidFill>
              </a:rPr>
              <a:t>Target Classification</a:t>
            </a:r>
            <a:endParaRPr lang="en-US" sz="1100">
              <a:solidFill>
                <a:schemeClr val="accent6">
                  <a:lumMod val="50000"/>
                </a:schemeClr>
              </a:solidFill>
            </a:endParaRPr>
          </a:p>
          <a:p>
            <a:endParaRPr lang="en-US" sz="1100">
              <a:solidFill>
                <a:schemeClr val="accent6">
                  <a:lumMod val="50000"/>
                </a:schemeClr>
              </a:solidFill>
            </a:endParaRPr>
          </a:p>
          <a:p>
            <a:pPr marL="171450" indent="-171450">
              <a:buFont typeface="Arial" panose="020B0604020202020204" pitchFamily="34" charset="0"/>
              <a:buChar char="•"/>
            </a:pPr>
            <a:r>
              <a:rPr lang="en-US" sz="1100">
                <a:solidFill>
                  <a:schemeClr val="accent6">
                    <a:lumMod val="50000"/>
                  </a:schemeClr>
                </a:solidFill>
              </a:rPr>
              <a:t>With Helmet(class 1): Workers correctly wearing safety helmets.</a:t>
            </a:r>
          </a:p>
          <a:p>
            <a:pPr marL="171450" indent="-171450">
              <a:buFont typeface="Arial" panose="020B0604020202020204" pitchFamily="34" charset="0"/>
              <a:buChar char="•"/>
            </a:pPr>
            <a:r>
              <a:rPr lang="en-US" sz="1100">
                <a:solidFill>
                  <a:schemeClr val="accent6">
                    <a:lumMod val="50000"/>
                  </a:schemeClr>
                </a:solidFill>
              </a:rPr>
              <a:t>Without Helmet(class 0): Active Safety non-compliance, workers without helmet.</a:t>
            </a:r>
          </a:p>
          <a:p>
            <a:endParaRPr lang="en-US" sz="1100" b="1">
              <a:solidFill>
                <a:schemeClr val="accent6">
                  <a:lumMod val="50000"/>
                </a:schemeClr>
              </a:solidFill>
            </a:endParaRPr>
          </a:p>
          <a:p>
            <a:r>
              <a:rPr lang="en-US" sz="1100" b="1">
                <a:solidFill>
                  <a:schemeClr val="accent6">
                    <a:lumMod val="50000"/>
                  </a:schemeClr>
                </a:solidFill>
              </a:rPr>
              <a:t>Class Balance</a:t>
            </a:r>
          </a:p>
          <a:p>
            <a:pPr marL="171450" indent="-171450">
              <a:buFont typeface="Arial" panose="020B0604020202020204" pitchFamily="34" charset="0"/>
              <a:buChar char="•"/>
            </a:pPr>
            <a:r>
              <a:rPr lang="en-US" sz="1100">
                <a:solidFill>
                  <a:schemeClr val="accent6">
                    <a:lumMod val="50000"/>
                  </a:schemeClr>
                </a:solidFill>
              </a:rPr>
              <a:t>3,161 with helmet(76.6%) and 964 Without Helmet(23.4%) a great imbalance of 3.3:1</a:t>
            </a:r>
          </a:p>
          <a:p>
            <a:endParaRPr lang="en-US" sz="1100">
              <a:solidFill>
                <a:schemeClr val="accent6">
                  <a:lumMod val="50000"/>
                </a:schemeClr>
              </a:solidFill>
            </a:endParaRPr>
          </a:p>
          <a:p>
            <a:r>
              <a:rPr lang="en-US" sz="1200" b="1">
                <a:solidFill>
                  <a:schemeClr val="accent6">
                    <a:lumMod val="50000"/>
                  </a:schemeClr>
                </a:solidFill>
              </a:rPr>
              <a:t>KPI Alignment</a:t>
            </a:r>
            <a:endParaRPr lang="en-US" sz="1200">
              <a:solidFill>
                <a:schemeClr val="accent6">
                  <a:lumMod val="50000"/>
                </a:schemeClr>
              </a:solidFill>
            </a:endParaRPr>
          </a:p>
          <a:p>
            <a:pPr marL="171450" indent="-171450">
              <a:buFont typeface="Arial" panose="020B0604020202020204" pitchFamily="34" charset="0"/>
              <a:buChar char="•"/>
            </a:pPr>
            <a:r>
              <a:rPr lang="en-US" sz="1200">
                <a:solidFill>
                  <a:schemeClr val="accent6">
                    <a:lumMod val="50000"/>
                  </a:schemeClr>
                </a:solidFill>
              </a:rPr>
              <a:t>For SafeGuard Corp, a False Negative—failing to flag a worker who is </a:t>
            </a:r>
            <a:r>
              <a:rPr lang="en-US" sz="1200" i="1">
                <a:solidFill>
                  <a:schemeClr val="accent6">
                    <a:lumMod val="50000"/>
                  </a:schemeClr>
                </a:solidFill>
              </a:rPr>
              <a:t>Without a Helmet</a:t>
            </a:r>
            <a:r>
              <a:rPr lang="en-US" sz="1200">
                <a:solidFill>
                  <a:schemeClr val="accent6">
                    <a:lumMod val="50000"/>
                  </a:schemeClr>
                </a:solidFill>
              </a:rPr>
              <a:t>—is a costly and dangerous model failure. Our core metric must emphasize maximizing Recall for the minority class.</a:t>
            </a:r>
          </a:p>
        </p:txBody>
      </p:sp>
      <p:pic>
        <p:nvPicPr>
          <p:cNvPr id="7" name="Picture 6">
            <a:extLst>
              <a:ext uri="{FF2B5EF4-FFF2-40B4-BE49-F238E27FC236}">
                <a16:creationId xmlns:a16="http://schemas.microsoft.com/office/drawing/2014/main" id="{83145329-AA47-598D-A237-E5D3A365C3BB}"/>
              </a:ext>
            </a:extLst>
          </p:cNvPr>
          <p:cNvPicPr>
            <a:picLocks noChangeAspect="1"/>
          </p:cNvPicPr>
          <p:nvPr/>
        </p:nvPicPr>
        <p:blipFill>
          <a:blip r:embed="rId3"/>
          <a:stretch>
            <a:fillRect/>
          </a:stretch>
        </p:blipFill>
        <p:spPr>
          <a:xfrm>
            <a:off x="6762879" y="1216681"/>
            <a:ext cx="1960271" cy="14108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9C3FDFA5-D347-19E0-64A1-B07284FA556F}"/>
            </a:ext>
          </a:extLst>
        </p:cNvPr>
        <p:cNvGrpSpPr/>
        <p:nvPr/>
      </p:nvGrpSpPr>
      <p:grpSpPr>
        <a:xfrm>
          <a:off x="0" y="0"/>
          <a:ext cx="0" cy="0"/>
          <a:chOff x="0" y="0"/>
          <a:chExt cx="0" cy="0"/>
        </a:xfrm>
      </p:grpSpPr>
      <p:sp>
        <p:nvSpPr>
          <p:cNvPr id="211" name="Google Shape;211;p40">
            <a:extLst>
              <a:ext uri="{FF2B5EF4-FFF2-40B4-BE49-F238E27FC236}">
                <a16:creationId xmlns:a16="http://schemas.microsoft.com/office/drawing/2014/main" id="{E0B88BB3-B72A-F458-CDC3-64FF56A452F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Exploratory Data Analysis</a:t>
            </a:r>
            <a:endParaRPr sz="2400">
              <a:solidFill>
                <a:srgbClr val="0E39A9"/>
              </a:solidFill>
            </a:endParaRPr>
          </a:p>
        </p:txBody>
      </p:sp>
      <p:sp>
        <p:nvSpPr>
          <p:cNvPr id="6" name="Rectangle: Rounded Corners 5">
            <a:extLst>
              <a:ext uri="{FF2B5EF4-FFF2-40B4-BE49-F238E27FC236}">
                <a16:creationId xmlns:a16="http://schemas.microsoft.com/office/drawing/2014/main" id="{FE18C9ED-30CF-2905-C300-4157084096BC}"/>
              </a:ext>
            </a:extLst>
          </p:cNvPr>
          <p:cNvSpPr/>
          <p:nvPr/>
        </p:nvSpPr>
        <p:spPr>
          <a:xfrm>
            <a:off x="304332" y="816444"/>
            <a:ext cx="6638975" cy="3834291"/>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Class Balance</a:t>
            </a:r>
          </a:p>
          <a:p>
            <a:pPr marL="171450" indent="-171450">
              <a:buFont typeface="Arial" panose="020B0604020202020204" pitchFamily="34" charset="0"/>
              <a:buChar char="•"/>
            </a:pPr>
            <a:r>
              <a:rPr lang="en-US" sz="1100">
                <a:solidFill>
                  <a:schemeClr val="accent6">
                    <a:lumMod val="50000"/>
                  </a:schemeClr>
                </a:solidFill>
              </a:rPr>
              <a:t>3,161 with helmet(76.6%) and 964 Without Helmet(23.4%) a great imbalance of 3.3:1</a:t>
            </a:r>
          </a:p>
          <a:p>
            <a:endParaRPr lang="en-US" sz="1100">
              <a:solidFill>
                <a:schemeClr val="accent6">
                  <a:lumMod val="50000"/>
                </a:schemeClr>
              </a:solidFill>
            </a:endParaRPr>
          </a:p>
          <a:p>
            <a:r>
              <a:rPr lang="en-US" sz="1100" b="1">
                <a:solidFill>
                  <a:schemeClr val="accent6">
                    <a:lumMod val="50000"/>
                  </a:schemeClr>
                </a:solidFill>
              </a:rPr>
              <a:t>Environmental Issues</a:t>
            </a:r>
            <a:endParaRPr lang="en-US" sz="1100">
              <a:solidFill>
                <a:schemeClr val="accent6">
                  <a:lumMod val="50000"/>
                </a:schemeClr>
              </a:solidFill>
            </a:endParaRPr>
          </a:p>
          <a:p>
            <a:pPr marL="171450" indent="-171450">
              <a:buFont typeface="Arial" panose="020B0604020202020204" pitchFamily="34" charset="0"/>
              <a:buChar char="•"/>
            </a:pPr>
            <a:r>
              <a:rPr lang="en-US" sz="1100">
                <a:solidFill>
                  <a:schemeClr val="accent6">
                    <a:lumMod val="50000"/>
                  </a:schemeClr>
                </a:solidFill>
              </a:rPr>
              <a:t>Images reflect real-world site conditions containing diverse construction and factory environments, shifting lighting scales,Variable camera angles, and real worker postures. </a:t>
            </a:r>
          </a:p>
          <a:p>
            <a:endParaRPr lang="en-US" sz="1100">
              <a:solidFill>
                <a:schemeClr val="accent6">
                  <a:lumMod val="50000"/>
                </a:schemeClr>
              </a:solidFill>
            </a:endParaRPr>
          </a:p>
          <a:p>
            <a:r>
              <a:rPr lang="en-US" sz="1100" b="1">
                <a:solidFill>
                  <a:schemeClr val="accent6">
                    <a:lumMod val="50000"/>
                  </a:schemeClr>
                </a:solidFill>
              </a:rPr>
              <a:t>Worker Mobility</a:t>
            </a:r>
          </a:p>
          <a:p>
            <a:pPr marL="171450" indent="-171450">
              <a:buFont typeface="Arial" panose="020B0604020202020204" pitchFamily="34" charset="0"/>
              <a:buChar char="•"/>
            </a:pPr>
            <a:r>
              <a:rPr lang="en-US" sz="1100">
                <a:solidFill>
                  <a:schemeClr val="accent6">
                    <a:lumMod val="50000"/>
                  </a:schemeClr>
                </a:solidFill>
              </a:rPr>
              <a:t>Images reflect real-world site conditions, workers are sometimes stading, other times actively operating heavy machinery or tools, or moving across the field of view.</a:t>
            </a:r>
            <a:endParaRPr lang="en-US" sz="1200">
              <a:solidFill>
                <a:schemeClr val="accent6">
                  <a:lumMod val="50000"/>
                </a:schemeClr>
              </a:solidFill>
            </a:endParaRPr>
          </a:p>
          <a:p>
            <a:pPr marL="171450" indent="-171450">
              <a:buFont typeface="Arial" panose="020B0604020202020204" pitchFamily="34" charset="0"/>
              <a:buChar char="•"/>
            </a:pPr>
            <a:endParaRPr lang="en-US" sz="1200">
              <a:solidFill>
                <a:schemeClr val="accent6">
                  <a:lumMod val="50000"/>
                </a:schemeClr>
              </a:solidFill>
            </a:endParaRPr>
          </a:p>
          <a:p>
            <a:r>
              <a:rPr lang="en-US" sz="1200" b="1">
                <a:solidFill>
                  <a:schemeClr val="accent6">
                    <a:lumMod val="50000"/>
                  </a:schemeClr>
                </a:solidFill>
              </a:rPr>
              <a:t>Image Quality</a:t>
            </a:r>
          </a:p>
          <a:p>
            <a:pPr marL="171450" indent="-171450">
              <a:buFont typeface="Arial" panose="020B0604020202020204" pitchFamily="34" charset="0"/>
              <a:buChar char="•"/>
            </a:pPr>
            <a:r>
              <a:rPr lang="en-US" sz="1200">
                <a:solidFill>
                  <a:schemeClr val="accent6">
                    <a:lumMod val="50000"/>
                  </a:schemeClr>
                </a:solidFill>
              </a:rPr>
              <a:t>Images often include dark hair, hats, or partial heads – sometimes a confusable feature for a model. Some picture are sharp, some heavily blured see the pallet, and yet some are cropped close to the head.</a:t>
            </a:r>
          </a:p>
          <a:p>
            <a:r>
              <a:rPr lang="en-US" sz="1200" b="1">
                <a:solidFill>
                  <a:schemeClr val="accent6">
                    <a:lumMod val="50000"/>
                  </a:schemeClr>
                </a:solidFill>
              </a:rPr>
              <a:t>Implication</a:t>
            </a:r>
          </a:p>
          <a:p>
            <a:pPr marL="171450" indent="-171450">
              <a:buFont typeface="Arial" panose="020B0604020202020204" pitchFamily="34" charset="0"/>
              <a:buChar char="•"/>
            </a:pPr>
            <a:r>
              <a:rPr lang="en-US" sz="1200">
                <a:solidFill>
                  <a:schemeClr val="accent6">
                    <a:lumMod val="50000"/>
                  </a:schemeClr>
                </a:solidFill>
              </a:rPr>
              <a:t>A Small from scratch model may match or beat a deep pretained network, since the task signal(helmet x no helmet) is narrow and visually consistent. </a:t>
            </a:r>
            <a:endParaRPr lang="en-US" sz="1100">
              <a:solidFill>
                <a:schemeClr val="accent6">
                  <a:lumMod val="50000"/>
                </a:schemeClr>
              </a:solidFill>
            </a:endParaRPr>
          </a:p>
        </p:txBody>
      </p:sp>
      <p:pic>
        <p:nvPicPr>
          <p:cNvPr id="2" name="Picture 1">
            <a:extLst>
              <a:ext uri="{FF2B5EF4-FFF2-40B4-BE49-F238E27FC236}">
                <a16:creationId xmlns:a16="http://schemas.microsoft.com/office/drawing/2014/main" id="{4E134E42-506F-8113-61D5-FDE98E5F0806}"/>
              </a:ext>
            </a:extLst>
          </p:cNvPr>
          <p:cNvPicPr>
            <a:picLocks noChangeAspect="1"/>
          </p:cNvPicPr>
          <p:nvPr/>
        </p:nvPicPr>
        <p:blipFill>
          <a:blip r:embed="rId3"/>
          <a:stretch>
            <a:fillRect/>
          </a:stretch>
        </p:blipFill>
        <p:spPr>
          <a:xfrm>
            <a:off x="7045088" y="718815"/>
            <a:ext cx="1635995" cy="3931920"/>
          </a:xfrm>
          <a:prstGeom prst="roundRect">
            <a:avLst>
              <a:gd name="adj" fmla="val 5581"/>
            </a:avLst>
          </a:prstGeom>
        </p:spPr>
      </p:pic>
    </p:spTree>
    <p:extLst>
      <p:ext uri="{BB962C8B-B14F-4D97-AF65-F5344CB8AC3E}">
        <p14:creationId xmlns:p14="http://schemas.microsoft.com/office/powerpoint/2010/main" val="3091268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Pre-processing</a:t>
            </a:r>
            <a:endParaRPr sz="2400">
              <a:solidFill>
                <a:srgbClr val="0E39A9"/>
              </a:solidFill>
            </a:endParaRPr>
          </a:p>
        </p:txBody>
      </p:sp>
      <p:sp>
        <p:nvSpPr>
          <p:cNvPr id="2" name="Rectangle: Rounded Corners 1">
            <a:extLst>
              <a:ext uri="{FF2B5EF4-FFF2-40B4-BE49-F238E27FC236}">
                <a16:creationId xmlns:a16="http://schemas.microsoft.com/office/drawing/2014/main" id="{46B5AAE4-2345-862F-C39B-4D2994DB88CA}"/>
              </a:ext>
            </a:extLst>
          </p:cNvPr>
          <p:cNvSpPr/>
          <p:nvPr/>
        </p:nvSpPr>
        <p:spPr>
          <a:xfrm>
            <a:off x="302152" y="775210"/>
            <a:ext cx="6638975" cy="3966823"/>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Dataset Split </a:t>
            </a:r>
          </a:p>
          <a:p>
            <a:pPr marL="171450" indent="-171450">
              <a:buFont typeface="Arial" panose="020B0604020202020204" pitchFamily="34" charset="0"/>
              <a:buChar char="•"/>
            </a:pPr>
            <a:r>
              <a:rPr lang="en-US" sz="1100">
                <a:solidFill>
                  <a:schemeClr val="accent6">
                    <a:lumMod val="50000"/>
                  </a:schemeClr>
                </a:solidFill>
              </a:rPr>
              <a:t>70% Train, 15% Validation, 15% Test, preserving the 76.6/23.4 class ratio in each subset. </a:t>
            </a:r>
          </a:p>
          <a:p>
            <a:pPr marL="171450" lvl="2" indent="-171450">
              <a:buFont typeface="Arial" panose="020B0604020202020204" pitchFamily="34" charset="0"/>
              <a:buChar char="•"/>
            </a:pPr>
            <a:r>
              <a:rPr lang="en-US" sz="1100">
                <a:solidFill>
                  <a:schemeClr val="accent6">
                    <a:lumMod val="50000"/>
                  </a:schemeClr>
                </a:solidFill>
              </a:rPr>
              <a:t>If it was a large dataset we could split 80/10/10, which is also a common method in the market</a:t>
            </a:r>
          </a:p>
          <a:p>
            <a:pPr marL="171450" lvl="2" indent="-171450">
              <a:buFont typeface="Arial" panose="020B0604020202020204" pitchFamily="34" charset="0"/>
              <a:buChar char="•"/>
            </a:pPr>
            <a:endParaRPr lang="en-US" sz="1100">
              <a:solidFill>
                <a:schemeClr val="accent6">
                  <a:lumMod val="50000"/>
                </a:schemeClr>
              </a:solidFill>
            </a:endParaRPr>
          </a:p>
          <a:p>
            <a:r>
              <a:rPr lang="en-US" sz="1100" b="1">
                <a:solidFill>
                  <a:schemeClr val="accent6">
                    <a:lumMod val="50000"/>
                  </a:schemeClr>
                </a:solidFill>
              </a:rPr>
              <a:t>Image</a:t>
            </a:r>
            <a:r>
              <a:rPr lang="en-US" sz="1100">
                <a:solidFill>
                  <a:schemeClr val="accent6">
                    <a:lumMod val="50000"/>
                  </a:schemeClr>
                </a:solidFill>
              </a:rPr>
              <a:t> </a:t>
            </a:r>
          </a:p>
          <a:p>
            <a:pPr marL="171450" indent="-171450">
              <a:buFont typeface="Arial" panose="020B0604020202020204" pitchFamily="34" charset="0"/>
              <a:buChar char="•"/>
            </a:pPr>
            <a:r>
              <a:rPr lang="en-US" sz="1100">
                <a:solidFill>
                  <a:schemeClr val="accent6">
                    <a:lumMod val="50000"/>
                  </a:schemeClr>
                </a:solidFill>
              </a:rPr>
              <a:t>We enforced images to 200 x 200 x 3 channels to normalize downstream computation.</a:t>
            </a:r>
          </a:p>
          <a:p>
            <a:endParaRPr lang="en-US" sz="1100">
              <a:solidFill>
                <a:schemeClr val="accent6">
                  <a:lumMod val="50000"/>
                </a:schemeClr>
              </a:solidFill>
            </a:endParaRPr>
          </a:p>
          <a:p>
            <a:r>
              <a:rPr lang="en-US" sz="1100" b="1">
                <a:solidFill>
                  <a:schemeClr val="accent6">
                    <a:lumMod val="50000"/>
                  </a:schemeClr>
                </a:solidFill>
              </a:rPr>
              <a:t>Normalization</a:t>
            </a:r>
            <a:endParaRPr lang="en-US" sz="1100">
              <a:solidFill>
                <a:schemeClr val="accent6">
                  <a:lumMod val="50000"/>
                </a:schemeClr>
              </a:solidFill>
            </a:endParaRPr>
          </a:p>
          <a:p>
            <a:pPr marL="171450" indent="-171450">
              <a:buFont typeface="Arial" panose="020B0604020202020204" pitchFamily="34" charset="0"/>
              <a:buChar char="•"/>
            </a:pPr>
            <a:r>
              <a:rPr lang="en-US" sz="1100">
                <a:solidFill>
                  <a:schemeClr val="accent6">
                    <a:lumMod val="50000"/>
                  </a:schemeClr>
                </a:solidFill>
              </a:rPr>
              <a:t>We cast the pixel value to float32 and divided by 255.0, scaling intensities to [0,1] for stable gradient updates. Keeping the value small and consistent helps neural network, otherwise number like 255, 128, 0 are to far away. </a:t>
            </a:r>
          </a:p>
          <a:p>
            <a:endParaRPr lang="en-US" sz="1100">
              <a:solidFill>
                <a:schemeClr val="accent6">
                  <a:lumMod val="50000"/>
                </a:schemeClr>
              </a:solidFill>
            </a:endParaRPr>
          </a:p>
          <a:p>
            <a:r>
              <a:rPr lang="en-US" sz="1100" b="1">
                <a:solidFill>
                  <a:schemeClr val="accent6">
                    <a:lumMod val="50000"/>
                  </a:schemeClr>
                </a:solidFill>
              </a:rPr>
              <a:t>Label Treatment</a:t>
            </a:r>
          </a:p>
          <a:p>
            <a:pPr marL="171450" indent="-171450">
              <a:buFont typeface="Arial" panose="020B0604020202020204" pitchFamily="34" charset="0"/>
              <a:buChar char="•"/>
            </a:pPr>
            <a:r>
              <a:rPr lang="en-US" sz="1100">
                <a:solidFill>
                  <a:schemeClr val="accent6">
                    <a:lumMod val="50000"/>
                  </a:schemeClr>
                </a:solidFill>
              </a:rPr>
              <a:t>We kept it as binary {0,1}; no resampling, or class weights applied at this stage</a:t>
            </a:r>
            <a:endParaRPr lang="en-US" sz="1200">
              <a:solidFill>
                <a:schemeClr val="accent6">
                  <a:lumMod val="50000"/>
                </a:schemeClr>
              </a:solidFill>
            </a:endParaRPr>
          </a:p>
          <a:p>
            <a:pPr marL="171450" indent="-171450">
              <a:buFont typeface="Arial" panose="020B0604020202020204" pitchFamily="34" charset="0"/>
              <a:buChar char="•"/>
            </a:pPr>
            <a:endParaRPr lang="en-US" sz="1200">
              <a:solidFill>
                <a:schemeClr val="accent6">
                  <a:lumMod val="50000"/>
                </a:schemeClr>
              </a:solidFill>
            </a:endParaRPr>
          </a:p>
          <a:p>
            <a:r>
              <a:rPr lang="en-US" sz="1200" b="1">
                <a:solidFill>
                  <a:schemeClr val="accent6">
                    <a:lumMod val="50000"/>
                  </a:schemeClr>
                </a:solidFill>
              </a:rPr>
              <a:t>Augmentation</a:t>
            </a:r>
          </a:p>
          <a:p>
            <a:pPr marL="171450" indent="-171450">
              <a:buFont typeface="Arial" panose="020B0604020202020204" pitchFamily="34" charset="0"/>
              <a:buChar char="•"/>
            </a:pPr>
            <a:r>
              <a:rPr lang="en-US" sz="1200">
                <a:solidFill>
                  <a:schemeClr val="accent6">
                    <a:lumMod val="50000"/>
                  </a:schemeClr>
                </a:solidFill>
              </a:rPr>
              <a:t>Augmentation was only introduced at model 4; earlier models train on raw normalized images.</a:t>
            </a:r>
          </a:p>
          <a:p>
            <a:endParaRPr lang="en-US" sz="1200">
              <a:solidFill>
                <a:schemeClr val="accent6">
                  <a:lumMod val="50000"/>
                </a:schemeClr>
              </a:solidFill>
            </a:endParaRPr>
          </a:p>
          <a:p>
            <a:r>
              <a:rPr lang="en-US" sz="1200" b="1">
                <a:solidFill>
                  <a:schemeClr val="accent6">
                    <a:lumMod val="50000"/>
                  </a:schemeClr>
                </a:solidFill>
              </a:rPr>
              <a:t>Metric Choice</a:t>
            </a:r>
          </a:p>
          <a:p>
            <a:pPr marL="171450" indent="-171450">
              <a:buFont typeface="Arial" panose="020B0604020202020204" pitchFamily="34" charset="0"/>
              <a:buChar char="•"/>
            </a:pPr>
            <a:r>
              <a:rPr lang="en-US" sz="1200">
                <a:solidFill>
                  <a:schemeClr val="accent6">
                    <a:lumMod val="50000"/>
                  </a:schemeClr>
                </a:solidFill>
              </a:rPr>
              <a:t>A custom function computes Accuracy, Precision, Recall, and F1 with average=“macro, avoiding majority-class bias.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Convolutional Neural Network (CNN) from Scratch</a:t>
            </a:r>
            <a:endParaRPr sz="2400">
              <a:solidFill>
                <a:srgbClr val="0E39A9"/>
              </a:solidFill>
            </a:endParaRPr>
          </a:p>
        </p:txBody>
      </p:sp>
      <p:sp>
        <p:nvSpPr>
          <p:cNvPr id="2" name="Rectangle: Rounded Corners 1">
            <a:extLst>
              <a:ext uri="{FF2B5EF4-FFF2-40B4-BE49-F238E27FC236}">
                <a16:creationId xmlns:a16="http://schemas.microsoft.com/office/drawing/2014/main" id="{9E523F60-4ED6-C169-70D8-394764FA08AE}"/>
              </a:ext>
            </a:extLst>
          </p:cNvPr>
          <p:cNvSpPr/>
          <p:nvPr/>
        </p:nvSpPr>
        <p:spPr>
          <a:xfrm>
            <a:off x="256810" y="1526934"/>
            <a:ext cx="3931920" cy="3402697"/>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Convolution Blocks</a:t>
            </a:r>
          </a:p>
          <a:p>
            <a:pPr marL="171450" indent="-171450">
              <a:buFont typeface="Arial" panose="020B0604020202020204" pitchFamily="34" charset="0"/>
              <a:buChar char="•"/>
            </a:pPr>
            <a:r>
              <a:rPr lang="en-US" sz="1100">
                <a:solidFill>
                  <a:schemeClr val="accent6">
                    <a:lumMod val="50000"/>
                  </a:schemeClr>
                </a:solidFill>
              </a:rPr>
              <a:t>Conv2d(16, 3x3) </a:t>
            </a:r>
          </a:p>
          <a:p>
            <a:pPr marL="171450" indent="-171450">
              <a:buFont typeface="Arial" panose="020B0604020202020204" pitchFamily="34" charset="0"/>
              <a:buChar char="•"/>
            </a:pPr>
            <a:r>
              <a:rPr lang="en-US" sz="1100">
                <a:solidFill>
                  <a:schemeClr val="accent6">
                    <a:lumMod val="50000"/>
                  </a:schemeClr>
                </a:solidFill>
              </a:rPr>
              <a:t>MaxPool(4x4)</a:t>
            </a:r>
          </a:p>
          <a:p>
            <a:pPr marL="171450" indent="-171450">
              <a:buFont typeface="Arial" panose="020B0604020202020204" pitchFamily="34" charset="0"/>
              <a:buChar char="•"/>
            </a:pPr>
            <a:r>
              <a:rPr lang="en-US" sz="1100">
                <a:solidFill>
                  <a:schemeClr val="accent6">
                    <a:lumMod val="50000"/>
                  </a:schemeClr>
                </a:solidFill>
              </a:rPr>
              <a:t>Conv2D(32,3x3)</a:t>
            </a:r>
          </a:p>
          <a:p>
            <a:pPr marL="171450" indent="-171450">
              <a:buFont typeface="Arial" panose="020B0604020202020204" pitchFamily="34" charset="0"/>
              <a:buChar char="•"/>
            </a:pPr>
            <a:r>
              <a:rPr lang="en-US" sz="1100">
                <a:solidFill>
                  <a:schemeClr val="accent6">
                    <a:lumMod val="50000"/>
                  </a:schemeClr>
                </a:solidFill>
              </a:rPr>
              <a:t>MaxPool(2x2)</a:t>
            </a:r>
          </a:p>
          <a:p>
            <a:pPr marL="171450" indent="-171450">
              <a:buFont typeface="Arial" panose="020B0604020202020204" pitchFamily="34" charset="0"/>
              <a:buChar char="•"/>
            </a:pPr>
            <a:r>
              <a:rPr lang="en-US" sz="1100">
                <a:solidFill>
                  <a:schemeClr val="accent6">
                    <a:lumMod val="50000"/>
                  </a:schemeClr>
                </a:solidFill>
              </a:rPr>
              <a:t>Conv2D(64, 3x3)</a:t>
            </a:r>
          </a:p>
          <a:p>
            <a:r>
              <a:rPr lang="en-US" sz="1100" b="1">
                <a:solidFill>
                  <a:schemeClr val="accent6">
                    <a:lumMod val="50000"/>
                  </a:schemeClr>
                </a:solidFill>
              </a:rPr>
              <a:t>Head</a:t>
            </a:r>
          </a:p>
          <a:p>
            <a:pPr marL="171450" indent="-171450">
              <a:buFont typeface="Arial" panose="020B0604020202020204" pitchFamily="34" charset="0"/>
              <a:buChar char="•"/>
            </a:pPr>
            <a:r>
              <a:rPr lang="en-US" sz="1100">
                <a:solidFill>
                  <a:schemeClr val="accent6">
                    <a:lumMod val="50000"/>
                  </a:schemeClr>
                </a:solidFill>
              </a:rPr>
              <a:t>Flatten</a:t>
            </a:r>
          </a:p>
          <a:p>
            <a:pPr marL="171450" indent="-171450">
              <a:buFont typeface="Arial" panose="020B0604020202020204" pitchFamily="34" charset="0"/>
              <a:buChar char="•"/>
            </a:pPr>
            <a:r>
              <a:rPr lang="en-US" sz="1100">
                <a:solidFill>
                  <a:schemeClr val="accent6">
                    <a:lumMod val="50000"/>
                  </a:schemeClr>
                </a:solidFill>
              </a:rPr>
              <a:t>Dense(4, ReLU)</a:t>
            </a:r>
          </a:p>
          <a:p>
            <a:pPr marL="171450" indent="-171450">
              <a:buFont typeface="Arial" panose="020B0604020202020204" pitchFamily="34" charset="0"/>
              <a:buChar char="•"/>
            </a:pPr>
            <a:r>
              <a:rPr lang="en-US" sz="1100">
                <a:solidFill>
                  <a:schemeClr val="accent6">
                    <a:lumMod val="50000"/>
                  </a:schemeClr>
                </a:solidFill>
              </a:rPr>
              <a:t>Dense(1, Sigmoid)</a:t>
            </a:r>
          </a:p>
          <a:p>
            <a:r>
              <a:rPr lang="en-US" sz="1100" b="1">
                <a:solidFill>
                  <a:schemeClr val="accent6">
                    <a:lumMod val="50000"/>
                  </a:schemeClr>
                </a:solidFill>
              </a:rPr>
              <a:t>Optimizer</a:t>
            </a:r>
            <a:r>
              <a:rPr lang="en-US" sz="1100">
                <a:solidFill>
                  <a:schemeClr val="accent6">
                    <a:lumMod val="50000"/>
                  </a:schemeClr>
                </a:solidFill>
              </a:rPr>
              <a:t> </a:t>
            </a:r>
          </a:p>
          <a:p>
            <a:pPr marL="171450" indent="-171450">
              <a:buFont typeface="Arial" panose="020B0604020202020204" pitchFamily="34" charset="0"/>
              <a:buChar char="•"/>
            </a:pPr>
            <a:r>
              <a:rPr lang="en-US" sz="1100">
                <a:solidFill>
                  <a:schemeClr val="accent6">
                    <a:lumMod val="50000"/>
                  </a:schemeClr>
                </a:solidFill>
              </a:rPr>
              <a:t>Adam (lr = 0.001)</a:t>
            </a:r>
          </a:p>
          <a:p>
            <a:r>
              <a:rPr lang="en-US" sz="1100" b="1">
                <a:solidFill>
                  <a:schemeClr val="accent6">
                    <a:lumMod val="50000"/>
                  </a:schemeClr>
                </a:solidFill>
              </a:rPr>
              <a:t>Loss</a:t>
            </a:r>
          </a:p>
          <a:p>
            <a:pPr marL="171450" indent="-171450">
              <a:buFont typeface="Arial" panose="020B0604020202020204" pitchFamily="34" charset="0"/>
              <a:buChar char="•"/>
            </a:pPr>
            <a:r>
              <a:rPr lang="en-US" sz="1100">
                <a:solidFill>
                  <a:schemeClr val="accent6">
                    <a:lumMod val="50000"/>
                  </a:schemeClr>
                </a:solidFill>
              </a:rPr>
              <a:t>Binary cross-entropy</a:t>
            </a:r>
          </a:p>
          <a:p>
            <a:r>
              <a:rPr lang="en-US" sz="1100" b="1">
                <a:solidFill>
                  <a:schemeClr val="accent6">
                    <a:lumMod val="50000"/>
                  </a:schemeClr>
                </a:solidFill>
              </a:rPr>
              <a:t>Tracked Metric</a:t>
            </a:r>
          </a:p>
          <a:p>
            <a:pPr marL="171450" indent="-171450">
              <a:buFont typeface="Arial" panose="020B0604020202020204" pitchFamily="34" charset="0"/>
              <a:buChar char="•"/>
            </a:pPr>
            <a:r>
              <a:rPr lang="en-US" sz="1100">
                <a:solidFill>
                  <a:schemeClr val="accent6">
                    <a:lumMod val="50000"/>
                  </a:schemeClr>
                </a:solidFill>
              </a:rPr>
              <a:t>Recall</a:t>
            </a:r>
          </a:p>
          <a:p>
            <a:r>
              <a:rPr lang="en-US" sz="1100" b="1">
                <a:solidFill>
                  <a:schemeClr val="accent6">
                    <a:lumMod val="50000"/>
                  </a:schemeClr>
                </a:solidFill>
              </a:rPr>
              <a:t>Training</a:t>
            </a:r>
          </a:p>
          <a:p>
            <a:pPr marL="171450" indent="-171450">
              <a:buFont typeface="Arial" panose="020B0604020202020204" pitchFamily="34" charset="0"/>
              <a:buChar char="•"/>
            </a:pPr>
            <a:r>
              <a:rPr lang="en-US" sz="1100">
                <a:solidFill>
                  <a:schemeClr val="accent6">
                    <a:lumMod val="50000"/>
                  </a:schemeClr>
                </a:solidFill>
              </a:rPr>
              <a:t>20 epochs, batch size 32</a:t>
            </a:r>
          </a:p>
          <a:p>
            <a:endParaRPr lang="en-US" sz="1100">
              <a:solidFill>
                <a:schemeClr val="accent6">
                  <a:lumMod val="50000"/>
                </a:schemeClr>
              </a:solidFill>
            </a:endParaRPr>
          </a:p>
          <a:p>
            <a:endParaRPr lang="en-US" sz="1200">
              <a:solidFill>
                <a:schemeClr val="accent6">
                  <a:lumMod val="50000"/>
                </a:schemeClr>
              </a:solidFill>
            </a:endParaRPr>
          </a:p>
        </p:txBody>
      </p:sp>
      <p:sp>
        <p:nvSpPr>
          <p:cNvPr id="3" name="Rectangle: Rounded Corners 2">
            <a:extLst>
              <a:ext uri="{FF2B5EF4-FFF2-40B4-BE49-F238E27FC236}">
                <a16:creationId xmlns:a16="http://schemas.microsoft.com/office/drawing/2014/main" id="{F9DCB9DF-F7B9-DAAC-78D3-7E4796A508E8}"/>
              </a:ext>
            </a:extLst>
          </p:cNvPr>
          <p:cNvSpPr/>
          <p:nvPr/>
        </p:nvSpPr>
        <p:spPr>
          <a:xfrm>
            <a:off x="256810" y="805451"/>
            <a:ext cx="8686562" cy="31705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Model 1</a:t>
            </a:r>
          </a:p>
        </p:txBody>
      </p:sp>
      <p:sp>
        <p:nvSpPr>
          <p:cNvPr id="4" name="TextBox 239">
            <a:extLst>
              <a:ext uri="{FF2B5EF4-FFF2-40B4-BE49-F238E27FC236}">
                <a16:creationId xmlns:a16="http://schemas.microsoft.com/office/drawing/2014/main" id="{69B2193B-BFBB-E565-61C3-D1DB2849D6D8}"/>
              </a:ext>
            </a:extLst>
          </p:cNvPr>
          <p:cNvSpPr txBox="1"/>
          <p:nvPr/>
        </p:nvSpPr>
        <p:spPr>
          <a:xfrm>
            <a:off x="4296168" y="1184314"/>
            <a:ext cx="4647203"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sz="1200" b="1">
                <a:solidFill>
                  <a:srgbClr val="0E39A9"/>
                </a:solidFill>
                <a:latin typeface="Montserrat"/>
              </a:rPr>
              <a:t>Performance </a:t>
            </a:r>
          </a:p>
        </p:txBody>
      </p:sp>
      <p:sp>
        <p:nvSpPr>
          <p:cNvPr id="5" name="TextBox 240">
            <a:extLst>
              <a:ext uri="{FF2B5EF4-FFF2-40B4-BE49-F238E27FC236}">
                <a16:creationId xmlns:a16="http://schemas.microsoft.com/office/drawing/2014/main" id="{5F218B4A-774F-8FA4-4AD9-98199BB36441}"/>
              </a:ext>
            </a:extLst>
          </p:cNvPr>
          <p:cNvSpPr txBox="1"/>
          <p:nvPr/>
        </p:nvSpPr>
        <p:spPr>
          <a:xfrm>
            <a:off x="4296168" y="1552590"/>
            <a:ext cx="4647203" cy="886778"/>
          </a:xfrm>
          <a:prstGeom prst="roundRect">
            <a:avLst>
              <a:gd name="adj" fmla="val 1842"/>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sz="1000" b="1">
                <a:solidFill>
                  <a:srgbClr val="000000"/>
                </a:solidFill>
                <a:latin typeface="Consolas"/>
              </a:rPr>
              <a:t>  </a:t>
            </a:r>
            <a:r>
              <a:rPr lang="en-US" sz="1000" b="1">
                <a:solidFill>
                  <a:srgbClr val="000000"/>
                </a:solidFill>
                <a:latin typeface="Consolas"/>
              </a:rPr>
              <a:t>           </a:t>
            </a:r>
            <a:r>
              <a:rPr sz="1000" b="1">
                <a:solidFill>
                  <a:srgbClr val="000000"/>
                </a:solidFill>
                <a:latin typeface="Consolas"/>
              </a:rPr>
              <a:t>Train    </a:t>
            </a:r>
            <a:r>
              <a:rPr lang="en-US" sz="1000" b="1">
                <a:solidFill>
                  <a:srgbClr val="000000"/>
                </a:solidFill>
                <a:latin typeface="Consolas"/>
              </a:rPr>
              <a:t> </a:t>
            </a:r>
            <a:r>
              <a:rPr sz="1000" b="1">
                <a:solidFill>
                  <a:srgbClr val="000000"/>
                </a:solidFill>
                <a:latin typeface="Consolas"/>
              </a:rPr>
              <a:t>Validation</a:t>
            </a:r>
          </a:p>
          <a:p>
            <a:pPr>
              <a:spcBef>
                <a:spcPts val="0"/>
              </a:spcBef>
            </a:pPr>
            <a:r>
              <a:rPr sz="1000" b="1">
                <a:solidFill>
                  <a:srgbClr val="000000"/>
                </a:solidFill>
                <a:latin typeface="Consolas"/>
              </a:rPr>
              <a:t>Accuracy   </a:t>
            </a:r>
            <a:r>
              <a:rPr sz="1000" b="0">
                <a:solidFill>
                  <a:srgbClr val="000000"/>
                </a:solidFill>
                <a:latin typeface="Consolas"/>
              </a:rPr>
              <a:t>  0.960     0.919</a:t>
            </a:r>
          </a:p>
          <a:p>
            <a:pPr>
              <a:spcBef>
                <a:spcPts val="0"/>
              </a:spcBef>
            </a:pPr>
            <a:r>
              <a:rPr sz="1000" b="1">
                <a:solidFill>
                  <a:srgbClr val="000000"/>
                </a:solidFill>
                <a:latin typeface="Consolas"/>
              </a:rPr>
              <a:t>Recall     </a:t>
            </a:r>
            <a:r>
              <a:rPr sz="1000" b="0">
                <a:solidFill>
                  <a:srgbClr val="000000"/>
                </a:solidFill>
                <a:latin typeface="Consolas"/>
              </a:rPr>
              <a:t>  0.936     0.860</a:t>
            </a:r>
          </a:p>
          <a:p>
            <a:pPr>
              <a:spcBef>
                <a:spcPts val="0"/>
              </a:spcBef>
            </a:pPr>
            <a:r>
              <a:rPr sz="1000" b="1">
                <a:solidFill>
                  <a:srgbClr val="000000"/>
                </a:solidFill>
                <a:latin typeface="Consolas"/>
              </a:rPr>
              <a:t>Precision  </a:t>
            </a:r>
            <a:r>
              <a:rPr sz="1000" b="0">
                <a:solidFill>
                  <a:srgbClr val="000000"/>
                </a:solidFill>
                <a:latin typeface="Consolas"/>
              </a:rPr>
              <a:t>  0.951     0.906</a:t>
            </a:r>
          </a:p>
          <a:p>
            <a:pPr>
              <a:spcBef>
                <a:spcPts val="0"/>
              </a:spcBef>
            </a:pPr>
            <a:r>
              <a:rPr sz="1000" b="1">
                <a:solidFill>
                  <a:srgbClr val="000000"/>
                </a:solidFill>
                <a:latin typeface="Consolas"/>
              </a:rPr>
              <a:t>F1 Score   </a:t>
            </a:r>
            <a:r>
              <a:rPr sz="1000" b="0">
                <a:solidFill>
                  <a:srgbClr val="000000"/>
                </a:solidFill>
                <a:latin typeface="Consolas"/>
              </a:rPr>
              <a:t>  0.943     0.880</a:t>
            </a:r>
          </a:p>
        </p:txBody>
      </p:sp>
      <p:sp>
        <p:nvSpPr>
          <p:cNvPr id="6" name="TextBox 239">
            <a:extLst>
              <a:ext uri="{FF2B5EF4-FFF2-40B4-BE49-F238E27FC236}">
                <a16:creationId xmlns:a16="http://schemas.microsoft.com/office/drawing/2014/main" id="{C9EB6519-0A7E-B580-9A07-8E31C2ED7C4B}"/>
              </a:ext>
            </a:extLst>
          </p:cNvPr>
          <p:cNvSpPr txBox="1"/>
          <p:nvPr/>
        </p:nvSpPr>
        <p:spPr>
          <a:xfrm>
            <a:off x="256810" y="1184313"/>
            <a:ext cx="3931920" cy="306467"/>
          </a:xfrm>
          <a:prstGeom prst="roundRect">
            <a:avLst>
              <a:gd name="adj" fmla="val 68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Architecture</a:t>
            </a:r>
            <a:r>
              <a:rPr sz="1200" b="1">
                <a:solidFill>
                  <a:srgbClr val="0E39A9"/>
                </a:solidFill>
                <a:latin typeface="Montserrat"/>
              </a:rPr>
              <a:t> </a:t>
            </a:r>
          </a:p>
        </p:txBody>
      </p:sp>
      <p:pic>
        <p:nvPicPr>
          <p:cNvPr id="7" name="Picture 6">
            <a:extLst>
              <a:ext uri="{FF2B5EF4-FFF2-40B4-BE49-F238E27FC236}">
                <a16:creationId xmlns:a16="http://schemas.microsoft.com/office/drawing/2014/main" id="{B5A30F99-3D05-92DA-0EBF-A367CAF3E8E1}"/>
              </a:ext>
            </a:extLst>
          </p:cNvPr>
          <p:cNvPicPr>
            <a:picLocks noChangeAspect="1"/>
          </p:cNvPicPr>
          <p:nvPr/>
        </p:nvPicPr>
        <p:blipFill>
          <a:blip r:embed="rId3"/>
          <a:stretch>
            <a:fillRect/>
          </a:stretch>
        </p:blipFill>
        <p:spPr>
          <a:xfrm>
            <a:off x="6955456" y="2781091"/>
            <a:ext cx="1987915" cy="1633171"/>
          </a:xfrm>
          <a:prstGeom prst="roundRect">
            <a:avLst/>
          </a:prstGeom>
        </p:spPr>
      </p:pic>
      <p:sp>
        <p:nvSpPr>
          <p:cNvPr id="8" name="TextBox 239">
            <a:extLst>
              <a:ext uri="{FF2B5EF4-FFF2-40B4-BE49-F238E27FC236}">
                <a16:creationId xmlns:a16="http://schemas.microsoft.com/office/drawing/2014/main" id="{EF34ECCA-9758-553D-9CF0-165CFFD507E7}"/>
              </a:ext>
            </a:extLst>
          </p:cNvPr>
          <p:cNvSpPr txBox="1"/>
          <p:nvPr/>
        </p:nvSpPr>
        <p:spPr>
          <a:xfrm>
            <a:off x="4296168" y="2501177"/>
            <a:ext cx="4620570"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Notes</a:t>
            </a:r>
            <a:r>
              <a:rPr sz="1200" b="1">
                <a:solidFill>
                  <a:srgbClr val="0E39A9"/>
                </a:solidFill>
                <a:latin typeface="Montserrat"/>
              </a:rPr>
              <a:t> </a:t>
            </a:r>
          </a:p>
        </p:txBody>
      </p:sp>
      <p:sp>
        <p:nvSpPr>
          <p:cNvPr id="11" name="Rectangle: Rounded Corners 10">
            <a:extLst>
              <a:ext uri="{FF2B5EF4-FFF2-40B4-BE49-F238E27FC236}">
                <a16:creationId xmlns:a16="http://schemas.microsoft.com/office/drawing/2014/main" id="{E1298D2B-3706-5EA1-3A3C-C0069D93EC3B}"/>
              </a:ext>
            </a:extLst>
          </p:cNvPr>
          <p:cNvSpPr/>
          <p:nvPr/>
        </p:nvSpPr>
        <p:spPr>
          <a:xfrm>
            <a:off x="4296168" y="2869453"/>
            <a:ext cx="2758936" cy="2060178"/>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100">
                <a:solidFill>
                  <a:schemeClr val="accent6">
                    <a:lumMod val="50000"/>
                  </a:schemeClr>
                </a:solidFill>
              </a:rPr>
              <a:t>This is the best of the four models. The F1(which measures recall and precision) gap is only 0.06, it generalizes well. </a:t>
            </a:r>
          </a:p>
          <a:p>
            <a:pPr marL="171450" indent="-171450">
              <a:buFont typeface="Arial" panose="020B0604020202020204" pitchFamily="34" charset="0"/>
              <a:buChar char="•"/>
            </a:pPr>
            <a:r>
              <a:rPr lang="en-US" sz="1100">
                <a:solidFill>
                  <a:schemeClr val="accent6">
                    <a:lumMod val="50000"/>
                  </a:schemeClr>
                </a:solidFill>
              </a:rPr>
              <a:t>From the graphic we can tell that the model is adjusting quickly in the first few epochs as it learns the data pattern.</a:t>
            </a:r>
          </a:p>
          <a:p>
            <a:pPr marL="171450" indent="-171450">
              <a:buFont typeface="Arial" panose="020B0604020202020204" pitchFamily="34" charset="0"/>
              <a:buChar char="•"/>
            </a:pPr>
            <a:r>
              <a:rPr lang="en-US" sz="1100">
                <a:solidFill>
                  <a:schemeClr val="accent6">
                    <a:lumMod val="50000"/>
                  </a:schemeClr>
                </a:solidFill>
              </a:rPr>
              <a:t>It performs well on unseen validation data</a:t>
            </a:r>
          </a:p>
          <a:p>
            <a:pPr marL="171450" indent="-171450">
              <a:buFont typeface="Arial" panose="020B0604020202020204" pitchFamily="34" charset="0"/>
              <a:buChar char="•"/>
            </a:pPr>
            <a:r>
              <a:rPr lang="en-US" sz="1100" b="1">
                <a:solidFill>
                  <a:schemeClr val="accent6">
                    <a:lumMod val="50000"/>
                  </a:schemeClr>
                </a:solidFill>
              </a:rPr>
              <a:t>It is effective at reducing missed detection</a:t>
            </a:r>
          </a:p>
          <a:p>
            <a:endParaRPr lang="en-US" sz="1200">
              <a:solidFill>
                <a:schemeClr val="accent6">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9CB5CECC-0712-05FE-E676-5CD12B40DCA6}"/>
            </a:ext>
          </a:extLst>
        </p:cNvPr>
        <p:cNvGrpSpPr/>
        <p:nvPr/>
      </p:nvGrpSpPr>
      <p:grpSpPr>
        <a:xfrm>
          <a:off x="0" y="0"/>
          <a:ext cx="0" cy="0"/>
          <a:chOff x="0" y="0"/>
          <a:chExt cx="0" cy="0"/>
        </a:xfrm>
      </p:grpSpPr>
      <p:sp>
        <p:nvSpPr>
          <p:cNvPr id="234" name="Google Shape;234;p43">
            <a:extLst>
              <a:ext uri="{FF2B5EF4-FFF2-40B4-BE49-F238E27FC236}">
                <a16:creationId xmlns:a16="http://schemas.microsoft.com/office/drawing/2014/main" id="{8E32DA14-AF10-61F6-B879-044CBC5B54D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Transfer Learning with VGG-16 (Base)</a:t>
            </a:r>
            <a:endParaRPr sz="2400">
              <a:solidFill>
                <a:srgbClr val="0E39A9"/>
              </a:solidFill>
            </a:endParaRPr>
          </a:p>
        </p:txBody>
      </p:sp>
      <p:sp>
        <p:nvSpPr>
          <p:cNvPr id="2" name="Rectangle: Rounded Corners 1">
            <a:extLst>
              <a:ext uri="{FF2B5EF4-FFF2-40B4-BE49-F238E27FC236}">
                <a16:creationId xmlns:a16="http://schemas.microsoft.com/office/drawing/2014/main" id="{94A95098-8E4A-64AF-53B9-816A8D2881CD}"/>
              </a:ext>
            </a:extLst>
          </p:cNvPr>
          <p:cNvSpPr/>
          <p:nvPr/>
        </p:nvSpPr>
        <p:spPr>
          <a:xfrm>
            <a:off x="254888" y="1417206"/>
            <a:ext cx="3931920" cy="3616565"/>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Foundation</a:t>
            </a:r>
          </a:p>
          <a:p>
            <a:pPr marL="171450" indent="-171450">
              <a:buFont typeface="Arial" panose="020B0604020202020204" pitchFamily="34" charset="0"/>
              <a:buChar char="•"/>
            </a:pPr>
            <a:r>
              <a:rPr lang="en-US" sz="1100">
                <a:solidFill>
                  <a:schemeClr val="accent6">
                    <a:lumMod val="50000"/>
                  </a:schemeClr>
                </a:solidFill>
              </a:rPr>
              <a:t>VGG-16 pretrained no ImageNet, all convolutional layers frozen</a:t>
            </a:r>
          </a:p>
          <a:p>
            <a:r>
              <a:rPr lang="en-US" sz="1100" b="1">
                <a:solidFill>
                  <a:schemeClr val="accent6">
                    <a:lumMod val="50000"/>
                  </a:schemeClr>
                </a:solidFill>
              </a:rPr>
              <a:t>Head</a:t>
            </a:r>
          </a:p>
          <a:p>
            <a:pPr marL="171450" indent="-171450">
              <a:buFont typeface="Arial" panose="020B0604020202020204" pitchFamily="34" charset="0"/>
              <a:buChar char="•"/>
            </a:pPr>
            <a:r>
              <a:rPr lang="en-US" sz="1100">
                <a:solidFill>
                  <a:schemeClr val="accent6">
                    <a:lumMod val="50000"/>
                  </a:schemeClr>
                </a:solidFill>
              </a:rPr>
              <a:t>Flatten</a:t>
            </a:r>
          </a:p>
          <a:p>
            <a:pPr marL="171450" indent="-171450">
              <a:buFont typeface="Arial" panose="020B0604020202020204" pitchFamily="34" charset="0"/>
              <a:buChar char="•"/>
            </a:pPr>
            <a:r>
              <a:rPr lang="en-US" sz="1100">
                <a:solidFill>
                  <a:schemeClr val="accent6">
                    <a:lumMod val="50000"/>
                  </a:schemeClr>
                </a:solidFill>
              </a:rPr>
              <a:t>Dense(1, Sigmoid)</a:t>
            </a:r>
          </a:p>
          <a:p>
            <a:r>
              <a:rPr lang="en-US" sz="1100" b="1">
                <a:solidFill>
                  <a:schemeClr val="accent6">
                    <a:lumMod val="50000"/>
                  </a:schemeClr>
                </a:solidFill>
              </a:rPr>
              <a:t>Optimizer</a:t>
            </a:r>
            <a:r>
              <a:rPr lang="en-US" sz="1100">
                <a:solidFill>
                  <a:schemeClr val="accent6">
                    <a:lumMod val="50000"/>
                  </a:schemeClr>
                </a:solidFill>
              </a:rPr>
              <a:t> </a:t>
            </a:r>
          </a:p>
          <a:p>
            <a:pPr marL="171450" indent="-171450">
              <a:buFont typeface="Arial" panose="020B0604020202020204" pitchFamily="34" charset="0"/>
              <a:buChar char="•"/>
            </a:pPr>
            <a:r>
              <a:rPr lang="en-US" sz="1100">
                <a:solidFill>
                  <a:schemeClr val="accent6">
                    <a:lumMod val="50000"/>
                  </a:schemeClr>
                </a:solidFill>
              </a:rPr>
              <a:t>Adam (lr = 0.001)</a:t>
            </a:r>
          </a:p>
          <a:p>
            <a:r>
              <a:rPr lang="en-US" sz="1100" b="1">
                <a:solidFill>
                  <a:schemeClr val="accent6">
                    <a:lumMod val="50000"/>
                  </a:schemeClr>
                </a:solidFill>
              </a:rPr>
              <a:t>Loss</a:t>
            </a:r>
          </a:p>
          <a:p>
            <a:pPr marL="171450" indent="-171450">
              <a:buFont typeface="Arial" panose="020B0604020202020204" pitchFamily="34" charset="0"/>
              <a:buChar char="•"/>
            </a:pPr>
            <a:r>
              <a:rPr lang="en-US" sz="1100">
                <a:solidFill>
                  <a:schemeClr val="accent6">
                    <a:lumMod val="50000"/>
                  </a:schemeClr>
                </a:solidFill>
              </a:rPr>
              <a:t>Binary cross-entropy</a:t>
            </a:r>
          </a:p>
          <a:p>
            <a:r>
              <a:rPr lang="en-US" sz="1100" b="1">
                <a:solidFill>
                  <a:schemeClr val="accent6">
                    <a:lumMod val="50000"/>
                  </a:schemeClr>
                </a:solidFill>
              </a:rPr>
              <a:t>Tracked Metric</a:t>
            </a:r>
          </a:p>
          <a:p>
            <a:pPr marL="171450" indent="-171450">
              <a:buFont typeface="Arial" panose="020B0604020202020204" pitchFamily="34" charset="0"/>
              <a:buChar char="•"/>
            </a:pPr>
            <a:r>
              <a:rPr lang="en-US" sz="1100">
                <a:solidFill>
                  <a:schemeClr val="accent6">
                    <a:lumMod val="50000"/>
                  </a:schemeClr>
                </a:solidFill>
              </a:rPr>
              <a:t>Recall</a:t>
            </a:r>
          </a:p>
          <a:p>
            <a:r>
              <a:rPr lang="en-US" sz="1100" b="1">
                <a:solidFill>
                  <a:schemeClr val="accent6">
                    <a:lumMod val="50000"/>
                  </a:schemeClr>
                </a:solidFill>
              </a:rPr>
              <a:t>Training</a:t>
            </a:r>
          </a:p>
          <a:p>
            <a:pPr marL="171450" indent="-171450">
              <a:buFont typeface="Arial" panose="020B0604020202020204" pitchFamily="34" charset="0"/>
              <a:buChar char="•"/>
            </a:pPr>
            <a:r>
              <a:rPr lang="en-US" sz="1100">
                <a:solidFill>
                  <a:schemeClr val="accent6">
                    <a:lumMod val="50000"/>
                  </a:schemeClr>
                </a:solidFill>
              </a:rPr>
              <a:t>10 epochs, batch size 32</a:t>
            </a:r>
          </a:p>
          <a:p>
            <a:pPr marL="171450" indent="-171450">
              <a:buFont typeface="Arial" panose="020B0604020202020204" pitchFamily="34" charset="0"/>
              <a:buChar char="•"/>
            </a:pPr>
            <a:r>
              <a:rPr lang="en-US" sz="1100">
                <a:solidFill>
                  <a:schemeClr val="accent6">
                    <a:lumMod val="50000"/>
                  </a:schemeClr>
                </a:solidFill>
              </a:rPr>
              <a:t>No data augmentation</a:t>
            </a:r>
          </a:p>
          <a:p>
            <a:endParaRPr lang="en-US" sz="1100">
              <a:solidFill>
                <a:schemeClr val="accent6">
                  <a:lumMod val="50000"/>
                </a:schemeClr>
              </a:solidFill>
            </a:endParaRPr>
          </a:p>
          <a:p>
            <a:endParaRPr lang="en-US" sz="1200">
              <a:solidFill>
                <a:schemeClr val="accent6">
                  <a:lumMod val="50000"/>
                </a:schemeClr>
              </a:solidFill>
            </a:endParaRPr>
          </a:p>
        </p:txBody>
      </p:sp>
      <p:sp>
        <p:nvSpPr>
          <p:cNvPr id="3" name="Rectangle: Rounded Corners 2">
            <a:extLst>
              <a:ext uri="{FF2B5EF4-FFF2-40B4-BE49-F238E27FC236}">
                <a16:creationId xmlns:a16="http://schemas.microsoft.com/office/drawing/2014/main" id="{5C987033-F919-5D99-F396-1C757C4B6554}"/>
              </a:ext>
            </a:extLst>
          </p:cNvPr>
          <p:cNvSpPr/>
          <p:nvPr/>
        </p:nvSpPr>
        <p:spPr>
          <a:xfrm>
            <a:off x="254888" y="695723"/>
            <a:ext cx="8686562" cy="31705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Model 2</a:t>
            </a:r>
          </a:p>
        </p:txBody>
      </p:sp>
      <p:sp>
        <p:nvSpPr>
          <p:cNvPr id="4" name="TextBox 239">
            <a:extLst>
              <a:ext uri="{FF2B5EF4-FFF2-40B4-BE49-F238E27FC236}">
                <a16:creationId xmlns:a16="http://schemas.microsoft.com/office/drawing/2014/main" id="{E6E8B48C-54BE-FC79-8869-FEA4B9F8C031}"/>
              </a:ext>
            </a:extLst>
          </p:cNvPr>
          <p:cNvSpPr txBox="1"/>
          <p:nvPr/>
        </p:nvSpPr>
        <p:spPr>
          <a:xfrm>
            <a:off x="4294245" y="1074586"/>
            <a:ext cx="4647203"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sz="1200" b="1">
                <a:solidFill>
                  <a:srgbClr val="0E39A9"/>
                </a:solidFill>
                <a:latin typeface="Montserrat"/>
              </a:rPr>
              <a:t>Performance </a:t>
            </a:r>
          </a:p>
        </p:txBody>
      </p:sp>
      <p:sp>
        <p:nvSpPr>
          <p:cNvPr id="6" name="TextBox 239">
            <a:extLst>
              <a:ext uri="{FF2B5EF4-FFF2-40B4-BE49-F238E27FC236}">
                <a16:creationId xmlns:a16="http://schemas.microsoft.com/office/drawing/2014/main" id="{DB1CF42B-B246-2C75-CF52-A64128476955}"/>
              </a:ext>
            </a:extLst>
          </p:cNvPr>
          <p:cNvSpPr txBox="1"/>
          <p:nvPr/>
        </p:nvSpPr>
        <p:spPr>
          <a:xfrm>
            <a:off x="254888" y="1074585"/>
            <a:ext cx="3931920" cy="306467"/>
          </a:xfrm>
          <a:prstGeom prst="roundRect">
            <a:avLst>
              <a:gd name="adj" fmla="val 68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Architecture</a:t>
            </a:r>
            <a:r>
              <a:rPr sz="1200" b="1">
                <a:solidFill>
                  <a:srgbClr val="0E39A9"/>
                </a:solidFill>
                <a:latin typeface="Montserrat"/>
              </a:rPr>
              <a:t> </a:t>
            </a:r>
          </a:p>
        </p:txBody>
      </p:sp>
      <p:sp>
        <p:nvSpPr>
          <p:cNvPr id="8" name="TextBox 239">
            <a:extLst>
              <a:ext uri="{FF2B5EF4-FFF2-40B4-BE49-F238E27FC236}">
                <a16:creationId xmlns:a16="http://schemas.microsoft.com/office/drawing/2014/main" id="{55A2C1EB-C211-E7B8-122C-75E4C87CB0AB}"/>
              </a:ext>
            </a:extLst>
          </p:cNvPr>
          <p:cNvSpPr txBox="1"/>
          <p:nvPr/>
        </p:nvSpPr>
        <p:spPr>
          <a:xfrm>
            <a:off x="4294245" y="2364896"/>
            <a:ext cx="4647202"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Notes</a:t>
            </a:r>
            <a:r>
              <a:rPr sz="1200" b="1">
                <a:solidFill>
                  <a:srgbClr val="0E39A9"/>
                </a:solidFill>
                <a:latin typeface="Montserrat"/>
              </a:rPr>
              <a:t> </a:t>
            </a:r>
          </a:p>
        </p:txBody>
      </p:sp>
      <p:sp>
        <p:nvSpPr>
          <p:cNvPr id="11" name="Rectangle: Rounded Corners 10">
            <a:extLst>
              <a:ext uri="{FF2B5EF4-FFF2-40B4-BE49-F238E27FC236}">
                <a16:creationId xmlns:a16="http://schemas.microsoft.com/office/drawing/2014/main" id="{AC8AC81E-2136-CA91-7BD9-F5B68067E1D5}"/>
              </a:ext>
            </a:extLst>
          </p:cNvPr>
          <p:cNvSpPr/>
          <p:nvPr/>
        </p:nvSpPr>
        <p:spPr>
          <a:xfrm>
            <a:off x="4294245" y="2759724"/>
            <a:ext cx="2758936" cy="2274047"/>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100">
                <a:solidFill>
                  <a:schemeClr val="accent6">
                    <a:lumMod val="50000"/>
                  </a:schemeClr>
                </a:solidFill>
              </a:rPr>
              <a:t>This model trains fast and fits the training set well, but generalization is worse than model 1. The f1 gap is 0.13. Imagenet features are too generic for this task.</a:t>
            </a:r>
          </a:p>
          <a:p>
            <a:pPr marL="171450" indent="-171450">
              <a:buFont typeface="Arial" panose="020B0604020202020204" pitchFamily="34" charset="0"/>
              <a:buChar char="•"/>
            </a:pPr>
            <a:r>
              <a:rPr lang="en-US" sz="1100">
                <a:solidFill>
                  <a:schemeClr val="accent6">
                    <a:lumMod val="50000"/>
                  </a:schemeClr>
                </a:solidFill>
              </a:rPr>
              <a:t>The validation falls from 0.92 to around 0.90 by epoch 3 meaning the model initially struggles to generalize</a:t>
            </a:r>
          </a:p>
          <a:p>
            <a:pPr marL="171450" indent="-171450">
              <a:buFont typeface="Arial" panose="020B0604020202020204" pitchFamily="34" charset="0"/>
              <a:buChar char="•"/>
            </a:pPr>
            <a:r>
              <a:rPr lang="en-US" sz="1100">
                <a:solidFill>
                  <a:schemeClr val="accent6">
                    <a:lumMod val="50000"/>
                  </a:schemeClr>
                </a:solidFill>
              </a:rPr>
              <a:t>Gap between training and validation recall widens, this is a potential sign of overfitting. The model is becoming very good on training but less on validation data</a:t>
            </a:r>
          </a:p>
          <a:p>
            <a:endParaRPr lang="en-US" sz="1200">
              <a:solidFill>
                <a:schemeClr val="accent6">
                  <a:lumMod val="50000"/>
                </a:schemeClr>
              </a:solidFill>
            </a:endParaRPr>
          </a:p>
        </p:txBody>
      </p:sp>
      <p:sp>
        <p:nvSpPr>
          <p:cNvPr id="9" name="TextBox 250">
            <a:extLst>
              <a:ext uri="{FF2B5EF4-FFF2-40B4-BE49-F238E27FC236}">
                <a16:creationId xmlns:a16="http://schemas.microsoft.com/office/drawing/2014/main" id="{599F5C61-FDD2-934B-C1B5-D601C6AF8DF1}"/>
              </a:ext>
            </a:extLst>
          </p:cNvPr>
          <p:cNvSpPr txBox="1"/>
          <p:nvPr/>
        </p:nvSpPr>
        <p:spPr>
          <a:xfrm>
            <a:off x="4294245" y="1420632"/>
            <a:ext cx="4647203" cy="878443"/>
          </a:xfrm>
          <a:prstGeom prst="roundRect">
            <a:avLst>
              <a:gd name="adj" fmla="val 4732"/>
            </a:avLst>
          </a:prstGeom>
          <a:noFill/>
          <a:ln>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sz="1000" b="1">
                <a:solidFill>
                  <a:srgbClr val="000000"/>
                </a:solidFill>
                <a:latin typeface="Consolas"/>
              </a:rPr>
              <a:t>  </a:t>
            </a:r>
            <a:r>
              <a:rPr lang="en-US" sz="1000" b="1">
                <a:solidFill>
                  <a:srgbClr val="000000"/>
                </a:solidFill>
                <a:latin typeface="Consolas"/>
              </a:rPr>
              <a:t>	</a:t>
            </a:r>
            <a:r>
              <a:rPr sz="1000" b="1">
                <a:solidFill>
                  <a:srgbClr val="000000"/>
                </a:solidFill>
                <a:latin typeface="Consolas"/>
              </a:rPr>
              <a:t>Train    Validation</a:t>
            </a:r>
          </a:p>
          <a:p>
            <a:pPr>
              <a:spcBef>
                <a:spcPts val="0"/>
              </a:spcBef>
            </a:pPr>
            <a:r>
              <a:rPr sz="1000" b="1">
                <a:solidFill>
                  <a:srgbClr val="000000"/>
                </a:solidFill>
                <a:latin typeface="Consolas"/>
              </a:rPr>
              <a:t>Accuracy   </a:t>
            </a:r>
            <a:r>
              <a:rPr sz="1000" b="0">
                <a:solidFill>
                  <a:srgbClr val="000000"/>
                </a:solidFill>
                <a:latin typeface="Consolas"/>
              </a:rPr>
              <a:t>  0.965     0.879</a:t>
            </a:r>
          </a:p>
          <a:p>
            <a:pPr>
              <a:spcBef>
                <a:spcPts val="0"/>
              </a:spcBef>
            </a:pPr>
            <a:r>
              <a:rPr sz="1000" b="1">
                <a:solidFill>
                  <a:srgbClr val="000000"/>
                </a:solidFill>
                <a:latin typeface="Consolas"/>
              </a:rPr>
              <a:t>Recall     </a:t>
            </a:r>
            <a:r>
              <a:rPr sz="1000" b="0">
                <a:solidFill>
                  <a:srgbClr val="000000"/>
                </a:solidFill>
                <a:latin typeface="Consolas"/>
              </a:rPr>
              <a:t>  0.939     0.812</a:t>
            </a:r>
          </a:p>
          <a:p>
            <a:pPr>
              <a:spcBef>
                <a:spcPts val="0"/>
              </a:spcBef>
            </a:pPr>
            <a:r>
              <a:rPr sz="1000" b="1">
                <a:solidFill>
                  <a:srgbClr val="000000"/>
                </a:solidFill>
                <a:latin typeface="Consolas"/>
              </a:rPr>
              <a:t>Precision  </a:t>
            </a:r>
            <a:r>
              <a:rPr sz="1000" b="0">
                <a:solidFill>
                  <a:srgbClr val="000000"/>
                </a:solidFill>
                <a:latin typeface="Consolas"/>
              </a:rPr>
              <a:t>  0.963     0.838</a:t>
            </a:r>
          </a:p>
          <a:p>
            <a:pPr>
              <a:spcBef>
                <a:spcPts val="0"/>
              </a:spcBef>
            </a:pPr>
            <a:r>
              <a:rPr sz="1000" b="1">
                <a:solidFill>
                  <a:srgbClr val="000000"/>
                </a:solidFill>
                <a:latin typeface="Consolas"/>
              </a:rPr>
              <a:t>F1 Score   </a:t>
            </a:r>
            <a:r>
              <a:rPr sz="1000" b="0">
                <a:solidFill>
                  <a:srgbClr val="000000"/>
                </a:solidFill>
                <a:latin typeface="Consolas"/>
              </a:rPr>
              <a:t>  0.950     0.824</a:t>
            </a:r>
          </a:p>
        </p:txBody>
      </p:sp>
      <p:pic>
        <p:nvPicPr>
          <p:cNvPr id="10" name="Picture 9">
            <a:extLst>
              <a:ext uri="{FF2B5EF4-FFF2-40B4-BE49-F238E27FC236}">
                <a16:creationId xmlns:a16="http://schemas.microsoft.com/office/drawing/2014/main" id="{B49CBF30-3483-C2D4-6A1C-721E2CFA30FE}"/>
              </a:ext>
            </a:extLst>
          </p:cNvPr>
          <p:cNvPicPr>
            <a:picLocks noChangeAspect="1"/>
          </p:cNvPicPr>
          <p:nvPr/>
        </p:nvPicPr>
        <p:blipFill>
          <a:blip r:embed="rId3"/>
          <a:stretch>
            <a:fillRect/>
          </a:stretch>
        </p:blipFill>
        <p:spPr>
          <a:xfrm>
            <a:off x="7053181" y="2737184"/>
            <a:ext cx="1888267" cy="2148541"/>
          </a:xfrm>
          <a:prstGeom prst="roundRect">
            <a:avLst>
              <a:gd name="adj" fmla="val 18604"/>
            </a:avLst>
          </a:prstGeom>
        </p:spPr>
      </p:pic>
    </p:spTree>
    <p:extLst>
      <p:ext uri="{BB962C8B-B14F-4D97-AF65-F5344CB8AC3E}">
        <p14:creationId xmlns:p14="http://schemas.microsoft.com/office/powerpoint/2010/main" val="3154974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B2E9FEE4-0FA8-8B91-B4F8-22DD0F923A9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BDDA1A7-48DC-57A6-4C01-41090819219F}"/>
              </a:ext>
            </a:extLst>
          </p:cNvPr>
          <p:cNvPicPr>
            <a:picLocks noChangeAspect="1"/>
          </p:cNvPicPr>
          <p:nvPr/>
        </p:nvPicPr>
        <p:blipFill>
          <a:blip r:embed="rId3"/>
          <a:stretch>
            <a:fillRect/>
          </a:stretch>
        </p:blipFill>
        <p:spPr>
          <a:xfrm>
            <a:off x="7053182" y="2671363"/>
            <a:ext cx="1888266" cy="1407014"/>
          </a:xfrm>
          <a:prstGeom prst="roundRect">
            <a:avLst/>
          </a:prstGeom>
        </p:spPr>
      </p:pic>
      <p:sp>
        <p:nvSpPr>
          <p:cNvPr id="234" name="Google Shape;234;p43">
            <a:extLst>
              <a:ext uri="{FF2B5EF4-FFF2-40B4-BE49-F238E27FC236}">
                <a16:creationId xmlns:a16="http://schemas.microsoft.com/office/drawing/2014/main" id="{4435857E-3448-E6E9-351B-9F4BE1A2FC4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Transfer Learning with VGG-16 (Base + FFNN)</a:t>
            </a:r>
            <a:endParaRPr sz="2400">
              <a:solidFill>
                <a:srgbClr val="0E39A9"/>
              </a:solidFill>
            </a:endParaRPr>
          </a:p>
        </p:txBody>
      </p:sp>
      <p:sp>
        <p:nvSpPr>
          <p:cNvPr id="2" name="Rectangle: Rounded Corners 1">
            <a:extLst>
              <a:ext uri="{FF2B5EF4-FFF2-40B4-BE49-F238E27FC236}">
                <a16:creationId xmlns:a16="http://schemas.microsoft.com/office/drawing/2014/main" id="{3C672F8F-8147-469A-B718-FE1CE271E12C}"/>
              </a:ext>
            </a:extLst>
          </p:cNvPr>
          <p:cNvSpPr/>
          <p:nvPr/>
        </p:nvSpPr>
        <p:spPr>
          <a:xfrm>
            <a:off x="254888" y="1417206"/>
            <a:ext cx="3931920" cy="3616565"/>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Foundation</a:t>
            </a:r>
          </a:p>
          <a:p>
            <a:pPr marL="171450" indent="-171450">
              <a:buFont typeface="Arial" panose="020B0604020202020204" pitchFamily="34" charset="0"/>
              <a:buChar char="•"/>
            </a:pPr>
            <a:r>
              <a:rPr lang="en-US" sz="1100">
                <a:solidFill>
                  <a:schemeClr val="accent6">
                    <a:lumMod val="50000"/>
                  </a:schemeClr>
                </a:solidFill>
              </a:rPr>
              <a:t>VGG-16 pretrained no ImageNet, all convolutional layers frozen</a:t>
            </a:r>
          </a:p>
          <a:p>
            <a:r>
              <a:rPr lang="en-US" sz="1100" b="1">
                <a:solidFill>
                  <a:schemeClr val="accent6">
                    <a:lumMod val="50000"/>
                  </a:schemeClr>
                </a:solidFill>
              </a:rPr>
              <a:t>Head</a:t>
            </a:r>
          </a:p>
          <a:p>
            <a:pPr marL="171450" indent="-171450">
              <a:buFont typeface="Arial" panose="020B0604020202020204" pitchFamily="34" charset="0"/>
              <a:buChar char="•"/>
            </a:pPr>
            <a:r>
              <a:rPr lang="en-US" sz="1100">
                <a:solidFill>
                  <a:schemeClr val="accent6">
                    <a:lumMod val="50000"/>
                  </a:schemeClr>
                </a:solidFill>
              </a:rPr>
              <a:t>Flatten</a:t>
            </a:r>
          </a:p>
          <a:p>
            <a:pPr marL="171450" indent="-171450">
              <a:buFont typeface="Arial" panose="020B0604020202020204" pitchFamily="34" charset="0"/>
              <a:buChar char="•"/>
            </a:pPr>
            <a:r>
              <a:rPr lang="en-US" sz="1100">
                <a:solidFill>
                  <a:schemeClr val="accent6">
                    <a:lumMod val="50000"/>
                  </a:schemeClr>
                </a:solidFill>
              </a:rPr>
              <a:t>Dense(256, ReLU)</a:t>
            </a:r>
          </a:p>
          <a:p>
            <a:pPr marL="171450" indent="-171450">
              <a:buFont typeface="Arial" panose="020B0604020202020204" pitchFamily="34" charset="0"/>
              <a:buChar char="•"/>
            </a:pPr>
            <a:r>
              <a:rPr lang="en-US" sz="1100">
                <a:solidFill>
                  <a:schemeClr val="accent6">
                    <a:lumMod val="50000"/>
                  </a:schemeClr>
                </a:solidFill>
              </a:rPr>
              <a:t>Dropout(0.3)</a:t>
            </a:r>
          </a:p>
          <a:p>
            <a:pPr marL="171450" indent="-171450">
              <a:buFont typeface="Arial" panose="020B0604020202020204" pitchFamily="34" charset="0"/>
              <a:buChar char="•"/>
            </a:pPr>
            <a:r>
              <a:rPr lang="en-US" sz="1100">
                <a:solidFill>
                  <a:schemeClr val="accent6">
                    <a:lumMod val="50000"/>
                  </a:schemeClr>
                </a:solidFill>
              </a:rPr>
              <a:t>Dense(64, ReLU)</a:t>
            </a:r>
          </a:p>
          <a:p>
            <a:pPr marL="171450" indent="-171450">
              <a:buFont typeface="Arial" panose="020B0604020202020204" pitchFamily="34" charset="0"/>
              <a:buChar char="•"/>
            </a:pPr>
            <a:r>
              <a:rPr lang="en-US" sz="1100">
                <a:solidFill>
                  <a:schemeClr val="accent6">
                    <a:lumMod val="50000"/>
                  </a:schemeClr>
                </a:solidFill>
              </a:rPr>
              <a:t>Dense(1, Sigmoid)</a:t>
            </a:r>
          </a:p>
          <a:p>
            <a:r>
              <a:rPr lang="en-US" sz="1100" b="1">
                <a:solidFill>
                  <a:schemeClr val="accent6">
                    <a:lumMod val="50000"/>
                  </a:schemeClr>
                </a:solidFill>
              </a:rPr>
              <a:t>Optimizer</a:t>
            </a:r>
            <a:r>
              <a:rPr lang="en-US" sz="1100">
                <a:solidFill>
                  <a:schemeClr val="accent6">
                    <a:lumMod val="50000"/>
                  </a:schemeClr>
                </a:solidFill>
              </a:rPr>
              <a:t> </a:t>
            </a:r>
          </a:p>
          <a:p>
            <a:pPr marL="171450" indent="-171450">
              <a:buFont typeface="Arial" panose="020B0604020202020204" pitchFamily="34" charset="0"/>
              <a:buChar char="•"/>
            </a:pPr>
            <a:r>
              <a:rPr lang="en-US" sz="1100">
                <a:solidFill>
                  <a:schemeClr val="accent6">
                    <a:lumMod val="50000"/>
                  </a:schemeClr>
                </a:solidFill>
              </a:rPr>
              <a:t>Adam (lr = 0.001)</a:t>
            </a:r>
          </a:p>
          <a:p>
            <a:r>
              <a:rPr lang="en-US" sz="1100" b="1">
                <a:solidFill>
                  <a:schemeClr val="accent6">
                    <a:lumMod val="50000"/>
                  </a:schemeClr>
                </a:solidFill>
              </a:rPr>
              <a:t>Loss</a:t>
            </a:r>
          </a:p>
          <a:p>
            <a:pPr marL="171450" indent="-171450">
              <a:buFont typeface="Arial" panose="020B0604020202020204" pitchFamily="34" charset="0"/>
              <a:buChar char="•"/>
            </a:pPr>
            <a:r>
              <a:rPr lang="en-US" sz="1100">
                <a:solidFill>
                  <a:schemeClr val="accent6">
                    <a:lumMod val="50000"/>
                  </a:schemeClr>
                </a:solidFill>
              </a:rPr>
              <a:t>Binary cross-entropy</a:t>
            </a:r>
          </a:p>
          <a:p>
            <a:r>
              <a:rPr lang="en-US" sz="1100" b="1">
                <a:solidFill>
                  <a:schemeClr val="accent6">
                    <a:lumMod val="50000"/>
                  </a:schemeClr>
                </a:solidFill>
              </a:rPr>
              <a:t>Tracked Metric</a:t>
            </a:r>
          </a:p>
          <a:p>
            <a:pPr marL="171450" indent="-171450">
              <a:buFont typeface="Arial" panose="020B0604020202020204" pitchFamily="34" charset="0"/>
              <a:buChar char="•"/>
            </a:pPr>
            <a:r>
              <a:rPr lang="en-US" sz="1100">
                <a:solidFill>
                  <a:schemeClr val="accent6">
                    <a:lumMod val="50000"/>
                  </a:schemeClr>
                </a:solidFill>
              </a:rPr>
              <a:t>Recall</a:t>
            </a:r>
          </a:p>
          <a:p>
            <a:r>
              <a:rPr lang="en-US" sz="1100" b="1">
                <a:solidFill>
                  <a:schemeClr val="accent6">
                    <a:lumMod val="50000"/>
                  </a:schemeClr>
                </a:solidFill>
              </a:rPr>
              <a:t>Training</a:t>
            </a:r>
          </a:p>
          <a:p>
            <a:pPr marL="171450" indent="-171450">
              <a:buFont typeface="Arial" panose="020B0604020202020204" pitchFamily="34" charset="0"/>
              <a:buChar char="•"/>
            </a:pPr>
            <a:r>
              <a:rPr lang="en-US" sz="1100">
                <a:solidFill>
                  <a:schemeClr val="accent6">
                    <a:lumMod val="50000"/>
                  </a:schemeClr>
                </a:solidFill>
              </a:rPr>
              <a:t>10 epochs, batch size 32</a:t>
            </a:r>
          </a:p>
          <a:p>
            <a:pPr marL="171450" indent="-171450">
              <a:buFont typeface="Arial" panose="020B0604020202020204" pitchFamily="34" charset="0"/>
              <a:buChar char="•"/>
            </a:pPr>
            <a:r>
              <a:rPr lang="en-US" sz="1100">
                <a:solidFill>
                  <a:schemeClr val="accent6">
                    <a:lumMod val="50000"/>
                  </a:schemeClr>
                </a:solidFill>
              </a:rPr>
              <a:t>No data augmentation</a:t>
            </a:r>
          </a:p>
          <a:p>
            <a:pPr marL="171450" indent="-171450">
              <a:buFont typeface="Arial" panose="020B0604020202020204" pitchFamily="34" charset="0"/>
              <a:buChar char="•"/>
            </a:pPr>
            <a:r>
              <a:rPr lang="en-US" sz="1100">
                <a:solidFill>
                  <a:schemeClr val="accent6">
                    <a:lumMod val="50000"/>
                  </a:schemeClr>
                </a:solidFill>
              </a:rPr>
              <a:t>Deeper head to more complex feature combination</a:t>
            </a:r>
          </a:p>
          <a:p>
            <a:endParaRPr lang="en-US" sz="1100">
              <a:solidFill>
                <a:schemeClr val="accent6">
                  <a:lumMod val="50000"/>
                </a:schemeClr>
              </a:solidFill>
            </a:endParaRPr>
          </a:p>
          <a:p>
            <a:endParaRPr lang="en-US" sz="1200">
              <a:solidFill>
                <a:schemeClr val="accent6">
                  <a:lumMod val="50000"/>
                </a:schemeClr>
              </a:solidFill>
            </a:endParaRPr>
          </a:p>
        </p:txBody>
      </p:sp>
      <p:sp>
        <p:nvSpPr>
          <p:cNvPr id="3" name="Rectangle: Rounded Corners 2">
            <a:extLst>
              <a:ext uri="{FF2B5EF4-FFF2-40B4-BE49-F238E27FC236}">
                <a16:creationId xmlns:a16="http://schemas.microsoft.com/office/drawing/2014/main" id="{20DB30AC-0231-0E5D-88A9-5C956D3DB7C6}"/>
              </a:ext>
            </a:extLst>
          </p:cNvPr>
          <p:cNvSpPr/>
          <p:nvPr/>
        </p:nvSpPr>
        <p:spPr>
          <a:xfrm>
            <a:off x="254888" y="695723"/>
            <a:ext cx="8686562" cy="31705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Model 3 – With Feed Forward Neural Network</a:t>
            </a:r>
          </a:p>
        </p:txBody>
      </p:sp>
      <p:sp>
        <p:nvSpPr>
          <p:cNvPr id="4" name="TextBox 239">
            <a:extLst>
              <a:ext uri="{FF2B5EF4-FFF2-40B4-BE49-F238E27FC236}">
                <a16:creationId xmlns:a16="http://schemas.microsoft.com/office/drawing/2014/main" id="{E502048A-F6A3-6596-C6C1-0614B1BEBE5B}"/>
              </a:ext>
            </a:extLst>
          </p:cNvPr>
          <p:cNvSpPr txBox="1"/>
          <p:nvPr/>
        </p:nvSpPr>
        <p:spPr>
          <a:xfrm>
            <a:off x="4294245" y="1074586"/>
            <a:ext cx="4647203"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sz="1200" b="1">
                <a:solidFill>
                  <a:srgbClr val="0E39A9"/>
                </a:solidFill>
                <a:latin typeface="Montserrat"/>
              </a:rPr>
              <a:t>Performance </a:t>
            </a:r>
          </a:p>
        </p:txBody>
      </p:sp>
      <p:sp>
        <p:nvSpPr>
          <p:cNvPr id="6" name="TextBox 239">
            <a:extLst>
              <a:ext uri="{FF2B5EF4-FFF2-40B4-BE49-F238E27FC236}">
                <a16:creationId xmlns:a16="http://schemas.microsoft.com/office/drawing/2014/main" id="{A85BCEDC-5408-7445-E409-0EB1DBF2E5D4}"/>
              </a:ext>
            </a:extLst>
          </p:cNvPr>
          <p:cNvSpPr txBox="1"/>
          <p:nvPr/>
        </p:nvSpPr>
        <p:spPr>
          <a:xfrm>
            <a:off x="254888" y="1074585"/>
            <a:ext cx="3931920" cy="306467"/>
          </a:xfrm>
          <a:prstGeom prst="roundRect">
            <a:avLst>
              <a:gd name="adj" fmla="val 68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Architecture</a:t>
            </a:r>
            <a:r>
              <a:rPr sz="1200" b="1">
                <a:solidFill>
                  <a:srgbClr val="0E39A9"/>
                </a:solidFill>
                <a:latin typeface="Montserrat"/>
              </a:rPr>
              <a:t> </a:t>
            </a:r>
          </a:p>
        </p:txBody>
      </p:sp>
      <p:sp>
        <p:nvSpPr>
          <p:cNvPr id="8" name="TextBox 239">
            <a:extLst>
              <a:ext uri="{FF2B5EF4-FFF2-40B4-BE49-F238E27FC236}">
                <a16:creationId xmlns:a16="http://schemas.microsoft.com/office/drawing/2014/main" id="{2028CBEE-04E1-71EB-1FF2-761B99B00DF3}"/>
              </a:ext>
            </a:extLst>
          </p:cNvPr>
          <p:cNvSpPr txBox="1"/>
          <p:nvPr/>
        </p:nvSpPr>
        <p:spPr>
          <a:xfrm>
            <a:off x="4294245" y="2364896"/>
            <a:ext cx="4647202"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Notes</a:t>
            </a:r>
            <a:r>
              <a:rPr sz="1200" b="1">
                <a:solidFill>
                  <a:srgbClr val="0E39A9"/>
                </a:solidFill>
                <a:latin typeface="Montserrat"/>
              </a:rPr>
              <a:t> </a:t>
            </a:r>
          </a:p>
        </p:txBody>
      </p:sp>
      <p:sp>
        <p:nvSpPr>
          <p:cNvPr id="11" name="Rectangle: Rounded Corners 10">
            <a:extLst>
              <a:ext uri="{FF2B5EF4-FFF2-40B4-BE49-F238E27FC236}">
                <a16:creationId xmlns:a16="http://schemas.microsoft.com/office/drawing/2014/main" id="{7E39CB08-1C53-212F-A815-3989B7A34836}"/>
              </a:ext>
            </a:extLst>
          </p:cNvPr>
          <p:cNvSpPr/>
          <p:nvPr/>
        </p:nvSpPr>
        <p:spPr>
          <a:xfrm>
            <a:off x="4294245" y="2759724"/>
            <a:ext cx="2758936" cy="2274047"/>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100">
                <a:solidFill>
                  <a:schemeClr val="accent6">
                    <a:lumMod val="50000"/>
                  </a:schemeClr>
                </a:solidFill>
              </a:rPr>
              <a:t>Model 3 achieves consistently high recall on both training and validation sets. It is effective at detecting workers with Helmet. </a:t>
            </a:r>
          </a:p>
          <a:p>
            <a:pPr marL="171450" indent="-171450">
              <a:buFont typeface="Arial" panose="020B0604020202020204" pitchFamily="34" charset="0"/>
              <a:buChar char="•"/>
            </a:pPr>
            <a:r>
              <a:rPr lang="en-US" sz="1100">
                <a:solidFill>
                  <a:schemeClr val="accent6">
                    <a:lumMod val="50000"/>
                  </a:schemeClr>
                </a:solidFill>
              </a:rPr>
              <a:t>Looking at the confusion matrix of this model we can see that it has 184 false positives. That means it sometimes predicts class 1(with Helmet) when the actual class is 0. This catastrophic for the company compliance and great safety risk. </a:t>
            </a:r>
          </a:p>
          <a:p>
            <a:endParaRPr lang="en-US" sz="1200">
              <a:solidFill>
                <a:schemeClr val="accent6">
                  <a:lumMod val="50000"/>
                </a:schemeClr>
              </a:solidFill>
            </a:endParaRPr>
          </a:p>
        </p:txBody>
      </p:sp>
      <p:sp>
        <p:nvSpPr>
          <p:cNvPr id="9" name="TextBox 250">
            <a:extLst>
              <a:ext uri="{FF2B5EF4-FFF2-40B4-BE49-F238E27FC236}">
                <a16:creationId xmlns:a16="http://schemas.microsoft.com/office/drawing/2014/main" id="{49C263F9-6378-1D84-4B5A-DB3D17B8E129}"/>
              </a:ext>
            </a:extLst>
          </p:cNvPr>
          <p:cNvSpPr txBox="1"/>
          <p:nvPr/>
        </p:nvSpPr>
        <p:spPr>
          <a:xfrm>
            <a:off x="4294245" y="1420632"/>
            <a:ext cx="4647203" cy="878443"/>
          </a:xfrm>
          <a:prstGeom prst="roundRect">
            <a:avLst>
              <a:gd name="adj" fmla="val 4732"/>
            </a:avLst>
          </a:prstGeom>
          <a:noFill/>
          <a:ln>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b="1">
                <a:latin typeface="Consolas"/>
              </a:rPr>
              <a:t> 	Train    Validation</a:t>
            </a:r>
          </a:p>
          <a:p>
            <a:r>
              <a:rPr lang="en-US" sz="1000" b="1">
                <a:latin typeface="Consolas"/>
              </a:rPr>
              <a:t>Accuracy   </a:t>
            </a:r>
            <a:r>
              <a:rPr lang="en-US" sz="1000">
                <a:latin typeface="Consolas"/>
              </a:rPr>
              <a:t>  0.935     0.866</a:t>
            </a:r>
          </a:p>
          <a:p>
            <a:r>
              <a:rPr lang="en-US" sz="1000" b="1">
                <a:latin typeface="Consolas"/>
              </a:rPr>
              <a:t>Recall     </a:t>
            </a:r>
            <a:r>
              <a:rPr lang="en-US" sz="1000">
                <a:latin typeface="Consolas"/>
              </a:rPr>
              <a:t>  0.863     0.729</a:t>
            </a:r>
          </a:p>
          <a:p>
            <a:r>
              <a:rPr lang="en-US" sz="1000" b="1">
                <a:latin typeface="Consolas"/>
              </a:rPr>
              <a:t>Precision  </a:t>
            </a:r>
            <a:r>
              <a:rPr lang="en-US" sz="1000">
                <a:latin typeface="Consolas"/>
              </a:rPr>
              <a:t>  0.956     0.883</a:t>
            </a:r>
          </a:p>
          <a:p>
            <a:r>
              <a:rPr lang="en-US" sz="1000" b="1">
                <a:latin typeface="Consolas"/>
              </a:rPr>
              <a:t>F1 Score   </a:t>
            </a:r>
            <a:r>
              <a:rPr lang="en-US" sz="1000">
                <a:latin typeface="Consolas"/>
              </a:rPr>
              <a:t>  0.899     0.770</a:t>
            </a:r>
            <a:endParaRPr sz="1000" b="0">
              <a:solidFill>
                <a:srgbClr val="000000"/>
              </a:solidFill>
              <a:latin typeface="Consolas"/>
            </a:endParaRPr>
          </a:p>
        </p:txBody>
      </p:sp>
      <p:pic>
        <p:nvPicPr>
          <p:cNvPr id="14" name="Picture 13">
            <a:extLst>
              <a:ext uri="{FF2B5EF4-FFF2-40B4-BE49-F238E27FC236}">
                <a16:creationId xmlns:a16="http://schemas.microsoft.com/office/drawing/2014/main" id="{C98AD60F-8856-22B2-B68A-16A96CEF75FD}"/>
              </a:ext>
            </a:extLst>
          </p:cNvPr>
          <p:cNvPicPr>
            <a:picLocks noChangeAspect="1"/>
          </p:cNvPicPr>
          <p:nvPr/>
        </p:nvPicPr>
        <p:blipFill>
          <a:blip r:embed="rId4"/>
          <a:stretch>
            <a:fillRect/>
          </a:stretch>
        </p:blipFill>
        <p:spPr>
          <a:xfrm>
            <a:off x="7100655" y="4062013"/>
            <a:ext cx="1888265" cy="971758"/>
          </a:xfrm>
          <a:prstGeom prst="rect">
            <a:avLst/>
          </a:prstGeom>
        </p:spPr>
      </p:pic>
    </p:spTree>
    <p:extLst>
      <p:ext uri="{BB962C8B-B14F-4D97-AF65-F5344CB8AC3E}">
        <p14:creationId xmlns:p14="http://schemas.microsoft.com/office/powerpoint/2010/main" val="3305374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8ED5706-3D63-12C8-58BF-8C920E4BEB4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3CC3749-8F52-5456-9E67-D0C0521954F4}"/>
              </a:ext>
            </a:extLst>
          </p:cNvPr>
          <p:cNvPicPr>
            <a:picLocks noChangeAspect="1"/>
          </p:cNvPicPr>
          <p:nvPr/>
        </p:nvPicPr>
        <p:blipFill>
          <a:blip r:embed="rId3">
            <a:alphaModFix amt="55000"/>
          </a:blip>
          <a:stretch>
            <a:fillRect/>
          </a:stretch>
        </p:blipFill>
        <p:spPr>
          <a:xfrm>
            <a:off x="7018031" y="2671363"/>
            <a:ext cx="1923416" cy="2207113"/>
          </a:xfrm>
          <a:prstGeom prst="rect">
            <a:avLst/>
          </a:prstGeom>
        </p:spPr>
      </p:pic>
      <p:sp>
        <p:nvSpPr>
          <p:cNvPr id="234" name="Google Shape;234;p43">
            <a:extLst>
              <a:ext uri="{FF2B5EF4-FFF2-40B4-BE49-F238E27FC236}">
                <a16:creationId xmlns:a16="http://schemas.microsoft.com/office/drawing/2014/main" id="{D3298E2F-9DC7-9279-DAD5-3D4D2714963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2000">
                <a:solidFill>
                  <a:srgbClr val="0E39A9"/>
                </a:solidFill>
              </a:rPr>
              <a:t>Transfer Learning with VGG-16 (Base + FFNN + Data Augmentation)</a:t>
            </a:r>
            <a:endParaRPr sz="2000">
              <a:solidFill>
                <a:srgbClr val="0E39A9"/>
              </a:solidFill>
            </a:endParaRPr>
          </a:p>
        </p:txBody>
      </p:sp>
      <p:sp>
        <p:nvSpPr>
          <p:cNvPr id="2" name="Rectangle: Rounded Corners 1">
            <a:extLst>
              <a:ext uri="{FF2B5EF4-FFF2-40B4-BE49-F238E27FC236}">
                <a16:creationId xmlns:a16="http://schemas.microsoft.com/office/drawing/2014/main" id="{C102DD9E-C583-0069-A368-8CA9F1977768}"/>
              </a:ext>
            </a:extLst>
          </p:cNvPr>
          <p:cNvSpPr/>
          <p:nvPr/>
        </p:nvSpPr>
        <p:spPr>
          <a:xfrm>
            <a:off x="254888" y="1417206"/>
            <a:ext cx="3931920" cy="3616565"/>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chemeClr val="accent6">
                    <a:lumMod val="50000"/>
                  </a:schemeClr>
                </a:solidFill>
              </a:rPr>
              <a:t>Foundation + Head</a:t>
            </a:r>
          </a:p>
          <a:p>
            <a:pPr marL="171450" indent="-171450">
              <a:buFont typeface="Arial" panose="020B0604020202020204" pitchFamily="34" charset="0"/>
              <a:buChar char="•"/>
            </a:pPr>
            <a:r>
              <a:rPr lang="en-US" sz="1100">
                <a:solidFill>
                  <a:schemeClr val="accent6">
                    <a:lumMod val="50000"/>
                  </a:schemeClr>
                </a:solidFill>
              </a:rPr>
              <a:t>Same as model 3</a:t>
            </a:r>
          </a:p>
          <a:p>
            <a:r>
              <a:rPr lang="en-US" sz="1100" b="1">
                <a:solidFill>
                  <a:schemeClr val="accent6">
                    <a:lumMod val="50000"/>
                  </a:schemeClr>
                </a:solidFill>
              </a:rPr>
              <a:t>Augmentation</a:t>
            </a:r>
          </a:p>
          <a:p>
            <a:pPr marL="171450" indent="-171450">
              <a:buFont typeface="Arial" panose="020B0604020202020204" pitchFamily="34" charset="0"/>
              <a:buChar char="•"/>
            </a:pPr>
            <a:r>
              <a:rPr lang="en-US" sz="1100">
                <a:solidFill>
                  <a:schemeClr val="accent6">
                    <a:lumMod val="50000"/>
                  </a:schemeClr>
                </a:solidFill>
              </a:rPr>
              <a:t>Rotation +-20</a:t>
            </a:r>
            <a:r>
              <a:rPr lang="en-US" sz="1100" baseline="30000">
                <a:solidFill>
                  <a:schemeClr val="accent6">
                    <a:lumMod val="50000"/>
                  </a:schemeClr>
                </a:solidFill>
              </a:rPr>
              <a:t>0</a:t>
            </a:r>
          </a:p>
          <a:p>
            <a:pPr marL="171450" indent="-171450">
              <a:buFont typeface="Arial" panose="020B0604020202020204" pitchFamily="34" charset="0"/>
              <a:buChar char="•"/>
            </a:pPr>
            <a:r>
              <a:rPr lang="en-US" sz="1100">
                <a:solidFill>
                  <a:schemeClr val="accent6">
                    <a:lumMod val="50000"/>
                  </a:schemeClr>
                </a:solidFill>
              </a:rPr>
              <a:t>Width/height shift 0.1</a:t>
            </a:r>
          </a:p>
          <a:p>
            <a:pPr marL="171450" indent="-171450">
              <a:buFont typeface="Arial" panose="020B0604020202020204" pitchFamily="34" charset="0"/>
              <a:buChar char="•"/>
            </a:pPr>
            <a:r>
              <a:rPr lang="en-US" sz="1100">
                <a:solidFill>
                  <a:schemeClr val="accent6">
                    <a:lumMod val="50000"/>
                  </a:schemeClr>
                </a:solidFill>
              </a:rPr>
              <a:t>Shear 0.1</a:t>
            </a:r>
          </a:p>
          <a:p>
            <a:pPr marL="171450" indent="-171450">
              <a:buFont typeface="Arial" panose="020B0604020202020204" pitchFamily="34" charset="0"/>
              <a:buChar char="•"/>
            </a:pPr>
            <a:r>
              <a:rPr lang="en-US" sz="1100">
                <a:solidFill>
                  <a:schemeClr val="accent6">
                    <a:lumMod val="50000"/>
                  </a:schemeClr>
                </a:solidFill>
              </a:rPr>
              <a:t>Zoom 0.1</a:t>
            </a:r>
          </a:p>
          <a:p>
            <a:pPr marL="171450" indent="-171450">
              <a:buFont typeface="Arial" panose="020B0604020202020204" pitchFamily="34" charset="0"/>
              <a:buChar char="•"/>
            </a:pPr>
            <a:r>
              <a:rPr lang="en-US" sz="1100">
                <a:solidFill>
                  <a:schemeClr val="accent6">
                    <a:lumMod val="50000"/>
                  </a:schemeClr>
                </a:solidFill>
              </a:rPr>
              <a:t>Fill=“nearest”</a:t>
            </a:r>
          </a:p>
          <a:p>
            <a:r>
              <a:rPr lang="en-US" sz="1100" b="1">
                <a:solidFill>
                  <a:schemeClr val="accent6">
                    <a:lumMod val="50000"/>
                  </a:schemeClr>
                </a:solidFill>
              </a:rPr>
              <a:t>Optimizer</a:t>
            </a:r>
            <a:r>
              <a:rPr lang="en-US" sz="1100">
                <a:solidFill>
                  <a:schemeClr val="accent6">
                    <a:lumMod val="50000"/>
                  </a:schemeClr>
                </a:solidFill>
              </a:rPr>
              <a:t> </a:t>
            </a:r>
          </a:p>
          <a:p>
            <a:pPr marL="171450" indent="-171450">
              <a:buFont typeface="Arial" panose="020B0604020202020204" pitchFamily="34" charset="0"/>
              <a:buChar char="•"/>
            </a:pPr>
            <a:r>
              <a:rPr lang="en-US" sz="1100">
                <a:solidFill>
                  <a:schemeClr val="accent6">
                    <a:lumMod val="50000"/>
                  </a:schemeClr>
                </a:solidFill>
              </a:rPr>
              <a:t>Adam (lr = 0.001)</a:t>
            </a:r>
          </a:p>
          <a:p>
            <a:r>
              <a:rPr lang="en-US" sz="1100" b="1">
                <a:solidFill>
                  <a:schemeClr val="accent6">
                    <a:lumMod val="50000"/>
                  </a:schemeClr>
                </a:solidFill>
              </a:rPr>
              <a:t>Loss</a:t>
            </a:r>
          </a:p>
          <a:p>
            <a:pPr marL="171450" indent="-171450">
              <a:buFont typeface="Arial" panose="020B0604020202020204" pitchFamily="34" charset="0"/>
              <a:buChar char="•"/>
            </a:pPr>
            <a:r>
              <a:rPr lang="en-US" sz="1100">
                <a:solidFill>
                  <a:schemeClr val="accent6">
                    <a:lumMod val="50000"/>
                  </a:schemeClr>
                </a:solidFill>
              </a:rPr>
              <a:t>Binary cross-entropy</a:t>
            </a:r>
          </a:p>
          <a:p>
            <a:r>
              <a:rPr lang="en-US" sz="1100" b="1">
                <a:solidFill>
                  <a:schemeClr val="accent6">
                    <a:lumMod val="50000"/>
                  </a:schemeClr>
                </a:solidFill>
              </a:rPr>
              <a:t>Tracked Metric</a:t>
            </a:r>
          </a:p>
          <a:p>
            <a:pPr marL="171450" indent="-171450">
              <a:buFont typeface="Arial" panose="020B0604020202020204" pitchFamily="34" charset="0"/>
              <a:buChar char="•"/>
            </a:pPr>
            <a:r>
              <a:rPr lang="en-US" sz="1100">
                <a:solidFill>
                  <a:schemeClr val="accent6">
                    <a:lumMod val="50000"/>
                  </a:schemeClr>
                </a:solidFill>
              </a:rPr>
              <a:t>Recall</a:t>
            </a:r>
          </a:p>
          <a:p>
            <a:r>
              <a:rPr lang="en-US" sz="1100" b="1">
                <a:solidFill>
                  <a:schemeClr val="accent6">
                    <a:lumMod val="50000"/>
                  </a:schemeClr>
                </a:solidFill>
              </a:rPr>
              <a:t>Training</a:t>
            </a:r>
          </a:p>
          <a:p>
            <a:pPr marL="171450" indent="-171450">
              <a:buFont typeface="Arial" panose="020B0604020202020204" pitchFamily="34" charset="0"/>
              <a:buChar char="•"/>
            </a:pPr>
            <a:r>
              <a:rPr lang="en-US" sz="1100">
                <a:solidFill>
                  <a:schemeClr val="accent6">
                    <a:lumMod val="50000"/>
                  </a:schemeClr>
                </a:solidFill>
              </a:rPr>
              <a:t>10 epochs, batch size 32</a:t>
            </a:r>
          </a:p>
          <a:p>
            <a:pPr marL="171450" indent="-171450">
              <a:buFont typeface="Arial" panose="020B0604020202020204" pitchFamily="34" charset="0"/>
              <a:buChar char="•"/>
            </a:pPr>
            <a:r>
              <a:rPr lang="en-US" sz="1100">
                <a:solidFill>
                  <a:schemeClr val="accent6">
                    <a:lumMod val="50000"/>
                  </a:schemeClr>
                </a:solidFill>
              </a:rPr>
              <a:t>Data augmentation training set only, validation and test clean</a:t>
            </a:r>
          </a:p>
          <a:p>
            <a:pPr marL="171450" indent="-171450">
              <a:buFont typeface="Arial" panose="020B0604020202020204" pitchFamily="34" charset="0"/>
              <a:buChar char="•"/>
            </a:pPr>
            <a:r>
              <a:rPr lang="en-US" sz="1100">
                <a:solidFill>
                  <a:schemeClr val="accent6">
                    <a:lumMod val="50000"/>
                  </a:schemeClr>
                </a:solidFill>
              </a:rPr>
              <a:t>Deeper head to more complex feature combination</a:t>
            </a:r>
          </a:p>
          <a:p>
            <a:endParaRPr lang="en-US" sz="1100">
              <a:solidFill>
                <a:schemeClr val="accent6">
                  <a:lumMod val="50000"/>
                </a:schemeClr>
              </a:solidFill>
            </a:endParaRPr>
          </a:p>
          <a:p>
            <a:endParaRPr lang="en-US" sz="1200">
              <a:solidFill>
                <a:schemeClr val="accent6">
                  <a:lumMod val="50000"/>
                </a:schemeClr>
              </a:solidFill>
            </a:endParaRPr>
          </a:p>
        </p:txBody>
      </p:sp>
      <p:sp>
        <p:nvSpPr>
          <p:cNvPr id="3" name="Rectangle: Rounded Corners 2">
            <a:extLst>
              <a:ext uri="{FF2B5EF4-FFF2-40B4-BE49-F238E27FC236}">
                <a16:creationId xmlns:a16="http://schemas.microsoft.com/office/drawing/2014/main" id="{978F854D-5477-B981-7715-D54419374443}"/>
              </a:ext>
            </a:extLst>
          </p:cNvPr>
          <p:cNvSpPr/>
          <p:nvPr/>
        </p:nvSpPr>
        <p:spPr>
          <a:xfrm>
            <a:off x="254888" y="695723"/>
            <a:ext cx="8686562" cy="317054"/>
          </a:xfrm>
          <a:prstGeom prst="roundRect">
            <a:avLst>
              <a:gd name="adj" fmla="val 8034"/>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chemeClr val="accent6">
                    <a:lumMod val="50000"/>
                  </a:schemeClr>
                </a:solidFill>
              </a:rPr>
              <a:t>Model 4 – With Feed Forward Neural Network</a:t>
            </a:r>
          </a:p>
        </p:txBody>
      </p:sp>
      <p:sp>
        <p:nvSpPr>
          <p:cNvPr id="4" name="TextBox 239">
            <a:extLst>
              <a:ext uri="{FF2B5EF4-FFF2-40B4-BE49-F238E27FC236}">
                <a16:creationId xmlns:a16="http://schemas.microsoft.com/office/drawing/2014/main" id="{F91CA1DA-ADE3-2721-A89D-8E243FC72810}"/>
              </a:ext>
            </a:extLst>
          </p:cNvPr>
          <p:cNvSpPr txBox="1"/>
          <p:nvPr/>
        </p:nvSpPr>
        <p:spPr>
          <a:xfrm>
            <a:off x="4294245" y="1074586"/>
            <a:ext cx="4647203"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sz="1200" b="1">
                <a:solidFill>
                  <a:srgbClr val="0E39A9"/>
                </a:solidFill>
                <a:latin typeface="Montserrat"/>
              </a:rPr>
              <a:t>Performance </a:t>
            </a:r>
          </a:p>
        </p:txBody>
      </p:sp>
      <p:sp>
        <p:nvSpPr>
          <p:cNvPr id="6" name="TextBox 239">
            <a:extLst>
              <a:ext uri="{FF2B5EF4-FFF2-40B4-BE49-F238E27FC236}">
                <a16:creationId xmlns:a16="http://schemas.microsoft.com/office/drawing/2014/main" id="{285F2C79-3C72-2EAA-10B8-291CA036AFB3}"/>
              </a:ext>
            </a:extLst>
          </p:cNvPr>
          <p:cNvSpPr txBox="1"/>
          <p:nvPr/>
        </p:nvSpPr>
        <p:spPr>
          <a:xfrm>
            <a:off x="254888" y="1074585"/>
            <a:ext cx="3931920" cy="306467"/>
          </a:xfrm>
          <a:prstGeom prst="roundRect">
            <a:avLst>
              <a:gd name="adj" fmla="val 68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Architecture</a:t>
            </a:r>
            <a:r>
              <a:rPr sz="1200" b="1">
                <a:solidFill>
                  <a:srgbClr val="0E39A9"/>
                </a:solidFill>
                <a:latin typeface="Montserrat"/>
              </a:rPr>
              <a:t> </a:t>
            </a:r>
          </a:p>
        </p:txBody>
      </p:sp>
      <p:sp>
        <p:nvSpPr>
          <p:cNvPr id="8" name="TextBox 239">
            <a:extLst>
              <a:ext uri="{FF2B5EF4-FFF2-40B4-BE49-F238E27FC236}">
                <a16:creationId xmlns:a16="http://schemas.microsoft.com/office/drawing/2014/main" id="{A22D0D6A-193A-D3D6-814C-A384D752281A}"/>
              </a:ext>
            </a:extLst>
          </p:cNvPr>
          <p:cNvSpPr txBox="1"/>
          <p:nvPr/>
        </p:nvSpPr>
        <p:spPr>
          <a:xfrm>
            <a:off x="4294245" y="2364896"/>
            <a:ext cx="4647202" cy="306467"/>
          </a:xfrm>
          <a:prstGeom prst="roundRect">
            <a:avLst>
              <a:gd name="adj" fmla="val 105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Notes</a:t>
            </a:r>
            <a:r>
              <a:rPr sz="1200" b="1">
                <a:solidFill>
                  <a:srgbClr val="0E39A9"/>
                </a:solidFill>
                <a:latin typeface="Montserrat"/>
              </a:rPr>
              <a:t> </a:t>
            </a:r>
          </a:p>
        </p:txBody>
      </p:sp>
      <p:sp>
        <p:nvSpPr>
          <p:cNvPr id="11" name="Rectangle: Rounded Corners 10">
            <a:extLst>
              <a:ext uri="{FF2B5EF4-FFF2-40B4-BE49-F238E27FC236}">
                <a16:creationId xmlns:a16="http://schemas.microsoft.com/office/drawing/2014/main" id="{E6FF47AC-9830-B5AE-A9D2-AF79D6C9EDBC}"/>
              </a:ext>
            </a:extLst>
          </p:cNvPr>
          <p:cNvSpPr/>
          <p:nvPr/>
        </p:nvSpPr>
        <p:spPr>
          <a:xfrm>
            <a:off x="4294245" y="2759724"/>
            <a:ext cx="2758936" cy="2274047"/>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lang="en-US" sz="1200">
                <a:solidFill>
                  <a:schemeClr val="accent6">
                    <a:lumMod val="50000"/>
                  </a:schemeClr>
                </a:solidFill>
              </a:rPr>
              <a:t>Smallest training – validation gap but lowest absolute scores F1= 0.678. Augmentation distorts the helmet signal more than it helps generalize</a:t>
            </a:r>
          </a:p>
          <a:p>
            <a:pPr marL="171450" indent="-171450">
              <a:buFont typeface="Arial" panose="020B0604020202020204" pitchFamily="34" charset="0"/>
              <a:buChar char="•"/>
            </a:pPr>
            <a:r>
              <a:rPr lang="en-US" sz="1200">
                <a:solidFill>
                  <a:schemeClr val="accent6">
                    <a:lumMod val="50000"/>
                  </a:schemeClr>
                </a:solidFill>
              </a:rPr>
              <a:t>Validation recall starts high at 0.98 the model initially generalizes well to validation data.</a:t>
            </a:r>
          </a:p>
          <a:p>
            <a:pPr marL="171450" indent="-171450">
              <a:buFont typeface="Arial" panose="020B0604020202020204" pitchFamily="34" charset="0"/>
              <a:buChar char="•"/>
            </a:pPr>
            <a:r>
              <a:rPr lang="en-US" sz="1200">
                <a:solidFill>
                  <a:schemeClr val="accent6">
                    <a:lumMod val="50000"/>
                  </a:schemeClr>
                </a:solidFill>
              </a:rPr>
              <a:t>Validation drops sharply between 4 and 5, temporarily fial to generalize</a:t>
            </a:r>
          </a:p>
          <a:p>
            <a:pPr marL="171450" indent="-171450">
              <a:buFont typeface="Arial" panose="020B0604020202020204" pitchFamily="34" charset="0"/>
              <a:buChar char="•"/>
            </a:pPr>
            <a:r>
              <a:rPr lang="en-US" sz="1200">
                <a:solidFill>
                  <a:schemeClr val="accent6">
                    <a:lumMod val="50000"/>
                  </a:schemeClr>
                </a:solidFill>
              </a:rPr>
              <a:t>Train and validation as too misaligned. It is somewhat volatile</a:t>
            </a:r>
          </a:p>
        </p:txBody>
      </p:sp>
      <p:sp>
        <p:nvSpPr>
          <p:cNvPr id="9" name="TextBox 250">
            <a:extLst>
              <a:ext uri="{FF2B5EF4-FFF2-40B4-BE49-F238E27FC236}">
                <a16:creationId xmlns:a16="http://schemas.microsoft.com/office/drawing/2014/main" id="{39DE1515-AAA8-5446-2858-5435F83DFC6C}"/>
              </a:ext>
            </a:extLst>
          </p:cNvPr>
          <p:cNvSpPr txBox="1"/>
          <p:nvPr/>
        </p:nvSpPr>
        <p:spPr>
          <a:xfrm>
            <a:off x="4294245" y="1420632"/>
            <a:ext cx="4647203" cy="878443"/>
          </a:xfrm>
          <a:prstGeom prst="roundRect">
            <a:avLst>
              <a:gd name="adj" fmla="val 4732"/>
            </a:avLst>
          </a:prstGeom>
          <a:noFill/>
          <a:ln>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000" b="1">
                <a:latin typeface="Consolas"/>
              </a:rPr>
              <a:t>	Train    Validation</a:t>
            </a:r>
          </a:p>
          <a:p>
            <a:r>
              <a:rPr lang="en-US" sz="1000" b="1">
                <a:latin typeface="Consolas"/>
              </a:rPr>
              <a:t>Accuracy   </a:t>
            </a:r>
            <a:r>
              <a:rPr lang="en-US" sz="1000">
                <a:latin typeface="Consolas"/>
              </a:rPr>
              <a:t>  0.861     0.834</a:t>
            </a:r>
          </a:p>
          <a:p>
            <a:r>
              <a:rPr lang="en-US" sz="1000" b="1">
                <a:latin typeface="Consolas"/>
              </a:rPr>
              <a:t>Recall     </a:t>
            </a:r>
            <a:r>
              <a:rPr lang="en-US" sz="1000">
                <a:latin typeface="Consolas"/>
              </a:rPr>
              <a:t>  0.705     0.647</a:t>
            </a:r>
          </a:p>
          <a:p>
            <a:r>
              <a:rPr lang="en-US" sz="1000" b="1">
                <a:latin typeface="Consolas"/>
              </a:rPr>
              <a:t>Precision  </a:t>
            </a:r>
            <a:r>
              <a:rPr lang="en-US" sz="1000">
                <a:latin typeface="Consolas"/>
              </a:rPr>
              <a:t>  0.915     0.890</a:t>
            </a:r>
          </a:p>
          <a:p>
            <a:r>
              <a:rPr lang="en-US" sz="1000" b="1">
                <a:latin typeface="Consolas"/>
              </a:rPr>
              <a:t>F1 Score   </a:t>
            </a:r>
            <a:r>
              <a:rPr lang="en-US" sz="1000">
                <a:latin typeface="Consolas"/>
              </a:rPr>
              <a:t>  0.748     0.678</a:t>
            </a:r>
          </a:p>
        </p:txBody>
      </p:sp>
    </p:spTree>
    <p:extLst>
      <p:ext uri="{BB962C8B-B14F-4D97-AF65-F5344CB8AC3E}">
        <p14:creationId xmlns:p14="http://schemas.microsoft.com/office/powerpoint/2010/main" val="1668708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txBox="1">
            <a:spLocks noGrp="1"/>
          </p:cNvSpPr>
          <p:nvPr>
            <p:ph type="title"/>
          </p:nvPr>
        </p:nvSpPr>
        <p:spPr>
          <a:xfrm>
            <a:off x="239126" y="134847"/>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Model Performance Comparison and Final Model </a:t>
            </a:r>
            <a:endParaRPr sz="2400">
              <a:solidFill>
                <a:srgbClr val="0E39A9"/>
              </a:solidFill>
            </a:endParaRPr>
          </a:p>
          <a:p>
            <a:pPr marL="0" lvl="0" indent="0" algn="l" rtl="0">
              <a:lnSpc>
                <a:spcPct val="100000"/>
              </a:lnSpc>
              <a:spcBef>
                <a:spcPts val="0"/>
              </a:spcBef>
              <a:spcAft>
                <a:spcPts val="0"/>
              </a:spcAft>
              <a:buSzPts val="2200"/>
              <a:buNone/>
            </a:pPr>
            <a:r>
              <a:rPr lang="en" sz="2400">
                <a:solidFill>
                  <a:srgbClr val="0E39A9"/>
                </a:solidFill>
              </a:rPr>
              <a:t>Selection</a:t>
            </a:r>
            <a:endParaRPr sz="2400">
              <a:solidFill>
                <a:srgbClr val="0E39A9"/>
              </a:solidFill>
            </a:endParaRPr>
          </a:p>
        </p:txBody>
      </p:sp>
      <p:sp>
        <p:nvSpPr>
          <p:cNvPr id="3" name="Rectangle: Rounded Corners 2">
            <a:extLst>
              <a:ext uri="{FF2B5EF4-FFF2-40B4-BE49-F238E27FC236}">
                <a16:creationId xmlns:a16="http://schemas.microsoft.com/office/drawing/2014/main" id="{E20187D2-A4BE-B2BA-D764-572790C2917F}"/>
              </a:ext>
            </a:extLst>
          </p:cNvPr>
          <p:cNvSpPr/>
          <p:nvPr/>
        </p:nvSpPr>
        <p:spPr>
          <a:xfrm>
            <a:off x="271144" y="1307479"/>
            <a:ext cx="7194424" cy="1110602"/>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1">
                <a:solidFill>
                  <a:srgbClr val="0E39A9"/>
                </a:solidFill>
                <a:latin typeface="Consolas"/>
              </a:rPr>
              <a:t>Model                                    Acc   Recall   Prec     F1    Gap</a:t>
            </a:r>
          </a:p>
          <a:p>
            <a:r>
              <a:rPr lang="en-US" sz="1100" b="1">
                <a:solidFill>
                  <a:schemeClr val="accent4">
                    <a:lumMod val="75000"/>
                  </a:schemeClr>
                </a:solidFill>
                <a:latin typeface="Consolas"/>
              </a:rPr>
              <a:t>CNN from Scratch (Model 1)               0.919  0.860  0.906  0.880  0.063</a:t>
            </a:r>
          </a:p>
          <a:p>
            <a:r>
              <a:rPr lang="en-US" sz="1100">
                <a:solidFill>
                  <a:srgbClr val="000000"/>
                </a:solidFill>
                <a:latin typeface="Consolas"/>
              </a:rPr>
              <a:t>VGG-16 Base (Model 2)                    0.879  0.812  0.838  0.824  0.126</a:t>
            </a:r>
          </a:p>
          <a:p>
            <a:r>
              <a:rPr lang="en-US" sz="1100">
                <a:solidFill>
                  <a:srgbClr val="000000"/>
                </a:solidFill>
                <a:latin typeface="Consolas"/>
              </a:rPr>
              <a:t>VGG-16 + FFNN (Model 3)                  0.866  0.729  0.883  0.770  0.129</a:t>
            </a:r>
          </a:p>
          <a:p>
            <a:r>
              <a:rPr lang="en-US" sz="1100">
                <a:solidFill>
                  <a:srgbClr val="000000"/>
                </a:solidFill>
                <a:latin typeface="Consolas"/>
              </a:rPr>
              <a:t>VGG-16 + FFNN + Aug (Model 4)            0.834  0.647  0.890  0.678  0.070</a:t>
            </a:r>
          </a:p>
          <a:p>
            <a:endParaRPr lang="en-US" sz="1100">
              <a:solidFill>
                <a:schemeClr val="accent6">
                  <a:lumMod val="50000"/>
                </a:schemeClr>
              </a:solidFill>
            </a:endParaRPr>
          </a:p>
          <a:p>
            <a:endParaRPr lang="en-US" sz="1200">
              <a:solidFill>
                <a:schemeClr val="accent6">
                  <a:lumMod val="50000"/>
                </a:schemeClr>
              </a:solidFill>
            </a:endParaRPr>
          </a:p>
        </p:txBody>
      </p:sp>
      <p:sp>
        <p:nvSpPr>
          <p:cNvPr id="4" name="TextBox 239">
            <a:extLst>
              <a:ext uri="{FF2B5EF4-FFF2-40B4-BE49-F238E27FC236}">
                <a16:creationId xmlns:a16="http://schemas.microsoft.com/office/drawing/2014/main" id="{78D137FA-4296-05A6-B870-BE29380B6396}"/>
              </a:ext>
            </a:extLst>
          </p:cNvPr>
          <p:cNvSpPr txBox="1"/>
          <p:nvPr/>
        </p:nvSpPr>
        <p:spPr>
          <a:xfrm>
            <a:off x="271144" y="948601"/>
            <a:ext cx="7194424" cy="287715"/>
          </a:xfrm>
          <a:prstGeom prst="roundRect">
            <a:avLst>
              <a:gd name="adj" fmla="val 68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Validation Performance – Orange is best</a:t>
            </a:r>
            <a:r>
              <a:rPr sz="1200" b="1">
                <a:solidFill>
                  <a:srgbClr val="0E39A9"/>
                </a:solidFill>
                <a:latin typeface="Montserrat"/>
              </a:rPr>
              <a:t> </a:t>
            </a:r>
          </a:p>
        </p:txBody>
      </p:sp>
      <p:sp>
        <p:nvSpPr>
          <p:cNvPr id="5" name="Rectangle: Rounded Corners 4">
            <a:extLst>
              <a:ext uri="{FF2B5EF4-FFF2-40B4-BE49-F238E27FC236}">
                <a16:creationId xmlns:a16="http://schemas.microsoft.com/office/drawing/2014/main" id="{A3E7C048-3209-B8C3-6887-3EDC9566745E}"/>
              </a:ext>
            </a:extLst>
          </p:cNvPr>
          <p:cNvSpPr/>
          <p:nvPr/>
        </p:nvSpPr>
        <p:spPr>
          <a:xfrm>
            <a:off x="271144" y="2910534"/>
            <a:ext cx="7194424" cy="2010970"/>
          </a:xfrm>
          <a:prstGeom prst="roundRect">
            <a:avLst>
              <a:gd name="adj" fmla="val 1352"/>
            </a:avLst>
          </a:prstGeom>
          <a:noFill/>
          <a:ln w="952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a:solidFill>
                  <a:schemeClr val="accent6">
                    <a:lumMod val="50000"/>
                  </a:schemeClr>
                </a:solidFill>
              </a:rPr>
              <a:t>Best  overall performer. It has the highest F1-score, recall, precision, and even accuracy, with a relative low gap on training – validation (0.063).  Model1 provides the best balance between correctly identifying helmet compliance patterns and limiting false prediction. It is important to recall that false predictions have high compliance risk and may damage the companies reputation. </a:t>
            </a:r>
          </a:p>
          <a:p>
            <a:endParaRPr lang="en-US" sz="1100">
              <a:solidFill>
                <a:schemeClr val="accent6">
                  <a:lumMod val="50000"/>
                </a:schemeClr>
              </a:solidFill>
            </a:endParaRPr>
          </a:p>
          <a:p>
            <a:r>
              <a:rPr lang="en-US" sz="1200">
                <a:solidFill>
                  <a:schemeClr val="accent6">
                    <a:lumMod val="50000"/>
                  </a:schemeClr>
                </a:solidFill>
              </a:rPr>
              <a:t>The model perform well, it is lean, give it or take 160K params, it is easier to deploy on hardware near cameras. </a:t>
            </a:r>
          </a:p>
          <a:p>
            <a:br>
              <a:rPr lang="en-US" sz="1200">
                <a:solidFill>
                  <a:schemeClr val="accent6">
                    <a:lumMod val="50000"/>
                  </a:schemeClr>
                </a:solidFill>
              </a:rPr>
            </a:br>
            <a:r>
              <a:rPr lang="en-US" sz="1200" b="1">
                <a:solidFill>
                  <a:schemeClr val="accent6">
                    <a:lumMod val="50000"/>
                  </a:schemeClr>
                </a:solidFill>
                <a:latin typeface="Montserrat"/>
              </a:rPr>
              <a:t>Test performance (held-out 619 images): Accuracy 0.908, Recall 0.854, Precision 0.882, F1 0.867 — close to validation, confirming the model generalizes.</a:t>
            </a:r>
          </a:p>
          <a:p>
            <a:endParaRPr lang="en-US" sz="1200">
              <a:solidFill>
                <a:schemeClr val="accent6">
                  <a:lumMod val="50000"/>
                </a:schemeClr>
              </a:solidFill>
            </a:endParaRPr>
          </a:p>
        </p:txBody>
      </p:sp>
      <p:sp>
        <p:nvSpPr>
          <p:cNvPr id="6" name="TextBox 239">
            <a:extLst>
              <a:ext uri="{FF2B5EF4-FFF2-40B4-BE49-F238E27FC236}">
                <a16:creationId xmlns:a16="http://schemas.microsoft.com/office/drawing/2014/main" id="{1D79F747-934F-C6DC-D2C2-1FB17D8B8C6A}"/>
              </a:ext>
            </a:extLst>
          </p:cNvPr>
          <p:cNvSpPr txBox="1"/>
          <p:nvPr/>
        </p:nvSpPr>
        <p:spPr>
          <a:xfrm>
            <a:off x="271144" y="2488482"/>
            <a:ext cx="7194424" cy="351651"/>
          </a:xfrm>
          <a:prstGeom prst="roundRect">
            <a:avLst>
              <a:gd name="adj" fmla="val 6803"/>
            </a:avLst>
          </a:prstGeom>
          <a:noFill/>
          <a:ln w="9525">
            <a:solidFill>
              <a:schemeClr val="accent6">
                <a:lumMod val="50000"/>
              </a:schemeClr>
            </a:solidFill>
          </a:ln>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Bef>
                <a:spcPts val="0"/>
              </a:spcBef>
            </a:pPr>
            <a:r>
              <a:rPr lang="en-US" sz="1200" b="1">
                <a:solidFill>
                  <a:srgbClr val="0E39A9"/>
                </a:solidFill>
                <a:latin typeface="Montserrat"/>
              </a:rPr>
              <a:t>Final Selection – </a:t>
            </a:r>
            <a:r>
              <a:rPr lang="en-US" sz="1600" b="1">
                <a:solidFill>
                  <a:srgbClr val="0E39A9"/>
                </a:solidFill>
                <a:latin typeface="Montserrat"/>
              </a:rPr>
              <a:t>Model 1</a:t>
            </a:r>
            <a:r>
              <a:rPr lang="en-US" sz="1200" b="1">
                <a:solidFill>
                  <a:srgbClr val="0E39A9"/>
                </a:solidFill>
                <a:latin typeface="Montserrat"/>
              </a:rPr>
              <a:t> – CNN from Scratch</a:t>
            </a:r>
            <a:endParaRPr sz="1200" b="1">
              <a:solidFill>
                <a:srgbClr val="0E39A9"/>
              </a:solidFill>
              <a:latin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0"/>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303" name="Google Shape;303;p50"/>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16</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2284</Words>
  <Application>Microsoft Office PowerPoint</Application>
  <PresentationFormat>On-screen Show (16:9)</PresentationFormat>
  <Paragraphs>270</Paragraphs>
  <Slides>16</Slides>
  <Notes>16</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16</vt:i4>
      </vt:variant>
    </vt:vector>
  </HeadingPairs>
  <TitlesOfParts>
    <vt:vector size="26" baseType="lpstr">
      <vt:lpstr>Montserrat</vt:lpstr>
      <vt:lpstr>Arial</vt:lpstr>
      <vt:lpstr>Consolas</vt:lpstr>
      <vt:lpstr>Nunito</vt:lpstr>
      <vt:lpstr>Nunito SemiBold</vt:lpstr>
      <vt:lpstr>Nunito ExtraBold</vt:lpstr>
      <vt:lpstr>Century Gothic</vt:lpstr>
      <vt:lpstr>Calibri</vt:lpstr>
      <vt:lpstr>Just Logo</vt:lpstr>
      <vt:lpstr>Just Logo</vt:lpstr>
      <vt:lpstr>PowerPoint Presentation</vt:lpstr>
      <vt:lpstr>Contents / Agenda</vt:lpstr>
      <vt:lpstr>Executive Summary</vt:lpstr>
      <vt:lpstr>Business Problem Overview and Solution Approach</vt:lpstr>
      <vt:lpstr>Business Problem Overview and Solution Approach</vt:lpstr>
      <vt:lpstr>Business Problem Overview and Solution Approach</vt:lpstr>
      <vt:lpstr>Business Problem Overview and Solution Approach</vt:lpstr>
      <vt:lpstr>Data Overview</vt:lpstr>
      <vt:lpstr>Exploratory Data Analysis</vt:lpstr>
      <vt:lpstr>Data Pre-processing</vt:lpstr>
      <vt:lpstr>Convolutional Neural Network (CNN) from Scratch</vt:lpstr>
      <vt:lpstr>Transfer Learning with VGG-16 (Base)</vt:lpstr>
      <vt:lpstr>Transfer Learning with VGG-16 (Base + FFNN)</vt:lpstr>
      <vt:lpstr>Transfer Learning with VGG-16 (Base + FFNN + Data Augmentation)</vt:lpstr>
      <vt:lpstr>Model Performance Comparison and Final Model  Selection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Araujo</cp:lastModifiedBy>
  <cp:revision>9</cp:revision>
  <dcterms:modified xsi:type="dcterms:W3CDTF">2026-05-18T05:58:08Z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172fb5-86d0-42cb-ba27-645bef134c04_Enabled">
    <vt:lpwstr>true</vt:lpwstr>
  </property>
  <property fmtid="{D5CDD505-2E9C-101B-9397-08002B2CF9AE}" pid="3" name="MSIP_Label_81172fb5-86d0-42cb-ba27-645bef134c04_SetDate">
    <vt:lpwstr>2026-05-18T03:05:47Z</vt:lpwstr>
  </property>
  <property fmtid="{D5CDD505-2E9C-101B-9397-08002B2CF9AE}" pid="4" name="MSIP_Label_81172fb5-86d0-42cb-ba27-645bef134c04_Method">
    <vt:lpwstr>Standard</vt:lpwstr>
  </property>
  <property fmtid="{D5CDD505-2E9C-101B-9397-08002B2CF9AE}" pid="5" name="MSIP_Label_81172fb5-86d0-42cb-ba27-645bef134c04_Name">
    <vt:lpwstr>NATO Unclassified</vt:lpwstr>
  </property>
  <property fmtid="{D5CDD505-2E9C-101B-9397-08002B2CF9AE}" pid="6" name="MSIP_Label_81172fb5-86d0-42cb-ba27-645bef134c04_SiteId">
    <vt:lpwstr>4e058d4f-695c-4815-91b9-3bea0bf19c06</vt:lpwstr>
  </property>
  <property fmtid="{D5CDD505-2E9C-101B-9397-08002B2CF9AE}" pid="7" name="MSIP_Label_81172fb5-86d0-42cb-ba27-645bef134c04_ActionId">
    <vt:lpwstr>d8f272e6-87f0-467c-b531-5a2b3311b74d</vt:lpwstr>
  </property>
  <property fmtid="{D5CDD505-2E9C-101B-9397-08002B2CF9AE}" pid="8" name="MSIP_Label_81172fb5-86d0-42cb-ba27-645bef134c04_ContentBits">
    <vt:lpwstr>1</vt:lpwstr>
  </property>
  <property fmtid="{D5CDD505-2E9C-101B-9397-08002B2CF9AE}" pid="9" name="MSIP_Label_81172fb5-86d0-42cb-ba27-645bef134c04_Tag">
    <vt:lpwstr>10, 3, 0, 1</vt:lpwstr>
  </property>
  <property fmtid="{D5CDD505-2E9C-101B-9397-08002B2CF9AE}" pid="10" name="ClassificationContentMarkingHeaderLocations">
    <vt:lpwstr>Just Logo:3\Just Logo:3</vt:lpwstr>
  </property>
  <property fmtid="{D5CDD505-2E9C-101B-9397-08002B2CF9AE}" pid="11" name="ClassificationContentMarkingHeaderText">
    <vt:lpwstr>NATO UNCLASSIFIED</vt:lpwstr>
  </property>
</Properties>
</file>