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5"/>
    <p:sldMasterId id="214748368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y="5143500" cx="9144000"/>
  <p:notesSz cx="6858000" cy="9144000"/>
  <p:embeddedFontLst>
    <p:embeddedFont>
      <p:font typeface="Nunito SemiBold"/>
      <p:regular r:id="rId23"/>
      <p:bold r:id="rId24"/>
      <p:italic r:id="rId25"/>
      <p:boldItalic r:id="rId26"/>
    </p:embeddedFont>
    <p:embeddedFont>
      <p:font typeface="Nunito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Nunito ExtraBold"/>
      <p:bold r:id="rId35"/>
      <p:boldItalic r:id="rId36"/>
    </p:embeddedFont>
    <p:embeddedFont>
      <p:font typeface="Century Gothic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AB2CEF9-AD9A-4CD0-8B78-EF9934C6BECD}">
  <a:tblStyle styleId="{BAB2CEF9-AD9A-4CD0-8B78-EF9934C6BEC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rgbClr val="5B9BD5">
              <a:alpha val="20000"/>
            </a:srgbClr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5B9BD5">
              <a:alpha val="20000"/>
            </a:srgb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enturyGothic-boldItalic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NunitoSemiBold-bold.fntdata"/><Relationship Id="rId23" Type="http://schemas.openxmlformats.org/officeDocument/2006/relationships/font" Target="fonts/NunitoSemiBold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NunitoSemiBold-boldItalic.fntdata"/><Relationship Id="rId25" Type="http://schemas.openxmlformats.org/officeDocument/2006/relationships/font" Target="fonts/NunitoSemiBold-italic.fntdata"/><Relationship Id="rId28" Type="http://schemas.openxmlformats.org/officeDocument/2006/relationships/font" Target="fonts/Nunito-bold.fntdata"/><Relationship Id="rId27" Type="http://schemas.openxmlformats.org/officeDocument/2006/relationships/font" Target="fonts/Nunito-regular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Nunito-italic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Montserrat-regular.fntdata"/><Relationship Id="rId30" Type="http://schemas.openxmlformats.org/officeDocument/2006/relationships/font" Target="fonts/Nunito-boldItalic.fntdata"/><Relationship Id="rId11" Type="http://schemas.openxmlformats.org/officeDocument/2006/relationships/slide" Target="slides/slide4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3.xml"/><Relationship Id="rId32" Type="http://schemas.openxmlformats.org/officeDocument/2006/relationships/font" Target="fonts/Montserrat-bold.fntdata"/><Relationship Id="rId13" Type="http://schemas.openxmlformats.org/officeDocument/2006/relationships/slide" Target="slides/slide6.xml"/><Relationship Id="rId35" Type="http://schemas.openxmlformats.org/officeDocument/2006/relationships/font" Target="fonts/NunitoExtraBold-bold.fntdata"/><Relationship Id="rId12" Type="http://schemas.openxmlformats.org/officeDocument/2006/relationships/slide" Target="slides/slide5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8.xml"/><Relationship Id="rId37" Type="http://schemas.openxmlformats.org/officeDocument/2006/relationships/font" Target="fonts/CenturyGothic-regular.fntdata"/><Relationship Id="rId14" Type="http://schemas.openxmlformats.org/officeDocument/2006/relationships/slide" Target="slides/slide7.xml"/><Relationship Id="rId36" Type="http://schemas.openxmlformats.org/officeDocument/2006/relationships/font" Target="fonts/NunitoExtraBold-boldItalic.fntdata"/><Relationship Id="rId17" Type="http://schemas.openxmlformats.org/officeDocument/2006/relationships/slide" Target="slides/slide10.xml"/><Relationship Id="rId39" Type="http://schemas.openxmlformats.org/officeDocument/2006/relationships/font" Target="fonts/CenturyGothic-italic.fntdata"/><Relationship Id="rId16" Type="http://schemas.openxmlformats.org/officeDocument/2006/relationships/slide" Target="slides/slide9.xml"/><Relationship Id="rId38" Type="http://schemas.openxmlformats.org/officeDocument/2006/relationships/font" Target="fonts/CenturyGothic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8" name="Google Shape;29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1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5:notes"/>
          <p:cNvSpPr txBox="1"/>
          <p:nvPr>
            <p:ph idx="11" type="ftr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 Proprietary content. ©Great Learning. All Rights Reserved. Unauthorized use or distribution prohibited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2210208" y="744575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2210202" y="2834125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26" name="Google Shape;26;p5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{BAB2CEF9-AD9A-4CD0-8B78-EF9934C6BECD}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9" name="Google Shape;49;p11"/>
          <p:cNvPicPr preferRelativeResize="0"/>
          <p:nvPr/>
        </p:nvPicPr>
        <p:blipFill rotWithShape="1">
          <a:blip r:embed="rId2">
            <a:alphaModFix/>
          </a:blip>
          <a:srcRect b="19150" l="42816" r="37295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11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11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Happy Learning 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52" name="Google Shape;5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874" y="683275"/>
            <a:ext cx="3757725" cy="8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type="title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b="1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1800"/>
            </a:lvl9pPr>
          </a:lstStyle>
          <a:p/>
        </p:txBody>
      </p:sp>
      <p:sp>
        <p:nvSpPr>
          <p:cNvPr id="55" name="Google Shape;55;p12"/>
          <p:cNvSpPr txBox="1"/>
          <p:nvPr>
            <p:ph idx="1" type="body"/>
          </p:nvPr>
        </p:nvSpPr>
        <p:spPr>
          <a:xfrm>
            <a:off x="457200" y="1021842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10" type="dt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p12"/>
          <p:cNvSpPr txBox="1"/>
          <p:nvPr>
            <p:ph idx="11" type="ftr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0" y="0"/>
            <a:ext cx="300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0" type="dt"/>
          </p:nvPr>
        </p:nvSpPr>
        <p:spPr>
          <a:xfrm>
            <a:off x="457200" y="4857749"/>
            <a:ext cx="21336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1" type="ftr"/>
          </p:nvPr>
        </p:nvSpPr>
        <p:spPr>
          <a:xfrm>
            <a:off x="2640596" y="4857749"/>
            <a:ext cx="5507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204396" y="4857749"/>
            <a:ext cx="73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transition spd="med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 1">
  <p:cSld name="Title and Conten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569519" y="142741"/>
            <a:ext cx="8004900" cy="9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412081" y="930269"/>
            <a:ext cx="6319800" cy="23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b="0" i="0" sz="19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1574006" y="4988871"/>
            <a:ext cx="55650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4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p14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 Only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5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 Only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932967" y="348900"/>
            <a:ext cx="1278000" cy="5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3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712499" y="5010073"/>
            <a:ext cx="5564400" cy="15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rgbClr val="7E7E7E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 Only_3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90424" y="497078"/>
            <a:ext cx="83631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OBJECT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ctrTitle"/>
          </p:nvPr>
        </p:nvSpPr>
        <p:spPr>
          <a:xfrm>
            <a:off x="2938259" y="1851799"/>
            <a:ext cx="3267600" cy="8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5200">
                <a:solidFill>
                  <a:srgbClr val="365F9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86" name="Google Shape;86;p18"/>
          <p:cNvSpPr txBox="1"/>
          <p:nvPr>
            <p:ph idx="1" type="subTitle"/>
          </p:nvPr>
        </p:nvSpPr>
        <p:spPr>
          <a:xfrm>
            <a:off x="1371600" y="2880360"/>
            <a:ext cx="6400800" cy="12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1" type="ftr"/>
          </p:nvPr>
        </p:nvSpPr>
        <p:spPr>
          <a:xfrm>
            <a:off x="2879178" y="4948409"/>
            <a:ext cx="35034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600" u="none" cap="none" strike="noStrike">
                <a:solidFill>
                  <a:srgbClr val="7D7D7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8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583680" y="4783455"/>
            <a:ext cx="21030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888888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OBJECT_2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368992" y="2453440"/>
            <a:ext cx="2406000" cy="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45720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709160" y="1183005"/>
            <a:ext cx="3977700" cy="33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  <a:lvl2pPr indent="-2286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3108960" y="4783455"/>
            <a:ext cx="2926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0" type="dt"/>
          </p:nvPr>
        </p:nvSpPr>
        <p:spPr>
          <a:xfrm>
            <a:off x="457200" y="4783455"/>
            <a:ext cx="21030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50889" y="4980883"/>
            <a:ext cx="2166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7E7E7E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OBJECT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2936867" y="2199322"/>
            <a:ext cx="3275400" cy="6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430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1" type="ftr"/>
          </p:nvPr>
        </p:nvSpPr>
        <p:spPr>
          <a:xfrm>
            <a:off x="708292" y="4920311"/>
            <a:ext cx="64473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457452" y="4783454"/>
            <a:ext cx="21042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7529030" y="4838548"/>
            <a:ext cx="1884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800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 ">
  <p:cSld name="TITLE_AND_BODY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 2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6"/>
          <p:cNvSpPr/>
          <p:nvPr/>
        </p:nvSpPr>
        <p:spPr>
          <a:xfrm>
            <a:off x="1" y="-335"/>
            <a:ext cx="9144600" cy="5143800"/>
          </a:xfrm>
          <a:prstGeom prst="rect">
            <a:avLst/>
          </a:prstGeom>
          <a:solidFill>
            <a:srgbClr val="0E39A9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5" name="Google Shape;125;p26"/>
          <p:cNvPicPr preferRelativeResize="0"/>
          <p:nvPr/>
        </p:nvPicPr>
        <p:blipFill rotWithShape="1">
          <a:blip r:embed="rId2">
            <a:alphaModFix/>
          </a:blip>
          <a:srcRect b="19150" l="42816" r="37295" t="18358"/>
          <a:stretch/>
        </p:blipFill>
        <p:spPr>
          <a:xfrm>
            <a:off x="6052536" y="514443"/>
            <a:ext cx="2095112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6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7" name="Google Shape;127;p26"/>
          <p:cNvSpPr txBox="1"/>
          <p:nvPr/>
        </p:nvSpPr>
        <p:spPr>
          <a:xfrm>
            <a:off x="334565" y="1676232"/>
            <a:ext cx="43728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b="0" i="0" lang="en" sz="3300" u="none" cap="none" strike="noStrike">
                <a:solidFill>
                  <a:schemeClr val="lt1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Power Ahead!</a:t>
            </a:r>
            <a:endParaRPr b="0" i="0" sz="3300" u="none" cap="none" strike="noStrike">
              <a:solidFill>
                <a:schemeClr val="lt1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128" name="Google Shape;12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1875" y="769949"/>
            <a:ext cx="3071452" cy="1261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7"/>
          <p:cNvSpPr txBox="1"/>
          <p:nvPr>
            <p:ph type="ctrTitle"/>
          </p:nvPr>
        </p:nvSpPr>
        <p:spPr>
          <a:xfrm>
            <a:off x="1260908" y="717750"/>
            <a:ext cx="66222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4800"/>
              <a:buFont typeface="Nunito"/>
              <a:buNone/>
              <a:defRPr sz="4800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1" name="Google Shape;131;p27"/>
          <p:cNvSpPr txBox="1"/>
          <p:nvPr>
            <p:ph idx="1" type="subTitle"/>
          </p:nvPr>
        </p:nvSpPr>
        <p:spPr>
          <a:xfrm>
            <a:off x="1260902" y="2770350"/>
            <a:ext cx="66222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600"/>
              <a:buFont typeface="Nunito SemiBold"/>
              <a:buNone/>
              <a:defRPr sz="2600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39A9"/>
              </a:buClr>
              <a:buSzPts val="3600"/>
              <a:buNone/>
              <a:defRPr sz="3600">
                <a:solidFill>
                  <a:srgbClr val="0E39A9"/>
                </a:solidFill>
              </a:defRPr>
            </a:lvl9pPr>
          </a:lstStyle>
          <a:p/>
        </p:txBody>
      </p:sp>
      <p:sp>
        <p:nvSpPr>
          <p:cNvPr id="134" name="Google Shape;134;p28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37" name="Google Shape;137;p29"/>
          <p:cNvSpPr txBox="1"/>
          <p:nvPr>
            <p:ph idx="1" type="body"/>
          </p:nvPr>
        </p:nvSpPr>
        <p:spPr>
          <a:xfrm>
            <a:off x="202550" y="861975"/>
            <a:ext cx="8629800" cy="370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Font typeface="Nunito"/>
              <a:buChar char="●"/>
              <a:defRPr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Font typeface="Nunito"/>
              <a:buChar char="○"/>
              <a:defRPr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Font typeface="Nunito"/>
              <a:buChar char="■"/>
              <a:defRPr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38" name="Google Shape;138;p29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>
  <p:cSld name="CUSTOM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graphicFrame>
        <p:nvGraphicFramePr>
          <p:cNvPr id="141" name="Google Shape;141;p30"/>
          <p:cNvGraphicFramePr/>
          <p:nvPr/>
        </p:nvGraphicFramePr>
        <p:xfrm>
          <a:off x="201942" y="8336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{BAB2CEF9-AD9A-4CD0-8B78-EF9934C6BECD}</a:tableStyleId>
              </a:tblPr>
              <a:tblGrid>
                <a:gridCol w="883125"/>
                <a:gridCol w="3886050"/>
                <a:gridCol w="3886050"/>
              </a:tblGrid>
              <a:tr h="6735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Cluster Profile 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14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Business Insights for Marketing Team</a:t>
                      </a:r>
                      <a:endParaRPr sz="14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75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1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High value customers who have many credit cards and prefer to engage online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Engage Online – Set up priority calling in lines – Upsell and Cross sell premium products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2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aseline="30000"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..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3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Nunito"/>
                          <a:ea typeface="Nunito"/>
                          <a:cs typeface="Nunito"/>
                          <a:sym typeface="Nunito"/>
                        </a:rPr>
                        <a:t>…</a:t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  <a:tr h="66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Nunito"/>
                        <a:ea typeface="Nunito"/>
                        <a:cs typeface="Nunito"/>
                        <a:sym typeface="Nunito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F7F7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</a:tr>
            </a:tbl>
          </a:graphicData>
        </a:graphic>
      </p:graphicFrame>
      <p:sp>
        <p:nvSpPr>
          <p:cNvPr id="142" name="Google Shape;142;p30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45" name="Google Shape;14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6" name="Google Shape;14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7" name="Google Shape;147;p3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2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9pPr>
          </a:lstStyle>
          <a:p/>
        </p:txBody>
      </p:sp>
      <p:sp>
        <p:nvSpPr>
          <p:cNvPr id="150" name="Google Shape;150;p32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3" name="Google Shape;153;p33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3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7" name="Google Shape;157;p3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8" name="Google Shape;158;p3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115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300"/>
              <a:buChar char="○"/>
              <a:defRPr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21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000"/>
              <a:buChar char="○"/>
              <a:defRPr/>
            </a:lvl5pPr>
            <a:lvl6pPr indent="-28575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900"/>
              <a:buChar char="■"/>
              <a:defRPr/>
            </a:lvl6pPr>
            <a:lvl7pPr indent="-2794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800"/>
              <a:buChar char="●"/>
              <a:defRPr/>
            </a:lvl7pPr>
            <a:lvl8pPr indent="-27305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700"/>
              <a:buChar char="○"/>
              <a:defRPr/>
            </a:lvl8pPr>
            <a:lvl9pPr indent="-266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600"/>
              <a:buChar char="■"/>
              <a:defRPr/>
            </a:lvl9pPr>
          </a:lstStyle>
          <a:p/>
        </p:txBody>
      </p:sp>
      <p:sp>
        <p:nvSpPr>
          <p:cNvPr id="159" name="Google Shape;159;p34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25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" name="Google Shape;10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" name="Google Shape;12;p1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201972" y="288368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200"/>
              <a:buFont typeface="Nunito"/>
              <a:buNone/>
              <a:defRPr b="1" i="0" sz="22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500"/>
              <a:buFont typeface="Nunito SemiBold"/>
              <a:buNone/>
              <a:defRPr b="0" i="0" sz="2500" u="none" cap="none" strike="noStrike">
                <a:solidFill>
                  <a:srgbClr val="434343"/>
                </a:solidFill>
                <a:latin typeface="Nunito SemiBold"/>
                <a:ea typeface="Nunito SemiBold"/>
                <a:cs typeface="Nunito SemiBold"/>
                <a:sym typeface="Nunito SemiBold"/>
              </a:defRPr>
            </a:lvl9pPr>
          </a:lstStyle>
          <a:p/>
        </p:txBody>
      </p:sp>
      <p:sp>
        <p:nvSpPr>
          <p:cNvPr id="116" name="Google Shape;116;p25"/>
          <p:cNvSpPr txBox="1"/>
          <p:nvPr>
            <p:ph idx="1" type="body"/>
          </p:nvPr>
        </p:nvSpPr>
        <p:spPr>
          <a:xfrm>
            <a:off x="311700" y="8610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Nunito"/>
              <a:buChar char="●"/>
              <a:defRPr b="0" i="0" sz="15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115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○"/>
              <a:defRPr b="0" i="0" sz="13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048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Nunito"/>
              <a:buChar char="■"/>
              <a:defRPr b="0" i="0" sz="12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b="0" i="0" sz="11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21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"/>
              <a:buChar char="○"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8575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Nunito"/>
              <a:buChar char="■"/>
              <a:defRPr b="0" i="0" sz="9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794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800"/>
              <a:buFont typeface="Nunito"/>
              <a:buChar char="●"/>
              <a:defRPr b="0" i="0" sz="8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7305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"/>
              <a:buChar char="○"/>
              <a:defRPr b="0" i="0" sz="7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667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600"/>
              <a:buFont typeface="Nunito"/>
              <a:buChar char="■"/>
              <a:defRPr b="0" i="0" sz="6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7" name="Google Shape;117;p25"/>
          <p:cNvSpPr txBox="1"/>
          <p:nvPr/>
        </p:nvSpPr>
        <p:spPr>
          <a:xfrm>
            <a:off x="2234400" y="4917657"/>
            <a:ext cx="4675200" cy="2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marR="0" rtl="0" algn="ctr">
              <a:lnSpc>
                <a:spcPct val="10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en" sz="7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Proprietary content. © Great Learning. All Rights Reserved. Unauthorized use or distribution prohibited.</a:t>
            </a:r>
            <a:endParaRPr b="1" i="0" sz="700" u="none" cap="none" strike="noStrik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18" name="Google Shape;118;p25"/>
          <p:cNvSpPr txBox="1"/>
          <p:nvPr>
            <p:ph idx="12" type="sldNum"/>
          </p:nvPr>
        </p:nvSpPr>
        <p:spPr>
          <a:xfrm>
            <a:off x="8832299" y="4946907"/>
            <a:ext cx="365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9" name="Google Shape;119;p2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669500" y="68264"/>
            <a:ext cx="1395476" cy="5727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5"/>
          <p:cNvGrpSpPr/>
          <p:nvPr/>
        </p:nvGrpSpPr>
        <p:grpSpPr>
          <a:xfrm>
            <a:off x="6593" y="10"/>
            <a:ext cx="175500" cy="709221"/>
            <a:chOff x="6593" y="10"/>
            <a:chExt cx="175500" cy="709221"/>
          </a:xfrm>
        </p:grpSpPr>
        <p:sp>
          <p:nvSpPr>
            <p:cNvPr id="121" name="Google Shape;121;p25"/>
            <p:cNvSpPr/>
            <p:nvPr/>
          </p:nvSpPr>
          <p:spPr>
            <a:xfrm>
              <a:off x="6593" y="10"/>
              <a:ext cx="175500" cy="355500"/>
            </a:xfrm>
            <a:prstGeom prst="rect">
              <a:avLst/>
            </a:prstGeom>
            <a:solidFill>
              <a:srgbClr val="0E39A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25"/>
            <p:cNvSpPr/>
            <p:nvPr/>
          </p:nvSpPr>
          <p:spPr>
            <a:xfrm>
              <a:off x="6593" y="353731"/>
              <a:ext cx="175500" cy="355500"/>
            </a:xfrm>
            <a:prstGeom prst="rect">
              <a:avLst/>
            </a:prstGeom>
            <a:solidFill>
              <a:srgbClr val="1974D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6"/>
          <p:cNvSpPr txBox="1"/>
          <p:nvPr/>
        </p:nvSpPr>
        <p:spPr>
          <a:xfrm>
            <a:off x="1632725" y="1227550"/>
            <a:ext cx="5411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Presentation Title</a:t>
            </a:r>
            <a:endParaRPr b="1" i="0" sz="41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p36"/>
          <p:cNvSpPr txBox="1"/>
          <p:nvPr/>
        </p:nvSpPr>
        <p:spPr>
          <a:xfrm>
            <a:off x="1632725" y="1940550"/>
            <a:ext cx="51993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0" i="0" lang="en" sz="29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Project and Course Name</a:t>
            </a:r>
            <a:endParaRPr b="0" i="0" sz="29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8" name="Google Shape;168;p36"/>
          <p:cNvSpPr txBox="1"/>
          <p:nvPr/>
        </p:nvSpPr>
        <p:spPr>
          <a:xfrm>
            <a:off x="1632725" y="2586175"/>
            <a:ext cx="1170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" sz="2200" u="none" cap="none" strike="noStrike">
                <a:solidFill>
                  <a:srgbClr val="0E39A9"/>
                </a:solidFill>
                <a:latin typeface="Nunito"/>
                <a:ea typeface="Nunito"/>
                <a:cs typeface="Nunito"/>
                <a:sym typeface="Nunito"/>
              </a:rPr>
              <a:t>Date</a:t>
            </a:r>
            <a:endParaRPr b="0" i="0" sz="2200" u="none" cap="none" strike="noStrike">
              <a:solidFill>
                <a:srgbClr val="0E39A9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Contents / Agenda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74" name="Google Shape;174;p37"/>
          <p:cNvSpPr/>
          <p:nvPr/>
        </p:nvSpPr>
        <p:spPr>
          <a:xfrm>
            <a:off x="403421" y="13757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5" name="Google Shape;175;p37"/>
          <p:cNvSpPr txBox="1"/>
          <p:nvPr/>
        </p:nvSpPr>
        <p:spPr>
          <a:xfrm>
            <a:off x="691799" y="1251775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Overview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37"/>
          <p:cNvSpPr/>
          <p:nvPr/>
        </p:nvSpPr>
        <p:spPr>
          <a:xfrm>
            <a:off x="403421" y="177583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7" name="Google Shape;177;p37"/>
          <p:cNvSpPr txBox="1"/>
          <p:nvPr/>
        </p:nvSpPr>
        <p:spPr>
          <a:xfrm>
            <a:off x="691799" y="1672313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Exploratory Data Analysis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p37"/>
          <p:cNvSpPr/>
          <p:nvPr/>
        </p:nvSpPr>
        <p:spPr>
          <a:xfrm>
            <a:off x="403421" y="2252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79" name="Google Shape;179;p37"/>
          <p:cNvSpPr txBox="1"/>
          <p:nvPr/>
        </p:nvSpPr>
        <p:spPr>
          <a:xfrm>
            <a:off x="691799" y="21434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Data Pre-processing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0" name="Google Shape;180;p37"/>
          <p:cNvSpPr/>
          <p:nvPr/>
        </p:nvSpPr>
        <p:spPr>
          <a:xfrm>
            <a:off x="403421" y="2709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1" name="Google Shape;181;p37"/>
          <p:cNvSpPr txBox="1"/>
          <p:nvPr/>
        </p:nvSpPr>
        <p:spPr>
          <a:xfrm>
            <a:off x="691799" y="26006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Convolutional Neural Network (CNN) from Scratch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p37"/>
          <p:cNvSpPr/>
          <p:nvPr/>
        </p:nvSpPr>
        <p:spPr>
          <a:xfrm>
            <a:off x="403421" y="3166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3" name="Google Shape;183;p37"/>
          <p:cNvSpPr txBox="1"/>
          <p:nvPr/>
        </p:nvSpPr>
        <p:spPr>
          <a:xfrm>
            <a:off x="691799" y="30578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Transfer Learning with VGG-16 (Base)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37"/>
          <p:cNvSpPr/>
          <p:nvPr/>
        </p:nvSpPr>
        <p:spPr>
          <a:xfrm>
            <a:off x="403421" y="3623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5" name="Google Shape;185;p37"/>
          <p:cNvSpPr txBox="1"/>
          <p:nvPr/>
        </p:nvSpPr>
        <p:spPr>
          <a:xfrm>
            <a:off x="691799" y="35150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Transfer Learning with VGG-16 (Base + FFNN)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p37"/>
          <p:cNvSpPr/>
          <p:nvPr/>
        </p:nvSpPr>
        <p:spPr>
          <a:xfrm>
            <a:off x="403421" y="4080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7" name="Google Shape;187;p37"/>
          <p:cNvSpPr txBox="1"/>
          <p:nvPr/>
        </p:nvSpPr>
        <p:spPr>
          <a:xfrm>
            <a:off x="691800" y="3972250"/>
            <a:ext cx="7246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Transfer Learning with VGG-16 (Base + FFNN + Data Augmentation)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37"/>
          <p:cNvSpPr/>
          <p:nvPr/>
        </p:nvSpPr>
        <p:spPr>
          <a:xfrm>
            <a:off x="403421" y="4538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89" name="Google Shape;189;p37"/>
          <p:cNvSpPr txBox="1"/>
          <p:nvPr/>
        </p:nvSpPr>
        <p:spPr>
          <a:xfrm>
            <a:off x="691799" y="4429450"/>
            <a:ext cx="5632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Model Performance Comparison and Final Model Selection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Executive Summary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195" name="Google Shape;195;p38"/>
          <p:cNvSpPr/>
          <p:nvPr/>
        </p:nvSpPr>
        <p:spPr>
          <a:xfrm>
            <a:off x="327221" y="1185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6" name="Google Shape;196;p38"/>
          <p:cNvSpPr txBox="1"/>
          <p:nvPr/>
        </p:nvSpPr>
        <p:spPr>
          <a:xfrm>
            <a:off x="615600" y="1076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actionable insights and recommendations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Business Problem Overview and Solution Approach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02" name="Google Shape;202;p39"/>
          <p:cNvSpPr/>
          <p:nvPr/>
        </p:nvSpPr>
        <p:spPr>
          <a:xfrm>
            <a:off x="251021" y="11852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p39"/>
          <p:cNvSpPr txBox="1"/>
          <p:nvPr/>
        </p:nvSpPr>
        <p:spPr>
          <a:xfrm>
            <a:off x="539400" y="10766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define the problem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p39"/>
          <p:cNvSpPr/>
          <p:nvPr/>
        </p:nvSpPr>
        <p:spPr>
          <a:xfrm>
            <a:off x="251021" y="1642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p39"/>
          <p:cNvSpPr txBox="1"/>
          <p:nvPr/>
        </p:nvSpPr>
        <p:spPr>
          <a:xfrm>
            <a:off x="539400" y="15338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solution approach/methodology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p40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Overview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2" name="Google Shape;212;p40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3" name="Google Shape;213;p40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Exploratory Data Analysis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0" name="Google Shape;220;p41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1" name="Google Shape;221;p41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 along with the relevant plots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2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Pre-processing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27" name="Google Shape;227;p42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8" name="Google Shape;228;p42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29" name="Google Shape;229;p42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Convolutional Neural Network (CNN) from Scratch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35" name="Google Shape;235;p43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6" name="Google Shape;236;p43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7" name="Google Shape;237;p43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model configuration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43"/>
          <p:cNvSpPr/>
          <p:nvPr/>
        </p:nvSpPr>
        <p:spPr>
          <a:xfrm>
            <a:off x="3272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9" name="Google Shape;239;p43"/>
          <p:cNvSpPr txBox="1"/>
          <p:nvPr/>
        </p:nvSpPr>
        <p:spPr>
          <a:xfrm>
            <a:off x="6156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4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Transfer Learning with VGG-16 (Base)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45" name="Google Shape;245;p44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6" name="Google Shape;246;p44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7" name="Google Shape;247;p44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model configuration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8" name="Google Shape;248;p44"/>
          <p:cNvSpPr/>
          <p:nvPr/>
        </p:nvSpPr>
        <p:spPr>
          <a:xfrm>
            <a:off x="3272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49" name="Google Shape;249;p44"/>
          <p:cNvSpPr txBox="1"/>
          <p:nvPr/>
        </p:nvSpPr>
        <p:spPr>
          <a:xfrm>
            <a:off x="6156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5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Transfer Learning with VGG-16 (Base + FFNN)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55" name="Google Shape;255;p45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p45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p45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model configuration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8" name="Google Shape;258;p45"/>
          <p:cNvSpPr/>
          <p:nvPr/>
        </p:nvSpPr>
        <p:spPr>
          <a:xfrm>
            <a:off x="3272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9" name="Google Shape;259;p45"/>
          <p:cNvSpPr txBox="1"/>
          <p:nvPr/>
        </p:nvSpPr>
        <p:spPr>
          <a:xfrm>
            <a:off x="6156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Transfer Learning with </a:t>
            </a:r>
            <a:r>
              <a:rPr lang="en" sz="2400">
                <a:solidFill>
                  <a:srgbClr val="0E39A9"/>
                </a:solidFill>
              </a:rPr>
              <a:t>VGG-16 (Base + FFNN + Data Augmentation)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65" name="Google Shape;265;p46"/>
          <p:cNvSpPr txBox="1"/>
          <p:nvPr/>
        </p:nvSpPr>
        <p:spPr>
          <a:xfrm>
            <a:off x="325250" y="23324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6" name="Google Shape;266;p46"/>
          <p:cNvSpPr/>
          <p:nvPr/>
        </p:nvSpPr>
        <p:spPr>
          <a:xfrm>
            <a:off x="327221" y="1413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7" name="Google Shape;267;p46"/>
          <p:cNvSpPr txBox="1"/>
          <p:nvPr/>
        </p:nvSpPr>
        <p:spPr>
          <a:xfrm>
            <a:off x="615600" y="1305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Mention the model configuration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46"/>
          <p:cNvSpPr/>
          <p:nvPr/>
        </p:nvSpPr>
        <p:spPr>
          <a:xfrm>
            <a:off x="327221" y="18710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p46"/>
          <p:cNvSpPr txBox="1"/>
          <p:nvPr/>
        </p:nvSpPr>
        <p:spPr>
          <a:xfrm>
            <a:off x="615600" y="17624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7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Model Performance Comparison and Final Model </a:t>
            </a:r>
            <a:endParaRPr sz="2400">
              <a:solidFill>
                <a:srgbClr val="0E39A9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Selection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75" name="Google Shape;275;p47"/>
          <p:cNvSpPr txBox="1"/>
          <p:nvPr/>
        </p:nvSpPr>
        <p:spPr>
          <a:xfrm>
            <a:off x="325250" y="3399275"/>
            <a:ext cx="8397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Note</a:t>
            </a:r>
            <a:r>
              <a:rPr b="0" i="0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: </a:t>
            </a:r>
            <a:r>
              <a:rPr b="0" i="1" lang="en" sz="1600" u="none" cap="none" strike="noStrike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You can use more than one slide if needed</a:t>
            </a:r>
            <a:endParaRPr b="0" i="1" sz="16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6" name="Google Shape;276;p47"/>
          <p:cNvSpPr/>
          <p:nvPr/>
        </p:nvSpPr>
        <p:spPr>
          <a:xfrm>
            <a:off x="327221" y="16424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7" name="Google Shape;277;p47"/>
          <p:cNvSpPr txBox="1"/>
          <p:nvPr/>
        </p:nvSpPr>
        <p:spPr>
          <a:xfrm>
            <a:off x="615600" y="15338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Compare the performance of all the models built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8" name="Google Shape;278;p47"/>
          <p:cNvSpPr/>
          <p:nvPr/>
        </p:nvSpPr>
        <p:spPr>
          <a:xfrm>
            <a:off x="327221" y="2099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79" name="Google Shape;279;p47"/>
          <p:cNvSpPr txBox="1"/>
          <p:nvPr/>
        </p:nvSpPr>
        <p:spPr>
          <a:xfrm>
            <a:off x="615600" y="1991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Choose the best model from the ones built with proper reasoning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47"/>
          <p:cNvSpPr/>
          <p:nvPr/>
        </p:nvSpPr>
        <p:spPr>
          <a:xfrm>
            <a:off x="327221" y="25568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1" name="Google Shape;281;p47"/>
          <p:cNvSpPr txBox="1"/>
          <p:nvPr/>
        </p:nvSpPr>
        <p:spPr>
          <a:xfrm>
            <a:off x="615600" y="24482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Provide comments/observations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8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Data Background and Contents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87" name="Google Shape;287;p48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8" name="Google Shape;288;p48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mention the data background and contents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9"/>
          <p:cNvSpPr txBox="1"/>
          <p:nvPr>
            <p:ph type="title"/>
          </p:nvPr>
        </p:nvSpPr>
        <p:spPr>
          <a:xfrm>
            <a:off x="202550" y="289279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2400">
                <a:solidFill>
                  <a:srgbClr val="0E39A9"/>
                </a:solidFill>
              </a:rPr>
              <a:t>Slide header</a:t>
            </a:r>
            <a:endParaRPr sz="2400">
              <a:solidFill>
                <a:srgbClr val="0E39A9"/>
              </a:solidFill>
            </a:endParaRPr>
          </a:p>
        </p:txBody>
      </p:sp>
      <p:sp>
        <p:nvSpPr>
          <p:cNvPr id="294" name="Google Shape;294;p49"/>
          <p:cNvSpPr/>
          <p:nvPr/>
        </p:nvSpPr>
        <p:spPr>
          <a:xfrm>
            <a:off x="403421" y="1337684"/>
            <a:ext cx="193200" cy="193200"/>
          </a:xfrm>
          <a:prstGeom prst="donut">
            <a:avLst>
              <a:gd fmla="val 25000" name="adj"/>
            </a:avLst>
          </a:prstGeom>
          <a:solidFill>
            <a:srgbClr val="0944A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49"/>
          <p:cNvSpPr txBox="1"/>
          <p:nvPr/>
        </p:nvSpPr>
        <p:spPr>
          <a:xfrm>
            <a:off x="691800" y="1229050"/>
            <a:ext cx="6033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Please add any other pointers if needed</a:t>
            </a:r>
            <a:endParaRPr b="0"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0"/>
          <p:cNvSpPr txBox="1"/>
          <p:nvPr>
            <p:ph type="title"/>
          </p:nvPr>
        </p:nvSpPr>
        <p:spPr>
          <a:xfrm>
            <a:off x="70129" y="6703219"/>
            <a:ext cx="15008700" cy="6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8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t/>
            </a:r>
            <a:endParaRPr/>
          </a:p>
        </p:txBody>
      </p:sp>
      <p:sp>
        <p:nvSpPr>
          <p:cNvPr id="303" name="Google Shape;303;p50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Just Logo">
  <a:themeElements>
    <a:clrScheme name="Simple Light">
      <a:dk1>
        <a:srgbClr val="222222"/>
      </a:dk1>
      <a:lt1>
        <a:srgbClr val="FFFFFF"/>
      </a:lt1>
      <a:dk2>
        <a:srgbClr val="222222"/>
      </a:dk2>
      <a:lt2>
        <a:srgbClr val="0E39A9"/>
      </a:lt2>
      <a:accent1>
        <a:srgbClr val="FFAB40"/>
      </a:accent1>
      <a:accent2>
        <a:srgbClr val="6F4294"/>
      </a:accent2>
      <a:accent3>
        <a:srgbClr val="FFA000"/>
      </a:accent3>
      <a:accent4>
        <a:srgbClr val="FFAB40"/>
      </a:accent4>
      <a:accent5>
        <a:srgbClr val="FFDF00"/>
      </a:accent5>
      <a:accent6>
        <a:srgbClr val="1974D5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